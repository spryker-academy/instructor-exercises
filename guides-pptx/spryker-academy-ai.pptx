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Expose an LLM with conversation memory through a Storefront API on the AiFoundation client</a:t>
            </a:r>
          </a:p>
          <a:p>
            <a:pPr>
              <a:spcAft>
                <a:spcPts val="1000"/>
              </a:spcAft>
            </a:pPr>
            <a:r>
              <a:rPr sz="1600" b="1">
                <a:solidFill>
                  <a:srgbClr val="00A89B"/>
                </a:solidFill>
              </a:rPr>
              <a:t>✓  </a:t>
            </a:r>
            <a:r>
              <a:rPr sz="1500">
                <a:solidFill>
                  <a:srgbClr val="1A1A1A"/>
                </a:solidFill>
              </a:rPr>
              <a:t>Let the LLM call catalog tools and answer in structured transfer objects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Write AI tools with names, descriptions, and typed parameters</a:t>
            </a:r>
          </a:p>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01-back-office-assistant-setup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21 adds a new agent to it, so the assistant must work first. Exercises 19 and 20 do not need it.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02-ai-foundation-hello</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Storefront API endpoint with API Platform. A client posts a message, the endpoint sends it to a large language model (LLM) through AiFoundation, and returns the answer. The LLM remembers the conversation: send the returned conversation reference with the next message, and it knows what was said before.</a:t>
            </a:r>
          </a:p>
          <a:p>
            <a:pPr>
              <a:spcAft>
                <a:spcPts val="800"/>
              </a:spcAft>
              <a:defRPr sz="1600">
                <a:solidFill>
                  <a:srgbClr val="1A1A1A"/>
                </a:solidFill>
              </a:defRPr>
            </a:pPr>
            <a:r>
              <a:t>You will learn how to: - Register an AI configuration in config_ai.php : provider, API key, model, and system prompt - Send a prompt from the Glue application through the AiFoundation client , never through the provider library directly - Give the LLM memory with a conversation reference - Define an API Platform POST resource with a processor</a:t>
            </a:r>
          </a:p>
          <a:p>
            <a:pPr>
              <a:spcAft>
                <a:spcPts val="800"/>
              </a:spcAft>
              <a:defRPr sz="1600">
                <a:solidFill>
                  <a:srgbClr val="1A1A1A"/>
                </a:solidFill>
              </a:defRPr>
            </a:pPr>
            <a:r>
              <a:t>Official documentation: - AI Foundation module - API Platform: resource schemas - API Platform: cache warming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AI Commerce feature is installed and an OpenAI API token is saved in the Back Office under Configuration &gt; AI Vendor &gt; OpenAI . The Back Office Assistant is not required.</a:t>
            </a:r>
          </a:p>
          <a:p>
            <a:pPr>
              <a:spcAft>
                <a:spcPts val="400"/>
              </a:spcAft>
              <a:defRPr sz="1500">
                <a:solidFill>
                  <a:srgbClr val="1A1A1A"/>
                </a:solidFill>
              </a:defRPr>
            </a:pPr>
            <a:r>
              <a:t>• Completed Exercise 12 (Glue Storefront API). You know resource schemas, providers, and glue api:generate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The loader copies the module to src/SprykerAcademy/ , registers src/SprykerAcademy as an API Platform source directory in config/Glue , config/GlueStorefront , and config/GlueBackend , and installs the tests.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  --POST /ai-chats--&gt;  Glue (API Platform)</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AiChatsStorefrontProcessor</a:t>
            </a:r>
          </a:p>
          <a:p>
            <a:pPr>
              <a:spcBef>
                <a:spcPts val="0"/>
              </a:spcBef>
              <a:spcAft>
                <a:spcPts val="0"/>
              </a:spcAft>
            </a:pPr>
            <a:r>
              <a:rPr sz="900">
                <a:solidFill>
                  <a:srgbClr val="2D2D2D"/>
                </a:solidFill>
                <a:latin typeface="Consolas"/>
              </a:rPr>
              <a:t>                              |  AiFoundationClient::prompt()      &lt;- Client layer, Zed request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Zed: AiFoundation facade</a:t>
            </a:r>
          </a:p>
          <a:p>
            <a:pPr>
              <a:spcBef>
                <a:spcPts val="0"/>
              </a:spcBef>
              <a:spcAft>
                <a:spcPts val="0"/>
              </a:spcAft>
            </a:pPr>
            <a:r>
              <a:rPr sz="900">
                <a:solidFill>
                  <a:srgbClr val="2D2D2D"/>
                </a:solidFill>
                <a:latin typeface="Consolas"/>
              </a:rPr>
              <a:t>                              |  resolves the AI configuration by name</a:t>
            </a:r>
          </a:p>
          <a:p>
            <a:pPr>
              <a:spcBef>
                <a:spcPts val="0"/>
              </a:spcBef>
              <a:spcAft>
                <a:spcPts val="0"/>
              </a:spcAft>
            </a:pPr>
            <a:r>
              <a:rPr sz="900">
                <a:solidFill>
                  <a:srgbClr val="2D2D2D"/>
                </a:solidFill>
                <a:latin typeface="Consolas"/>
              </a:rPr>
              <a:t>                              |  loads the history of the conversation reference</a:t>
            </a:r>
          </a:p>
          <a:p>
            <a:pPr>
              <a:spcBef>
                <a:spcPts val="0"/>
              </a:spcBef>
              <a:spcAft>
                <a:spcPts val="0"/>
              </a:spcAft>
            </a:pPr>
            <a:r>
              <a:rPr sz="900">
                <a:solidFill>
                  <a:srgbClr val="2D2D2D"/>
                </a:solidFill>
                <a:latin typeface="Consolas"/>
              </a:rPr>
              <a:t>                              |  calls the provider (OpenAI, Bedrock, Anthropic)</a:t>
            </a:r>
          </a:p>
          <a:p>
            <a:pPr>
              <a:spcBef>
                <a:spcPts val="0"/>
              </a:spcBef>
              <a:spcAft>
                <a:spcPts val="0"/>
              </a:spcAft>
            </a:pPr>
            <a:r>
              <a:rPr sz="900">
                <a:solidFill>
                  <a:srgbClr val="2D2D2D"/>
                </a:solidFill>
                <a:latin typeface="Consolas"/>
              </a:rPr>
              <a:t>                              |  stores the new messages under the reference</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answer  --&gt;  back to Glue  --&gt;  JSON:API response</a:t>
            </a:r>
          </a:p>
          <a:p>
            <a:pPr>
              <a:spcAft>
                <a:spcPts val="100"/>
              </a:spcAft>
              <a:defRPr sz="1000">
                <a:solidFill>
                  <a:srgbClr val="1A1A1A"/>
                </a:solidFill>
                <a:latin typeface="Consolas"/>
              </a:defRPr>
            </a:pPr>
            <a:r>
              <a:t>Concept                 Where                                                    Why it matters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config/Shared/config_ai.php                              A named bundle of provider, key, model, and system prompt. Code refers to it by name only, so the provider can change without a deployment of the code</a:t>
            </a:r>
          </a:p>
          <a:p>
            <a:pPr>
              <a:spcAft>
                <a:spcPts val="100"/>
              </a:spcAft>
              <a:defRPr sz="1000">
                <a:solidFill>
                  <a:srgbClr val="1A1A1A"/>
                </a:solidFill>
                <a:latin typeface="Consolas"/>
              </a:defRPr>
            </a:pPr>
            <a:r>
              <a:t>AiFoundation client     Spryker\Client\AiFoundation\AiFoundationClientInterface  The only door from Glue or Yves to the LLM. It forwards the prompt to Zed                                                                             </a:t>
            </a:r>
          </a:p>
          <a:p>
            <a:pPr>
              <a:spcAft>
                <a:spcPts val="100"/>
              </a:spcAft>
              <a:defRPr sz="1000">
                <a:solidFill>
                  <a:srgbClr val="1A1A1A"/>
                </a:solidFill>
                <a:latin typeface="Consolas"/>
              </a:defRPr>
            </a:pPr>
            <a:r>
              <a:t>Conversation reference  PromptRequestTransfer::conversationReference             AiFoundation stores every message under this string and replays the history on the next prompt. No reference, no memory                               </a:t>
            </a:r>
          </a:p>
          <a:p>
            <a:pPr>
              <a:spcAft>
                <a:spcPts val="100"/>
              </a:spcAft>
              <a:defRPr sz="1000">
                <a:solidFill>
                  <a:srgbClr val="1A1A1A"/>
                </a:solidFill>
                <a:latin typeface="Consolas"/>
              </a:defRPr>
            </a:pPr>
            <a:r>
              <a:t>NeuronAI                vendor library                                           AiFoundation uses it internally. Your code never does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call OpenAI directly? The API token lives in the Back Office configuration, the audit log records every prompt, and the provider can be switched per configuration. All of that only works when every call goes through AiFoundation.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Resource Schema</a:t>
            </a:r>
          </a:p>
          <a:p>
            <a:pPr>
              <a:spcAft>
                <a:spcPts val="800"/>
              </a:spcAft>
              <a:defRPr sz="1600">
                <a:solidFill>
                  <a:srgbClr val="1A1A1A"/>
                </a:solidFill>
              </a:defRPr>
            </a:pPr>
            <a:r>
              <a:t>Open src/SprykerAcademy/Glue/HelloAi/resources/api/storefront/ai-chats.resource.yml . Complete TODO-1 to TODO-4 :</a:t>
            </a:r>
          </a:p>
          <a:p>
            <a:pPr>
              <a:spcAft>
                <a:spcPts val="400"/>
              </a:spcAft>
              <a:defRPr sz="1500">
                <a:solidFill>
                  <a:srgbClr val="1A1A1A"/>
                </a:solidFill>
              </a:defRPr>
            </a:pPr>
            <a:r>
              <a:t>• Set processor to SprykerAcademy\Glue\HelloAi\Api\Storefront\Processor\AiChatsStorefrontProcessor . A POST resource has a processor. The GET resources of Exercise 12 had a provider.</a:t>
            </a:r>
          </a:p>
          <a:p>
            <a:pPr>
              <a:spcAft>
                <a:spcPts val="400"/>
              </a:spcAft>
              <a:defRPr sz="1500">
                <a:solidFill>
                  <a:srgbClr val="1A1A1A"/>
                </a:solidFill>
              </a:defRPr>
            </a:pPr>
            <a:r>
              <a:t>• Declare one operation of type Post with uriTemplate: '/ai-chats' and normalizationContext: { gen_id: false } .</a:t>
            </a:r>
          </a:p>
          <a:p>
            <a:pPr>
              <a:spcAft>
                <a:spcPts val="400"/>
              </a:spcAft>
              <a:defRPr sz="1500">
                <a:solidFill>
                  <a:srgbClr val="1A1A1A"/>
                </a:solidFill>
              </a:defRPr>
            </a:pPr>
            <a:r>
              <a:t>• Declare conversationReference : type string, writable, readable, not required.</a:t>
            </a:r>
          </a:p>
          <a:p>
            <a:pPr>
              <a:spcAft>
                <a:spcPts val="400"/>
              </a:spcAft>
              <a:defRPr sz="1500">
                <a:solidFill>
                  <a:srgbClr val="1A1A1A"/>
                </a:solidFill>
              </a:defRPr>
            </a:pPr>
            <a:r>
              <a:t>• Declare answer : type string, readable, not writable.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message property is already there. Look at how writable , readable , and required describe the direction of each field.</a:t>
            </a:r>
          </a:p>
          <a:p>
            <a:pPr>
              <a:spcAft>
                <a:spcPts val="800"/>
              </a:spcAft>
              <a:defRPr sz="1400" i="1">
                <a:solidFill>
                  <a:srgbClr val="888888"/>
                </a:solidFill>
              </a:defRPr>
            </a:pPr>
            <a:r>
              <a:t>❝ Reference: vendor/spryker/agent-auth-rest-api/resources/api/storefront/agent-customer-impersonation-access-tokens.resource.yml is a complete POST resource from the core.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src/SprykerAcademy/Glue/HelloAi/Api/Storefront/Processor/AiChatsStorefrontProcessor.php . The class extends AbstractStorefrontProcessor , which routes a POST request to processPost() .</a:t>
            </a:r>
          </a:p>
          <a:p>
            <a:pPr>
              <a:spcAft>
                <a:spcPts val="800"/>
              </a:spcAft>
              <a:defRPr sz="1600">
                <a:solidFill>
                  <a:srgbClr val="1A1A1A"/>
                </a:solidFill>
              </a:defRPr>
            </a:pPr>
            <a:r>
              <a:t>TODO-5: add a constructor that receives AiFoundationClientInterface and stores it. Symfony autowires the client.</a:t>
            </a:r>
          </a:p>
          <a:p>
            <a:pPr>
              <a:spcAft>
                <a:spcPts val="800"/>
              </a:spcAft>
              <a:defRPr sz="1600">
                <a:solidFill>
                  <a:srgbClr val="1A1A1A"/>
                </a:solidFill>
              </a:defRPr>
            </a:pPr>
            <a:r>
              <a:t>TODO-6: decide the conversation reference. Reuse the one from the request, or generate a new one with uniqid(static::CONVERSATION_REFERENCE_PREFIX) .</a:t>
            </a:r>
          </a:p>
          <a:p>
            <a:pPr>
              <a:spcAft>
                <a:spcPts val="800"/>
              </a:spcAft>
              <a:defRPr sz="1600">
                <a:solidFill>
                  <a:srgbClr val="1A1A1A"/>
                </a:solidFill>
              </a:defRPr>
            </a:pPr>
            <a:r>
              <a:t>TODO-7: build the prompt request and send it:</a:t>
            </a:r>
          </a:p>
          <a:p>
            <a:pPr>
              <a:spcAft>
                <a:spcPts val="100"/>
              </a:spcAft>
              <a:defRPr sz="1000">
                <a:solidFill>
                  <a:srgbClr val="1A1A1A"/>
                </a:solidFill>
                <a:latin typeface="Consolas"/>
              </a:defRPr>
            </a:pPr>
            <a:r>
              <a:t>Setter                      Value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setAiConfigurationName()    HelloAiConstants::AI_CONFIGURATION_HELLO_AI                                                          </a:t>
            </a:r>
          </a:p>
          <a:p>
            <a:pPr>
              <a:spcAft>
                <a:spcPts val="100"/>
              </a:spcAft>
              <a:defRPr sz="1000">
                <a:solidFill>
                  <a:srgbClr val="1A1A1A"/>
                </a:solidFill>
                <a:latin typeface="Consolas"/>
              </a:defRPr>
            </a:pPr>
            <a:r>
              <a:t>setConversationReference()  the reference from TODO-6                                                                            </a:t>
            </a:r>
          </a:p>
          <a:p>
            <a:pPr>
              <a:spcAft>
                <a:spcPts val="100"/>
              </a:spcAft>
              <a:defRPr sz="1000">
                <a:solidFill>
                  <a:srgbClr val="1A1A1A"/>
                </a:solidFill>
                <a:latin typeface="Consolas"/>
              </a:defRPr>
            </a:pPr>
            <a:r>
              <a:t>setPromptMessage()          a PromptMessageTransfer with type AiFoundationConstants::MESSAGE_TYPE_USER and the message as content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call $this-&gt;aiFoundationClient-&gt;prompt($promptRequestTransfer) .</a:t>
            </a:r>
          </a:p>
          <a:p>
            <a:pPr>
              <a:spcAft>
                <a:spcPts val="800"/>
              </a:spcAft>
              <a:defRPr sz="1600">
                <a:solidFill>
                  <a:srgbClr val="1A1A1A"/>
                </a:solidFill>
              </a:defRPr>
            </a:pPr>
            <a:r>
              <a:t>TODO-8: if the response is not successful or has no message, throw a ServiceUnavailableHttpException . Otherwise copy the conversation reference and the answer into the resource and return it.</a:t>
            </a:r>
          </a:p>
          <a:p>
            <a:pPr>
              <a:spcAft>
                <a:spcPts val="800"/>
              </a:spcAft>
              <a:defRPr sz="1400" i="1">
                <a:solidFill>
                  <a:srgbClr val="888888"/>
                </a:solidFill>
              </a:defRPr>
            </a:pPr>
            <a:r>
              <a:t>❝ Where is the answer? PromptResponseTransfer::getMessage() returns a PromptMessageTransfer . Its getContent() is the text of the LLM.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tests/SprykerAcademyTest/Glue/HelloAi/</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tests/SprykerAcademyTest/Glue/HelloAi/ Exercise19</a:t>
            </a:r>
          </a:p>
          <a:p>
            <a:pPr>
              <a:spcAft>
                <a:spcPts val="800"/>
              </a:spcAft>
              <a:defRPr sz="1600">
                <a:solidFill>
                  <a:srgbClr val="1A1A1A"/>
                </a:solidFill>
              </a:defRPr>
            </a:pPr>
            <a:r>
              <a:t>api:generate creates Generated\Api\Storefront\AiChatsStorefrontResource , which the tests need. All 11 tests must pass. The AiFoundation client is mocked, so no token is spent. One test fails if your processor references the NeuronAI namespace.</a:t>
            </a:r>
          </a:p>
          <a:p>
            <a:pPr>
              <a:spcBef>
                <a:spcPts val="1200"/>
              </a:spcBef>
              <a:spcAft>
                <a:spcPts val="600"/>
              </a:spcAft>
              <a:defRPr sz="2000" b="1">
                <a:solidFill>
                  <a:srgbClr val="1A1A1A"/>
                </a:solidFill>
              </a:defRPr>
            </a:pPr>
            <a:r>
              <a:t>Part 3: The AI Configuration</a:t>
            </a:r>
          </a:p>
          <a:p>
            <a:pPr>
              <a:spcAft>
                <a:spcPts val="800"/>
              </a:spcAft>
              <a:defRPr sz="1600">
                <a:solidFill>
                  <a:srgbClr val="1A1A1A"/>
                </a:solidFill>
              </a:defRPr>
            </a:pPr>
            <a:r>
              <a:t>Your code names a configuration that does not exist yet. Add it to config/Shared/config_ai.php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elloAi\</a:t>
            </a:r>
            <a:r>
              <a:rPr sz="900">
                <a:solidFill>
                  <a:srgbClr val="880000"/>
                </a:solidFill>
                <a:latin typeface="Consolas"/>
              </a:rPr>
              <a:t>H</a:t>
            </a:r>
            <a:r>
              <a:rPr sz="900">
                <a:solidFill>
                  <a:srgbClr val="2D2D2D"/>
                </a:solidFill>
                <a:latin typeface="Consolas"/>
              </a:rPr>
              <a:t>elloAiConstants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elloAiConstants::</a:t>
            </a:r>
            <a:r>
              <a:rPr sz="900">
                <a:solidFill>
                  <a:srgbClr val="880000"/>
                </a:solidFill>
                <a:latin typeface="Consolas"/>
              </a:rPr>
              <a:t>AI_CONFIGURATION_HELLO_AI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friendly assistant for a Spryker developer training. Answer in one or two short sentences.'</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with the other imports. AiCommerceConstants here is Pyz\Shared\AiCommerce\AiCommerceConstants , which the demo shop already imports in this file.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 ways to set a value. key uses the prefix configuration:: and is read at runtime from the Back Office configuration. model and system_prompt are plain strings. Both forms are valid for every field. Use the prefix for secrets and for anything an admin should change without a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400" i="1">
                <a:solidFill>
                  <a:srgbClr val="888888"/>
                </a:solidFill>
              </a:defRPr>
            </a:pPr>
            <a:r>
              <a:t>❝ Why two cache commands? The Glue applications compile a Symfony container that caches the API Platform source directories and routes. cache:empty-all does not touch it. In the demo shop, glue.eu.spryker.local is served by the GLUE application, and GLUE_STOREFRONT is the dedicated storefront application. Clear both. This is the documented step, see API Platform: cache warming above.</a:t>
            </a:r>
          </a:p>
          <a:p>
            <a:pPr>
              <a:spcAft>
                <a:spcPts val="800"/>
              </a:spcAft>
              <a:defRPr sz="1600">
                <a:solidFill>
                  <a:srgbClr val="1A1A1A"/>
                </a:solidFill>
              </a:defRPr>
            </a:pPr>
            <a:r>
              <a:t>Send the first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'{"data":{"type":"ai-chats","attributes":{"message":"Hello world! My name is Hidran."}}}'</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"id"</a:t>
            </a:r>
            <a:r>
              <a:rPr sz="900">
                <a:solidFill>
                  <a:srgbClr val="06287E"/>
                </a:solidFill>
                <a:latin typeface="Consolas"/>
              </a:rPr>
              <a:t>:</a:t>
            </a:r>
            <a:r>
              <a:rPr sz="900" b="1">
                <a:solidFill>
                  <a:srgbClr val="007020"/>
                </a:solidFill>
                <a:latin typeface="Consolas"/>
              </a:rPr>
              <a:t>null</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"ai-chats"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"message"</a:t>
            </a:r>
            <a:r>
              <a:rPr sz="900">
                <a:solidFill>
                  <a:srgbClr val="06287E"/>
                </a:solidFill>
                <a:latin typeface="Consolas"/>
              </a:rPr>
              <a:t>:</a:t>
            </a:r>
            <a:r>
              <a:rPr sz="900">
                <a:solidFill>
                  <a:srgbClr val="4070A0"/>
                </a:solidFill>
                <a:latin typeface="Consolas"/>
              </a:rPr>
              <a:t>"Hello world! My name is Hidran."</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"hello-ai-6aac7af26ec95"</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"Hello Hidran! How can I assist you with Spryker development today?"</a:t>
            </a:r>
            <a:r>
              <a:rPr sz="900">
                <a:solidFill>
                  <a:srgbClr val="06287E"/>
                </a:solidFill>
                <a:latin typeface="Consolas"/>
              </a:rPr>
              <a:t>}}}</a:t>
            </a:r>
          </a:p>
          <a:p>
            <a:pPr>
              <a:spcAft>
                <a:spcPts val="800"/>
              </a:spcAft>
              <a:defRPr sz="1600">
                <a:solidFill>
                  <a:srgbClr val="1A1A1A"/>
                </a:solidFill>
              </a:defRPr>
            </a:pPr>
            <a:r>
              <a:t>Now send the conversationReference back with a second message: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'{"data":{"type":"ai-chats","attributes":{"message":"What is my name?","conversationReference":"hello-ai-6aac7af26ec95"}}}'</a:t>
            </a:r>
          </a:p>
          <a:p>
            <a:pPr>
              <a:spcAft>
                <a:spcPts val="800"/>
              </a:spcAft>
              <a:defRPr sz="1600">
                <a:solidFill>
                  <a:srgbClr val="1A1A1A"/>
                </a:solidFill>
              </a:defRPr>
            </a:pPr>
            <a:r>
              <a:t>The answer names you. Send the same question without the reference, and the LLM does not know you. That is the memory.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First message without a reference returns an answer and a new conversationReference .</a:t>
            </a:r>
          </a:p>
          <a:p>
            <a:pPr>
              <a:spcAft>
                <a:spcPts val="400"/>
              </a:spcAft>
              <a:defRPr sz="1500">
                <a:solidFill>
                  <a:srgbClr val="1A1A1A"/>
                </a:solidFill>
              </a:defRPr>
            </a:pPr>
            <a:r>
              <a:t>• Second message with that reference gets an answer that uses the earlier context.</a:t>
            </a:r>
          </a:p>
          <a:p>
            <a:pPr>
              <a:spcAft>
                <a:spcPts val="400"/>
              </a:spcAft>
              <a:defRPr sz="1500">
                <a:solidFill>
                  <a:srgbClr val="1A1A1A"/>
                </a:solidFill>
              </a:defRPr>
            </a:pPr>
            <a:r>
              <a:t>• Same question without the reference gets an answer without that context.</a:t>
            </a:r>
          </a:p>
          <a:p>
            <a:pPr>
              <a:spcAft>
                <a:spcPts val="400"/>
              </a:spcAft>
              <a:defRPr sz="1500">
                <a:solidFill>
                  <a:srgbClr val="1A1A1A"/>
                </a:solidFill>
              </a:defRPr>
            </a:pPr>
            <a:r>
              <a:t>• An empty message returns HTTP 422 with the message The attribute “message” must not be empty.</a:t>
            </a:r>
          </a:p>
          <a:p>
            <a:pPr>
              <a:spcAft>
                <a:spcPts val="400"/>
              </a:spcAft>
              <a:defRPr sz="1500">
                <a:solidFill>
                  <a:srgbClr val="1A1A1A"/>
                </a:solidFill>
              </a:defRPr>
            </a:pPr>
            <a:r>
              <a:t>• AiFoundation records every prompt of the SPRYKER_ACADEMY:AI_CONFIGURATION_HELLO_AI configuration in its audit log, separate from the other AI features.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600">
                <a:solidFill>
                  <a:srgbClr val="1A1A1A"/>
                </a:solidFill>
              </a:defRPr>
            </a:pPr>
            <a:r>
              <a:t>For the complete branch the loader adds the AI configuration of Part 3 for you, marked with ai-foundation exercise . It removes it again when you load the skeleton or another package.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to answer only in German, and clear the caches. No code changed.</a:t>
            </a:r>
          </a:p>
          <a:p>
            <a:pPr>
              <a:spcAft>
                <a:spcPts val="400"/>
              </a:spcAft>
              <a:defRPr sz="1500">
                <a:solidFill>
                  <a:srgbClr val="1A1A1A"/>
                </a:solidFill>
              </a:defRPr>
            </a:pPr>
            <a:r>
              <a:t>• Switch the model to gpt-4.1 and compare answers.</a:t>
            </a:r>
          </a:p>
          <a:p>
            <a:pPr>
              <a:spcAft>
                <a:spcPts val="400"/>
              </a:spcAft>
              <a:defRPr sz="1500">
                <a:solidFill>
                  <a:srgbClr val="1A1A1A"/>
                </a:solidFill>
              </a:defRPr>
            </a:pPr>
            <a:r>
              <a:t>• Add a GET /ai-chats/{conversationReference} operation with a provider that returns the history through AiFoundationClientInterface::getConversationHistoryCollection() .</a:t>
            </a:r>
          </a:p>
          <a:p>
            <a:pPr>
              <a:spcAft>
                <a:spcPts val="400"/>
              </a:spcAft>
              <a:defRPr sz="1500">
                <a:solidFill>
                  <a:srgbClr val="1A1A1A"/>
                </a:solidFill>
              </a:defRPr>
            </a:pPr>
            <a:r>
              <a:t>• Exercise 20 builds on this: the same PromptRequestTransfer , plus a tool and a structured answer.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03-ai-foundation-catalog</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Ask the Catalog - Tool Calling and Structured Answers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extend the Hello AI pattern with the two ideas that make an LLM useful in a shop. A customer asks a question about a product. The LLM does not know your catalog, so it calls a tool that reads the product from the database. Then it answers in a fixed structure with typed fields instead of free text.</a:t>
            </a:r>
          </a:p>
          <a:p>
            <a:pPr>
              <a:spcAft>
                <a:spcPts val="800"/>
              </a:spcAft>
              <a:defRPr sz="1600">
                <a:solidFill>
                  <a:srgbClr val="1A1A1A"/>
                </a:solidFill>
              </a:defRPr>
            </a:pPr>
            <a:r>
              <a:t>You will learn how to: - Write a tool plugin that the LLM can call: name, description, typed parameters, and execution in Zed - Group tools in a tool set plugin and register it with AiFoundation - Define a structured answer as a transfer object and get typed getters back - Request tools and the answer shape from a Storefront API processor - Write a system prompt with a guardrail against invented facts</a:t>
            </a:r>
          </a:p>
          <a:p>
            <a:pPr>
              <a:spcAft>
                <a:spcPts val="800"/>
              </a:spcAft>
              <a:defRPr sz="1600">
                <a:solidFill>
                  <a:srgbClr val="1A1A1A"/>
                </a:solidFill>
              </a:defRPr>
            </a:pPr>
            <a:r>
              <a:t>Official documentation: - Extend AI Commerce agents with custom toolsets - AI Foundation module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19: Hello AI . The endpoint, the processor, and the AI configuration follow the same pattern.</a:t>
            </a:r>
          </a:p>
          <a:p>
            <a:pPr>
              <a:spcAft>
                <a:spcPts val="400"/>
              </a:spcAft>
              <a:defRPr sz="1500">
                <a:solidFill>
                  <a:srgbClr val="1A1A1A"/>
                </a:solidFill>
              </a:defRPr>
            </a:pPr>
            <a:r>
              <a:t>• An OpenAI API token in the Back Office. The Back Office Assistant is not required.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POST /product-questions {sku, question}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ProductQuestionsStorefrontProcessor   builds a PromptRequestTransfer with</a:t>
            </a:r>
          </a:p>
          <a:p>
            <a:pPr>
              <a:spcBef>
                <a:spcPts val="0"/>
              </a:spcBef>
              <a:spcAft>
                <a:spcPts val="0"/>
              </a:spcAft>
            </a:pPr>
            <a:r>
              <a:rPr sz="900">
                <a:solidFill>
                  <a:srgbClr val="2D2D2D"/>
                </a:solidFill>
                <a:latin typeface="Consolas"/>
              </a:rPr>
              <a:t>   |                                  tool set name + structured message + conversation reference</a:t>
            </a:r>
          </a:p>
          <a:p>
            <a:pPr>
              <a:spcBef>
                <a:spcPts val="0"/>
              </a:spcBef>
              <a:spcAft>
                <a:spcPts val="0"/>
              </a:spcAft>
            </a:pPr>
            <a:r>
              <a:rPr sz="900">
                <a:solidFill>
                  <a:srgbClr val="2D2D2D"/>
                </a:solidFill>
                <a:latin typeface="Consolas"/>
              </a:rPr>
              <a:t>   v  AiFoundationClient::prompt()</a:t>
            </a:r>
          </a:p>
          <a:p>
            <a:pPr>
              <a:spcBef>
                <a:spcPts val="0"/>
              </a:spcBef>
              <a:spcAft>
                <a:spcPts val="0"/>
              </a:spcAft>
            </a:pPr>
            <a:r>
              <a:rPr sz="900">
                <a:solidFill>
                  <a:srgbClr val="2D2D2D"/>
                </a:solidFill>
                <a:latin typeface="Consolas"/>
              </a:rPr>
              <a:t>Zed: AiFoundation</a:t>
            </a:r>
          </a:p>
          <a:p>
            <a:pPr>
              <a:spcBef>
                <a:spcPts val="0"/>
              </a:spcBef>
              <a:spcAft>
                <a:spcPts val="0"/>
              </a:spcAft>
            </a:pPr>
            <a:r>
              <a:rPr sz="900">
                <a:solidFill>
                  <a:srgbClr val="2D2D2D"/>
                </a:solidFill>
                <a:latin typeface="Consolas"/>
              </a:rPr>
              <a:t>   |  1. sends system prompt, question, and the TOOL DEFINITIONS to the provider</a:t>
            </a:r>
          </a:p>
          <a:p>
            <a:pPr>
              <a:spcBef>
                <a:spcPts val="0"/>
              </a:spcBef>
              <a:spcAft>
                <a:spcPts val="0"/>
              </a:spcAft>
            </a:pPr>
            <a:r>
              <a:rPr sz="900">
                <a:solidFill>
                  <a:srgbClr val="2D2D2D"/>
                </a:solidFill>
                <a:latin typeface="Consolas"/>
              </a:rPr>
              <a:t>   |  2. the model answers "call get_product_details(sku=...)"</a:t>
            </a:r>
          </a:p>
          <a:p>
            <a:pPr>
              <a:spcBef>
                <a:spcPts val="0"/>
              </a:spcBef>
              <a:spcAft>
                <a:spcPts val="0"/>
              </a:spcAft>
            </a:pPr>
            <a:r>
              <a:rPr sz="900">
                <a:solidFill>
                  <a:srgbClr val="2D2D2D"/>
                </a:solidFill>
                <a:latin typeface="Consolas"/>
              </a:rPr>
              <a:t>   |  3. AiFoundation runs GetProductDetailsToolPlugin::execute() in Zed and sends the JSON result back</a:t>
            </a:r>
          </a:p>
          <a:p>
            <a:pPr>
              <a:spcBef>
                <a:spcPts val="0"/>
              </a:spcBef>
              <a:spcAft>
                <a:spcPts val="0"/>
              </a:spcAft>
            </a:pPr>
            <a:r>
              <a:rPr sz="900">
                <a:solidFill>
                  <a:srgbClr val="2D2D2D"/>
                </a:solidFill>
                <a:latin typeface="Consolas"/>
              </a:rPr>
              <a:t>   |  4. the model answers in the JSON shape of ProductAnswerTransfer</a:t>
            </a:r>
          </a:p>
          <a:p>
            <a:pPr>
              <a:spcBef>
                <a:spcPts val="0"/>
              </a:spcBef>
              <a:spcAft>
                <a:spcPts val="0"/>
              </a:spcAft>
            </a:pPr>
            <a:r>
              <a:rPr sz="900">
                <a:solidFill>
                  <a:srgbClr val="2D2D2D"/>
                </a:solidFill>
                <a:latin typeface="Consolas"/>
              </a:rPr>
              <a:t>   |  5. AiFoundation validates the shape, retries when it does not fit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typed ProductAnswerTransfer  --&gt;  processor maps it  --&gt;  JSON:API response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Class                        What the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GetProductDetailsToolPlugin  Only getName() , getDescription() , and getParameters() . It never sees execute()          </a:t>
            </a:r>
          </a:p>
          <a:p>
            <a:pPr>
              <a:spcAft>
                <a:spcPts val="100"/>
              </a:spcAft>
              <a:defRPr sz="1000">
                <a:solidFill>
                  <a:srgbClr val="1A1A1A"/>
                </a:solidFill>
                <a:latin typeface="Consolas"/>
              </a:defRPr>
            </a:pPr>
            <a:r>
              <a:t>Tool set           CatalogToolSetPlugin         Nothing. It is the name the processor requests                                             </a:t>
            </a:r>
          </a:p>
          <a:p>
            <a:pPr>
              <a:spcAft>
                <a:spcPts val="100"/>
              </a:spcAft>
              <a:defRPr sz="1000">
                <a:solidFill>
                  <a:srgbClr val="1A1A1A"/>
                </a:solidFill>
                <a:latin typeface="Consolas"/>
              </a:defRPr>
            </a:pPr>
            <a:r>
              <a:t>Structured answer  ProductAnswerTransfer        A JSON schema built from the transfer. The property descriptions are the field instructions</a:t>
            </a:r>
          </a:p>
          <a:p>
            <a:pPr>
              <a:spcAft>
                <a:spcPts val="100"/>
              </a:spcAft>
              <a:defRPr sz="1000">
                <a:solidFill>
                  <a:srgbClr val="1A1A1A"/>
                </a:solidFill>
                <a:latin typeface="Consolas"/>
              </a:defRPr>
            </a:pPr>
            <a:r>
              <a:t>Business logic     ProductDetailsReader         Nothing. Tools are thin, the reader does the work with facades</a:t>
            </a:r>
          </a:p>
          <a:p>
            <a:pPr>
              <a:spcAft>
                <a:spcPts val="800"/>
              </a:spcAft>
              <a:defRPr sz="1400" i="1">
                <a:solidFill>
                  <a:srgbClr val="888888"/>
                </a:solidFill>
              </a:defRPr>
            </a:pPr>
            <a:r>
              <a:t>❝ Tools run in Zed. The Storefront API only names the tool set. AiFoundation looks the tool set up in the Zed AiFoundationDependencyProvider and executes tools there, with full access to facades. That is why the tool plugin lives in src/SprykerAcademy/Zed while the endpoint lives in Glue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business layer is provided. Open ProductDetailsReader once: it resolves an abstract or concrete SKU, collects name, description, attributes, and every variant with availability and price, and returns one JSON string. When nothing is found, it returns a JSON error. The tool passes that string to the model unchanged.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Tool</a:t>
            </a:r>
          </a:p>
          <a:p>
            <a:pPr>
              <a:spcAft>
                <a:spcPts val="800"/>
              </a:spcAft>
              <a:defRPr sz="1600">
                <a:solidFill>
                  <a:srgbClr val="1A1A1A"/>
                </a:solidFill>
              </a:defRPr>
            </a:pPr>
            <a:r>
              <a:t>Open src/SprykerAcademy/Zed/CatalogAssistant/Communication/Plugin/AiFoundation/Tool/GetProductDetailsToolPlugin.php . Complete TODO-1 to TODO-4 :</a:t>
            </a:r>
          </a:p>
          <a:p>
            <a:pPr>
              <a:spcAft>
                <a:spcPts val="400"/>
              </a:spcAft>
              <a:defRPr sz="1500">
                <a:solidFill>
                  <a:srgbClr val="1A1A1A"/>
                </a:solidFill>
              </a:defRPr>
            </a:pPr>
            <a:r>
              <a:t>• getName() returns 'get_product_details' .</a:t>
            </a:r>
          </a:p>
          <a:p>
            <a:pPr>
              <a:spcAft>
                <a:spcPts val="400"/>
              </a:spcAft>
              <a:defRPr sz="1500">
                <a:solidFill>
                  <a:srgbClr val="1A1A1A"/>
                </a:solidFill>
              </a:defRPr>
            </a:pPr>
            <a:r>
              <a:t>• getDescription() says what comes back, what the tool needs, and when to call it. Write it for a reader who has never seen your code: “Call it before answering any question about a product.”</a:t>
            </a:r>
          </a:p>
          <a:p>
            <a:pPr>
              <a:spcAft>
                <a:spcPts val="400"/>
              </a:spcAft>
              <a:defRPr sz="1500">
                <a:solidFill>
                  <a:srgbClr val="1A1A1A"/>
                </a:solidFill>
              </a:defRPr>
            </a:pPr>
            <a:r>
              <a:t>• getParameters() returns one required ToolParameter named sku of type string .</a:t>
            </a:r>
          </a:p>
          <a:p>
            <a:pPr>
              <a:spcAft>
                <a:spcPts val="400"/>
              </a:spcAft>
              <a:defRPr sz="1500">
                <a:solidFill>
                  <a:srgbClr val="1A1A1A"/>
                </a:solidFill>
              </a:defRPr>
            </a:pPr>
            <a:r>
              <a:t>• execute() delegates to ProductDetailsReader::getProductDetailsJson() with the sku argument.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parameter name is a contract. AiFoundation passes the model’s arguments to execute(...$arguments) as a named array. The reader is called with $arguments['sku'] . Rename the parameter and the value is lost.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CatalogToolSetPlugin.php in the parent directory. TODO-5 returns CatalogAssistantConstants::TOOL_SET_CATALOG . TODO-6 returns the tool from the factory.</a:t>
            </a:r>
          </a:p>
          <a:p>
            <a:pPr>
              <a:spcBef>
                <a:spcPts val="1200"/>
              </a:spcBef>
              <a:spcAft>
                <a:spcPts val="600"/>
              </a:spcAft>
              <a:defRPr sz="2000" b="1">
                <a:solidFill>
                  <a:srgbClr val="1A1A1A"/>
                </a:solidFill>
              </a:defRPr>
            </a:pPr>
            <a:r>
              <a:t>Part 3: The Structured Answer</a:t>
            </a:r>
          </a:p>
          <a:p>
            <a:pPr>
              <a:spcAft>
                <a:spcPts val="800"/>
              </a:spcAft>
              <a:defRPr sz="1600">
                <a:solidFill>
                  <a:srgbClr val="1A1A1A"/>
                </a:solidFill>
              </a:defRPr>
            </a:pPr>
            <a:r>
              <a:t>Open src/SprykerAcademy/Shared/CatalogAssistant/Transfer/catalog_assistant.transfer.xml . The ProductAnswer transfer has only answer . TODO-7: add isInStock (bool), confidence (string), and relatedSkus (string[]) with descriptions.</a:t>
            </a:r>
          </a:p>
          <a:p>
            <a:pPr>
              <a:spcAft>
                <a:spcPts val="800"/>
              </a:spcAft>
              <a:defRPr sz="1600">
                <a:solidFill>
                  <a:srgbClr val="1A1A1A"/>
                </a:solidFill>
              </a:defRPr>
            </a:pPr>
            <a:r>
              <a:t>Then regenerate the transfer:</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Never null. AiFoundation validates the model’s JSON against the transfer and rejects an answer with a null property. A description like “null when unknown” therefore causes failures. Say instead what to return when the value is unknown: false , 'low' , or an empty list. The tests check for the words “never null” in the two descriptions where this matters.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src/SprykerAcademy/Glue/CatalogAssistant/Api/Storefront/Processor/ProductQuestionsStorefrontProcessor.php . The prompt request already carries the configuration name, the conversation reference, and the message. TODO-8 adds three calls:</a:t>
            </a:r>
          </a:p>
          <a:p>
            <a:pPr>
              <a:spcAft>
                <a:spcPts val="100"/>
              </a:spcAft>
              <a:defRPr sz="1000">
                <a:solidFill>
                  <a:srgbClr val="1A1A1A"/>
                </a:solidFill>
                <a:latin typeface="Consolas"/>
              </a:defRPr>
            </a:pPr>
            <a:r>
              <a:t>Call                                                         Effect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addToolSetName(CatalogAssistantConstants::TOOL_SET_CATALOG)  The model may call every tool in that set                  </a:t>
            </a:r>
          </a:p>
          <a:p>
            <a:pPr>
              <a:spcAft>
                <a:spcPts val="100"/>
              </a:spcAft>
              <a:defRPr sz="1000">
                <a:solidFill>
                  <a:srgbClr val="1A1A1A"/>
                </a:solidFill>
                <a:latin typeface="Consolas"/>
              </a:defRPr>
            </a:pPr>
            <a:r>
              <a:t>setStructuredMessage(new ProductAnswerTransfer())            The model must answer in that shape                        </a:t>
            </a:r>
          </a:p>
          <a:p>
            <a:pPr>
              <a:spcAft>
                <a:spcPts val="100"/>
              </a:spcAft>
              <a:defRPr sz="1000">
                <a:solidFill>
                  <a:srgbClr val="1A1A1A"/>
                </a:solidFill>
                <a:latin typeface="Consolas"/>
              </a:defRPr>
            </a:pPr>
            <a:r>
              <a:t>setMaxRetries(2)                                             AiFoundation retries when the answer does not fit the shape</a:t>
            </a:r>
          </a:p>
          <a:p>
            <a:pPr>
              <a:spcAft>
                <a:spcPts val="800"/>
              </a:spcAft>
              <a:defRPr sz="1600">
                <a:solidFill>
                  <a:srgbClr val="1A1A1A"/>
                </a:solidFill>
              </a:defRPr>
            </a:pPr>
            <a:r>
              <a:t>TODO-9: copy answer , isInStock , confidence , and relatedSkus from the typed transfer into the resource.</a:t>
            </a:r>
          </a:p>
          <a:p>
            <a:pPr>
              <a:spcAft>
                <a:spcPts val="800"/>
              </a:spcAft>
              <a:defRPr sz="1600">
                <a:solidFill>
                  <a:srgbClr val="1A1A1A"/>
                </a:solidFill>
              </a:defRPr>
            </a:pPr>
            <a:r>
              <a:t>The resource schema product-questions.resource.yml is complete. Read it to see how the four answer fields are declared read-only.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tests/SprykerAcademyTest/Zed/CatalogAssistant/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tests/SprykerAcademyTest/Zed/CatalogAssistant/ Exercise20</a:t>
            </a:r>
          </a:p>
          <a:p>
            <a:pPr>
              <a:spcAft>
                <a:spcPts val="800"/>
              </a:spcAft>
              <a:defRPr sz="1600">
                <a:solidFill>
                  <a:srgbClr val="1A1A1A"/>
                </a:solidFill>
              </a:defRPr>
            </a:pPr>
            <a:r>
              <a:t>All 15 tests must pass. The client is mocked, so no token is spent.</a:t>
            </a:r>
          </a:p>
          <a:p>
            <a:pPr>
              <a:spcBef>
                <a:spcPts val="1200"/>
              </a:spcBef>
              <a:spcAft>
                <a:spcPts val="600"/>
              </a:spcAft>
              <a:defRPr sz="2000" b="1">
                <a:solidFill>
                  <a:srgbClr val="1A1A1A"/>
                </a:solidFill>
              </a:defRPr>
            </a:pPr>
            <a:r>
              <a:t>Part 5: Wire It Into the Project</a:t>
            </a:r>
          </a:p>
          <a:p>
            <a:pPr>
              <a:spcAft>
                <a:spcPts val="800"/>
              </a:spcAft>
              <a:defRPr sz="1600">
                <a:solidFill>
                  <a:srgbClr val="1A1A1A"/>
                </a:solidFill>
              </a:defRPr>
            </a:pPr>
            <a:r>
              <a:t>1. Register the tool set. In src/Pyz/Zed/AiFoundation/AiFoundationDependencyProvider.php , add new CatalogToolSetPlugin() to getAiToolSetPlugins() . If the file does not exist yet, create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atalogAssistant\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\Spryker\Zed\AiFoundation\Dependency\Tools\ToolSetPluginInterface&gt;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getAiToolSetPlugins()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2. Add the AI configuration with a guardrail prompt to config/Shared/config_ai.php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atalogAssistant\</a:t>
            </a:r>
            <a:r>
              <a:rPr sz="900">
                <a:solidFill>
                  <a:srgbClr val="880000"/>
                </a:solidFill>
                <a:latin typeface="Consolas"/>
              </a:rPr>
              <a:t>C</a:t>
            </a:r>
            <a:r>
              <a:rPr sz="900">
                <a:solidFill>
                  <a:srgbClr val="2D2D2D"/>
                </a:solidFill>
                <a:latin typeface="Consolas"/>
              </a:rPr>
              <a:t>atalogAssistantConstants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C</a:t>
            </a:r>
            <a:r>
              <a:rPr sz="900">
                <a:solidFill>
                  <a:srgbClr val="2D2D2D"/>
                </a:solidFill>
                <a:latin typeface="Consolas"/>
              </a:rPr>
              <a:t>atalogAssistantConstants::</a:t>
            </a:r>
            <a:r>
              <a:rPr sz="900">
                <a:solidFill>
                  <a:srgbClr val="880000"/>
                </a:solidFill>
                <a:latin typeface="Consolas"/>
              </a:rPr>
              <a:t>AI_CONFIGURATION_CATALOG_ASSISTANT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product advisor for an online shop. You answer questions about one product at a time.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'ALWAYS call get_product_details with the given SKU before answering, even for follow-up questions.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'Answer only with facts from the tool result. If the tool returns an error or the details do not cover the question,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'say so and set confidence to low. Prices in the tool result are gross amounts in cents; show them in major units.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'Keep the answer under 80 words.'</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The guardrail. Without “answer only with facts from the tool result”, the model happily describes a product it has never seen. Test it later with a SKU that does not exist.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3.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Ask about a real product from the demo data:</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http://glue.eu.spryker.local/product-questions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'{"data":{"type":"product-questions","attributes":{"sku":"M1000785","question":"What is this product, is it in stock, and how much does it cost?"}}}'</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"product-questions"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"sku"</a:t>
            </a:r>
            <a:r>
              <a:rPr sz="900">
                <a:solidFill>
                  <a:srgbClr val="06287E"/>
                </a:solidFill>
                <a:latin typeface="Consolas"/>
              </a:rPr>
              <a:t>:</a:t>
            </a:r>
            <a:r>
              <a:rPr sz="900">
                <a:solidFill>
                  <a:srgbClr val="4070A0"/>
                </a:solidFill>
                <a:latin typeface="Consolas"/>
              </a:rPr>
              <a:t>"M1000785"</a:t>
            </a:r>
            <a:r>
              <a:rPr sz="900">
                <a:solidFill>
                  <a:srgbClr val="06287E"/>
                </a:solidFill>
                <a:latin typeface="Consolas"/>
              </a:rPr>
              <a:t>,</a:t>
            </a:r>
            <a:r>
              <a:rPr sz="900">
                <a:solidFill>
                  <a:srgbClr val="902000"/>
                </a:solidFill>
                <a:latin typeface="Consolas"/>
              </a:rPr>
              <a:t>"question"</a:t>
            </a:r>
            <a:r>
              <a:rPr sz="900">
                <a:solidFill>
                  <a:srgbClr val="06287E"/>
                </a:solidFill>
                <a:latin typeface="Consolas"/>
              </a:rPr>
              <a:t>:</a:t>
            </a:r>
            <a:r>
              <a:rPr sz="900">
                <a:solidFill>
                  <a:srgbClr val="4070A0"/>
                </a:solidFill>
                <a:latin typeface="Consolas"/>
              </a:rPr>
              <a:t>"..."</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"catalog-6aac80f1d0217"</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"This product is a set of 4 wood stackable chairs ... It is currently in stock with 20 pieces available. The price for the package of 4 chairs is 482.69 euros."</a:t>
            </a:r>
            <a:r>
              <a:rPr sz="900">
                <a:solidFill>
                  <a:srgbClr val="06287E"/>
                </a:solidFill>
                <a:latin typeface="Consolas"/>
              </a:rPr>
              <a:t>,</a:t>
            </a:r>
            <a:r>
              <a:rPr sz="900">
                <a:solidFill>
                  <a:srgbClr val="902000"/>
                </a:solidFill>
                <a:latin typeface="Consolas"/>
              </a:rPr>
              <a:t>"isInStock"</a:t>
            </a:r>
            <a:r>
              <a:rPr sz="900">
                <a:solidFill>
                  <a:srgbClr val="06287E"/>
                </a:solidFill>
                <a:latin typeface="Consolas"/>
              </a:rPr>
              <a:t>:</a:t>
            </a:r>
            <a:r>
              <a:rPr sz="900" b="1">
                <a:solidFill>
                  <a:srgbClr val="007020"/>
                </a:solidFill>
                <a:latin typeface="Consolas"/>
              </a:rPr>
              <a:t>true</a:t>
            </a:r>
            <a:r>
              <a:rPr sz="900">
                <a:solidFill>
                  <a:srgbClr val="06287E"/>
                </a:solidFill>
                <a:latin typeface="Consolas"/>
              </a:rPr>
              <a:t>,</a:t>
            </a:r>
            <a:r>
              <a:rPr sz="900">
                <a:solidFill>
                  <a:srgbClr val="902000"/>
                </a:solidFill>
                <a:latin typeface="Consolas"/>
              </a:rPr>
              <a:t>"confidence"</a:t>
            </a:r>
            <a:r>
              <a:rPr sz="900">
                <a:solidFill>
                  <a:srgbClr val="06287E"/>
                </a:solidFill>
                <a:latin typeface="Consolas"/>
              </a:rPr>
              <a:t>:</a:t>
            </a:r>
            <a:r>
              <a:rPr sz="900">
                <a:solidFill>
                  <a:srgbClr val="4070A0"/>
                </a:solidFill>
                <a:latin typeface="Consolas"/>
              </a:rPr>
              <a:t>"high"</a:t>
            </a:r>
            <a:r>
              <a:rPr sz="900">
                <a:solidFill>
                  <a:srgbClr val="06287E"/>
                </a:solidFill>
                <a:latin typeface="Consolas"/>
              </a:rPr>
              <a:t>,</a:t>
            </a:r>
            <a:r>
              <a:rPr sz="900">
                <a:solidFill>
                  <a:srgbClr val="902000"/>
                </a:solidFill>
                <a:latin typeface="Consolas"/>
              </a:rPr>
              <a:t>"relatedSkus"</a:t>
            </a:r>
            <a:r>
              <a:rPr sz="900">
                <a:solidFill>
                  <a:srgbClr val="06287E"/>
                </a:solidFill>
                <a:latin typeface="Consolas"/>
              </a:rPr>
              <a:t>:</a:t>
            </a:r>
            <a:r>
              <a:rPr sz="900">
                <a:solidFill>
                  <a:srgbClr val="007020"/>
                </a:solidFill>
                <a:latin typeface="Consolas"/>
              </a:rPr>
              <a:t>[</a:t>
            </a:r>
            <a:r>
              <a:rPr sz="900">
                <a:solidFill>
                  <a:srgbClr val="4070A0"/>
                </a:solidFill>
                <a:latin typeface="Consolas"/>
              </a:rPr>
              <a:t>"212427"</a:t>
            </a:r>
            <a:r>
              <a:rPr sz="900">
                <a:solidFill>
                  <a:srgbClr val="007020"/>
                </a:solidFill>
                <a:latin typeface="Consolas"/>
              </a:rPr>
              <a:t>]</a:t>
            </a:r>
            <a:r>
              <a:rPr sz="900">
                <a:solidFill>
                  <a:srgbClr val="06287E"/>
                </a:solidFill>
                <a:latin typeface="Consolas"/>
              </a:rPr>
              <a:t>}}}</a:t>
            </a:r>
          </a:p>
          <a:p>
            <a:pPr>
              <a:spcAft>
                <a:spcPts val="400"/>
              </a:spcAft>
              <a:defRPr sz="1500">
                <a:solidFill>
                  <a:srgbClr val="1A1A1A"/>
                </a:solidFill>
              </a:defRPr>
            </a:pPr>
            <a:r>
              <a:t>• Tool call: the answer contains the real name, stock, and price. The model can only know them from the tool.</a:t>
            </a:r>
          </a:p>
          <a:p>
            <a:pPr>
              <a:spcAft>
                <a:spcPts val="400"/>
              </a:spcAft>
              <a:defRPr sz="1500">
                <a:solidFill>
                  <a:srgbClr val="1A1A1A"/>
                </a:solidFill>
              </a:defRPr>
            </a:pPr>
            <a:r>
              <a:t>• Structure: isInStock is a boolean, relatedSkus is a list, confidence is one of three words. No parsing on the client side.</a:t>
            </a:r>
          </a:p>
          <a:p>
            <a:pPr>
              <a:spcAft>
                <a:spcPts val="400"/>
              </a:spcAft>
              <a:defRPr sz="1500">
                <a:solidFill>
                  <a:srgbClr val="1A1A1A"/>
                </a:solidFill>
              </a:defRPr>
            </a:pPr>
            <a:r>
              <a:t>• Guardrail: ask about SKU DOES-NOT-EXIST . The answer says the product was not found, isInStock is false , and confidence is low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Memory: send the conversationReference back with “And how many can I order at most?”. The model still answers about the same product.</a:t>
            </a:r>
          </a:p>
          <a:p>
            <a:pPr>
              <a:spcAft>
                <a:spcPts val="400"/>
              </a:spcAft>
              <a:defRPr sz="1500">
                <a:solidFill>
                  <a:srgbClr val="1A1A1A"/>
                </a:solidFill>
              </a:defRPr>
            </a:pPr>
            <a:r>
              <a:t>• Validation: an empty question returns HTTP 422.</a:t>
            </a:r>
          </a:p>
          <a:p>
            <a:pPr>
              <a:spcAft>
                <a:spcPts val="800"/>
              </a:spcAft>
              <a:defRPr sz="1400" i="1">
                <a:solidFill>
                  <a:srgbClr val="888888"/>
                </a:solidFill>
              </a:defRPr>
            </a:pPr>
            <a:r>
              <a:t>❝ Where did the model go wrong? When the shape does not fit, the API returns HTTP 503 with The AI provider did not return a structured answer followed by AiFoundation’s reason, for example Failed to map structured response to transfer. Missing or empty properties: is_in_stock . Fix the description of that property, not the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600">
                <a:solidFill>
                  <a:srgbClr val="1A1A1A"/>
                </a:solidFill>
              </a:defRPr>
            </a:pPr>
            <a:r>
              <a:t>For the complete branch the loader does Part 5 for you, marked with ai-foundation exercise , and removes it again when you load a skeleton or another package.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second tool list_similar_products that searches the catalog by the product’s category, and let the model fill relatedSkus from it.</a:t>
            </a:r>
          </a:p>
          <a:p>
            <a:pPr>
              <a:spcAft>
                <a:spcPts val="400"/>
              </a:spcAft>
              <a:defRPr sz="1500">
                <a:solidFill>
                  <a:srgbClr val="1A1A1A"/>
                </a:solidFill>
              </a:defRPr>
            </a:pPr>
            <a:r>
              <a:t>• Add a language property to the answer and ask in German.</a:t>
            </a:r>
          </a:p>
          <a:p>
            <a:pPr>
              <a:spcAft>
                <a:spcPts val="400"/>
              </a:spcAft>
              <a:defRPr sz="1500">
                <a:solidFill>
                  <a:srgbClr val="1A1A1A"/>
                </a:solidFill>
              </a:defRPr>
            </a:pPr>
            <a:r>
              <a:t>• Exercise 21 wraps the same tool mechanics into a Back Office Assistant agent with an intent router and streaming.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04-ai-foundation-agent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Completed Exercise 20: Ask the Catalog , which introduces tools, tool sets, and structured answers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400" i="1">
                <a:solidFill>
                  <a:srgbClr val="888888"/>
                </a:solidFill>
              </a:defRPr>
            </a:pPr>
            <a:r>
              <a:t>❝ Order matters. Run composer dump-autoload first. Later in this exercise config_ai.php references a SprykerAcademy class, and every console command fails until the class can be autoloaded.</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Exercise21</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a:t>
            </a:r>
          </a:p>
          <a:p>
            <a:pPr>
              <a:spcAft>
                <a:spcPts val="800"/>
              </a:spcAft>
              <a:defRPr sz="1600">
                <a:solidFill>
                  <a:srgbClr val="1A1A1A"/>
                </a:solidFill>
              </a:defRPr>
            </a:pPr>
            <a:r>
              <a:t>1. Register the agent. In src/Pyz/Zed/AiCommerce/AiCommerceDependencyProvider.php , add new ProductCreationAgentPlugin() to getBackofficeAssistantAgentPlugins() .</a:t>
            </a:r>
          </a:p>
          <a:p>
            <a:pPr>
              <a:spcAft>
                <a:spcPts val="800"/>
              </a:spcAft>
              <a:defRPr sz="1600">
                <a:solidFill>
                  <a:srgbClr val="1A1A1A"/>
                </a:solidFill>
              </a:defRPr>
            </a:pPr>
            <a:r>
              <a:t>2. Register the tool set. In src/Pyz/Zed/AiFoundation/AiFoundationDependencyProvider.php , add new ProductCreationToolSetPlugin() to getAiToolSetPlugins() .</a:t>
            </a:r>
          </a:p>
          <a:p>
            <a:pPr>
              <a:spcAft>
                <a:spcPts val="800"/>
              </a:spcAft>
              <a:defRPr sz="1600">
                <a:solidFill>
                  <a:srgbClr val="1A1A1A"/>
                </a:solidFill>
              </a:defRPr>
            </a:pPr>
            <a:r>
              <a:t>Both classes need an import: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P</a:t>
            </a:r>
            <a:r>
              <a:rPr sz="900">
                <a:solidFill>
                  <a:srgbClr val="2D2D2D"/>
                </a:solidFill>
                <a:latin typeface="Consolas"/>
              </a:rPr>
              <a:t>roductCreationAgentPlugin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P</a:t>
            </a:r>
            <a:r>
              <a:rPr sz="900">
                <a:solidFill>
                  <a:srgbClr val="2D2D2D"/>
                </a:solidFill>
                <a:latin typeface="Consolas"/>
              </a:rPr>
              <a:t>roductCreationToolSetPlugin</a:t>
            </a:r>
            <a:r>
              <a:rPr sz="900">
                <a:solidFill>
                  <a:srgbClr val="007020"/>
                </a:solidFill>
                <a:latin typeface="Consolas"/>
              </a:rPr>
              <a:t>;</a:t>
            </a:r>
          </a:p>
          <a:p>
            <a:pPr>
              <a:spcAft>
                <a:spcPts val="800"/>
              </a:spcAft>
              <a:defRPr sz="1600">
                <a:solidFill>
                  <a:srgbClr val="1A1A1A"/>
                </a:solidFill>
              </a:defRPr>
            </a:pPr>
            <a:r>
              <a:t>3. Add the AI configuration. Append to config/Shared/config_ai.php :</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A</a:t>
            </a:r>
            <a:r>
              <a:rPr sz="900">
                <a:solidFill>
                  <a:srgbClr val="2D2D2D"/>
                </a:solidFill>
                <a:latin typeface="Consolas"/>
              </a:rPr>
              <a:t>iProductCreationConstants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of the file with the other imports. The agent reuses the assistant’s token and model settings and brings its own system prompt.</a:t>
            </a:r>
          </a:p>
          <a:p>
            <a:pPr>
              <a:spcAft>
                <a:spcPts val="800"/>
              </a:spcAft>
              <a:defRPr sz="1600">
                <a:solidFill>
                  <a:srgbClr val="1A1A1A"/>
                </a:solidFill>
              </a:defRPr>
            </a:pPr>
            <a:r>
              <a:t>4. Enable SSE streaming. Tool call progress is only streamed for AI configuration names the assistant knows. Add to src/Pyz/Zed/AiCommerce/AiCommerceConfig.php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a:t>
            </a:r>
            <a:r>
              <a:rPr sz="900" b="1">
                <a:solidFill>
                  <a:srgbClr val="007020"/>
                </a:solidFill>
                <a:latin typeface="Consolas"/>
              </a:rPr>
              <a:t>&lt;string&gt;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Aft>
                <a:spcPts val="800"/>
              </a:spcAft>
              <a:defRPr sz="1600">
                <a:solidFill>
                  <a:srgbClr val="1A1A1A"/>
                </a:solidFill>
              </a:defRPr>
            </a:pPr>
            <a:r>
              <a:t>Import the constants interface here as well: use SprykerAcademy\Shared\AiProductCreation\AiProductCreationConstants;</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For the complete branch the loader also does the wiring of Part 5 for you. It marks every line it adds with ai-foundation exercise and removes those lines again when you load the skeleton or another package.</a:t>
            </a:r>
          </a:p>
          <a:p>
            <a:pPr>
              <a:spcAft>
                <a:spcPts val="800"/>
              </a:spcAft>
              <a:defRPr sz="1400" i="1">
                <a:solidFill>
                  <a:srgbClr val="888888"/>
                </a:solidFill>
              </a:defRPr>
            </a:pPr>
            <a:r>
              <a:t>❝ Switching packages: if you wired Part 5 by hand, remove those lines before you load contact-request or supplier . The loader replaces src/SprykerAcademy/ , and the Back Office fails when a registered plugin class no longer exists. The loader warns you about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