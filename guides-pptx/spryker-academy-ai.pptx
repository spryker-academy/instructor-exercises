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1371600"/>
          </a:xfrm>
          <a:prstGeom prst="rect">
            <a:avLst/>
          </a:prstGeom>
          <a:noFill/>
        </p:spPr>
        <p:txBody>
          <a:bodyPr wrap="square">
            <a:spAutoFit/>
          </a:bodyPr>
          <a:lstStyle/>
          <a:p>
            <a:pPr algn="ctr">
              <a:defRPr sz="4000" b="1">
                <a:solidFill>
                  <a:srgbClr val="00A89B"/>
                </a:solidFill>
              </a:defRPr>
            </a:pPr>
            <a:r>
              <a:t>Spryker Academy — AI Exercises</a:t>
            </a:r>
          </a:p>
        </p:txBody>
      </p:sp>
      <p:sp>
        <p:nvSpPr>
          <p:cNvPr id="3" name="TextBox 2"/>
          <p:cNvSpPr txBox="1"/>
          <p:nvPr/>
        </p:nvSpPr>
        <p:spPr>
          <a:xfrm>
            <a:off x="914400" y="3474720"/>
            <a:ext cx="10362895" cy="914400"/>
          </a:xfrm>
          <a:prstGeom prst="rect">
            <a:avLst/>
          </a:prstGeom>
          <a:noFill/>
        </p:spPr>
        <p:txBody>
          <a:bodyPr wrap="square">
            <a:spAutoFit/>
          </a:bodyPr>
          <a:lstStyle/>
          <a:p>
            <a:pPr algn="ctr">
              <a:defRPr sz="2000">
                <a:solidFill>
                  <a:srgbClr val="888888"/>
                </a:solidFill>
              </a:defRPr>
            </a:pPr>
            <a:r>
              <a:t>Instructor-Led Training | AI Foundation and the Back Office Assistant</a:t>
            </a:r>
          </a:p>
        </p:txBody>
      </p:sp>
      <p:sp>
        <p:nvSpPr>
          <p:cNvPr id="4" name="Rectangle 3"/>
          <p:cNvSpPr/>
          <p:nvPr/>
        </p:nvSpPr>
        <p:spPr>
          <a:xfrm>
            <a:off x="3657600" y="475488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defRPr sz="3200" b="1">
                <a:solidFill>
                  <a:srgbClr val="00A89B"/>
                </a:solidFill>
              </a:defRPr>
            </a:pPr>
            <a:r>
              <a:t>What You Will Learn</a:t>
            </a:r>
          </a:p>
        </p:txBody>
      </p:sp>
      <p:sp>
        <p:nvSpPr>
          <p:cNvPr id="3" name="Rectangle 2"/>
          <p:cNvSpPr/>
          <p:nvPr/>
        </p:nvSpPr>
        <p:spPr>
          <a:xfrm>
            <a:off x="640080" y="1143000"/>
            <a:ext cx="27432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Install and configure the AI-powered Back Office Assistant</a:t>
            </a:r>
          </a:p>
          <a:p>
            <a:pPr>
              <a:spcAft>
                <a:spcPts val="1000"/>
              </a:spcAft>
            </a:pPr>
            <a:r>
              <a:rPr sz="1600" b="1">
                <a:solidFill>
                  <a:srgbClr val="00A89B"/>
                </a:solidFill>
              </a:rPr>
              <a:t>✓  </a:t>
            </a:r>
            <a:r>
              <a:rPr sz="1500">
                <a:solidFill>
                  <a:srgbClr val="1A1A1A"/>
                </a:solidFill>
              </a:rPr>
              <a:t>Register AI configurations with providers, models, and system prompts</a:t>
            </a:r>
          </a:p>
          <a:p>
            <a:pPr>
              <a:spcAft>
                <a:spcPts val="1000"/>
              </a:spcAft>
            </a:pPr>
            <a:r>
              <a:rPr sz="1600" b="1">
                <a:solidFill>
                  <a:srgbClr val="00A89B"/>
                </a:solidFill>
              </a:rPr>
              <a:t>✓  </a:t>
            </a:r>
            <a:r>
              <a:rPr sz="1500">
                <a:solidFill>
                  <a:srgbClr val="1A1A1A"/>
                </a:solidFill>
              </a:rPr>
              <a:t>Expose an LLM with conversation memory through a Storefront API on the AiFoundation client</a:t>
            </a:r>
          </a:p>
          <a:p>
            <a:pPr>
              <a:spcAft>
                <a:spcPts val="1000"/>
              </a:spcAft>
            </a:pPr>
            <a:r>
              <a:rPr sz="1600" b="1">
                <a:solidFill>
                  <a:srgbClr val="00A89B"/>
                </a:solidFill>
              </a:rPr>
              <a:t>✓  </a:t>
            </a:r>
            <a:r>
              <a:rPr sz="1500">
                <a:solidFill>
                  <a:srgbClr val="1A1A1A"/>
                </a:solidFill>
              </a:rPr>
              <a:t>Let the LLM call catalog tools and answer in structured transfer objects</a:t>
            </a:r>
          </a:p>
        </p:txBody>
      </p:sp>
      <p:sp>
        <p:nvSpPr>
          <p:cNvPr id="5" name="TextBox 4"/>
          <p:cNvSpPr txBox="1"/>
          <p:nvPr/>
        </p:nvSpPr>
        <p:spPr>
          <a:xfrm>
            <a:off x="621792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Write AI tools with names, descriptions, and typed parameters</a:t>
            </a:r>
          </a:p>
          <a:p>
            <a:pPr>
              <a:spcAft>
                <a:spcPts val="1000"/>
              </a:spcAft>
            </a:pPr>
            <a:r>
              <a:rPr sz="1600" b="1">
                <a:solidFill>
                  <a:srgbClr val="00A89B"/>
                </a:solidFill>
              </a:rPr>
              <a:t>✓  </a:t>
            </a:r>
            <a:r>
              <a:rPr sz="1500">
                <a:solidFill>
                  <a:srgbClr val="1A1A1A"/>
                </a:solidFill>
              </a:rPr>
              <a:t>Group tools into tool sets and expose them to an agent</a:t>
            </a:r>
          </a:p>
          <a:p>
            <a:pPr>
              <a:spcAft>
                <a:spcPts val="1000"/>
              </a:spcAft>
            </a:pPr>
            <a:r>
              <a:rPr sz="1600" b="1">
                <a:solidFill>
                  <a:srgbClr val="00A89B"/>
                </a:solidFill>
              </a:rPr>
              <a:t>✓  </a:t>
            </a:r>
            <a:r>
              <a:rPr sz="1500">
                <a:solidFill>
                  <a:srgbClr val="1A1A1A"/>
                </a:solidFill>
              </a:rPr>
              <a:t>Build a custom agent with structured responses on AI Foundation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Setup: Install the Back Office Assistant</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Setup: Install the Back Office Assistant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Back Office Assistant is an AI chat widget in the Spryker Back Office. It routes each message to an agent , and each agent can call tools to read or change shop data. Exercise 21 adds a new agent to it, so the assistant must work first. Exercises 19 and 20 do not need it.</a:t>
            </a:r>
          </a:p>
          <a:p>
            <a:pPr>
              <a:spcAft>
                <a:spcPts val="800"/>
              </a:spcAft>
              <a:defRPr sz="1600">
                <a:solidFill>
                  <a:srgbClr val="1A1A1A"/>
                </a:solidFill>
              </a:defRPr>
            </a:pPr>
            <a:r>
              <a:t>This guide follows the official Spryker documentation and was verified against b2b-demo-marketplace with spryker-feature/ai-commerce 202608.0 and spryker/ai-foundation 0.8.4.</a:t>
            </a:r>
          </a:p>
          <a:p>
            <a:pPr>
              <a:spcAft>
                <a:spcPts val="800"/>
              </a:spcAft>
              <a:defRPr sz="1600">
                <a:solidFill>
                  <a:srgbClr val="1A1A1A"/>
                </a:solidFill>
              </a:defRPr>
            </a:pPr>
            <a:r>
              <a:t>You will: - Register AI configurations for the intent router and the built-in agents - Register the built-in agent, tool set, SSE, and audit log plugins - Add the assistant settings to the Configuration Management UI - Build the chat widget frontend</a:t>
            </a:r>
          </a:p>
          <a:p>
            <a:pPr>
              <a:spcAft>
                <a:spcPts val="800"/>
              </a:spcAft>
              <a:defRPr sz="1600">
                <a:solidFill>
                  <a:srgbClr val="1A1A1A"/>
                </a:solidFill>
              </a:defRPr>
            </a:pPr>
            <a:r>
              <a:t>Official documentation: - Install Back Office Assistant - Install AI Commerce - Configure multiple AI providers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 running b2b-demo-marketplace with the AI Commerce feature installed. Check with:</a:t>
            </a:r>
          </a:p>
          <a:p>
            <a:pPr>
              <a:spcBef>
                <a:spcPts val="0"/>
              </a:spcBef>
              <a:spcAft>
                <a:spcPts val="0"/>
              </a:spcAft>
            </a:pPr>
            <a:r>
              <a:rPr sz="900">
                <a:solidFill>
                  <a:srgbClr val="2D2D2D"/>
                </a:solidFill>
                <a:latin typeface="Consolas"/>
              </a:rPr>
              <a:t>docker/sdk</a:t>
            </a:r>
            <a:r>
              <a:rPr sz="900">
                <a:solidFill>
                  <a:srgbClr val="2D2D2D"/>
                </a:solidFill>
                <a:latin typeface="Consolas"/>
              </a:rPr>
              <a:t> cli composer show spryker-feature/ai-commerce spryker/ai-foundation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grep</a:t>
            </a:r>
            <a:r>
              <a:rPr sz="900">
                <a:solidFill>
                  <a:srgbClr val="2D2D2D"/>
                </a:solidFill>
                <a:latin typeface="Consolas"/>
              </a:rPr>
              <a:t> </a:t>
            </a:r>
            <a:r>
              <a:rPr sz="900">
                <a:solidFill>
                  <a:srgbClr val="2D2D2D"/>
                </a:solidFill>
                <a:latin typeface="Consolas"/>
              </a:rPr>
              <a:t>-E</a:t>
            </a:r>
            <a:r>
              <a:rPr sz="900">
                <a:solidFill>
                  <a:srgbClr val="2D2D2D"/>
                </a:solidFill>
                <a:latin typeface="Consolas"/>
              </a:rPr>
              <a:t> </a:t>
            </a:r>
            <a:r>
              <a:rPr sz="900">
                <a:solidFill>
                  <a:srgbClr val="4070A0"/>
                </a:solidFill>
                <a:latin typeface="Consolas"/>
              </a:rPr>
              <a:t>"^name|^versions"</a:t>
            </a:r>
          </a:p>
          <a:p>
            <a:pPr>
              <a:spcAft>
                <a:spcPts val="400"/>
              </a:spcAft>
              <a:defRPr sz="1500">
                <a:solidFill>
                  <a:srgbClr val="1A1A1A"/>
                </a:solidFill>
              </a:defRPr>
            </a:pPr>
            <a:r>
              <a:t>• An OpenAI API token. You enter it in the Back Office in step 6. This guide sets up OpenAI only. For AWS Bedrock or Anthropic see Configure multiple AI providers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How the Pieces Fit Together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Piece              Module        Role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AI configuration   AiFoundation  A named entry in config/Shared/config_ai.php : provider, API key, model, and optional system prompt</a:t>
            </a:r>
          </a:p>
          <a:p>
            <a:pPr>
              <a:spcAft>
                <a:spcPts val="100"/>
              </a:spcAft>
              <a:defRPr sz="1000">
                <a:solidFill>
                  <a:srgbClr val="1A1A1A"/>
                </a:solidFill>
                <a:latin typeface="Consolas"/>
              </a:defRPr>
            </a:pPr>
            <a:r>
              <a:t>Agent plugin       AiCommerce    Handles one domain, for example orders or discounts. Sends a prompt to AiFoundation                </a:t>
            </a:r>
          </a:p>
          <a:p>
            <a:pPr>
              <a:spcAft>
                <a:spcPts val="100"/>
              </a:spcAft>
              <a:defRPr sz="1000">
                <a:solidFill>
                  <a:srgbClr val="1A1A1A"/>
                </a:solidFill>
                <a:latin typeface="Consolas"/>
              </a:defRPr>
            </a:pPr>
            <a:r>
              <a:t>Intent router      AiCommerce    Reads every agent’s description and picks the agent for a user message                             </a:t>
            </a:r>
          </a:p>
          <a:p>
            <a:pPr>
              <a:spcAft>
                <a:spcPts val="100"/>
              </a:spcAft>
              <a:defRPr sz="1000">
                <a:solidFill>
                  <a:srgbClr val="1A1A1A"/>
                </a:solidFill>
                <a:latin typeface="Consolas"/>
              </a:defRPr>
            </a:pPr>
            <a:r>
              <a:t>Tool set plugin    AiFoundation  A named group of tools an agent may call                                                           </a:t>
            </a:r>
          </a:p>
          <a:p>
            <a:pPr>
              <a:spcAft>
                <a:spcPts val="100"/>
              </a:spcAft>
              <a:defRPr sz="1000">
                <a:solidFill>
                  <a:srgbClr val="1A1A1A"/>
                </a:solidFill>
                <a:latin typeface="Consolas"/>
              </a:defRPr>
            </a:pPr>
            <a:r>
              <a:t>SSE plugins        AiCommerce    Stream tool call progress to the chat widget with Server-Sent Events                               </a:t>
            </a:r>
          </a:p>
          <a:p>
            <a:pPr>
              <a:spcAft>
                <a:spcPts val="100"/>
              </a:spcAft>
              <a:defRPr sz="1000">
                <a:solidFill>
                  <a:srgbClr val="1A1A1A"/>
                </a:solidFill>
                <a:latin typeface="Consolas"/>
              </a:defRPr>
            </a:pPr>
            <a:r>
              <a:t>Audit log plugins  AiFoundation  Record every prompt and tool call</a:t>
            </a:r>
          </a:p>
          <a:p>
            <a:pPr>
              <a:spcAft>
                <a:spcPts val="800"/>
              </a:spcAft>
              <a:defRPr sz="1400" i="1">
                <a:solidFill>
                  <a:srgbClr val="888888"/>
                </a:solidFill>
              </a:defRPr>
            </a:pPr>
            <a:r>
              <a:t>❝ Why one AI configuration per agent? Each named configuration is tracked separately in the AiFoundation audit log. You can review the AI calls of one agent without the noise of the others.</a:t>
            </a:r>
          </a:p>
          <a:p>
            <a:pPr>
              <a:spcAft>
                <a:spcPts val="800"/>
              </a:spcAft>
              <a:defRPr sz="1600">
                <a:solidFill>
                  <a:srgbClr val="1A1A1A"/>
                </a:solidFill>
              </a:defRPr>
            </a:pPr>
            <a:r>
              <a:t>The values key and model are not hard-coded. The prefix CONFIGURATION_REFERENCE_PREFIX tells AiFoundation to read them at runtime from the Configuration Management UI in the Back Office.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1: Define the Constants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src/Pyz/Shared/AiCommerce/AiCommerceConstants.php . The interface already exists in the demo shop and holds the Smart PIM constants. Add the Back Office Assistant constants to it: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CONFIGURATION_KEY_BACKOFFICE_ASSISTANT_OPENAI_MODEL</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'ai_commerce:backoffice_assistant:ai_vendor:openai_model'</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AI_CONFIGURATION_INTENT_ROUTER_OPENAI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'AI_COMMERCE:AI_CONFIGURATION_INTENT_ROUTER_OPENAI'</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AI_CONFIGURATION_GENERAL_AGENT_OPENAI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'AI_COMMERCE:AI_CONFIGURATION_GENERAL_AGENT_OPENAI'</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AI_CONFIGURATION_ORDER_MANAGEMENT_OPENAI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'AI_COMMERCE:AI_CONFIGURATION_ORDER_MANAGEMENT_OPENAI'</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AI_CONFIGURATION_DISCOUNT_MANAGEMENT_OPENAI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'AI_COMMERCE:AI_CONFIGURATION_DISCOUNT_MANAGEMENT_OPENAI'</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AI_CONFIGURATION_FORM_FILL_OPENAI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'AI_COMMERCE:AI_CONFIGURATION_FORM_FILL_OPENAI'</a:t>
            </a:r>
            <a:r>
              <a:rPr sz="900">
                <a:solidFill>
                  <a:srgbClr val="007020"/>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1: Define the Constants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CONFIGURATION_KEY_OPENAI_API_TOKEN must also exist in this interface. The demo shop already defines it as 'ai_vendor:openai:general:api_token'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2: Register the AI Configurations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Append five entries to config/Shared/config_ai.php . The intent router has no system prompt. Each agent references its own prompt setting: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2: Register the AI Configurations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19177C"/>
                </a:solidFill>
                <a:latin typeface="Consolas"/>
              </a:rPr>
              <a:t>$config</a:t>
            </a:r>
            <a:r>
              <a:rPr sz="900">
                <a:solidFill>
                  <a:srgbClr val="2D2D2D"/>
                </a:solidFill>
                <a:latin typeface="Consolas"/>
              </a:rPr>
              <a:t>[</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AI_CONFIGURATIONS</a:t>
            </a:r>
            <a:r>
              <a:rPr sz="900">
                <a:solidFill>
                  <a:srgbClr val="2D2D2D"/>
                </a:solidFill>
                <a:latin typeface="Consolas"/>
              </a:rPr>
              <a:t>][</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AI_CONFIGURATION_INTENT_ROUTER_OPENAI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CONFIGURATION_KEY_BACKOFFICE_ASSISTANT_OPENAI_MODEL</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19177C"/>
                </a:solidFill>
                <a:latin typeface="Consolas"/>
              </a:rPr>
              <a:t>$config</a:t>
            </a:r>
            <a:r>
              <a:rPr sz="900">
                <a:solidFill>
                  <a:srgbClr val="2D2D2D"/>
                </a:solidFill>
                <a:latin typeface="Consolas"/>
              </a:rPr>
              <a:t>[</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AI_CONFIGURATIONS</a:t>
            </a:r>
            <a:r>
              <a:rPr sz="900">
                <a:solidFill>
                  <a:srgbClr val="2D2D2D"/>
                </a:solidFill>
                <a:latin typeface="Consolas"/>
              </a:rPr>
              <a:t>][</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AI_CONFIGURATION_GENERAL_AGENT_OPENAI</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CONFIGURATION_KEY_BACKOFFICE_ASSISTANT_OPENAI_MODEL</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'system_prompt'</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CONFIGURATION_KEY_GENERAL_PURPOSE_SYSTEM_PROMPT</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Repeat the second block three more times with these pairs: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2: Register the AI Configurations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Configuration constant                       System prompt constant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AI_CONFIGURATION_ORDER_MANAGEMENT_OPENAI     CONFIGURATION_KEY_ORDER_MANAGEMENT_SYSTEM_PROMPT   </a:t>
            </a:r>
          </a:p>
          <a:p>
            <a:pPr>
              <a:spcAft>
                <a:spcPts val="100"/>
              </a:spcAft>
              <a:defRPr sz="1000">
                <a:solidFill>
                  <a:srgbClr val="1A1A1A"/>
                </a:solidFill>
                <a:latin typeface="Consolas"/>
              </a:defRPr>
            </a:pPr>
            <a:r>
              <a:t>AI_CONFIGURATION_DISCOUNT_MANAGEMENT_OPENAI  CONFIGURATION_KEY_DISCOUNT_MANAGEMENT_SYSTEM_PROMPT</a:t>
            </a:r>
          </a:p>
          <a:p>
            <a:pPr>
              <a:spcAft>
                <a:spcPts val="100"/>
              </a:spcAft>
              <a:defRPr sz="1000">
                <a:solidFill>
                  <a:srgbClr val="1A1A1A"/>
                </a:solidFill>
                <a:latin typeface="Consolas"/>
              </a:defRPr>
            </a:pPr>
            <a:r>
              <a:t>AI_CONFIGURATION_FORM_FILL_OPENAI            CONFIGURATION_KEY_FORM_FILL_SYSTEM_PROMPT</a:t>
            </a:r>
          </a:p>
          <a:p>
            <a:pPr>
              <a:spcAft>
                <a:spcPts val="800"/>
              </a:spcAft>
              <a:defRPr sz="1400" i="1">
                <a:solidFill>
                  <a:srgbClr val="888888"/>
                </a:solidFill>
              </a:defRPr>
            </a:pPr>
            <a:r>
              <a:t>❝ Array style: The demo shop file starts with one big $config[AiFoundationConstants::AI_CONFIGURATIONS] = [...] assignment for Smart PIM. Add the new entries below it with the $config[...][...] = [...] form shown here, so you do not overwrite the existing entries.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3: Point the Router and the Agents at Their Configuration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By default every get*AiConfigurationName() method in the feature returns null . Override them in src/Pyz/Zed/AiCommerce/AiCommerceConfig.php . Add these methods to the existing class: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3: Point the Router and the Agents at Their Configuration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getIntentRouterAiConfigurationName()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AI_CONFIGURATION_INTENT_ROUTER_OPENAI</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getGeneralAgentAiConfigurationName()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AI_CONFIGURATION_GENERAL_AGENT_OPENAI</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getOrderManagementAgentAiConfigurationName()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AI_CONFIGURATION_ORDER_MANAGEMENT_OPENAI</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getDiscountManagementAgentAiConfigurationName()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AI_CONFIGURATION_DISCOUNT_MANAGEMENT_OPENAI</a:t>
            </a:r>
            <a:r>
              <a:rPr sz="900">
                <a:solidFill>
                  <a:srgbClr val="007020"/>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3: Point the Router and the Agents at Their Configuration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getFormFillAgentAiConfigurationName()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AI_CONFIGURATION_FORM_FILL_OPENAI</a:t>
            </a:r>
            <a:r>
              <a:rPr sz="900">
                <a:solidFill>
                  <a:srgbClr val="007020"/>
                </a:solidFill>
                <a:latin typeface="Consolas"/>
              </a:rPr>
              <a:t>;</a:t>
            </a:r>
          </a:p>
          <a:p>
            <a:pPr>
              <a:spcBef>
                <a:spcPts val="0"/>
              </a:spcBef>
              <a:spcAft>
                <a:spcPts val="0"/>
              </a:spcAft>
            </a:pPr>
            <a:r>
              <a:rPr sz="900">
                <a:solidFill>
                  <a:srgbClr val="2D2D2D"/>
                </a:solidFill>
                <a:latin typeface="Consolas"/>
              </a:rPr>
              <a: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4: Register the Plugins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Agents</a:t>
            </a:r>
          </a:p>
          <a:p>
            <a:pPr>
              <a:spcAft>
                <a:spcPts val="800"/>
              </a:spcAft>
              <a:defRPr sz="1600">
                <a:solidFill>
                  <a:srgbClr val="1A1A1A"/>
                </a:solidFill>
              </a:defRPr>
            </a:pPr>
            <a:r>
              <a:t>Create src/Pyz/Zed/AiCommerce/AiCommerceDependencyProvider.php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4: Register the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&lt;?php</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declare</a:t>
            </a:r>
            <a:r>
              <a:rPr sz="900">
                <a:solidFill>
                  <a:srgbClr val="2D2D2D"/>
                </a:solidFill>
                <a:latin typeface="Consolas"/>
              </a:rPr>
              <a:t>(strict_types </a:t>
            </a:r>
            <a:r>
              <a:rPr sz="900">
                <a:solidFill>
                  <a:srgbClr val="666666"/>
                </a:solidFill>
                <a:latin typeface="Consolas"/>
              </a:rPr>
              <a:t>=</a:t>
            </a:r>
            <a:r>
              <a:rPr sz="900">
                <a:solidFill>
                  <a:srgbClr val="2D2D2D"/>
                </a:solidFill>
                <a:latin typeface="Consolas"/>
              </a:rPr>
              <a:t> </a:t>
            </a:r>
            <a:r>
              <a:rPr sz="900">
                <a:solidFill>
                  <a:srgbClr val="40A070"/>
                </a:solidFill>
                <a:latin typeface="Consolas"/>
              </a:rPr>
              <a:t>1</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namespace</a:t>
            </a:r>
            <a:r>
              <a:rPr sz="900">
                <a:solidFill>
                  <a:srgbClr val="2D2D2D"/>
                </a:solidFill>
                <a:latin typeface="Consolas"/>
              </a:rPr>
              <a:t> </a:t>
            </a:r>
            <a:r>
              <a:rPr sz="900">
                <a:solidFill>
                  <a:srgbClr val="880000"/>
                </a:solidFill>
                <a:latin typeface="Consolas"/>
              </a:rPr>
              <a:t>P</a:t>
            </a:r>
            <a:r>
              <a:rPr sz="900">
                <a:solidFill>
                  <a:srgbClr val="2D2D2D"/>
                </a:solidFill>
                <a:latin typeface="Consolas"/>
              </a:rPr>
              <a:t>yz\</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A</a:t>
            </a:r>
            <a:r>
              <a:rPr sz="900">
                <a:solidFill>
                  <a:srgbClr val="2D2D2D"/>
                </a:solidFill>
                <a:latin typeface="Consolas"/>
              </a:rPr>
              <a:t>iCommerceDependencyProvider </a:t>
            </a:r>
            <a:r>
              <a:rPr sz="900" b="1">
                <a:solidFill>
                  <a:srgbClr val="007020"/>
                </a:solidFill>
                <a:latin typeface="Consolas"/>
              </a:rPr>
              <a:t>as</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prykerFeatureAiCommerceDependencyProvider</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gent\</a:t>
            </a:r>
            <a:r>
              <a:rPr sz="900">
                <a:solidFill>
                  <a:srgbClr val="880000"/>
                </a:solidFill>
                <a:latin typeface="Consolas"/>
              </a:rPr>
              <a:t>D</a:t>
            </a:r>
            <a:r>
              <a:rPr sz="900">
                <a:solidFill>
                  <a:srgbClr val="2D2D2D"/>
                </a:solidFill>
                <a:latin typeface="Consolas"/>
              </a:rPr>
              <a:t>iscountManagementAgentPlugin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gent\</a:t>
            </a:r>
            <a:r>
              <a:rPr sz="900">
                <a:solidFill>
                  <a:srgbClr val="880000"/>
                </a:solidFill>
                <a:latin typeface="Consolas"/>
              </a:rPr>
              <a:t>F</a:t>
            </a:r>
            <a:r>
              <a:rPr sz="900">
                <a:solidFill>
                  <a:srgbClr val="2D2D2D"/>
                </a:solidFill>
                <a:latin typeface="Consolas"/>
              </a:rPr>
              <a:t>ormFillAgentPlugin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gent\</a:t>
            </a:r>
            <a:r>
              <a:rPr sz="900">
                <a:solidFill>
                  <a:srgbClr val="880000"/>
                </a:solidFill>
                <a:latin typeface="Consolas"/>
              </a:rPr>
              <a:t>G</a:t>
            </a:r>
            <a:r>
              <a:rPr sz="900">
                <a:solidFill>
                  <a:srgbClr val="2D2D2D"/>
                </a:solidFill>
                <a:latin typeface="Consolas"/>
              </a:rPr>
              <a:t>eneralAgentPlugin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gent\</a:t>
            </a:r>
            <a:r>
              <a:rPr sz="900">
                <a:solidFill>
                  <a:srgbClr val="880000"/>
                </a:solidFill>
                <a:latin typeface="Consolas"/>
              </a:rPr>
              <a:t>O</a:t>
            </a:r>
            <a:r>
              <a:rPr sz="900">
                <a:solidFill>
                  <a:srgbClr val="2D2D2D"/>
                </a:solidFill>
                <a:latin typeface="Consolas"/>
              </a:rPr>
              <a:t>rderManagementAgentPlugin</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iCommerceDependencyProvider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prykerFeatureAiCommerceDependencyProvider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@return</a:t>
            </a:r>
            <a:r>
              <a:rPr sz="900" i="1">
                <a:solidFill>
                  <a:srgbClr val="60A0B0"/>
                </a:solidFill>
                <a:latin typeface="Consolas"/>
              </a:rPr>
              <a:t> array&lt;</a:t>
            </a:r>
            <a:r>
              <a:rPr sz="900" b="1" i="1">
                <a:solidFill>
                  <a:srgbClr val="60A0B0"/>
                </a:solidFill>
                <a:latin typeface="Consolas"/>
              </a:rPr>
              <a:t>\SprykerFeature\Zed\AiCommerce\Dependency\BackofficeAssistant\BackofficeAssistantAgentPluginInterface&gt;</a:t>
            </a:r>
          </a:p>
          <a:p>
            <a:pPr>
              <a:spcBef>
                <a:spcPts val="0"/>
              </a:spcBef>
              <a:spcAft>
                <a:spcPts val="0"/>
              </a:spcAft>
            </a:pPr>
            <a:r>
              <a:rPr sz="900" i="1">
                <a:solidFill>
                  <a:srgbClr val="60A0B0"/>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getBackofficeAssistantAgentPlugins()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4: Register the Plugins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G</a:t>
            </a:r>
            <a:r>
              <a:rPr sz="900">
                <a:solidFill>
                  <a:srgbClr val="2D2D2D"/>
                </a:solidFill>
                <a:latin typeface="Consolas"/>
              </a:rPr>
              <a:t>eneralAgentPlugin()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O</a:t>
            </a:r>
            <a:r>
              <a:rPr sz="900">
                <a:solidFill>
                  <a:srgbClr val="2D2D2D"/>
                </a:solidFill>
                <a:latin typeface="Consolas"/>
              </a:rPr>
              <a:t>rderManagementAgentPlugin()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D</a:t>
            </a:r>
            <a:r>
              <a:rPr sz="900">
                <a:solidFill>
                  <a:srgbClr val="2D2D2D"/>
                </a:solidFill>
                <a:latin typeface="Consolas"/>
              </a:rPr>
              <a:t>iscountManagementAgentPlugin()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F</a:t>
            </a:r>
            <a:r>
              <a:rPr sz="900">
                <a:solidFill>
                  <a:srgbClr val="2D2D2D"/>
                </a:solidFill>
                <a:latin typeface="Consolas"/>
              </a:rPr>
              <a:t>ormFillAgentPlugin()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Tool sets, SSE streaming, and audit log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Create src/Pyz/Zed/AiFoundation/AiFoundationDependencyProvider.php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Tool sets, SSE streaming, and audit log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&lt;?php</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declare</a:t>
            </a:r>
            <a:r>
              <a:rPr sz="900">
                <a:solidFill>
                  <a:srgbClr val="2D2D2D"/>
                </a:solidFill>
                <a:latin typeface="Consolas"/>
              </a:rPr>
              <a:t>(strict_types </a:t>
            </a:r>
            <a:r>
              <a:rPr sz="900">
                <a:solidFill>
                  <a:srgbClr val="666666"/>
                </a:solidFill>
                <a:latin typeface="Consolas"/>
              </a:rPr>
              <a:t>=</a:t>
            </a:r>
            <a:r>
              <a:rPr sz="900">
                <a:solidFill>
                  <a:srgbClr val="2D2D2D"/>
                </a:solidFill>
                <a:latin typeface="Consolas"/>
              </a:rPr>
              <a:t> </a:t>
            </a:r>
            <a:r>
              <a:rPr sz="900">
                <a:solidFill>
                  <a:srgbClr val="40A070"/>
                </a:solidFill>
                <a:latin typeface="Consolas"/>
              </a:rPr>
              <a:t>1</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namespace</a:t>
            </a:r>
            <a:r>
              <a:rPr sz="900">
                <a:solidFill>
                  <a:srgbClr val="2D2D2D"/>
                </a:solidFill>
                <a:latin typeface="Consolas"/>
              </a:rPr>
              <a:t> </a:t>
            </a:r>
            <a:r>
              <a:rPr sz="900">
                <a:solidFill>
                  <a:srgbClr val="880000"/>
                </a:solidFill>
                <a:latin typeface="Consolas"/>
              </a:rPr>
              <a:t>P</a:t>
            </a:r>
            <a:r>
              <a:rPr sz="900">
                <a:solidFill>
                  <a:srgbClr val="2D2D2D"/>
                </a:solidFill>
                <a:latin typeface="Consolas"/>
              </a:rPr>
              <a:t>yz\</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iFoundation</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A</a:t>
            </a:r>
            <a:r>
              <a:rPr sz="900">
                <a:solidFill>
                  <a:srgbClr val="2D2D2D"/>
                </a:solidFill>
                <a:latin typeface="Consolas"/>
              </a:rPr>
              <a:t>iFoundationDependencyProvider </a:t>
            </a:r>
            <a:r>
              <a:rPr sz="900" b="1">
                <a:solidFill>
                  <a:srgbClr val="007020"/>
                </a:solidFill>
                <a:latin typeface="Consolas"/>
              </a:rPr>
              <a:t>as</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prykerAiFoundationDependencyProvider</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uditLogPostPromptPlugin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uditLogPostToolCallPlugin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06287E"/>
                </a:solidFill>
                <a:latin typeface="Consolas"/>
              </a:rPr>
              <a:t>Log</a:t>
            </a:r>
            <a:r>
              <a:rPr sz="900">
                <a:solidFill>
                  <a:srgbClr val="2D2D2D"/>
                </a:solidFill>
                <a:latin typeface="Consolas"/>
              </a:rPr>
              <a:t>\</a:t>
            </a:r>
            <a:r>
              <a:rPr sz="900">
                <a:solidFill>
                  <a:srgbClr val="880000"/>
                </a:solidFill>
                <a:latin typeface="Consolas"/>
              </a:rPr>
              <a:t>A</a:t>
            </a:r>
            <a:r>
              <a:rPr sz="900">
                <a:solidFill>
                  <a:srgbClr val="2D2D2D"/>
                </a:solidFill>
                <a:latin typeface="Consolas"/>
              </a:rPr>
              <a:t>iInteractionHandlerPlugin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B</a:t>
            </a:r>
            <a:r>
              <a:rPr sz="900">
                <a:solidFill>
                  <a:srgbClr val="2D2D2D"/>
                </a:solidFill>
                <a:latin typeface="Consolas"/>
              </a:rPr>
              <a:t>ackofficeAssistantSsePostToolCallPlugin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B</a:t>
            </a:r>
            <a:r>
              <a:rPr sz="900">
                <a:solidFill>
                  <a:srgbClr val="2D2D2D"/>
                </a:solidFill>
                <a:latin typeface="Consolas"/>
              </a:rPr>
              <a:t>ackofficeAssistantSsePreToolCallPlugin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D</a:t>
            </a:r>
            <a:r>
              <a:rPr sz="900">
                <a:solidFill>
                  <a:srgbClr val="2D2D2D"/>
                </a:solidFill>
                <a:latin typeface="Consolas"/>
              </a:rPr>
              <a:t>iscountManagementToolSetPlugin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F</a:t>
            </a:r>
            <a:r>
              <a:rPr sz="900">
                <a:solidFill>
                  <a:srgbClr val="2D2D2D"/>
                </a:solidFill>
                <a:latin typeface="Consolas"/>
              </a:rPr>
              <a:t>ormFillToolSetPlugin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N</a:t>
            </a:r>
            <a:r>
              <a:rPr sz="900">
                <a:solidFill>
                  <a:srgbClr val="2D2D2D"/>
                </a:solidFill>
                <a:latin typeface="Consolas"/>
              </a:rPr>
              <a:t>avigationToolSetPlugin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O</a:t>
            </a:r>
            <a:r>
              <a:rPr sz="900">
                <a:solidFill>
                  <a:srgbClr val="2D2D2D"/>
                </a:solidFill>
                <a:latin typeface="Consolas"/>
              </a:rPr>
              <a:t>rderDetailsToolSetPlugin</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prykerFeature\</a:t>
            </a:r>
            <a:r>
              <a:rPr sz="900">
                <a:solidFill>
                  <a:srgbClr val="880000"/>
                </a:solidFill>
                <a:latin typeface="Consolas"/>
              </a:rPr>
              <a:t>Z</a:t>
            </a:r>
            <a:r>
              <a:rPr sz="900">
                <a:solidFill>
                  <a:srgbClr val="2D2D2D"/>
                </a:solidFill>
                <a:latin typeface="Consolas"/>
              </a:rPr>
              <a:t>ed\</a:t>
            </a:r>
            <a:r>
              <a:rPr sz="900">
                <a:solidFill>
                  <a:srgbClr val="880000"/>
                </a:solidFill>
                <a:latin typeface="Consolas"/>
              </a:rPr>
              <a:t>A</a:t>
            </a:r>
            <a:r>
              <a:rPr sz="900">
                <a:solidFill>
                  <a:srgbClr val="2D2D2D"/>
                </a:solidFill>
                <a:latin typeface="Consolas"/>
              </a:rPr>
              <a:t>iCommerce\</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P</a:t>
            </a:r>
            <a:r>
              <a:rPr sz="900">
                <a:solidFill>
                  <a:srgbClr val="2D2D2D"/>
                </a:solidFill>
                <a:latin typeface="Consolas"/>
              </a:rPr>
              <a:t>lugin\</a:t>
            </a:r>
            <a:r>
              <a:rPr sz="900">
                <a:solidFill>
                  <a:srgbClr val="880000"/>
                </a:solidFill>
                <a:latin typeface="Consolas"/>
              </a:rPr>
              <a:t>A</a:t>
            </a:r>
            <a:r>
              <a:rPr sz="900">
                <a:solidFill>
                  <a:srgbClr val="2D2D2D"/>
                </a:solidFill>
                <a:latin typeface="Consolas"/>
              </a:rPr>
              <a:t>iFoundation\</a:t>
            </a:r>
            <a:r>
              <a:rPr sz="900">
                <a:solidFill>
                  <a:srgbClr val="880000"/>
                </a:solidFill>
                <a:latin typeface="Consolas"/>
              </a:rPr>
              <a:t>O</a:t>
            </a:r>
            <a:r>
              <a:rPr sz="900">
                <a:solidFill>
                  <a:srgbClr val="2D2D2D"/>
                </a:solidFill>
                <a:latin typeface="Consolas"/>
              </a:rPr>
              <a:t>rderManagementToolSetPlugin</a:t>
            </a:r>
            <a:r>
              <a:rPr sz="900">
                <a:solidFill>
                  <a:srgbClr val="007020"/>
                </a:solidFill>
                <a:latin typeface="Consolas"/>
              </a:rPr>
              <a:t>;</a:t>
            </a:r>
          </a:p>
          <a:p>
            <a:pPr>
              <a:spcBef>
                <a:spcPts val="0"/>
              </a:spcBef>
              <a:spcAft>
                <a:spcPts val="0"/>
              </a:spcAft>
            </a:pPr>
            <a:r>
              <a:rPr sz="900">
                <a:latin typeface="Consolas"/>
              </a:rPr>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Tool sets, SSE streaming, and audit log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A</a:t>
            </a:r>
            <a:r>
              <a:rPr sz="900">
                <a:solidFill>
                  <a:srgbClr val="2D2D2D"/>
                </a:solidFill>
                <a:latin typeface="Consolas"/>
              </a:rPr>
              <a:t>iFoundationDependencyProvider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prykerAiFoundationDependencyProvider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@return</a:t>
            </a:r>
            <a:r>
              <a:rPr sz="900" i="1">
                <a:solidFill>
                  <a:srgbClr val="60A0B0"/>
                </a:solidFill>
                <a:latin typeface="Consolas"/>
              </a:rPr>
              <a:t> array&lt;</a:t>
            </a:r>
            <a:r>
              <a:rPr sz="900" b="1" i="1">
                <a:solidFill>
                  <a:srgbClr val="60A0B0"/>
                </a:solidFill>
                <a:latin typeface="Consolas"/>
              </a:rPr>
              <a:t>\Spryker\Zed\AiFoundation\Dependency\Plugin\PostPromptPluginInterface&gt;</a:t>
            </a:r>
          </a:p>
          <a:p>
            <a:pPr>
              <a:spcBef>
                <a:spcPts val="0"/>
              </a:spcBef>
              <a:spcAft>
                <a:spcPts val="0"/>
              </a:spcAft>
            </a:pPr>
            <a:r>
              <a:rPr sz="900" i="1">
                <a:solidFill>
                  <a:srgbClr val="60A0B0"/>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getPostPromptPlugins()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A</a:t>
            </a:r>
            <a:r>
              <a:rPr sz="900">
                <a:solidFill>
                  <a:srgbClr val="2D2D2D"/>
                </a:solidFill>
                <a:latin typeface="Consolas"/>
              </a:rPr>
              <a:t>uditLogPostPromptPlugin()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@return</a:t>
            </a:r>
            <a:r>
              <a:rPr sz="900" i="1">
                <a:solidFill>
                  <a:srgbClr val="60A0B0"/>
                </a:solidFill>
                <a:latin typeface="Consolas"/>
              </a:rPr>
              <a:t> array&lt;</a:t>
            </a:r>
            <a:r>
              <a:rPr sz="900" b="1" i="1">
                <a:solidFill>
                  <a:srgbClr val="60A0B0"/>
                </a:solidFill>
                <a:latin typeface="Consolas"/>
              </a:rPr>
              <a:t>\Spryker\Zed\AiFoundation\Dependency\Plugin\PreToolCallPluginInterface&gt;</a:t>
            </a:r>
          </a:p>
          <a:p>
            <a:pPr>
              <a:spcBef>
                <a:spcPts val="0"/>
              </a:spcBef>
              <a:spcAft>
                <a:spcPts val="0"/>
              </a:spcAft>
            </a:pPr>
            <a:r>
              <a:rPr sz="900" i="1">
                <a:solidFill>
                  <a:srgbClr val="60A0B0"/>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getPreToolCallPlugins()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Tool sets, SSE streaming, and audit log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B</a:t>
            </a:r>
            <a:r>
              <a:rPr sz="900">
                <a:solidFill>
                  <a:srgbClr val="2D2D2D"/>
                </a:solidFill>
                <a:latin typeface="Consolas"/>
              </a:rPr>
              <a:t>ackofficeAssistantSsePreToolCallPlugin()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(continued)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Twig plugin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src/Pyz/Zed/Twig/TwigDependencyProvider.php and make sure getTwigPlugins() contains new AiCommerceTwigPlugin() . The current demo shop already registers it. It provides the Twig variables the chat widget needs.</a:t>
            </a:r>
          </a:p>
          <a:p>
            <a:pPr>
              <a:spcAft>
                <a:spcPts val="800"/>
              </a:spcAft>
              <a:defRPr sz="1400" i="1">
                <a:solidFill>
                  <a:srgbClr val="888888"/>
                </a:solidFill>
              </a:defRPr>
            </a:pPr>
            <a:r>
              <a:t>❝ Project-level layout override: If your project overrides src/Pyz/Zed/Gui/Presentation/Layout/layout.twig , include @AiCommerce/Partials/chat-widget.twig in the footer_js block as described in the official guide. The stock demo shop has no such override, so you can skip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5: Add the Assistant Settings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Project-level setting schemas live in data/configuration/ . The feature package already ships the General and System Prompts groups of the assistant. You add the AI Vendor group, which backs the openai_model reference from step 2.</a:t>
            </a:r>
          </a:p>
          <a:p>
            <a:pPr>
              <a:spcAft>
                <a:spcPts val="800"/>
              </a:spcAft>
              <a:defRPr sz="1600">
                <a:solidFill>
                  <a:srgbClr val="1A1A1A"/>
                </a:solidFill>
              </a:defRPr>
            </a:pPr>
            <a:r>
              <a:t>Open data/configuration/ai_commerce.configuration.yml and add this tab as the first item under tabs: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5: Add the Assistant Settings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backoffice_assistant</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groups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ai_vendor</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AI Vendor</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AI configuration and vendor model used for the Backoffice Assistant.</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1</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a:p>
            <a:pPr>
              <a:spcBef>
                <a:spcPts val="0"/>
              </a:spcBef>
              <a:spcAft>
                <a:spcPts val="0"/>
              </a:spcAft>
            </a:pPr>
            <a:r>
              <a:rPr sz="900">
                <a:solidFill>
                  <a:srgbClr val="2D2D2D"/>
                </a:solidFill>
                <a:latin typeface="Consolas"/>
              </a:rPr>
              <a:t>                  </a:t>
            </a:r>
            <a:r>
              <a:rPr sz="900">
                <a:solidFill>
                  <a:srgbClr val="06287E"/>
                </a:solidFill>
                <a:latin typeface="Consolas"/>
              </a:rPr>
              <a:t>settings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ai_configuration</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AI Configuration</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AI configuration used for all Backoffice Assistant agents.</a:t>
            </a:r>
          </a:p>
          <a:p>
            <a:pPr>
              <a:spcBef>
                <a:spcPts val="0"/>
              </a:spcBef>
              <a:spcAft>
                <a:spcPts val="0"/>
              </a:spcAft>
            </a:pPr>
            <a:r>
              <a:rPr sz="900">
                <a:solidFill>
                  <a:srgbClr val="2D2D2D"/>
                </a:solidFill>
                <a:latin typeface="Consolas"/>
              </a:rPr>
              <a:t>                        </a:t>
            </a:r>
            <a:r>
              <a:rPr sz="900">
                <a:solidFill>
                  <a:srgbClr val="06287E"/>
                </a:solidFill>
                <a:latin typeface="Consolas"/>
              </a:rPr>
              <a:t>type</a:t>
            </a:r>
            <a:r>
              <a:rPr sz="900" b="1">
                <a:solidFill>
                  <a:srgbClr val="007020"/>
                </a:solidFill>
                <a:latin typeface="Consolas"/>
              </a:rPr>
              <a:t>:</a:t>
            </a:r>
            <a:r>
              <a:rPr sz="900">
                <a:solidFill>
                  <a:srgbClr val="2D2D2D"/>
                </a:solidFill>
                <a:latin typeface="Consolas"/>
              </a:rPr>
              <a:t> radio</a:t>
            </a:r>
          </a:p>
          <a:p>
            <a:pPr>
              <a:spcBef>
                <a:spcPts val="0"/>
              </a:spcBef>
              <a:spcAft>
                <a:spcPts val="0"/>
              </a:spcAft>
            </a:pPr>
            <a:r>
              <a:rPr sz="900">
                <a:solidFill>
                  <a:srgbClr val="2D2D2D"/>
                </a:solidFill>
                <a:latin typeface="Consolas"/>
              </a:rPr>
              <a:t>                        </a:t>
            </a:r>
            <a:r>
              <a:rPr sz="900">
                <a:solidFill>
                  <a:srgbClr val="06287E"/>
                </a:solidFill>
                <a:latin typeface="Consolas"/>
              </a:rPr>
              <a:t>default_value</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'AI_COMMERCE:AI_CONFIGURATION_BACKOFFICE_ASSISTANT_OPENAI'</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secret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5: Add the Assistant Settings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a:solidFill>
                  <a:srgbClr val="06287E"/>
                </a:solidFill>
                <a:latin typeface="Consolas"/>
              </a:rPr>
              <a:t>storefront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1</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a:p>
            <a:pPr>
              <a:spcBef>
                <a:spcPts val="0"/>
              </a:spcBef>
              <a:spcAft>
                <a:spcPts val="0"/>
              </a:spcAft>
            </a:pPr>
            <a:r>
              <a:rPr sz="900">
                <a:solidFill>
                  <a:srgbClr val="2D2D2D"/>
                </a:solidFill>
                <a:latin typeface="Consolas"/>
              </a:rPr>
              <a:t>                        </a:t>
            </a:r>
            <a:r>
              <a:rPr sz="900">
                <a:solidFill>
                  <a:srgbClr val="06287E"/>
                </a:solidFill>
                <a:latin typeface="Consolas"/>
              </a:rPr>
              <a:t>options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value</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'AI_COMMERCE:AI_CONFIGURATION_BACKOFFICE_ASSISTANT_OPENAI'</a:t>
            </a:r>
          </a:p>
          <a:p>
            <a:pPr>
              <a:spcBef>
                <a:spcPts val="0"/>
              </a:spcBef>
              <a:spcAft>
                <a:spcPts val="0"/>
              </a:spcAft>
            </a:pPr>
            <a:r>
              <a:rPr sz="900">
                <a:solidFill>
                  <a:srgbClr val="2D2D2D"/>
                </a:solidFill>
                <a:latin typeface="Consolas"/>
              </a:rPr>
              <a:t>                              </a:t>
            </a:r>
            <a:r>
              <a:rPr sz="900">
                <a:solidFill>
                  <a:srgbClr val="06287E"/>
                </a:solidFill>
                <a:latin typeface="Consolas"/>
              </a:rPr>
              <a:t>label</a:t>
            </a:r>
            <a:r>
              <a:rPr sz="900" b="1">
                <a:solidFill>
                  <a:srgbClr val="007020"/>
                </a:solidFill>
                <a:latin typeface="Consolas"/>
              </a:rPr>
              <a:t>:</a:t>
            </a:r>
            <a:r>
              <a:rPr sz="900">
                <a:solidFill>
                  <a:srgbClr val="2D2D2D"/>
                </a:solidFill>
                <a:latin typeface="Consolas"/>
              </a:rPr>
              <a:t> OpenAI</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openai_model</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OpenAI Model</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The OpenAI model used for the Backoffice Assistant. Model must support image input and structured output.</a:t>
            </a:r>
          </a:p>
          <a:p>
            <a:pPr>
              <a:spcBef>
                <a:spcPts val="0"/>
              </a:spcBef>
              <a:spcAft>
                <a:spcPts val="0"/>
              </a:spcAft>
            </a:pPr>
            <a:r>
              <a:rPr sz="900">
                <a:solidFill>
                  <a:srgbClr val="2D2D2D"/>
                </a:solidFill>
                <a:latin typeface="Consolas"/>
              </a:rPr>
              <a:t>                        </a:t>
            </a:r>
            <a:r>
              <a:rPr sz="900">
                <a:solidFill>
                  <a:srgbClr val="06287E"/>
                </a:solidFill>
                <a:latin typeface="Consolas"/>
              </a:rPr>
              <a:t>type</a:t>
            </a:r>
            <a:r>
              <a:rPr sz="900" b="1">
                <a:solidFill>
                  <a:srgbClr val="007020"/>
                </a:solidFill>
                <a:latin typeface="Consolas"/>
              </a:rPr>
              <a:t>:</a:t>
            </a:r>
            <a:r>
              <a:rPr sz="900">
                <a:solidFill>
                  <a:srgbClr val="2D2D2D"/>
                </a:solidFill>
                <a:latin typeface="Consolas"/>
              </a:rPr>
              <a:t> string</a:t>
            </a:r>
          </a:p>
          <a:p>
            <a:pPr>
              <a:spcBef>
                <a:spcPts val="0"/>
              </a:spcBef>
              <a:spcAft>
                <a:spcPts val="0"/>
              </a:spcAft>
            </a:pPr>
            <a:r>
              <a:rPr sz="900">
                <a:solidFill>
                  <a:srgbClr val="2D2D2D"/>
                </a:solidFill>
                <a:latin typeface="Consolas"/>
              </a:rPr>
              <a:t>                        </a:t>
            </a:r>
            <a:r>
              <a:rPr sz="900">
                <a:solidFill>
                  <a:srgbClr val="06287E"/>
                </a:solidFill>
                <a:latin typeface="Consolas"/>
              </a:rPr>
              <a:t>default_value</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'gpt-4.1'</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secret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storefront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2</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5: Add the Assistant Settings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Indentation matters. The tab sits at the same depth as the existing - key: smart_pim tab. The official guide also lists AWS Bedrock and Anthropic options. Add them when you configure those providers.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6: Generate, Sync, and Enable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router:cache:warm-up:backoffice</a:t>
            </a:r>
          </a:p>
          <a:p>
            <a:pPr>
              <a:spcAft>
                <a:spcPts val="800"/>
              </a:spcAft>
              <a:defRPr sz="1600">
                <a:solidFill>
                  <a:srgbClr val="1A1A1A"/>
                </a:solidFill>
              </a:defRPr>
            </a:pPr>
            <a:r>
              <a:t>configuration:sync reports the number of processed settings. The number grows after you add the tab.</a:t>
            </a:r>
          </a:p>
          <a:p>
            <a:pPr>
              <a:spcAft>
                <a:spcPts val="800"/>
              </a:spcAft>
              <a:defRPr sz="1600">
                <a:solidFill>
                  <a:srgbClr val="1A1A1A"/>
                </a:solidFill>
              </a:defRPr>
            </a:pPr>
            <a:r>
              <a:t>Then in the Back Office:</a:t>
            </a:r>
          </a:p>
          <a:p>
            <a:pPr>
              <a:spcAft>
                <a:spcPts val="400"/>
              </a:spcAft>
              <a:defRPr sz="1500">
                <a:solidFill>
                  <a:srgbClr val="1A1A1A"/>
                </a:solidFill>
              </a:defRPr>
            </a:pPr>
            <a:r>
              <a:t>• Go to Configuration &gt; AI Vendor &gt; OpenAI and enter your API token, if it is not set yet.</a:t>
            </a:r>
          </a:p>
          <a:p>
            <a:pPr>
              <a:spcAft>
                <a:spcPts val="400"/>
              </a:spcAft>
              <a:defRPr sz="1500">
                <a:solidFill>
                  <a:srgbClr val="1A1A1A"/>
                </a:solidFill>
              </a:defRPr>
            </a:pPr>
            <a:r>
              <a:t>• Go to Configuration &gt; AI Commerce &gt; Back Office Assistant &gt; General .</a:t>
            </a:r>
          </a:p>
          <a:p>
            <a:pPr>
              <a:spcAft>
                <a:spcPts val="400"/>
              </a:spcAft>
              <a:defRPr sz="1500">
                <a:solidFill>
                  <a:srgbClr val="1A1A1A"/>
                </a:solidFill>
              </a:defRPr>
            </a:pPr>
            <a:r>
              <a:t>• Turn on Enable Back Office Assistant and save. The feature is off by default.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7: Build the Chat Widget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widget renders Markdown answers with two npm packages:</a:t>
            </a:r>
          </a:p>
          <a:p>
            <a:pPr>
              <a:spcBef>
                <a:spcPts val="0"/>
              </a:spcBef>
              <a:spcAft>
                <a:spcPts val="0"/>
              </a:spcAft>
            </a:pPr>
            <a:r>
              <a:rPr sz="900">
                <a:solidFill>
                  <a:srgbClr val="2D2D2D"/>
                </a:solidFill>
                <a:latin typeface="Consolas"/>
              </a:rPr>
              <a:t>docker/sdk</a:t>
            </a:r>
            <a:r>
              <a:rPr sz="900">
                <a:solidFill>
                  <a:srgbClr val="2D2D2D"/>
                </a:solidFill>
                <a:latin typeface="Consolas"/>
              </a:rPr>
              <a:t> cli npm install marked@^15.0.0 dompurify@^3.2.0</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frontend:project:install-dependencies</a:t>
            </a:r>
          </a:p>
          <a:p>
            <a:pPr>
              <a:spcBef>
                <a:spcPts val="0"/>
              </a:spcBef>
              <a:spcAft>
                <a:spcPts val="0"/>
              </a:spcAft>
            </a:pPr>
            <a:r>
              <a:rPr sz="900">
                <a:solidFill>
                  <a:srgbClr val="2D2D2D"/>
                </a:solidFill>
                <a:latin typeface="Consolas"/>
              </a:rPr>
              <a:t>docker/sdk</a:t>
            </a:r>
            <a:r>
              <a:rPr sz="900">
                <a:solidFill>
                  <a:srgbClr val="2D2D2D"/>
                </a:solidFill>
                <a:latin typeface="Consolas"/>
              </a:rPr>
              <a:t> console frontend:zed:build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Reload any Back Office page. A chat icon appears in the bottom-right corner.</a:t>
            </a:r>
          </a:p>
          <a:p>
            <a:pPr>
              <a:spcAft>
                <a:spcPts val="400"/>
              </a:spcAft>
              <a:defRPr sz="1500">
                <a:solidFill>
                  <a:srgbClr val="1A1A1A"/>
                </a:solidFill>
              </a:defRPr>
            </a:pPr>
            <a:r>
              <a:t>• Ask: “Where can I create a discount?” The General agent answers with a navigation path.</a:t>
            </a:r>
          </a:p>
          <a:p>
            <a:pPr>
              <a:spcAft>
                <a:spcPts val="400"/>
              </a:spcAft>
              <a:defRPr sz="1500">
                <a:solidFill>
                  <a:srgbClr val="1A1A1A"/>
                </a:solidFill>
              </a:defRPr>
            </a:pPr>
            <a:r>
              <a:t>• Ask: “Show me the latest orders.” The Order Management agent answers, and you see tool call progress while it works.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Troubleshooting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Symptom                           Likely cause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No chat icon                      The assistant is not enabled in step 6, the Zed frontend was not built, or the Twig cache is stale. Run cache:empty-all .</a:t>
            </a:r>
          </a:p>
          <a:p>
            <a:pPr>
              <a:spcAft>
                <a:spcPts val="100"/>
              </a:spcAft>
              <a:defRPr sz="1000">
                <a:solidFill>
                  <a:srgbClr val="1A1A1A"/>
                </a:solidFill>
                <a:latin typeface="Consolas"/>
              </a:defRPr>
            </a:pPr>
            <a:r>
              <a:t>Icon visible, every answer fails  Missing or invalid OpenAI token, or an AI configuration name returns null . Recheck steps 2 and 3.                       </a:t>
            </a:r>
          </a:p>
          <a:p>
            <a:pPr>
              <a:spcAft>
                <a:spcPts val="100"/>
              </a:spcAft>
              <a:defRPr sz="1000">
                <a:solidFill>
                  <a:srgbClr val="1A1A1A"/>
                </a:solidFill>
                <a:latin typeface="Consolas"/>
              </a:defRPr>
            </a:pPr>
            <a:r>
              <a:t>configuration:sync fails          YAML indentation in step 5.                                                                                              </a:t>
            </a:r>
          </a:p>
          <a:p>
            <a:pPr>
              <a:spcAft>
                <a:spcPts val="100"/>
              </a:spcAft>
              <a:defRPr sz="1000">
                <a:solidFill>
                  <a:srgbClr val="1A1A1A"/>
                </a:solidFill>
                <a:latin typeface="Consolas"/>
              </a:defRPr>
            </a:pPr>
            <a:r>
              <a:t>Tool progress never streams       The SSE plugins from step 4 are missing.                                                                                 </a:t>
            </a:r>
          </a:p>
          <a:p>
            <a:pPr>
              <a:spcAft>
                <a:spcPts val="100"/>
              </a:spcAft>
              <a:defRPr sz="1000">
                <a:solidFill>
                  <a:srgbClr val="1A1A1A"/>
                </a:solidFill>
                <a:latin typeface="Consolas"/>
              </a:defRPr>
            </a:pPr>
            <a:r>
              <a:t>Where do I see what the AI did?   The audit log plugins record every prompt and tool call of each AI configuration.</a:t>
            </a:r>
          </a:p>
          <a:p>
            <a:pPr>
              <a:spcAft>
                <a:spcPts val="800"/>
              </a:spcAft>
              <a:defRPr sz="1600">
                <a:solidFill>
                  <a:srgbClr val="1A1A1A"/>
                </a:solidFill>
              </a:defRPr>
            </a:pPr>
            <a:r>
              <a:t>You are now ready for Exercise 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19: Hello AI - A Storefront API Backed by an LLM</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19: Hello AI - A Storefront API Backed by an LLM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Storefront API endpoint with API Platform. A client posts a message, the endpoint sends it to a large language model (LLM) through AiFoundation, and returns the answer. The LLM remembers the conversation: send the returned conversation reference with the next message, and it knows what was said before.</a:t>
            </a:r>
          </a:p>
          <a:p>
            <a:pPr>
              <a:spcAft>
                <a:spcPts val="800"/>
              </a:spcAft>
              <a:defRPr sz="1600">
                <a:solidFill>
                  <a:srgbClr val="1A1A1A"/>
                </a:solidFill>
              </a:defRPr>
            </a:pPr>
            <a:r>
              <a:t>You will learn how to: - Register an AI configuration (provider, API key, model, and system prompt) - in a project in config_ai.php , here in a SprykerAcademy AiFoundationConfig - Send a prompt from the Glue application through the AiFoundation client , never through the provider library directly - Give the LLM memory with a conversation reference - Define an API Platform POST resource with a processor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19: Hello AI - A Storefront API Backed by an LLM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Official documentation: - AI Foundation module - API Platform: resource schemas - API Platform: cache warming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AI Commerce feature is installed and an OpenAI API token is saved in the Back Office under Configuration &gt; AI Vendor &gt; OpenAI . The Back Office Assistant is not required.</a:t>
            </a:r>
          </a:p>
          <a:p>
            <a:pPr>
              <a:spcAft>
                <a:spcPts val="400"/>
              </a:spcAft>
              <a:defRPr sz="1500">
                <a:solidFill>
                  <a:srgbClr val="1A1A1A"/>
                </a:solidFill>
              </a:defRPr>
            </a:pPr>
            <a:r>
              <a:t>• Completed Exercise 12 (Glue Storefront and Backend API). You know resource schemas, providers, and glue api:generate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advanced/ai-foundation-hello/skeleton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configuration:sync , Glue resources) and stops at the first one that fails. Leave it out to run them yourself.</a:t>
            </a:r>
          </a:p>
          <a:p>
            <a:pPr>
              <a:spcAft>
                <a:spcPts val="800"/>
              </a:spcAft>
              <a:defRPr sz="1600">
                <a:solidFill>
                  <a:srgbClr val="1A1A1A"/>
                </a:solidFill>
              </a:defRPr>
            </a:pPr>
            <a:r>
              <a:t>The loader copies the module to src/SprykerAcademy/ and installs the tests. src/SprykerAcademy is registered as an API Platform source directory since your first exercise load.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Who Talks to Whom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curl  --POST /ai-chats--&gt;  Glue (API Platform)</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AiChatsStorefrontProcessor</a:t>
            </a:r>
          </a:p>
          <a:p>
            <a:pPr>
              <a:spcBef>
                <a:spcPts val="0"/>
              </a:spcBef>
              <a:spcAft>
                <a:spcPts val="0"/>
              </a:spcAft>
            </a:pPr>
            <a:r>
              <a:rPr sz="900">
                <a:solidFill>
                  <a:srgbClr val="2D2D2D"/>
                </a:solidFill>
                <a:latin typeface="Consolas"/>
              </a:rPr>
              <a:t>                              |  AiFoundationClient::prompt()      &lt;- Client layer, Zed request</a:t>
            </a:r>
          </a:p>
          <a:p>
            <a:pPr>
              <a:spcBef>
                <a:spcPts val="0"/>
              </a:spcBef>
              <a:spcAft>
                <a:spcPts val="0"/>
              </a:spcAft>
            </a:pPr>
            <a:r>
              <a:rPr sz="900">
                <a:solidFill>
                  <a:srgbClr val="2D2D2D"/>
                </a:solidFill>
                <a:latin typeface="Consolas"/>
              </a:rPr>
              <a:t>                              v</a:t>
            </a:r>
          </a:p>
          <a:p>
            <a:pPr>
              <a:spcBef>
                <a:spcPts val="0"/>
              </a:spcBef>
              <a:spcAft>
                <a:spcPts val="0"/>
              </a:spcAft>
            </a:pPr>
            <a:r>
              <a:rPr sz="900">
                <a:solidFill>
                  <a:srgbClr val="2D2D2D"/>
                </a:solidFill>
                <a:latin typeface="Consolas"/>
              </a:rPr>
              <a:t>                            Zed: AiFoundation facade</a:t>
            </a:r>
          </a:p>
          <a:p>
            <a:pPr>
              <a:spcBef>
                <a:spcPts val="0"/>
              </a:spcBef>
              <a:spcAft>
                <a:spcPts val="0"/>
              </a:spcAft>
            </a:pPr>
            <a:r>
              <a:rPr sz="900">
                <a:solidFill>
                  <a:srgbClr val="2D2D2D"/>
                </a:solidFill>
                <a:latin typeface="Consolas"/>
              </a:rPr>
              <a:t>                              |  resolves the AI configuration by name</a:t>
            </a:r>
          </a:p>
          <a:p>
            <a:pPr>
              <a:spcBef>
                <a:spcPts val="0"/>
              </a:spcBef>
              <a:spcAft>
                <a:spcPts val="0"/>
              </a:spcAft>
            </a:pPr>
            <a:r>
              <a:rPr sz="900">
                <a:solidFill>
                  <a:srgbClr val="2D2D2D"/>
                </a:solidFill>
                <a:latin typeface="Consolas"/>
              </a:rPr>
              <a:t>                              |  loads the history of the conversation reference</a:t>
            </a:r>
          </a:p>
          <a:p>
            <a:pPr>
              <a:spcBef>
                <a:spcPts val="0"/>
              </a:spcBef>
              <a:spcAft>
                <a:spcPts val="0"/>
              </a:spcAft>
            </a:pPr>
            <a:r>
              <a:rPr sz="900">
                <a:solidFill>
                  <a:srgbClr val="2D2D2D"/>
                </a:solidFill>
                <a:latin typeface="Consolas"/>
              </a:rPr>
              <a:t>                              |  calls the provider (OpenAI, Bedrock, Anthropic)</a:t>
            </a:r>
          </a:p>
          <a:p>
            <a:pPr>
              <a:spcBef>
                <a:spcPts val="0"/>
              </a:spcBef>
              <a:spcAft>
                <a:spcPts val="0"/>
              </a:spcAft>
            </a:pPr>
            <a:r>
              <a:rPr sz="900">
                <a:solidFill>
                  <a:srgbClr val="2D2D2D"/>
                </a:solidFill>
                <a:latin typeface="Consolas"/>
              </a:rPr>
              <a:t>                              |  stores the new messages under the reference</a:t>
            </a:r>
          </a:p>
          <a:p>
            <a:pPr>
              <a:spcBef>
                <a:spcPts val="0"/>
              </a:spcBef>
              <a:spcAft>
                <a:spcPts val="0"/>
              </a:spcAft>
            </a:pPr>
            <a:r>
              <a:rPr sz="900">
                <a:solidFill>
                  <a:srgbClr val="2D2D2D"/>
                </a:solidFill>
                <a:latin typeface="Consolas"/>
              </a:rPr>
              <a:t>                              v</a:t>
            </a:r>
          </a:p>
          <a:p>
            <a:pPr>
              <a:spcBef>
                <a:spcPts val="0"/>
              </a:spcBef>
              <a:spcAft>
                <a:spcPts val="0"/>
              </a:spcAft>
            </a:pPr>
            <a:r>
              <a:rPr sz="900">
                <a:solidFill>
                  <a:srgbClr val="2D2D2D"/>
                </a:solidFill>
                <a:latin typeface="Consolas"/>
              </a:rPr>
              <a:t>                            answer  --&gt;  back to Glue  --&gt;  JSON:API response</a:t>
            </a:r>
          </a:p>
          <a:p>
            <a:pPr>
              <a:spcAft>
                <a:spcPts val="100"/>
              </a:spcAft>
              <a:defRPr sz="1000">
                <a:solidFill>
                  <a:srgbClr val="1A1A1A"/>
                </a:solidFill>
                <a:latin typeface="Consolas"/>
              </a:defRPr>
            </a:pPr>
            <a:r>
              <a:t>Concept                 Where                                                    Why it matters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AI configuration        config/Shared/config_ai.php                              A named bundle of provider, key, model, and system prompt. Code refers to it by name only, so the provider can change without a deployment of the code</a:t>
            </a:r>
          </a:p>
          <a:p>
            <a:pPr>
              <a:spcAft>
                <a:spcPts val="100"/>
              </a:spcAft>
              <a:defRPr sz="1000">
                <a:solidFill>
                  <a:srgbClr val="1A1A1A"/>
                </a:solidFill>
                <a:latin typeface="Consolas"/>
              </a:defRPr>
            </a:pPr>
            <a:r>
              <a:t>AiFoundation client     Spryker\Client\AiFoundation\AiFoundationClientInterface  The only door from Glue or Yves to the LLM. It forwards the prompt to Zed                                                                             </a:t>
            </a:r>
          </a:p>
          <a:p>
            <a:pPr>
              <a:spcAft>
                <a:spcPts val="100"/>
              </a:spcAft>
              <a:defRPr sz="1000">
                <a:solidFill>
                  <a:srgbClr val="1A1A1A"/>
                </a:solidFill>
                <a:latin typeface="Consolas"/>
              </a:defRPr>
            </a:pPr>
            <a:r>
              <a:t>Conversation reference  PromptRequestTransfer::conversationReference             AiFoundation stores every message under this string and replays the history on the next prompt. No reference, no memory                               </a:t>
            </a:r>
          </a:p>
          <a:p>
            <a:pPr>
              <a:spcAft>
                <a:spcPts val="100"/>
              </a:spcAft>
              <a:defRPr sz="1000">
                <a:solidFill>
                  <a:srgbClr val="1A1A1A"/>
                </a:solidFill>
                <a:latin typeface="Consolas"/>
              </a:defRPr>
            </a:pPr>
            <a:r>
              <a:t>NeuronAI                vendor library                                           AiFoundation uses it internally. Your code never does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Who Talks to Whom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Why not call OpenAI directly? The API token lives in the Back Office configuration, the audit log records every prompt, and the provider can be switched per configuration. All of that only works when every call goes through AiFoundation.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The Resource Schema</a:t>
            </a:r>
          </a:p>
          <a:p>
            <a:pPr>
              <a:spcAft>
                <a:spcPts val="800"/>
              </a:spcAft>
              <a:defRPr sz="1600">
                <a:solidFill>
                  <a:srgbClr val="1A1A1A"/>
                </a:solidFill>
              </a:defRPr>
            </a:pPr>
            <a:r>
              <a:t>Open src/SprykerAcademy/Glue/HelloAi/resources/api/storefront/ai-chats.resource.yml . Complete TODO-1 to TODO-4 :</a:t>
            </a:r>
          </a:p>
          <a:p>
            <a:pPr>
              <a:spcAft>
                <a:spcPts val="400"/>
              </a:spcAft>
              <a:defRPr sz="1500">
                <a:solidFill>
                  <a:srgbClr val="1A1A1A"/>
                </a:solidFill>
              </a:defRPr>
            </a:pPr>
            <a:r>
              <a:t>• Set processor to SprykerAcademy\Glue\HelloAi\Api\Storefront\Processor\AiChatsStorefrontProcessor . A POST resource has a processor. The GET resources of Exercise 12 had a provider.</a:t>
            </a:r>
          </a:p>
          <a:p>
            <a:pPr>
              <a:spcAft>
                <a:spcPts val="400"/>
              </a:spcAft>
              <a:defRPr sz="1500">
                <a:solidFill>
                  <a:srgbClr val="1A1A1A"/>
                </a:solidFill>
              </a:defRPr>
            </a:pPr>
            <a:r>
              <a:t>• Declare one operation of type Post with uriTemplate: '/ai-chats' and normalizationContext: { gen_id: false } .</a:t>
            </a:r>
          </a:p>
          <a:p>
            <a:pPr>
              <a:spcAft>
                <a:spcPts val="400"/>
              </a:spcAft>
              <a:defRPr sz="1500">
                <a:solidFill>
                  <a:srgbClr val="1A1A1A"/>
                </a:solidFill>
              </a:defRPr>
            </a:pPr>
            <a:r>
              <a:t>• Declare conversationReference : type string, writable, readable, not required.</a:t>
            </a:r>
          </a:p>
          <a:p>
            <a:pPr>
              <a:spcAft>
                <a:spcPts val="400"/>
              </a:spcAft>
              <a:defRPr sz="1500">
                <a:solidFill>
                  <a:srgbClr val="1A1A1A"/>
                </a:solidFill>
              </a:defRPr>
            </a:pPr>
            <a:r>
              <a:t>• Declare answer : type string, readable, not writable.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message property is already there. Look at how writable , readable , and required describe the direction of each field.</a:t>
            </a:r>
          </a:p>
          <a:p>
            <a:pPr>
              <a:spcAft>
                <a:spcPts val="800"/>
              </a:spcAft>
              <a:defRPr sz="1400" i="1">
                <a:solidFill>
                  <a:srgbClr val="888888"/>
                </a:solidFill>
              </a:defRPr>
            </a:pPr>
            <a:r>
              <a:t>❝ Reference: vendor/spryker/agent-auth-rest-api/resources/api/storefront/agent-customer-impersonation-access-tokens.resource.yml is a complete POST resource from the core.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The Processor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src/SprykerAcademy/Glue/HelloAi/Api/Storefront/Processor/AiChatsStorefrontProcessor.php . The class extends AbstractStorefrontProcessor , which routes a POST request to processPost() .</a:t>
            </a:r>
          </a:p>
          <a:p>
            <a:pPr>
              <a:spcAft>
                <a:spcPts val="800"/>
              </a:spcAft>
              <a:defRPr sz="1600">
                <a:solidFill>
                  <a:srgbClr val="1A1A1A"/>
                </a:solidFill>
              </a:defRPr>
            </a:pPr>
            <a:r>
              <a:t>TODO-5: add a constructor that receives AiFoundationClientInterface and stores it. Symfony autowires the client.</a:t>
            </a:r>
          </a:p>
          <a:p>
            <a:pPr>
              <a:spcAft>
                <a:spcPts val="800"/>
              </a:spcAft>
              <a:defRPr sz="1600">
                <a:solidFill>
                  <a:srgbClr val="1A1A1A"/>
                </a:solidFill>
              </a:defRPr>
            </a:pPr>
            <a:r>
              <a:t>TODO-6: decide the conversation reference. Reuse the one from the request, or generate a new one with uniqid(static::CONVERSATION_REFERENCE_PREFIX) .</a:t>
            </a:r>
          </a:p>
          <a:p>
            <a:pPr>
              <a:spcAft>
                <a:spcPts val="800"/>
              </a:spcAft>
              <a:defRPr sz="1600">
                <a:solidFill>
                  <a:srgbClr val="1A1A1A"/>
                </a:solidFill>
              </a:defRPr>
            </a:pPr>
            <a:r>
              <a:t>TODO-7: build the prompt request and send it:</a:t>
            </a:r>
          </a:p>
          <a:p>
            <a:pPr>
              <a:spcAft>
                <a:spcPts val="100"/>
              </a:spcAft>
              <a:defRPr sz="1000">
                <a:solidFill>
                  <a:srgbClr val="1A1A1A"/>
                </a:solidFill>
                <a:latin typeface="Consolas"/>
              </a:defRPr>
            </a:pPr>
            <a:r>
              <a:t>Setter                      Value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setAiConfigurationName()    HelloAiConstants::AI_CONFIGURATION_HELLO_AI                                                          </a:t>
            </a:r>
          </a:p>
          <a:p>
            <a:pPr>
              <a:spcAft>
                <a:spcPts val="100"/>
              </a:spcAft>
              <a:defRPr sz="1000">
                <a:solidFill>
                  <a:srgbClr val="1A1A1A"/>
                </a:solidFill>
                <a:latin typeface="Consolas"/>
              </a:defRPr>
            </a:pPr>
            <a:r>
              <a:t>setConversationReference()  the reference from TODO-6                                                                            </a:t>
            </a:r>
          </a:p>
          <a:p>
            <a:pPr>
              <a:spcAft>
                <a:spcPts val="100"/>
              </a:spcAft>
              <a:defRPr sz="1000">
                <a:solidFill>
                  <a:srgbClr val="1A1A1A"/>
                </a:solidFill>
                <a:latin typeface="Consolas"/>
              </a:defRPr>
            </a:pPr>
            <a:r>
              <a:t>setPromptMessage()          a PromptMessageTransfer with type AiFoundationConstants::MESSAGE_TYPE_USER and the message as content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The Processor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Then call $this-&gt;aiFoundationClient-&gt;prompt($promptRequestTransfer) .</a:t>
            </a:r>
          </a:p>
          <a:p>
            <a:pPr>
              <a:spcAft>
                <a:spcPts val="800"/>
              </a:spcAft>
              <a:defRPr sz="1600">
                <a:solidFill>
                  <a:srgbClr val="1A1A1A"/>
                </a:solidFill>
              </a:defRPr>
            </a:pPr>
            <a:r>
              <a:t>TODO-8: if the response is not successful or has no message, throw a ServiceUnavailableHttpException . Otherwise copy the conversation reference and the answer into the resource and return it.</a:t>
            </a:r>
          </a:p>
          <a:p>
            <a:pPr>
              <a:spcAft>
                <a:spcPts val="800"/>
              </a:spcAft>
              <a:defRPr sz="1400" i="1">
                <a:solidFill>
                  <a:srgbClr val="888888"/>
                </a:solidFill>
              </a:defRPr>
            </a:pPr>
            <a:r>
              <a:t>❝ Where is the answer? PromptResponseTransfer::getMessage() returns a PromptMessageTransfer . Its getContent() is the text of the LLM.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and 2</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build </a:t>
            </a:r>
            <a:r>
              <a:rPr sz="900">
                <a:solidFill>
                  <a:srgbClr val="2D2D2D"/>
                </a:solidFill>
                <a:latin typeface="Consolas"/>
              </a:rPr>
              <a:t>-c</a:t>
            </a:r>
            <a:r>
              <a:rPr sz="900">
                <a:solidFill>
                  <a:srgbClr val="2D2D2D"/>
                </a:solidFill>
                <a:latin typeface="Consolas"/>
              </a:rPr>
              <a:t> tests/SprykerAcademyTest/Glue/HelloAi/</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tests/SprykerAcademyTest/Glue/HelloAi/ Exercise19</a:t>
            </a:r>
          </a:p>
          <a:p>
            <a:pPr>
              <a:spcAft>
                <a:spcPts val="800"/>
              </a:spcAft>
              <a:defRPr sz="1600">
                <a:solidFill>
                  <a:srgbClr val="1A1A1A"/>
                </a:solidFill>
              </a:defRPr>
            </a:pPr>
            <a:r>
              <a:t>api:generate creates Generated\Api\Storefront\AiChatsStorefrontResource , which the tests need. All 11 tests must pass. The AiFoundation client is mocked, so no token is spent. One test fails if your processor references the NeuronAI namespace.</a:t>
            </a:r>
          </a:p>
          <a:p>
            <a:pPr>
              <a:spcBef>
                <a:spcPts val="1200"/>
              </a:spcBef>
              <a:spcAft>
                <a:spcPts val="600"/>
              </a:spcAft>
              <a:defRPr sz="2000" b="1">
                <a:solidFill>
                  <a:srgbClr val="1A1A1A"/>
                </a:solidFill>
              </a:defRPr>
            </a:pPr>
            <a:r>
              <a:t>Part 3: The AI Configuration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and 2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Your code names a configuration that does not exist yet. Projects register AI configurations in config/Shared/config_ai.php ( AiFoundationConstants::AI_CONFIGURATIONS ). The exercise keeps it with its own code instead: src/SprykerAcademy/Zed/AiFoundation/AiFoundationConfig.php extends the AiFoundationConfig of the project (or the core one) and, because SprykerAcademy comes before Pyz in the project namespaces, is the one Spryker uses.</a:t>
            </a:r>
          </a:p>
          <a:p>
            <a:pPr>
              <a:spcAft>
                <a:spcPts val="800"/>
              </a:spcAft>
              <a:defRPr sz="1600">
                <a:solidFill>
                  <a:srgbClr val="1A1A1A"/>
                </a:solidFill>
              </a:defRPr>
            </a:pPr>
            <a:r>
              <a:t>Coding time: open src/SprykerAcademy/Zed/AiFoundation/AiFoundationConfig.php and add the configuration to the project’s ones in getAiConfigurations()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and 2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return</a:t>
            </a:r>
            <a:r>
              <a:rPr sz="900">
                <a:solidFill>
                  <a:srgbClr val="2D2D2D"/>
                </a:solidFill>
                <a:latin typeface="Consolas"/>
              </a:rPr>
              <a:t> </a:t>
            </a:r>
            <a:r>
              <a:rPr sz="900">
                <a:solidFill>
                  <a:srgbClr val="06287E"/>
                </a:solidFill>
                <a:latin typeface="Consolas"/>
              </a:rPr>
              <a:t>array_merge</a:t>
            </a:r>
            <a:r>
              <a:rPr sz="900">
                <a:solidFill>
                  <a:srgbClr val="2D2D2D"/>
                </a:solidFill>
                <a:latin typeface="Consolas"/>
              </a:rPr>
              <a:t>(</a:t>
            </a:r>
            <a:r>
              <a:rPr sz="900" b="1">
                <a:solidFill>
                  <a:srgbClr val="007020"/>
                </a:solidFill>
                <a:latin typeface="Consolas"/>
              </a:rPr>
              <a:t>parent</a:t>
            </a:r>
            <a:r>
              <a:rPr sz="900">
                <a:solidFill>
                  <a:srgbClr val="2D2D2D"/>
                </a:solidFill>
                <a:latin typeface="Consolas"/>
              </a:rPr>
              <a:t>::getAiConfigurations()</a:t>
            </a:r>
            <a:r>
              <a:rPr sz="900">
                <a:solidFill>
                  <a:srgbClr val="007020"/>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-&gt;resolveConfigurationReferences([</a:t>
            </a:r>
          </a:p>
          <a:p>
            <a:pPr>
              <a:spcBef>
                <a:spcPts val="0"/>
              </a:spcBef>
              <a:spcAft>
                <a:spcPts val="0"/>
              </a:spcAft>
            </a:pPr>
            <a:r>
              <a:rPr sz="900">
                <a:solidFill>
                  <a:srgbClr val="2D2D2D"/>
                </a:solidFill>
                <a:latin typeface="Consolas"/>
              </a:rPr>
              <a:t>    </a:t>
            </a:r>
            <a:r>
              <a:rPr sz="900">
                <a:solidFill>
                  <a:srgbClr val="880000"/>
                </a:solidFill>
                <a:latin typeface="Consolas"/>
              </a:rPr>
              <a:t>H</a:t>
            </a:r>
            <a:r>
              <a:rPr sz="900">
                <a:solidFill>
                  <a:srgbClr val="2D2D2D"/>
                </a:solidFill>
                <a:latin typeface="Consolas"/>
              </a:rPr>
              <a:t>elloAiConstants::</a:t>
            </a:r>
            <a:r>
              <a:rPr sz="900">
                <a:solidFill>
                  <a:srgbClr val="880000"/>
                </a:solidFill>
                <a:latin typeface="Consolas"/>
              </a:rPr>
              <a:t>AI_CONFIGURATION_HELLO_AI</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4070A0"/>
                </a:solidFill>
                <a:latin typeface="Consolas"/>
              </a:rPr>
              <a:t>'gpt-4.1-mini'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'system_prompt'</a:t>
            </a:r>
            <a:r>
              <a:rPr sz="900">
                <a:solidFill>
                  <a:srgbClr val="2D2D2D"/>
                </a:solidFill>
                <a:latin typeface="Consolas"/>
              </a:rPr>
              <a:t> =&gt; </a:t>
            </a:r>
            <a:r>
              <a:rPr sz="900">
                <a:solidFill>
                  <a:srgbClr val="4070A0"/>
                </a:solidFill>
                <a:latin typeface="Consolas"/>
              </a:rPr>
              <a:t>'You are a friendly assistant for a Spryker developer training. Answer in one or two short sentences.'</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AiCommerceConstants is Pyz\Shared\AiCommerce\AiCommerceConstants ; the file already imports it. resolveConfigurationReferences() replaces the configuration:: references - parent::getAiConfigurations() already did that for the project’s entries.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and 2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Two ways to set a value. key uses the prefix configuration:: and is read at runtime from the Back Office configuration. model and system_prompt are plain strings. Both forms are valid for every field. Use the prefix for secrets and for anything an admin should change without a deployment.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Apply and Call the API</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cache:clear</a:t>
            </a:r>
          </a:p>
          <a:p>
            <a:pPr>
              <a:spcAft>
                <a:spcPts val="800"/>
              </a:spcAft>
              <a:defRPr sz="1400" i="1">
                <a:solidFill>
                  <a:srgbClr val="888888"/>
                </a:solidFill>
              </a:defRPr>
            </a:pPr>
            <a:r>
              <a:t>❝ Why glue cache:clear ? The Glue application compiles a Symfony container that caches the API Platform source directories and routes, and cache:empty-all does not touch it. In the demo shop glue.eu.spryker.local is served by the GLUE application, so that is the one to generate and clear ( GLUE_STOREFRONT is not the application behind that host). api:generate only writes the resource classes; the cache is what Glue serves from, so it has to be rebuilt after every generate. The full explanation is Why cache:clear Follows api:generate in the Glue Storefront API guide ; if the endpoint still answers 404 or 500, see Troubleshooting there.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Apply and Call the API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Send the first message:</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-X</a:t>
            </a:r>
            <a:r>
              <a:rPr sz="900">
                <a:solidFill>
                  <a:srgbClr val="2D2D2D"/>
                </a:solidFill>
                <a:latin typeface="Consolas"/>
              </a:rPr>
              <a:t> POST http://glue.eu.spryker.local/ai-chats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'Content-Type: application/vnd.api+json'</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-d</a:t>
            </a:r>
            <a:r>
              <a:rPr sz="900">
                <a:solidFill>
                  <a:srgbClr val="2D2D2D"/>
                </a:solidFill>
                <a:latin typeface="Consolas"/>
              </a:rPr>
              <a:t> </a:t>
            </a:r>
            <a:r>
              <a:rPr sz="900">
                <a:solidFill>
                  <a:srgbClr val="4070A0"/>
                </a:solidFill>
                <a:latin typeface="Consolas"/>
              </a:rPr>
              <a:t>'{"data":{"type":"ai-chats","attributes":{"message":"Hello world! My name is Hidran."}}}'</a:t>
            </a:r>
          </a:p>
          <a:p>
            <a:pPr>
              <a:spcBef>
                <a:spcPts val="0"/>
              </a:spcBef>
              <a:spcAft>
                <a:spcPts val="0"/>
              </a:spcAft>
            </a:pPr>
            <a:r>
              <a:rPr sz="900">
                <a:solidFill>
                  <a:srgbClr val="06287E"/>
                </a:solidFill>
                <a:latin typeface="Consolas"/>
              </a:rPr>
              <a:t>{</a:t>
            </a:r>
            <a:r>
              <a:rPr sz="900">
                <a:solidFill>
                  <a:srgbClr val="902000"/>
                </a:solidFill>
                <a:latin typeface="Consolas"/>
              </a:rPr>
              <a:t>"data"</a:t>
            </a:r>
            <a:r>
              <a:rPr sz="900">
                <a:solidFill>
                  <a:srgbClr val="06287E"/>
                </a:solidFill>
                <a:latin typeface="Consolas"/>
              </a:rPr>
              <a:t>:{</a:t>
            </a:r>
            <a:r>
              <a:rPr sz="900">
                <a:solidFill>
                  <a:srgbClr val="902000"/>
                </a:solidFill>
                <a:latin typeface="Consolas"/>
              </a:rPr>
              <a:t>"id"</a:t>
            </a:r>
            <a:r>
              <a:rPr sz="900">
                <a:solidFill>
                  <a:srgbClr val="06287E"/>
                </a:solidFill>
                <a:latin typeface="Consolas"/>
              </a:rPr>
              <a:t>:</a:t>
            </a:r>
            <a:r>
              <a:rPr sz="900" b="1">
                <a:solidFill>
                  <a:srgbClr val="007020"/>
                </a:solidFill>
                <a:latin typeface="Consolas"/>
              </a:rPr>
              <a:t>null</a:t>
            </a:r>
            <a:r>
              <a:rPr sz="900">
                <a:solidFill>
                  <a:srgbClr val="06287E"/>
                </a:solidFill>
                <a:latin typeface="Consolas"/>
              </a:rPr>
              <a:t>,</a:t>
            </a:r>
            <a:r>
              <a:rPr sz="900">
                <a:solidFill>
                  <a:srgbClr val="902000"/>
                </a:solidFill>
                <a:latin typeface="Consolas"/>
              </a:rPr>
              <a:t>"type"</a:t>
            </a:r>
            <a:r>
              <a:rPr sz="900">
                <a:solidFill>
                  <a:srgbClr val="06287E"/>
                </a:solidFill>
                <a:latin typeface="Consolas"/>
              </a:rPr>
              <a:t>:</a:t>
            </a:r>
            <a:r>
              <a:rPr sz="900">
                <a:solidFill>
                  <a:srgbClr val="4070A0"/>
                </a:solidFill>
                <a:latin typeface="Consolas"/>
              </a:rPr>
              <a:t>"ai-chats"</a:t>
            </a:r>
            <a:r>
              <a:rPr sz="900">
                <a:solidFill>
                  <a:srgbClr val="06287E"/>
                </a:solidFill>
                <a:latin typeface="Consolas"/>
              </a:rPr>
              <a:t>,</a:t>
            </a:r>
            <a:r>
              <a:rPr sz="900">
                <a:solidFill>
                  <a:srgbClr val="902000"/>
                </a:solidFill>
                <a:latin typeface="Consolas"/>
              </a:rPr>
              <a:t>"attributes"</a:t>
            </a:r>
            <a:r>
              <a:rPr sz="900">
                <a:solidFill>
                  <a:srgbClr val="06287E"/>
                </a:solidFill>
                <a:latin typeface="Consolas"/>
              </a:rPr>
              <a:t>:{</a:t>
            </a:r>
            <a:r>
              <a:rPr sz="900">
                <a:solidFill>
                  <a:srgbClr val="902000"/>
                </a:solidFill>
                <a:latin typeface="Consolas"/>
              </a:rPr>
              <a:t>"message"</a:t>
            </a:r>
            <a:r>
              <a:rPr sz="900">
                <a:solidFill>
                  <a:srgbClr val="06287E"/>
                </a:solidFill>
                <a:latin typeface="Consolas"/>
              </a:rPr>
              <a:t>:</a:t>
            </a:r>
            <a:r>
              <a:rPr sz="900">
                <a:solidFill>
                  <a:srgbClr val="4070A0"/>
                </a:solidFill>
                <a:latin typeface="Consolas"/>
              </a:rPr>
              <a:t>"Hello world! My name is Hidran."</a:t>
            </a:r>
            <a:r>
              <a:rPr sz="900">
                <a:solidFill>
                  <a:srgbClr val="06287E"/>
                </a:solidFill>
                <a:latin typeface="Consolas"/>
              </a:rPr>
              <a:t>,</a:t>
            </a:r>
            <a:r>
              <a:rPr sz="900">
                <a:solidFill>
                  <a:srgbClr val="902000"/>
                </a:solidFill>
                <a:latin typeface="Consolas"/>
              </a:rPr>
              <a:t>"conversationReference"</a:t>
            </a:r>
            <a:r>
              <a:rPr sz="900">
                <a:solidFill>
                  <a:srgbClr val="06287E"/>
                </a:solidFill>
                <a:latin typeface="Consolas"/>
              </a:rPr>
              <a:t>:</a:t>
            </a:r>
            <a:r>
              <a:rPr sz="900">
                <a:solidFill>
                  <a:srgbClr val="4070A0"/>
                </a:solidFill>
                <a:latin typeface="Consolas"/>
              </a:rPr>
              <a:t>"hello-ai-6aac7af26ec95"</a:t>
            </a:r>
            <a:r>
              <a:rPr sz="900">
                <a:solidFill>
                  <a:srgbClr val="06287E"/>
                </a:solidFill>
                <a:latin typeface="Consolas"/>
              </a:rPr>
              <a:t>,</a:t>
            </a:r>
            <a:r>
              <a:rPr sz="900">
                <a:solidFill>
                  <a:srgbClr val="902000"/>
                </a:solidFill>
                <a:latin typeface="Consolas"/>
              </a:rPr>
              <a:t>"answer"</a:t>
            </a:r>
            <a:r>
              <a:rPr sz="900">
                <a:solidFill>
                  <a:srgbClr val="06287E"/>
                </a:solidFill>
                <a:latin typeface="Consolas"/>
              </a:rPr>
              <a:t>:</a:t>
            </a:r>
            <a:r>
              <a:rPr sz="900">
                <a:solidFill>
                  <a:srgbClr val="4070A0"/>
                </a:solidFill>
                <a:latin typeface="Consolas"/>
              </a:rPr>
              <a:t>"Hello Hidran! How can I assist you with Spryker development today?"</a:t>
            </a:r>
            <a:r>
              <a:rPr sz="900">
                <a:solidFill>
                  <a:srgbClr val="06287E"/>
                </a:solidFill>
                <a:latin typeface="Consolas"/>
              </a:rPr>
              <a:t>}}}</a:t>
            </a:r>
          </a:p>
          <a:p>
            <a:pPr>
              <a:spcAft>
                <a:spcPts val="800"/>
              </a:spcAft>
              <a:defRPr sz="1600">
                <a:solidFill>
                  <a:srgbClr val="1A1A1A"/>
                </a:solidFill>
              </a:defRPr>
            </a:pPr>
            <a:r>
              <a:t>Now send the conversationReference back with a second message:</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-X</a:t>
            </a:r>
            <a:r>
              <a:rPr sz="900">
                <a:solidFill>
                  <a:srgbClr val="2D2D2D"/>
                </a:solidFill>
                <a:latin typeface="Consolas"/>
              </a:rPr>
              <a:t> POST http://glue.eu.spryker.local/ai-chats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'Content-Type: application/vnd.api+json'</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-d</a:t>
            </a:r>
            <a:r>
              <a:rPr sz="900">
                <a:solidFill>
                  <a:srgbClr val="2D2D2D"/>
                </a:solidFill>
                <a:latin typeface="Consolas"/>
              </a:rPr>
              <a:t> </a:t>
            </a:r>
            <a:r>
              <a:rPr sz="900">
                <a:solidFill>
                  <a:srgbClr val="4070A0"/>
                </a:solidFill>
                <a:latin typeface="Consolas"/>
              </a:rPr>
              <a:t>'{"data":{"type":"ai-chats","attributes":{"message":"What is my name?","conversationReference":"hello-ai-6aac7af26ec95"}}}'</a:t>
            </a:r>
          </a:p>
          <a:p>
            <a:pPr>
              <a:spcAft>
                <a:spcPts val="800"/>
              </a:spcAft>
              <a:defRPr sz="1600">
                <a:solidFill>
                  <a:srgbClr val="1A1A1A"/>
                </a:solidFill>
              </a:defRPr>
            </a:pPr>
            <a:r>
              <a:t>The answer names you. Send the same question without the reference, and the LLM does not know you. That is the memory.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First message without a reference returns an answer and a new conversationReference .</a:t>
            </a:r>
          </a:p>
          <a:p>
            <a:pPr>
              <a:spcAft>
                <a:spcPts val="400"/>
              </a:spcAft>
              <a:defRPr sz="1500">
                <a:solidFill>
                  <a:srgbClr val="1A1A1A"/>
                </a:solidFill>
              </a:defRPr>
            </a:pPr>
            <a:r>
              <a:t>• Second message with that reference gets an answer that uses the earlier context.</a:t>
            </a:r>
          </a:p>
          <a:p>
            <a:pPr>
              <a:spcAft>
                <a:spcPts val="400"/>
              </a:spcAft>
              <a:defRPr sz="1500">
                <a:solidFill>
                  <a:srgbClr val="1A1A1A"/>
                </a:solidFill>
              </a:defRPr>
            </a:pPr>
            <a:r>
              <a:t>• Same question without the reference gets an answer without that context.</a:t>
            </a:r>
          </a:p>
          <a:p>
            <a:pPr>
              <a:spcAft>
                <a:spcPts val="400"/>
              </a:spcAft>
              <a:defRPr sz="1500">
                <a:solidFill>
                  <a:srgbClr val="1A1A1A"/>
                </a:solidFill>
              </a:defRPr>
            </a:pPr>
            <a:r>
              <a:t>• An empty message returns HTTP 422 with the message The attribute “message” must not be empty.</a:t>
            </a:r>
          </a:p>
          <a:p>
            <a:pPr>
              <a:spcAft>
                <a:spcPts val="400"/>
              </a:spcAft>
              <a:defRPr sz="1500">
                <a:solidFill>
                  <a:srgbClr val="1A1A1A"/>
                </a:solidFill>
              </a:defRPr>
            </a:pPr>
            <a:r>
              <a:t>• AiFoundation records every prompt of the SPRYKER_ACADEMY:AI_CONFIGURATION_HELLO_AI configuration in its audit log, separate from the other AI features.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advanced/ai-foundation-hello/complete </a:t>
            </a:r>
            <a:r>
              <a:rPr sz="900">
                <a:solidFill>
                  <a:srgbClr val="2D2D2D"/>
                </a:solidFill>
                <a:latin typeface="Consolas"/>
              </a:rPr>
              <a:t>--run</a:t>
            </a:r>
          </a:p>
          <a:p>
            <a:pPr>
              <a:spcAft>
                <a:spcPts val="800"/>
              </a:spcAft>
              <a:defRPr sz="1600">
                <a:solidFill>
                  <a:srgbClr val="1A1A1A"/>
                </a:solidFill>
              </a:defRPr>
            </a:pPr>
            <a:r>
              <a:t>The complete branch contains the AI configuration of Part 3 in src/SprykerAcademy/Zed/AiFoundation/AiFoundationConfig.php . If you added the configuration to config/Shared/config_ai.php by hand in an earlier version of this exercise, remove it again.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Change the system prompt to answer only in German, and clear the caches. No code changed.</a:t>
            </a:r>
          </a:p>
          <a:p>
            <a:pPr>
              <a:spcAft>
                <a:spcPts val="400"/>
              </a:spcAft>
              <a:defRPr sz="1500">
                <a:solidFill>
                  <a:srgbClr val="1A1A1A"/>
                </a:solidFill>
              </a:defRPr>
            </a:pPr>
            <a:r>
              <a:t>• Switch the model to gpt-4.1 and compare answers.</a:t>
            </a:r>
          </a:p>
          <a:p>
            <a:pPr>
              <a:spcAft>
                <a:spcPts val="400"/>
              </a:spcAft>
              <a:defRPr sz="1500">
                <a:solidFill>
                  <a:srgbClr val="1A1A1A"/>
                </a:solidFill>
              </a:defRPr>
            </a:pPr>
            <a:r>
              <a:t>• Add a GET /ai-chats/{conversationReference} operation with a provider that returns the history through AiFoundationClientInterface::getConversationHistoryCollection() .</a:t>
            </a:r>
          </a:p>
          <a:p>
            <a:pPr>
              <a:spcAft>
                <a:spcPts val="400"/>
              </a:spcAft>
              <a:defRPr sz="1500">
                <a:solidFill>
                  <a:srgbClr val="1A1A1A"/>
                </a:solidFill>
              </a:defRPr>
            </a:pPr>
            <a:r>
              <a:t>• Exercise 20 builds on this: the same PromptRequestTransfer , plus a tool and a structured answer.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20: Ask the Catalog - Tool Calling and Structured Answers</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20: Ask the Catalog - Tool Calling and Structured Answers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extend the Hello AI pattern with the two ideas that make an LLM useful in a shop. A customer asks a question about a product. The LLM does not know your catalog, so it calls a tool that reads the product from the database. Then it answers in a fixed structure with typed fields instead of free text.</a:t>
            </a:r>
          </a:p>
          <a:p>
            <a:pPr>
              <a:spcAft>
                <a:spcPts val="800"/>
              </a:spcAft>
              <a:defRPr sz="1600">
                <a:solidFill>
                  <a:srgbClr val="1A1A1A"/>
                </a:solidFill>
              </a:defRPr>
            </a:pPr>
            <a:r>
              <a:t>You will learn how to: - Write a tool plugin that the LLM can call: name, description, typed parameters, and execution in Zed - Group tools in a tool set plugin and register it with AiFoundation - Define a structured answer as a transfer object and get typed getters back - Request tools and the answer shape from a Storefront API processor - Write a system prompt with a guardrail against invented facts</a:t>
            </a:r>
          </a:p>
          <a:p>
            <a:pPr>
              <a:spcAft>
                <a:spcPts val="800"/>
              </a:spcAft>
              <a:defRPr sz="1600">
                <a:solidFill>
                  <a:srgbClr val="1A1A1A"/>
                </a:solidFill>
              </a:defRPr>
            </a:pPr>
            <a:r>
              <a:t>Official documentation: - Extend AI Commerce agents with custom toolsets - AI Foundation module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Completed Exercise 19: Hello AI . The endpoint, the processor, and the AI configuration follow the same pattern.</a:t>
            </a:r>
          </a:p>
          <a:p>
            <a:pPr>
              <a:spcAft>
                <a:spcPts val="400"/>
              </a:spcAft>
              <a:defRPr sz="1500">
                <a:solidFill>
                  <a:srgbClr val="1A1A1A"/>
                </a:solidFill>
              </a:defRPr>
            </a:pPr>
            <a:r>
              <a:t>• An OpenAI API token in the Back Office. The Back Office Assistant is not required.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advanced/ai-foundation-catalog/skeleton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configuration:sync , Glue resources) and stops at the first one that fails. Leave it out to run them yourself.</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One Request, Several Round Trips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POST /product-questions {sku, question}</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ProductQuestionsStorefrontProcessor   builds a PromptRequestTransfer with</a:t>
            </a:r>
          </a:p>
          <a:p>
            <a:pPr>
              <a:spcBef>
                <a:spcPts val="0"/>
              </a:spcBef>
              <a:spcAft>
                <a:spcPts val="0"/>
              </a:spcAft>
            </a:pPr>
            <a:r>
              <a:rPr sz="900">
                <a:solidFill>
                  <a:srgbClr val="2D2D2D"/>
                </a:solidFill>
                <a:latin typeface="Consolas"/>
              </a:rPr>
              <a:t>   |                                  tool set name + structured message + conversation reference</a:t>
            </a:r>
          </a:p>
          <a:p>
            <a:pPr>
              <a:spcBef>
                <a:spcPts val="0"/>
              </a:spcBef>
              <a:spcAft>
                <a:spcPts val="0"/>
              </a:spcAft>
            </a:pPr>
            <a:r>
              <a:rPr sz="900">
                <a:solidFill>
                  <a:srgbClr val="2D2D2D"/>
                </a:solidFill>
                <a:latin typeface="Consolas"/>
              </a:rPr>
              <a:t>   v  AiFoundationClient::prompt()</a:t>
            </a:r>
          </a:p>
          <a:p>
            <a:pPr>
              <a:spcBef>
                <a:spcPts val="0"/>
              </a:spcBef>
              <a:spcAft>
                <a:spcPts val="0"/>
              </a:spcAft>
            </a:pPr>
            <a:r>
              <a:rPr sz="900">
                <a:solidFill>
                  <a:srgbClr val="2D2D2D"/>
                </a:solidFill>
                <a:latin typeface="Consolas"/>
              </a:rPr>
              <a:t>Zed: AiFoundation</a:t>
            </a:r>
          </a:p>
          <a:p>
            <a:pPr>
              <a:spcBef>
                <a:spcPts val="0"/>
              </a:spcBef>
              <a:spcAft>
                <a:spcPts val="0"/>
              </a:spcAft>
            </a:pPr>
            <a:r>
              <a:rPr sz="900">
                <a:solidFill>
                  <a:srgbClr val="2D2D2D"/>
                </a:solidFill>
                <a:latin typeface="Consolas"/>
              </a:rPr>
              <a:t>   |  1. sends system prompt, question, and the TOOL DEFINITIONS to the provider</a:t>
            </a:r>
          </a:p>
          <a:p>
            <a:pPr>
              <a:spcBef>
                <a:spcPts val="0"/>
              </a:spcBef>
              <a:spcAft>
                <a:spcPts val="0"/>
              </a:spcAft>
            </a:pPr>
            <a:r>
              <a:rPr sz="900">
                <a:solidFill>
                  <a:srgbClr val="2D2D2D"/>
                </a:solidFill>
                <a:latin typeface="Consolas"/>
              </a:rPr>
              <a:t>   |  2. the model answers "call get_product_details(sku=...)"</a:t>
            </a:r>
          </a:p>
          <a:p>
            <a:pPr>
              <a:spcBef>
                <a:spcPts val="0"/>
              </a:spcBef>
              <a:spcAft>
                <a:spcPts val="0"/>
              </a:spcAft>
            </a:pPr>
            <a:r>
              <a:rPr sz="900">
                <a:solidFill>
                  <a:srgbClr val="2D2D2D"/>
                </a:solidFill>
                <a:latin typeface="Consolas"/>
              </a:rPr>
              <a:t>   |  3. AiFoundation runs GetProductDetailsToolPlugin::execute() in Zed and sends the JSON result back</a:t>
            </a:r>
          </a:p>
          <a:p>
            <a:pPr>
              <a:spcBef>
                <a:spcPts val="0"/>
              </a:spcBef>
              <a:spcAft>
                <a:spcPts val="0"/>
              </a:spcAft>
            </a:pPr>
            <a:r>
              <a:rPr sz="900">
                <a:solidFill>
                  <a:srgbClr val="2D2D2D"/>
                </a:solidFill>
                <a:latin typeface="Consolas"/>
              </a:rPr>
              <a:t>   |  4. the model answers in the JSON shape of ProductAnswerTransfer</a:t>
            </a:r>
          </a:p>
          <a:p>
            <a:pPr>
              <a:spcBef>
                <a:spcPts val="0"/>
              </a:spcBef>
              <a:spcAft>
                <a:spcPts val="0"/>
              </a:spcAft>
            </a:pPr>
            <a:r>
              <a:rPr sz="900">
                <a:solidFill>
                  <a:srgbClr val="2D2D2D"/>
                </a:solidFill>
                <a:latin typeface="Consolas"/>
              </a:rPr>
              <a:t>   |  5. AiFoundation validates the shape, retries when it does not fit</a:t>
            </a:r>
          </a:p>
          <a:p>
            <a:pPr>
              <a:spcBef>
                <a:spcPts val="0"/>
              </a:spcBef>
              <a:spcAft>
                <a:spcPts val="0"/>
              </a:spcAft>
            </a:pPr>
            <a:r>
              <a:rPr sz="900">
                <a:solidFill>
                  <a:srgbClr val="2D2D2D"/>
                </a:solidFill>
                <a:latin typeface="Consolas"/>
              </a:rPr>
              <a:t>   v</a:t>
            </a:r>
          </a:p>
          <a:p>
            <a:pPr>
              <a:spcBef>
                <a:spcPts val="0"/>
              </a:spcBef>
              <a:spcAft>
                <a:spcPts val="0"/>
              </a:spcAft>
            </a:pPr>
            <a:r>
              <a:rPr sz="900">
                <a:solidFill>
                  <a:srgbClr val="2D2D2D"/>
                </a:solidFill>
                <a:latin typeface="Consolas"/>
              </a:rPr>
              <a:t>typed ProductAnswerTransfer  --&gt;  processor maps it  --&gt;  JSON:API response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One Request, Several Round Trips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Piece              Class                        What the model sees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Tool               GetProductDetailsToolPlugin  Only getName() , getDescription() , and getParameters() . It never sees execute()          </a:t>
            </a:r>
          </a:p>
          <a:p>
            <a:pPr>
              <a:spcAft>
                <a:spcPts val="100"/>
              </a:spcAft>
              <a:defRPr sz="1000">
                <a:solidFill>
                  <a:srgbClr val="1A1A1A"/>
                </a:solidFill>
                <a:latin typeface="Consolas"/>
              </a:defRPr>
            </a:pPr>
            <a:r>
              <a:t>Tool set           CatalogToolSetPlugin         Nothing. It is the name the processor requests                                             </a:t>
            </a:r>
          </a:p>
          <a:p>
            <a:pPr>
              <a:spcAft>
                <a:spcPts val="100"/>
              </a:spcAft>
              <a:defRPr sz="1000">
                <a:solidFill>
                  <a:srgbClr val="1A1A1A"/>
                </a:solidFill>
                <a:latin typeface="Consolas"/>
              </a:defRPr>
            </a:pPr>
            <a:r>
              <a:t>Structured answer  ProductAnswerTransfer        A JSON schema built from the transfer. The property descriptions are the field instructions</a:t>
            </a:r>
          </a:p>
          <a:p>
            <a:pPr>
              <a:spcAft>
                <a:spcPts val="100"/>
              </a:spcAft>
              <a:defRPr sz="1000">
                <a:solidFill>
                  <a:srgbClr val="1A1A1A"/>
                </a:solidFill>
                <a:latin typeface="Consolas"/>
              </a:defRPr>
            </a:pPr>
            <a:r>
              <a:t>Business logic     ProductDetailsReader         Nothing. Tools are thin, the reader does the work with facades</a:t>
            </a:r>
          </a:p>
          <a:p>
            <a:pPr>
              <a:spcAft>
                <a:spcPts val="800"/>
              </a:spcAft>
              <a:defRPr sz="1400" i="1">
                <a:solidFill>
                  <a:srgbClr val="888888"/>
                </a:solidFill>
              </a:defRPr>
            </a:pPr>
            <a:r>
              <a:t>❝ Tools run in Zed. The Storefront API only names the tool set. AiFoundation looks the tool set up in the Zed AiFoundationDependencyProvider and executes tools there, with full access to facades. That is why the tool plugin lives in src/SprykerAcademy/Zed while the endpoint lives in Glue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One Request, Several Round Trips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business layer is provided. Open ProductDetailsReader once: it resolves an abstract or concrete SKU, collects name, description, attributes, and every variant with availability and price, and returns one JSON string. When nothing is found, it returns a JSON error. The tool passes that string to the model unchanged.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The Tool</a:t>
            </a:r>
          </a:p>
          <a:p>
            <a:pPr>
              <a:spcAft>
                <a:spcPts val="800"/>
              </a:spcAft>
              <a:defRPr sz="1600">
                <a:solidFill>
                  <a:srgbClr val="1A1A1A"/>
                </a:solidFill>
              </a:defRPr>
            </a:pPr>
            <a:r>
              <a:t>Open src/SprykerAcademy/Zed/CatalogAssistant/Communication/Plugin/AiFoundation/Tool/GetProductDetailsToolPlugin.php . Complete TODO-1 to TODO-4 :</a:t>
            </a:r>
          </a:p>
          <a:p>
            <a:pPr>
              <a:spcAft>
                <a:spcPts val="400"/>
              </a:spcAft>
              <a:defRPr sz="1500">
                <a:solidFill>
                  <a:srgbClr val="1A1A1A"/>
                </a:solidFill>
              </a:defRPr>
            </a:pPr>
            <a:r>
              <a:t>• getName() returns 'get_product_details' .</a:t>
            </a:r>
          </a:p>
          <a:p>
            <a:pPr>
              <a:spcAft>
                <a:spcPts val="400"/>
              </a:spcAft>
              <a:defRPr sz="1500">
                <a:solidFill>
                  <a:srgbClr val="1A1A1A"/>
                </a:solidFill>
              </a:defRPr>
            </a:pPr>
            <a:r>
              <a:t>• getDescription() says what comes back, what the tool needs, and when to call it. Write it for a reader who has never seen your code: “Call it before answering any question about a product.”</a:t>
            </a:r>
          </a:p>
          <a:p>
            <a:pPr>
              <a:spcAft>
                <a:spcPts val="400"/>
              </a:spcAft>
              <a:defRPr sz="1500">
                <a:solidFill>
                  <a:srgbClr val="1A1A1A"/>
                </a:solidFill>
              </a:defRPr>
            </a:pPr>
            <a:r>
              <a:t>• getParameters() returns one required ToolParameter named sku of type string .</a:t>
            </a:r>
          </a:p>
          <a:p>
            <a:pPr>
              <a:spcAft>
                <a:spcPts val="400"/>
              </a:spcAft>
              <a:defRPr sz="1500">
                <a:solidFill>
                  <a:srgbClr val="1A1A1A"/>
                </a:solidFill>
              </a:defRPr>
            </a:pPr>
            <a:r>
              <a:t>• execute() delegates to ProductDetailsReader::getProductDetailsJson() with the sku argument.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The parameter name is a contract. AiFoundation passes the model’s arguments to execute(...$arguments) as a named array. The reader is called with $arguments['sku'] . Rename the parameter and the value is lost.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The Tool Set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CatalogToolSetPlugin.php in the parent directory. TODO-5 returns CatalogAssistantConstants::TOOL_SET_CATALOG . TODO-6 returns the tool from the factory.</a:t>
            </a:r>
          </a:p>
          <a:p>
            <a:pPr>
              <a:spcBef>
                <a:spcPts val="1200"/>
              </a:spcBef>
              <a:spcAft>
                <a:spcPts val="600"/>
              </a:spcAft>
              <a:defRPr sz="2000" b="1">
                <a:solidFill>
                  <a:srgbClr val="1A1A1A"/>
                </a:solidFill>
              </a:defRPr>
            </a:pPr>
            <a:r>
              <a:t>Part 3: The Structured Answer</a:t>
            </a:r>
          </a:p>
          <a:p>
            <a:pPr>
              <a:spcAft>
                <a:spcPts val="800"/>
              </a:spcAft>
              <a:defRPr sz="1600">
                <a:solidFill>
                  <a:srgbClr val="1A1A1A"/>
                </a:solidFill>
              </a:defRPr>
            </a:pPr>
            <a:r>
              <a:t>Open src/SprykerAcademy/Shared/CatalogAssistant/Transfer/catalog_assistant.transfer.xml . The ProductAnswer transfer has only answer . TODO-7: add isInStock (bool), confidence (string), and relatedSkus (string[]) with descriptions.</a:t>
            </a:r>
          </a:p>
          <a:p>
            <a:pPr>
              <a:spcAft>
                <a:spcPts val="800"/>
              </a:spcAft>
              <a:defRPr sz="1600">
                <a:solidFill>
                  <a:srgbClr val="1A1A1A"/>
                </a:solidFill>
              </a:defRPr>
            </a:pPr>
            <a:r>
              <a:t>Then regenerate the transfer:</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The Tool Set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Never null. AiFoundation validates the model’s JSON against the transfer and rejects an answer with a null property. A description like “null when unknown” therefore causes failures. Say instead what to return when the value is unknown: false , 'low' , or an empty list. The tests check for the words “never null” in the two descriptions where this matters.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The Processor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src/SprykerAcademy/Glue/CatalogAssistant/Api/Storefront/Processor/ProductQuestionsStorefrontProcessor.php . The prompt request already carries the configuration name, the conversation reference, and the message. TODO-8 adds three calls:</a:t>
            </a:r>
          </a:p>
          <a:p>
            <a:pPr>
              <a:spcAft>
                <a:spcPts val="100"/>
              </a:spcAft>
              <a:defRPr sz="1000">
                <a:solidFill>
                  <a:srgbClr val="1A1A1A"/>
                </a:solidFill>
                <a:latin typeface="Consolas"/>
              </a:defRPr>
            </a:pPr>
            <a:r>
              <a:t>Call                                                         Effect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addToolSetName(CatalogAssistantConstants::TOOL_SET_CATALOG)  The model may call every tool in that set                  </a:t>
            </a:r>
          </a:p>
          <a:p>
            <a:pPr>
              <a:spcAft>
                <a:spcPts val="100"/>
              </a:spcAft>
              <a:defRPr sz="1000">
                <a:solidFill>
                  <a:srgbClr val="1A1A1A"/>
                </a:solidFill>
                <a:latin typeface="Consolas"/>
              </a:defRPr>
            </a:pPr>
            <a:r>
              <a:t>setStructuredMessage(new ProductAnswerTransfer())            The model must answer in that shape                        </a:t>
            </a:r>
          </a:p>
          <a:p>
            <a:pPr>
              <a:spcAft>
                <a:spcPts val="100"/>
              </a:spcAft>
              <a:defRPr sz="1000">
                <a:solidFill>
                  <a:srgbClr val="1A1A1A"/>
                </a:solidFill>
                <a:latin typeface="Consolas"/>
              </a:defRPr>
            </a:pPr>
            <a:r>
              <a:t>setMaxRetries(2)                                             AiFoundation retries when the answer does not fit the shape</a:t>
            </a:r>
          </a:p>
          <a:p>
            <a:pPr>
              <a:spcAft>
                <a:spcPts val="800"/>
              </a:spcAft>
              <a:defRPr sz="1600">
                <a:solidFill>
                  <a:srgbClr val="1A1A1A"/>
                </a:solidFill>
              </a:defRPr>
            </a:pPr>
            <a:r>
              <a:t>TODO-9: copy answer , isInStock , confidence , and relatedSkus from the typed transfer into the resource.</a:t>
            </a:r>
          </a:p>
          <a:p>
            <a:pPr>
              <a:spcAft>
                <a:spcPts val="800"/>
              </a:spcAft>
              <a:defRPr sz="1600">
                <a:solidFill>
                  <a:srgbClr val="1A1A1A"/>
                </a:solidFill>
              </a:defRPr>
            </a:pPr>
            <a:r>
              <a:t>The resource schema product-questions.resource.yml is complete. Read it to see how the four answer fields are declared read-only.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to 4</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build </a:t>
            </a:r>
            <a:r>
              <a:rPr sz="900">
                <a:solidFill>
                  <a:srgbClr val="2D2D2D"/>
                </a:solidFill>
                <a:latin typeface="Consolas"/>
              </a:rPr>
              <a:t>-c</a:t>
            </a:r>
            <a:r>
              <a:rPr sz="900">
                <a:solidFill>
                  <a:srgbClr val="2D2D2D"/>
                </a:solidFill>
                <a:latin typeface="Consolas"/>
              </a:rPr>
              <a:t> tests/SprykerAcademyTest/Zed/CatalogAssistant/</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tests/SprykerAcademyTest/Zed/CatalogAssistant/ Exercise20</a:t>
            </a:r>
          </a:p>
          <a:p>
            <a:pPr>
              <a:spcAft>
                <a:spcPts val="800"/>
              </a:spcAft>
              <a:defRPr sz="1600">
                <a:solidFill>
                  <a:srgbClr val="1A1A1A"/>
                </a:solidFill>
              </a:defRPr>
            </a:pPr>
            <a:r>
              <a:t>All 15 tests must pass. The client is mocked, so no token is spent.</a:t>
            </a:r>
          </a:p>
          <a:p>
            <a:pPr>
              <a:spcBef>
                <a:spcPts val="1200"/>
              </a:spcBef>
              <a:spcAft>
                <a:spcPts val="600"/>
              </a:spcAft>
              <a:defRPr sz="2000" b="1">
                <a:solidFill>
                  <a:srgbClr val="1A1A1A"/>
                </a:solidFill>
              </a:defRPr>
            </a:pPr>
            <a:r>
              <a:t>Part 5: Wire It Into the Project</a:t>
            </a:r>
          </a:p>
          <a:p>
            <a:pPr>
              <a:spcAft>
                <a:spcPts val="800"/>
              </a:spcAft>
              <a:defRPr sz="1600">
                <a:solidFill>
                  <a:srgbClr val="1A1A1A"/>
                </a:solidFill>
              </a:defRPr>
            </a:pPr>
            <a:r>
              <a:t>Projects register tool sets in src/Pyz/Zed/AiFoundation/AiFoundationDependencyProvider.php and AI configurations in config/Shared/config_ai.php . The exercise keeps both with its own code: the two classes in src/SprykerAcademy/Zed/AiFoundation/ extend the project’s classes (the core ones when the project has none) and, because SprykerAcademy comes before Pyz in the project namespaces, are the ones Spryker uses.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to 4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1. Register the tool set. Open src/SprykerAcademy/Zed/AiFoundation/AiFoundationDependencyProvider.php and add your tool set to the project’s:</a:t>
            </a:r>
          </a:p>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getAiToolSetPlugins()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06287E"/>
                </a:solidFill>
                <a:latin typeface="Consolas"/>
              </a:rPr>
              <a:t>array_merge</a:t>
            </a:r>
            <a:r>
              <a:rPr sz="900">
                <a:solidFill>
                  <a:srgbClr val="2D2D2D"/>
                </a:solidFill>
                <a:latin typeface="Consolas"/>
              </a:rPr>
              <a:t>(</a:t>
            </a:r>
            <a:r>
              <a:rPr sz="900" b="1">
                <a:solidFill>
                  <a:srgbClr val="007020"/>
                </a:solidFill>
                <a:latin typeface="Consolas"/>
              </a:rPr>
              <a:t>parent</a:t>
            </a:r>
            <a:r>
              <a:rPr sz="900">
                <a:solidFill>
                  <a:srgbClr val="2D2D2D"/>
                </a:solidFill>
                <a:latin typeface="Consolas"/>
              </a:rPr>
              <a:t>::getAiToolSetPlugins()</a:t>
            </a:r>
            <a:r>
              <a:rPr sz="900">
                <a:solidFill>
                  <a:srgbClr val="007020"/>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atalogToolSetPlugin()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2. Add the AI configuration with a guardrail prompt. Open src/SprykerAcademy/Zed/AiFoundation/AiFoundationConfig.php and add it to the project’s configurations: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to 4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getAiConfigurations()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06287E"/>
                </a:solidFill>
                <a:latin typeface="Consolas"/>
              </a:rPr>
              <a:t>array_merge</a:t>
            </a:r>
            <a:r>
              <a:rPr sz="900">
                <a:solidFill>
                  <a:srgbClr val="2D2D2D"/>
                </a:solidFill>
                <a:latin typeface="Consolas"/>
              </a:rPr>
              <a:t>(</a:t>
            </a:r>
            <a:r>
              <a:rPr sz="900" b="1">
                <a:solidFill>
                  <a:srgbClr val="007020"/>
                </a:solidFill>
                <a:latin typeface="Consolas"/>
              </a:rPr>
              <a:t>parent</a:t>
            </a:r>
            <a:r>
              <a:rPr sz="900">
                <a:solidFill>
                  <a:srgbClr val="2D2D2D"/>
                </a:solidFill>
                <a:latin typeface="Consolas"/>
              </a:rPr>
              <a:t>::getAiConfigurations()</a:t>
            </a:r>
            <a:r>
              <a:rPr sz="900">
                <a:solidFill>
                  <a:srgbClr val="007020"/>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-&gt;resolveConfigurationReferences([</a:t>
            </a:r>
          </a:p>
          <a:p>
            <a:pPr>
              <a:spcBef>
                <a:spcPts val="0"/>
              </a:spcBef>
              <a:spcAft>
                <a:spcPts val="0"/>
              </a:spcAft>
            </a:pPr>
            <a:r>
              <a:rPr sz="900">
                <a:solidFill>
                  <a:srgbClr val="2D2D2D"/>
                </a:solidFill>
                <a:latin typeface="Consolas"/>
              </a:rPr>
              <a:t>        </a:t>
            </a:r>
            <a:r>
              <a:rPr sz="900">
                <a:solidFill>
                  <a:srgbClr val="880000"/>
                </a:solidFill>
                <a:latin typeface="Consolas"/>
              </a:rPr>
              <a:t>C</a:t>
            </a:r>
            <a:r>
              <a:rPr sz="900">
                <a:solidFill>
                  <a:srgbClr val="2D2D2D"/>
                </a:solidFill>
                <a:latin typeface="Consolas"/>
              </a:rPr>
              <a:t>atalogAssistantConstants::</a:t>
            </a:r>
            <a:r>
              <a:rPr sz="900">
                <a:solidFill>
                  <a:srgbClr val="880000"/>
                </a:solidFill>
                <a:latin typeface="Consolas"/>
              </a:rPr>
              <a:t>AI_CONFIGURATION_CATALOG_ASSISTANT</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4070A0"/>
                </a:solidFill>
                <a:latin typeface="Consolas"/>
              </a:rPr>
              <a:t>'gpt-4.1-mini'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'system_prompt'</a:t>
            </a:r>
            <a:r>
              <a:rPr sz="900">
                <a:solidFill>
                  <a:srgbClr val="2D2D2D"/>
                </a:solidFill>
                <a:latin typeface="Consolas"/>
              </a:rPr>
              <a:t> =&gt; </a:t>
            </a:r>
            <a:r>
              <a:rPr sz="900">
                <a:solidFill>
                  <a:srgbClr val="4070A0"/>
                </a:solidFill>
                <a:latin typeface="Consolas"/>
              </a:rPr>
              <a:t>'You are a product advisor for an online shop. You answer questions about one product at a time. '</a:t>
            </a:r>
          </a:p>
          <a:p>
            <a:pPr>
              <a:spcBef>
                <a:spcPts val="0"/>
              </a:spcBef>
              <a:spcAft>
                <a:spcPts val="0"/>
              </a:spcAft>
            </a:pP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'ALWAYS call get_product_details with the given SKU before answering, even for follow-up questions. '</a:t>
            </a:r>
          </a:p>
          <a:p>
            <a:pPr>
              <a:spcBef>
                <a:spcPts val="0"/>
              </a:spcBef>
              <a:spcAft>
                <a:spcPts val="0"/>
              </a:spcAft>
            </a:pP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'Answer only with facts from the tool result. If the tool returns an error or the details do not cover the question, '</a:t>
            </a:r>
          </a:p>
          <a:p>
            <a:pPr>
              <a:spcBef>
                <a:spcPts val="0"/>
              </a:spcBef>
              <a:spcAft>
                <a:spcPts val="0"/>
              </a:spcAft>
            </a:pP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'say so and set confidence to low. Prices in the tool result are gross amounts in cents; show them in major units. '</a:t>
            </a:r>
          </a:p>
          <a:p>
            <a:pPr>
              <a:spcBef>
                <a:spcPts val="0"/>
              </a:spcBef>
              <a:spcAft>
                <a:spcPts val="0"/>
              </a:spcAft>
            </a:pP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'Keep the answer under 80 words.'</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to 4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The guardrail. Without “answer only with facts from the tool result”, the model happily describes a product it has never seen. Test it later with a SKU that does not exist.</a:t>
            </a:r>
          </a:p>
          <a:p>
            <a:pPr>
              <a:spcAft>
                <a:spcPts val="800"/>
              </a:spcAft>
              <a:defRPr sz="1600">
                <a:solidFill>
                  <a:srgbClr val="1A1A1A"/>
                </a:solidFill>
              </a:defRPr>
            </a:pPr>
            <a:r>
              <a:t>3. Apply:</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cache:clear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Ask about a real product from the demo data:</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-X</a:t>
            </a:r>
            <a:r>
              <a:rPr sz="900">
                <a:solidFill>
                  <a:srgbClr val="2D2D2D"/>
                </a:solidFill>
                <a:latin typeface="Consolas"/>
              </a:rPr>
              <a:t> POST http://glue.eu.spryker.local/product-questions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'Content-Type: application/vnd.api+json'</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-d</a:t>
            </a:r>
            <a:r>
              <a:rPr sz="900">
                <a:solidFill>
                  <a:srgbClr val="2D2D2D"/>
                </a:solidFill>
                <a:latin typeface="Consolas"/>
              </a:rPr>
              <a:t> </a:t>
            </a:r>
            <a:r>
              <a:rPr sz="900">
                <a:solidFill>
                  <a:srgbClr val="4070A0"/>
                </a:solidFill>
                <a:latin typeface="Consolas"/>
              </a:rPr>
              <a:t>'{"data":{"type":"product-questions","attributes":{"sku":"M1000785","question":"What is this product, is it in stock, and how much does it cost?"}}}'</a:t>
            </a:r>
          </a:p>
          <a:p>
            <a:pPr>
              <a:spcBef>
                <a:spcPts val="0"/>
              </a:spcBef>
              <a:spcAft>
                <a:spcPts val="0"/>
              </a:spcAft>
            </a:pPr>
            <a:r>
              <a:rPr sz="900">
                <a:solidFill>
                  <a:srgbClr val="06287E"/>
                </a:solidFill>
                <a:latin typeface="Consolas"/>
              </a:rPr>
              <a:t>{</a:t>
            </a:r>
            <a:r>
              <a:rPr sz="900">
                <a:solidFill>
                  <a:srgbClr val="902000"/>
                </a:solidFill>
                <a:latin typeface="Consolas"/>
              </a:rPr>
              <a:t>"data"</a:t>
            </a:r>
            <a:r>
              <a:rPr sz="900">
                <a:solidFill>
                  <a:srgbClr val="06287E"/>
                </a:solidFill>
                <a:latin typeface="Consolas"/>
              </a:rPr>
              <a:t>:{</a:t>
            </a:r>
            <a:r>
              <a:rPr sz="900">
                <a:solidFill>
                  <a:srgbClr val="902000"/>
                </a:solidFill>
                <a:latin typeface="Consolas"/>
              </a:rPr>
              <a:t>"type"</a:t>
            </a:r>
            <a:r>
              <a:rPr sz="900">
                <a:solidFill>
                  <a:srgbClr val="06287E"/>
                </a:solidFill>
                <a:latin typeface="Consolas"/>
              </a:rPr>
              <a:t>:</a:t>
            </a:r>
            <a:r>
              <a:rPr sz="900">
                <a:solidFill>
                  <a:srgbClr val="4070A0"/>
                </a:solidFill>
                <a:latin typeface="Consolas"/>
              </a:rPr>
              <a:t>"product-questions"</a:t>
            </a:r>
            <a:r>
              <a:rPr sz="900">
                <a:solidFill>
                  <a:srgbClr val="06287E"/>
                </a:solidFill>
                <a:latin typeface="Consolas"/>
              </a:rPr>
              <a:t>,</a:t>
            </a:r>
            <a:r>
              <a:rPr sz="900">
                <a:solidFill>
                  <a:srgbClr val="902000"/>
                </a:solidFill>
                <a:latin typeface="Consolas"/>
              </a:rPr>
              <a:t>"attributes"</a:t>
            </a:r>
            <a:r>
              <a:rPr sz="900">
                <a:solidFill>
                  <a:srgbClr val="06287E"/>
                </a:solidFill>
                <a:latin typeface="Consolas"/>
              </a:rPr>
              <a:t>:{</a:t>
            </a:r>
            <a:r>
              <a:rPr sz="900">
                <a:solidFill>
                  <a:srgbClr val="902000"/>
                </a:solidFill>
                <a:latin typeface="Consolas"/>
              </a:rPr>
              <a:t>"sku"</a:t>
            </a:r>
            <a:r>
              <a:rPr sz="900">
                <a:solidFill>
                  <a:srgbClr val="06287E"/>
                </a:solidFill>
                <a:latin typeface="Consolas"/>
              </a:rPr>
              <a:t>:</a:t>
            </a:r>
            <a:r>
              <a:rPr sz="900">
                <a:solidFill>
                  <a:srgbClr val="4070A0"/>
                </a:solidFill>
                <a:latin typeface="Consolas"/>
              </a:rPr>
              <a:t>"M1000785"</a:t>
            </a:r>
            <a:r>
              <a:rPr sz="900">
                <a:solidFill>
                  <a:srgbClr val="06287E"/>
                </a:solidFill>
                <a:latin typeface="Consolas"/>
              </a:rPr>
              <a:t>,</a:t>
            </a:r>
            <a:r>
              <a:rPr sz="900">
                <a:solidFill>
                  <a:srgbClr val="902000"/>
                </a:solidFill>
                <a:latin typeface="Consolas"/>
              </a:rPr>
              <a:t>"question"</a:t>
            </a:r>
            <a:r>
              <a:rPr sz="900">
                <a:solidFill>
                  <a:srgbClr val="06287E"/>
                </a:solidFill>
                <a:latin typeface="Consolas"/>
              </a:rPr>
              <a:t>:</a:t>
            </a:r>
            <a:r>
              <a:rPr sz="900">
                <a:solidFill>
                  <a:srgbClr val="4070A0"/>
                </a:solidFill>
                <a:latin typeface="Consolas"/>
              </a:rPr>
              <a:t>"..."</a:t>
            </a:r>
            <a:r>
              <a:rPr sz="900">
                <a:solidFill>
                  <a:srgbClr val="06287E"/>
                </a:solidFill>
                <a:latin typeface="Consolas"/>
              </a:rPr>
              <a:t>,</a:t>
            </a:r>
            <a:r>
              <a:rPr sz="900">
                <a:solidFill>
                  <a:srgbClr val="902000"/>
                </a:solidFill>
                <a:latin typeface="Consolas"/>
              </a:rPr>
              <a:t>"conversationReference"</a:t>
            </a:r>
            <a:r>
              <a:rPr sz="900">
                <a:solidFill>
                  <a:srgbClr val="06287E"/>
                </a:solidFill>
                <a:latin typeface="Consolas"/>
              </a:rPr>
              <a:t>:</a:t>
            </a:r>
            <a:r>
              <a:rPr sz="900">
                <a:solidFill>
                  <a:srgbClr val="4070A0"/>
                </a:solidFill>
                <a:latin typeface="Consolas"/>
              </a:rPr>
              <a:t>"catalog-6aac80f1d0217"</a:t>
            </a:r>
            <a:r>
              <a:rPr sz="900">
                <a:solidFill>
                  <a:srgbClr val="06287E"/>
                </a:solidFill>
                <a:latin typeface="Consolas"/>
              </a:rPr>
              <a:t>,</a:t>
            </a:r>
            <a:r>
              <a:rPr sz="900">
                <a:solidFill>
                  <a:srgbClr val="902000"/>
                </a:solidFill>
                <a:latin typeface="Consolas"/>
              </a:rPr>
              <a:t>"answer"</a:t>
            </a:r>
            <a:r>
              <a:rPr sz="900">
                <a:solidFill>
                  <a:srgbClr val="06287E"/>
                </a:solidFill>
                <a:latin typeface="Consolas"/>
              </a:rPr>
              <a:t>:</a:t>
            </a:r>
            <a:r>
              <a:rPr sz="900">
                <a:solidFill>
                  <a:srgbClr val="4070A0"/>
                </a:solidFill>
                <a:latin typeface="Consolas"/>
              </a:rPr>
              <a:t>"This product is a set of 4 wood stackable chairs ... It is currently in stock with 20 pieces available. The price for the package of 4 chairs is 482.69 euros."</a:t>
            </a:r>
            <a:r>
              <a:rPr sz="900">
                <a:solidFill>
                  <a:srgbClr val="06287E"/>
                </a:solidFill>
                <a:latin typeface="Consolas"/>
              </a:rPr>
              <a:t>,</a:t>
            </a:r>
            <a:r>
              <a:rPr sz="900">
                <a:solidFill>
                  <a:srgbClr val="902000"/>
                </a:solidFill>
                <a:latin typeface="Consolas"/>
              </a:rPr>
              <a:t>"isInStock"</a:t>
            </a:r>
            <a:r>
              <a:rPr sz="900">
                <a:solidFill>
                  <a:srgbClr val="06287E"/>
                </a:solidFill>
                <a:latin typeface="Consolas"/>
              </a:rPr>
              <a:t>:</a:t>
            </a:r>
            <a:r>
              <a:rPr sz="900" b="1">
                <a:solidFill>
                  <a:srgbClr val="007020"/>
                </a:solidFill>
                <a:latin typeface="Consolas"/>
              </a:rPr>
              <a:t>true</a:t>
            </a:r>
            <a:r>
              <a:rPr sz="900">
                <a:solidFill>
                  <a:srgbClr val="06287E"/>
                </a:solidFill>
                <a:latin typeface="Consolas"/>
              </a:rPr>
              <a:t>,</a:t>
            </a:r>
            <a:r>
              <a:rPr sz="900">
                <a:solidFill>
                  <a:srgbClr val="902000"/>
                </a:solidFill>
                <a:latin typeface="Consolas"/>
              </a:rPr>
              <a:t>"confidence"</a:t>
            </a:r>
            <a:r>
              <a:rPr sz="900">
                <a:solidFill>
                  <a:srgbClr val="06287E"/>
                </a:solidFill>
                <a:latin typeface="Consolas"/>
              </a:rPr>
              <a:t>:</a:t>
            </a:r>
            <a:r>
              <a:rPr sz="900">
                <a:solidFill>
                  <a:srgbClr val="4070A0"/>
                </a:solidFill>
                <a:latin typeface="Consolas"/>
              </a:rPr>
              <a:t>"high"</a:t>
            </a:r>
            <a:r>
              <a:rPr sz="900">
                <a:solidFill>
                  <a:srgbClr val="06287E"/>
                </a:solidFill>
                <a:latin typeface="Consolas"/>
              </a:rPr>
              <a:t>,</a:t>
            </a:r>
            <a:r>
              <a:rPr sz="900">
                <a:solidFill>
                  <a:srgbClr val="902000"/>
                </a:solidFill>
                <a:latin typeface="Consolas"/>
              </a:rPr>
              <a:t>"relatedSkus"</a:t>
            </a:r>
            <a:r>
              <a:rPr sz="900">
                <a:solidFill>
                  <a:srgbClr val="06287E"/>
                </a:solidFill>
                <a:latin typeface="Consolas"/>
              </a:rPr>
              <a:t>:</a:t>
            </a:r>
            <a:r>
              <a:rPr sz="900">
                <a:solidFill>
                  <a:srgbClr val="007020"/>
                </a:solidFill>
                <a:latin typeface="Consolas"/>
              </a:rPr>
              <a:t>[</a:t>
            </a:r>
            <a:r>
              <a:rPr sz="900">
                <a:solidFill>
                  <a:srgbClr val="4070A0"/>
                </a:solidFill>
                <a:latin typeface="Consolas"/>
              </a:rPr>
              <a:t>"212427"</a:t>
            </a:r>
            <a:r>
              <a:rPr sz="900">
                <a:solidFill>
                  <a:srgbClr val="007020"/>
                </a:solidFill>
                <a:latin typeface="Consolas"/>
              </a:rPr>
              <a:t>]</a:t>
            </a:r>
            <a:r>
              <a:rPr sz="900">
                <a:solidFill>
                  <a:srgbClr val="06287E"/>
                </a:solidFill>
                <a:latin typeface="Consolas"/>
              </a:rPr>
              <a:t>}}}</a:t>
            </a:r>
          </a:p>
          <a:p>
            <a:pPr>
              <a:spcAft>
                <a:spcPts val="400"/>
              </a:spcAft>
              <a:defRPr sz="1500">
                <a:solidFill>
                  <a:srgbClr val="1A1A1A"/>
                </a:solidFill>
              </a:defRPr>
            </a:pPr>
            <a:r>
              <a:t>• Tool call: the answer contains the real name, stock, and price. The model can only know them from the tool.</a:t>
            </a:r>
          </a:p>
          <a:p>
            <a:pPr>
              <a:spcAft>
                <a:spcPts val="400"/>
              </a:spcAft>
              <a:defRPr sz="1500">
                <a:solidFill>
                  <a:srgbClr val="1A1A1A"/>
                </a:solidFill>
              </a:defRPr>
            </a:pPr>
            <a:r>
              <a:t>• Structure: isInStock is a boolean, relatedSkus is a list, confidence is one of three words. No parsing on the client side.</a:t>
            </a:r>
          </a:p>
          <a:p>
            <a:pPr>
              <a:spcAft>
                <a:spcPts val="400"/>
              </a:spcAft>
              <a:defRPr sz="1500">
                <a:solidFill>
                  <a:srgbClr val="1A1A1A"/>
                </a:solidFill>
              </a:defRPr>
            </a:pPr>
            <a:r>
              <a:t>• Guardrail: ask about SKU DOES-NOT-EXIST . The answer says the product was not found, isInStock is false , and confidence is low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Memory: send the conversationReference back with “And how many can I order at most?”. The model still answers about the same product.</a:t>
            </a:r>
          </a:p>
          <a:p>
            <a:pPr>
              <a:spcAft>
                <a:spcPts val="400"/>
              </a:spcAft>
              <a:defRPr sz="1500">
                <a:solidFill>
                  <a:srgbClr val="1A1A1A"/>
                </a:solidFill>
              </a:defRPr>
            </a:pPr>
            <a:r>
              <a:t>• Validation: an empty question returns HTTP 422.</a:t>
            </a:r>
          </a:p>
          <a:p>
            <a:pPr>
              <a:spcAft>
                <a:spcPts val="800"/>
              </a:spcAft>
              <a:defRPr sz="1400" i="1">
                <a:solidFill>
                  <a:srgbClr val="888888"/>
                </a:solidFill>
              </a:defRPr>
            </a:pPr>
            <a:r>
              <a:t>❝ Where did the model go wrong? When the shape does not fit, the API returns HTTP 503 with The AI provider did not return a structured answer followed by AiFoundation’s reason, for example Failed to map structured response to transfer. Missing or empty properties: is_in_stock . Fix the description of that property, not the code.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advanced/ai-foundation-catalog/complete </a:t>
            </a:r>
            <a:r>
              <a:rPr sz="900">
                <a:solidFill>
                  <a:srgbClr val="2D2D2D"/>
                </a:solidFill>
                <a:latin typeface="Consolas"/>
              </a:rPr>
              <a:t>--run</a:t>
            </a:r>
          </a:p>
          <a:p>
            <a:pPr>
              <a:spcAft>
                <a:spcPts val="800"/>
              </a:spcAft>
              <a:defRPr sz="1600">
                <a:solidFill>
                  <a:srgbClr val="1A1A1A"/>
                </a:solidFill>
              </a:defRPr>
            </a:pPr>
            <a:r>
              <a:t>The complete branch contains Part 5 in src/SprykerAcademy/Zed/AiFoundation/ . If you wired the tool set or the configuration into src/Pyz or config/Shared/config_ai.php by hand in an earlier version of this exercise, remove it again.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Add a second tool list_similar_products that searches the catalog by the product’s category, and let the model fill relatedSkus from it.</a:t>
            </a:r>
          </a:p>
          <a:p>
            <a:pPr>
              <a:spcAft>
                <a:spcPts val="400"/>
              </a:spcAft>
              <a:defRPr sz="1500">
                <a:solidFill>
                  <a:srgbClr val="1A1A1A"/>
                </a:solidFill>
              </a:defRPr>
            </a:pPr>
            <a:r>
              <a:t>• Add a language property to the answer and ask in German.</a:t>
            </a:r>
          </a:p>
          <a:p>
            <a:pPr>
              <a:spcAft>
                <a:spcPts val="400"/>
              </a:spcAft>
              <a:defRPr sz="1500">
                <a:solidFill>
                  <a:srgbClr val="1A1A1A"/>
                </a:solidFill>
              </a:defRPr>
            </a:pPr>
            <a:r>
              <a:t>• Exercise 21 wraps the same tool mechanics into a Back Office Assistant agent with an intent router and streaming.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21: AI Foundation - Product Creation Agent</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21: AI Foundation - Product Creation Agent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build a custom agent for the Back Office Assistant. The agent creates catalog products from a plain-language description such as “Create a red cotton t-shirt in sizes S, M and L for 19.99 EUR” . It interviews the user for missing data, asks for confirmation, and then calls your tools to create the product.</a:t>
            </a:r>
          </a:p>
          <a:p>
            <a:pPr>
              <a:spcAft>
                <a:spcPts val="800"/>
              </a:spcAft>
              <a:defRPr sz="1600">
                <a:solidFill>
                  <a:srgbClr val="1A1A1A"/>
                </a:solidFill>
              </a:defRPr>
            </a:pPr>
            <a:r>
              <a:t>You will learn how to: - Write an AI tool plugin: name, description, parameters, and execution - Group tools into a tool set plugin - Write an agent plugin that sends a prompt request to AiFoundation and maps the structured answer - Register a dedicated AI configuration with a system prompt - Wire the agent into the Back Office Assistant, including SSE streaming</a:t>
            </a:r>
          </a:p>
          <a:p>
            <a:pPr>
              <a:spcAft>
                <a:spcPts val="800"/>
              </a:spcAft>
              <a:defRPr sz="1600">
                <a:solidFill>
                  <a:srgbClr val="1A1A1A"/>
                </a:solidFill>
              </a:defRPr>
            </a:pPr>
            <a:r>
              <a:t>The business logic that creates products, prices, stock, and images is provided. You focus on the AI Foundation layer.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21: AI Foundation - Product Creation Agent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Official documentation: - Add a custom Back Office Assistant agent - Extend AI Commerce agents with custom toolsets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Back Office Assistant is installed and answers questions. See Setup: Install the Back Office Assistant</a:t>
            </a:r>
          </a:p>
          <a:p>
            <a:pPr>
              <a:spcAft>
                <a:spcPts val="400"/>
              </a:spcAft>
              <a:defRPr sz="1500">
                <a:solidFill>
                  <a:srgbClr val="1A1A1A"/>
                </a:solidFill>
              </a:defRPr>
            </a:pPr>
            <a:r>
              <a:t>• An OpenAI API token is configured in the Back Office</a:t>
            </a:r>
          </a:p>
          <a:p>
            <a:pPr>
              <a:spcAft>
                <a:spcPts val="400"/>
              </a:spcAft>
              <a:defRPr sz="1500">
                <a:solidFill>
                  <a:srgbClr val="1A1A1A"/>
                </a:solidFill>
              </a:defRPr>
            </a:pPr>
            <a:r>
              <a:t>• Completed Exercise 20: Ask the Catalog , which introduces tools, tool sets, and structured answers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advanced/ai-foundation-agent/skeleton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configuration:sync ) and stops at the first one that fails. Leave it out to run them yourself.</a:t>
            </a:r>
          </a:p>
          <a:p>
            <a:pPr>
              <a:spcAft>
                <a:spcPts val="800"/>
              </a:spcAft>
              <a:defRPr sz="1600">
                <a:solidFill>
                  <a:srgbClr val="1A1A1A"/>
                </a:solidFill>
              </a:defRPr>
            </a:pPr>
            <a:r>
              <a:t>The loader copies the module to src/SprykerAcademy/ , the agent settings to data/configuration/ai_product_creation.configuration.yml , and the tests to tests/SprykerAcademyTest/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How an Agent Talks to the AI Model</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User message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Intent router --- reads every agent's getDescription() and picks one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ProductCreationAgentPlugin::executeAgent()</a:t>
            </a:r>
          </a:p>
          <a:p>
            <a:pPr>
              <a:spcBef>
                <a:spcPts val="0"/>
              </a:spcBef>
              <a:spcAft>
                <a:spcPts val="0"/>
              </a:spcAft>
            </a:pPr>
            <a:r>
              <a:rPr sz="900">
                <a:solidFill>
                  <a:srgbClr val="2D2D2D"/>
                </a:solidFill>
                <a:latin typeface="Consolas"/>
              </a:rPr>
              <a:t>   |   builds a PromptRequestTransfer:</a:t>
            </a:r>
          </a:p>
          <a:p>
            <a:pPr>
              <a:spcBef>
                <a:spcPts val="0"/>
              </a:spcBef>
              <a:spcAft>
                <a:spcPts val="0"/>
              </a:spcAft>
            </a:pPr>
            <a:r>
              <a:rPr sz="900">
                <a:solidFill>
                  <a:srgbClr val="2D2D2D"/>
                </a:solidFill>
                <a:latin typeface="Consolas"/>
              </a:rPr>
              <a:t>   |   AI configuration name + conversation reference + tool set name + structured message</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AiFoundationFacade::prompt()</a:t>
            </a:r>
          </a:p>
          <a:p>
            <a:pPr>
              <a:spcBef>
                <a:spcPts val="0"/>
              </a:spcBef>
              <a:spcAft>
                <a:spcPts val="0"/>
              </a:spcAft>
            </a:pPr>
            <a:r>
              <a:rPr sz="900">
                <a:solidFill>
                  <a:srgbClr val="2D2D2D"/>
                </a:solidFill>
                <a:latin typeface="Consolas"/>
              </a:rPr>
              <a:t>   |   sends system prompt, user message, and tool definitions to the AI provider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AI model &lt;----&gt; your ToolPlugins (the model asks, AiFoundation executes, the result goes back)</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Structured answer (ProductCreationAgentResponseTransfer) --&gt; chat widget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Background: How an Agent Talks to the AI Model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Concept             Class or file                            What the AI model sees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Tool                ToolPluginInterface                      Only getName() , getDescription() , and getParameters() . Never your PHP code</a:t>
            </a:r>
          </a:p>
          <a:p>
            <a:pPr>
              <a:spcAft>
                <a:spcPts val="100"/>
              </a:spcAft>
              <a:defRPr sz="1000">
                <a:solidFill>
                  <a:srgbClr val="1A1A1A"/>
                </a:solidFill>
                <a:latin typeface="Consolas"/>
              </a:defRPr>
            </a:pPr>
            <a:r>
              <a:t>Tool set            ToolSetPluginInterface                   Nothing. It is a named group the agent requests                              </a:t>
            </a:r>
          </a:p>
          <a:p>
            <a:pPr>
              <a:spcAft>
                <a:spcPts val="100"/>
              </a:spcAft>
              <a:defRPr sz="1000">
                <a:solidFill>
                  <a:srgbClr val="1A1A1A"/>
                </a:solidFill>
                <a:latin typeface="Consolas"/>
              </a:defRPr>
            </a:pPr>
            <a:r>
              <a:t>Agent               BackofficeAssistantAgentPluginInterface  getDescription() is read by the intent router                                </a:t>
            </a:r>
          </a:p>
          <a:p>
            <a:pPr>
              <a:spcAft>
                <a:spcPts val="100"/>
              </a:spcAft>
              <a:defRPr sz="1000">
                <a:solidFill>
                  <a:srgbClr val="1A1A1A"/>
                </a:solidFill>
                <a:latin typeface="Consolas"/>
              </a:defRPr>
            </a:pPr>
            <a:r>
              <a:t>System prompt       ai_product_creation.configuration.yml    The full text. It defines the behavior and conversation flow                 </a:t>
            </a:r>
          </a:p>
          <a:p>
            <a:pPr>
              <a:spcAft>
                <a:spcPts val="100"/>
              </a:spcAft>
              <a:defRPr sz="1000">
                <a:solidFill>
                  <a:srgbClr val="1A1A1A"/>
                </a:solidFill>
                <a:latin typeface="Consolas"/>
              </a:defRPr>
            </a:pPr>
            <a:r>
              <a:t>Structured message  ai_product_creation.transfer.xml         The property descriptions. The model must answer in this shape</a:t>
            </a:r>
          </a:p>
          <a:p>
            <a:pPr>
              <a:spcAft>
                <a:spcPts val="800"/>
              </a:spcAft>
              <a:defRPr sz="1400" i="1">
                <a:solidFill>
                  <a:srgbClr val="888888"/>
                </a:solidFill>
              </a:defRPr>
            </a:pPr>
            <a:r>
              <a:t>❝ The description is the interface. A tool with a vague description is never called, or is called at the wrong time. Write descriptions for a reader who knows nothing about your code.</a:t>
            </a:r>
          </a:p>
          <a:p>
            <a:pPr>
              <a:spcAft>
                <a:spcPts val="800"/>
              </a:spcAft>
              <a:defRPr sz="1600">
                <a:solidFill>
                  <a:srgbClr val="1A1A1A"/>
                </a:solidFill>
              </a:defRPr>
            </a:pPr>
            <a:r>
              <a:t>The module has nine tools. Seven are complete. Look at CreateProductToolPlugin and SetProductStockToolPlugin before you start. They show the full pattern.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Your First Tool</a:t>
            </a:r>
          </a:p>
          <a:p>
            <a:pPr>
              <a:spcAft>
                <a:spcPts val="800"/>
              </a:spcAft>
              <a:defRPr sz="1600">
                <a:solidFill>
                  <a:srgbClr val="1A1A1A"/>
                </a:solidFill>
              </a:defRPr>
            </a:pPr>
            <a:r>
              <a:t>Open src/SprykerAcademy/Zed/AiProductCreation/Communication/Plugin/AiFoundation/Tool/ListTaxSetsToolPlugin.php .</a:t>
            </a:r>
          </a:p>
          <a:p>
            <a:pPr>
              <a:spcAft>
                <a:spcPts val="800"/>
              </a:spcAft>
              <a:defRPr sz="1600">
                <a:solidFill>
                  <a:srgbClr val="1A1A1A"/>
                </a:solidFill>
              </a:defRPr>
            </a:pPr>
            <a:r>
              <a:t>The model needs a valid tax set name before it can call create_product . This tool lists the tax sets. Complete TODO-1 to TODO-4 :</a:t>
            </a:r>
          </a:p>
          <a:p>
            <a:pPr>
              <a:spcAft>
                <a:spcPts val="400"/>
              </a:spcAft>
              <a:defRPr sz="1500">
                <a:solidFill>
                  <a:srgbClr val="1A1A1A"/>
                </a:solidFill>
              </a:defRPr>
            </a:pPr>
            <a:r>
              <a:t>• getName() returns 'list_tax_sets' . The system prompt refers to the tool by this exact name.</a:t>
            </a:r>
          </a:p>
          <a:p>
            <a:pPr>
              <a:spcAft>
                <a:spcPts val="400"/>
              </a:spcAft>
              <a:defRPr sz="1500">
                <a:solidFill>
                  <a:srgbClr val="1A1A1A"/>
                </a:solidFill>
              </a:defRPr>
            </a:pPr>
            <a:r>
              <a:t>• getDescription() explains what the tool returns and why that is useful.</a:t>
            </a:r>
          </a:p>
          <a:p>
            <a:pPr>
              <a:spcAft>
                <a:spcPts val="400"/>
              </a:spcAft>
              <a:defRPr sz="1500">
                <a:solidFill>
                  <a:srgbClr val="1A1A1A"/>
                </a:solidFill>
              </a:defRPr>
            </a:pPr>
            <a:r>
              <a:t>• getParameters() returns an empty array, because the tool needs no input.</a:t>
            </a:r>
          </a:p>
          <a:p>
            <a:pPr>
              <a:spcAft>
                <a:spcPts val="400"/>
              </a:spcAft>
              <a:defRPr sz="1500">
                <a:solidFill>
                  <a:srgbClr val="1A1A1A"/>
                </a:solidFill>
              </a:defRPr>
            </a:pPr>
            <a:r>
              <a:t>• execute() delegates to the business layer: $this-&gt;getBusinessFactory()-&gt;createProductCreationReader()-&gt;listTaxSets($arguments)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Tools return JSON strings. Open ProductCreationReader::listTaxSets() . It returns json_encode([...]) . The model reads that text. On failure, a tool returns a JSON error message instead of throwing, so the model can explain the problem to the user.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Tool Parameters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ApproveProductToolPlugin.php in the same directory. New products are created as draft and stay invisible in the storefront until approved.</a:t>
            </a:r>
          </a:p>
          <a:p>
            <a:pPr>
              <a:spcAft>
                <a:spcPts val="800"/>
              </a:spcAft>
              <a:defRPr sz="1600">
                <a:solidFill>
                  <a:srgbClr val="1A1A1A"/>
                </a:solidFill>
              </a:defRPr>
            </a:pPr>
            <a:r>
              <a:t>Complete TODO-5 . Return two ToolParameter objects from getParameters() :</a:t>
            </a:r>
          </a:p>
          <a:p>
            <a:pPr>
              <a:spcAft>
                <a:spcPts val="100"/>
              </a:spcAft>
              <a:defRPr sz="1000">
                <a:solidFill>
                  <a:srgbClr val="1A1A1A"/>
                </a:solidFill>
                <a:latin typeface="Consolas"/>
              </a:defRPr>
            </a:pPr>
            <a:r>
              <a:t>name    type    required  description                                                               </a:t>
            </a:r>
          </a:p>
          <a:p>
            <a:pPr>
              <a:spcAft>
                <a:spcPts val="100"/>
              </a:spcAft>
              <a:defRPr sz="1000">
                <a:solidFill>
                  <a:srgbClr val="1A1A1A"/>
                </a:solidFill>
                <a:latin typeface="Consolas"/>
              </a:defRPr>
            </a:pPr>
            <a:r>
              <a:t>------  ------  --------  --------------------------------------------------------------------------</a:t>
            </a:r>
          </a:p>
          <a:p>
            <a:pPr>
              <a:spcAft>
                <a:spcPts val="100"/>
              </a:spcAft>
              <a:defRPr sz="1000">
                <a:solidFill>
                  <a:srgbClr val="1A1A1A"/>
                </a:solidFill>
                <a:latin typeface="Consolas"/>
              </a:defRPr>
            </a:pPr>
            <a:r>
              <a:t>sku     string  yes       Abstract or concrete product SKU                                          </a:t>
            </a:r>
          </a:p>
          <a:p>
            <a:pPr>
              <a:spcAft>
                <a:spcPts val="100"/>
              </a:spcAft>
              <a:defRPr sz="1000">
                <a:solidFill>
                  <a:srgbClr val="1A1A1A"/>
                </a:solidFill>
                <a:latin typeface="Consolas"/>
              </a:defRPr>
            </a:pPr>
            <a:r>
              <a:t>status  string  no        approved , draft , waiting_for_approval , or denied . Defaults to approved</a:t>
            </a:r>
          </a:p>
          <a:p>
            <a:pPr>
              <a:spcBef>
                <a:spcPts val="0"/>
              </a:spcBef>
              <a:spcAft>
                <a:spcPts val="0"/>
              </a:spcAft>
            </a:pPr>
            <a:r>
              <a:rPr sz="900" b="1">
                <a:solidFill>
                  <a:srgbClr val="007020"/>
                </a:solidFill>
                <a:latin typeface="Consolas"/>
              </a:rPr>
              <a:t>new</a:t>
            </a:r>
            <a:r>
              <a:rPr sz="900">
                <a:solidFill>
                  <a:srgbClr val="2D2D2D"/>
                </a:solidFill>
                <a:latin typeface="Consolas"/>
              </a:rPr>
              <a:t> </a:t>
            </a:r>
            <a:r>
              <a:rPr sz="900">
                <a:solidFill>
                  <a:srgbClr val="880000"/>
                </a:solidFill>
                <a:latin typeface="Consolas"/>
              </a:rPr>
              <a:t>T</a:t>
            </a:r>
            <a:r>
              <a:rPr sz="900">
                <a:solidFill>
                  <a:srgbClr val="2D2D2D"/>
                </a:solidFill>
                <a:latin typeface="Consolas"/>
              </a:rPr>
              <a:t>oolParameter(</a:t>
            </a:r>
          </a:p>
          <a:p>
            <a:pPr>
              <a:spcBef>
                <a:spcPts val="0"/>
              </a:spcBef>
              <a:spcAft>
                <a:spcPts val="0"/>
              </a:spcAft>
            </a:pPr>
            <a:r>
              <a:rPr sz="900">
                <a:solidFill>
                  <a:srgbClr val="2D2D2D"/>
                </a:solidFill>
                <a:latin typeface="Consolas"/>
              </a:rPr>
              <a:t>    name</a:t>
            </a:r>
            <a:r>
              <a:rPr sz="900">
                <a:solidFill>
                  <a:srgbClr val="007020"/>
                </a:solidFill>
                <a:latin typeface="Consolas"/>
              </a:rPr>
              <a:t>:</a:t>
            </a:r>
            <a:r>
              <a:rPr sz="900">
                <a:solidFill>
                  <a:srgbClr val="2D2D2D"/>
                </a:solidFill>
                <a:latin typeface="Consolas"/>
              </a:rPr>
              <a:t> </a:t>
            </a:r>
            <a:r>
              <a:rPr sz="900">
                <a:solidFill>
                  <a:srgbClr val="4070A0"/>
                </a:solidFill>
                <a:latin typeface="Consolas"/>
              </a:rPr>
              <a:t>'sku'</a:t>
            </a:r>
            <a:r>
              <a:rPr sz="900">
                <a:solidFill>
                  <a:srgbClr val="007020"/>
                </a:solidFill>
                <a:latin typeface="Consolas"/>
              </a:rPr>
              <a:t>,</a:t>
            </a:r>
          </a:p>
          <a:p>
            <a:pPr>
              <a:spcBef>
                <a:spcPts val="0"/>
              </a:spcBef>
              <a:spcAft>
                <a:spcPts val="0"/>
              </a:spcAft>
            </a:pPr>
            <a:r>
              <a:rPr sz="900">
                <a:solidFill>
                  <a:srgbClr val="2D2D2D"/>
                </a:solidFill>
                <a:latin typeface="Consolas"/>
              </a:rPr>
              <a:t>    type</a:t>
            </a:r>
            <a:r>
              <a:rPr sz="900">
                <a:solidFill>
                  <a:srgbClr val="007020"/>
                </a:solidFill>
                <a:latin typeface="Consolas"/>
              </a:rPr>
              <a:t>:</a:t>
            </a:r>
            <a:r>
              <a:rPr sz="900">
                <a:solidFill>
                  <a:srgbClr val="2D2D2D"/>
                </a:solidFill>
                <a:latin typeface="Consolas"/>
              </a:rPr>
              <a:t> </a:t>
            </a:r>
            <a:r>
              <a:rPr sz="900">
                <a:solidFill>
                  <a:srgbClr val="4070A0"/>
                </a:solidFill>
                <a:latin typeface="Consolas"/>
              </a:rPr>
              <a:t>'string'</a:t>
            </a:r>
            <a:r>
              <a:rPr sz="900">
                <a:solidFill>
                  <a:srgbClr val="007020"/>
                </a:solidFill>
                <a:latin typeface="Consolas"/>
              </a:rPr>
              <a:t>,</a:t>
            </a:r>
          </a:p>
          <a:p>
            <a:pPr>
              <a:spcBef>
                <a:spcPts val="0"/>
              </a:spcBef>
              <a:spcAft>
                <a:spcPts val="0"/>
              </a:spcAft>
            </a:pPr>
            <a:r>
              <a:rPr sz="900">
                <a:solidFill>
                  <a:srgbClr val="2D2D2D"/>
                </a:solidFill>
                <a:latin typeface="Consolas"/>
              </a:rPr>
              <a:t>    description</a:t>
            </a:r>
            <a:r>
              <a:rPr sz="900">
                <a:solidFill>
                  <a:srgbClr val="007020"/>
                </a:solidFill>
                <a:latin typeface="Consolas"/>
              </a:rPr>
              <a:t>:</a:t>
            </a:r>
            <a:r>
              <a:rPr sz="900">
                <a:solidFill>
                  <a:srgbClr val="2D2D2D"/>
                </a:solidFill>
                <a:latin typeface="Consolas"/>
              </a:rPr>
              <a:t> </a:t>
            </a:r>
            <a:r>
              <a:rPr sz="900">
                <a:solidFill>
                  <a:srgbClr val="4070A0"/>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isRequired</a:t>
            </a:r>
            <a:r>
              <a:rPr sz="900">
                <a:solidFill>
                  <a:srgbClr val="007020"/>
                </a:solidFill>
                <a:latin typeface="Consolas"/>
              </a:rPr>
              <a:t>:</a:t>
            </a:r>
            <a:r>
              <a:rPr sz="900">
                <a:solidFill>
                  <a:srgbClr val="2D2D2D"/>
                </a:solidFill>
                <a:latin typeface="Consolas"/>
              </a:rPr>
              <a:t> </a:t>
            </a:r>
            <a:r>
              <a:rPr sz="900" b="1">
                <a:solidFill>
                  <a:srgbClr val="007020"/>
                </a:solidFill>
                <a:latin typeface="Consolas"/>
              </a:rPr>
              <a:t>true</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Tool Parameters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Parameter names are a contract. AiFoundation passes the model’s arguments to execute(...$arguments) as a named array. ProductCreationWriter::approveProduct() reads $arguments['sku'] and $arguments['status'] . If the names differ, the value is lost.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Tool Set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src/SprykerAcademy/Zed/AiProductCreation/Communication/Plugin/AiFoundation/ProductCreationToolSetPlugin.php .</a:t>
            </a:r>
          </a:p>
          <a:p>
            <a:pPr>
              <a:spcAft>
                <a:spcPts val="400"/>
              </a:spcAft>
              <a:defRPr sz="1500">
                <a:solidFill>
                  <a:srgbClr val="1A1A1A"/>
                </a:solidFill>
              </a:defRPr>
            </a:pPr>
            <a:r>
              <a:t>• TODO-6: getName() returns AiProductCreationConstants::TOOL_SET_PRODUCT_CREATION .</a:t>
            </a:r>
          </a:p>
          <a:p>
            <a:pPr>
              <a:spcAft>
                <a:spcPts val="400"/>
              </a:spcAft>
              <a:defRPr sz="1500">
                <a:solidFill>
                  <a:srgbClr val="1A1A1A"/>
                </a:solidFill>
              </a:defRPr>
            </a:pPr>
            <a:r>
              <a:t>• TODO-7: getTools() returns all nine tools. Create each one through the factory, for example $this-&gt;getFactory()-&gt;createListCategoriesToolPlugin() . AiProductCreationCommunicationFactory lists all nine create*ToolPlugin() methods.</a:t>
            </a:r>
          </a:p>
          <a:p>
            <a:pPr>
              <a:spcAft>
                <a:spcPts val="800"/>
              </a:spcAft>
              <a:defRPr sz="1400" i="1">
                <a:solidFill>
                  <a:srgbClr val="888888"/>
                </a:solidFill>
              </a:defRPr>
            </a:pPr>
            <a:r>
              <a:t>❝ A tool that is not in a tool set does not exist for the model , even if its class is fully implemented.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The Agent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src/SprykerAcademy/Zed/AiProductCreation/Communication/Plugin/Agent/ProductCreationAgentPlugin.php . Read getDescription() first. The intent router uses this text to decide whether a user message belongs to your agent.</a:t>
            </a:r>
          </a:p>
          <a:p>
            <a:pPr>
              <a:spcAft>
                <a:spcPts val="800"/>
              </a:spcAft>
              <a:defRPr sz="1600">
                <a:solidFill>
                  <a:srgbClr val="1A1A1A"/>
                </a:solidFill>
              </a:defRPr>
            </a:pPr>
            <a:r>
              <a:t>TODO-8: build the PromptRequestTransfer in executeAgent() :</a:t>
            </a:r>
          </a:p>
          <a:p>
            <a:pPr>
              <a:spcAft>
                <a:spcPts val="100"/>
              </a:spcAft>
              <a:defRPr sz="1000">
                <a:solidFill>
                  <a:srgbClr val="1A1A1A"/>
                </a:solidFill>
                <a:latin typeface="Consolas"/>
              </a:defRPr>
            </a:pPr>
            <a:r>
              <a:t>Setter                      Value                                                                                                                    Purpose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setAiConfigurationName()    $this-&gt;getConfig()-&gt;getProductCreationAgentAiConfigurationName()                                                         Provider, model, and system prompt </a:t>
            </a:r>
          </a:p>
          <a:p>
            <a:pPr>
              <a:spcAft>
                <a:spcPts val="100"/>
              </a:spcAft>
              <a:defRPr sz="1000">
                <a:solidFill>
                  <a:srgbClr val="1A1A1A"/>
                </a:solidFill>
                <a:latin typeface="Consolas"/>
              </a:defRPr>
            </a:pPr>
            <a:r>
              <a:t>setConversationReference()  From the assistant request                                                                                               Conversation memory across messages</a:t>
            </a:r>
          </a:p>
          <a:p>
            <a:pPr>
              <a:spcAft>
                <a:spcPts val="100"/>
              </a:spcAft>
              <a:defRPr sz="1000">
                <a:solidFill>
                  <a:srgbClr val="1A1A1A"/>
                </a:solidFill>
                <a:latin typeface="Consolas"/>
              </a:defRPr>
            </a:pPr>
            <a:r>
              <a:t>setStructuredMessage()      new ProductCreationAgentResponseTransfer()                                                                               Forces the answer into this shape  </a:t>
            </a:r>
          </a:p>
          <a:p>
            <a:pPr>
              <a:spcAft>
                <a:spcPts val="100"/>
              </a:spcAft>
              <a:defRPr sz="1000">
                <a:solidFill>
                  <a:srgbClr val="1A1A1A"/>
                </a:solidFill>
                <a:latin typeface="Consolas"/>
              </a:defRPr>
            </a:pPr>
            <a:r>
              <a:t>addToolSetName()            AiProductCreationConstants::TOOL_SET_PRODUCT_CREATION                                                                    The tools the model may call       </a:t>
            </a:r>
          </a:p>
          <a:p>
            <a:pPr>
              <a:spcAft>
                <a:spcPts val="100"/>
              </a:spcAft>
              <a:defRPr sz="1000">
                <a:solidFill>
                  <a:srgbClr val="1A1A1A"/>
                </a:solidFill>
                <a:latin typeface="Consolas"/>
              </a:defRPr>
            </a:pPr>
            <a:r>
              <a:t>setPromptMessage()          A PromptMessageTransfer with type AiFoundationConstants::MESSAGE_TYPE_USER , the prompt as content, and the attachments  The user’s message</a:t>
            </a:r>
          </a:p>
          <a:p>
            <a:pPr>
              <a:spcAft>
                <a:spcPts val="800"/>
              </a:spcAft>
              <a:defRPr sz="1600">
                <a:solidFill>
                  <a:srgbClr val="1A1A1A"/>
                </a:solidFill>
              </a:defRPr>
            </a:pPr>
            <a:r>
              <a:t>TODO-9: copy agent , message , and reasoningMessage from the structured answer to the BackofficeAssistantPromptResponseTransfer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The Agent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Why a structured message? Without it the model answers with free text. With it, AiFoundation asks the provider for JSON that matches the transfer, and you get typed getters. Open ai_product_creation.transfer.xml : the property descriptions are instructions for the model. The agent property lets the model answer Guardrail when the request is off-topic.</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Parts 1 to 4</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build </a:t>
            </a:r>
            <a:r>
              <a:rPr sz="900">
                <a:solidFill>
                  <a:srgbClr val="2D2D2D"/>
                </a:solidFill>
                <a:latin typeface="Consolas"/>
              </a:rPr>
              <a:t>-c</a:t>
            </a:r>
            <a:r>
              <a:rPr sz="900">
                <a:solidFill>
                  <a:srgbClr val="2D2D2D"/>
                </a:solidFill>
                <a:latin typeface="Consolas"/>
              </a:rPr>
              <a:t> tests/SprykerAcademyTest/Zed/AiProductCreation/</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tests/SprykerAcademyTest/Zed/AiProductCreation/ Exercise21</a:t>
            </a:r>
          </a:p>
          <a:p>
            <a:pPr>
              <a:spcAft>
                <a:spcPts val="800"/>
              </a:spcAft>
              <a:defRPr sz="1600">
                <a:solidFill>
                  <a:srgbClr val="1A1A1A"/>
                </a:solidFill>
              </a:defRPr>
            </a:pPr>
            <a:r>
              <a:t>All 12 tests must pass. They use mocks, so no AI call is made and no token is spent. An error like getName(): Return value must be of type string, none returned points at a TODO you have not completed yet.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Wire the Agent into the Project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Your plugins exist, but the project does not know them yet. A project would wire them in src/Pyz and config/Shared/config_ai.php . The exercise keeps the wiring with its own code: the classes in src/SprykerAcademy/Zed/AiCommerce/ and src/SprykerAcademy/Zed/AiFoundation/ extend the project’s classes - the ones the Back Office Assistant setup created - and, because SprykerAcademy comes before Pyz in the project namespaces, are the ones Spryker uses. Complete their TODOs:</a:t>
            </a:r>
          </a:p>
          <a:p>
            <a:pPr>
              <a:spcAft>
                <a:spcPts val="800"/>
              </a:spcAft>
              <a:defRPr sz="1600">
                <a:solidFill>
                  <a:srgbClr val="1A1A1A"/>
                </a:solidFill>
              </a:defRPr>
            </a:pPr>
            <a:r>
              <a:t>1. Register the agent. In src/SprykerAcademy/Zed/AiCommerce/AiCommerceDependencyProvider.php , add new ProductCreationAgentPlugin() to the agents of parent::getBackofficeAssistantAgentPlugins() .</a:t>
            </a:r>
          </a:p>
          <a:p>
            <a:pPr>
              <a:spcAft>
                <a:spcPts val="800"/>
              </a:spcAft>
              <a:defRPr sz="1600">
                <a:solidFill>
                  <a:srgbClr val="1A1A1A"/>
                </a:solidFill>
              </a:defRPr>
            </a:pPr>
            <a:r>
              <a:t>2. Register the tool set. In src/SprykerAcademy/Zed/AiFoundation/AiFoundationDependencyProvider.php , add new ProductCreationToolSetPlugin() to the tool sets of parent::getAiToolSetPlugins() .</a:t>
            </a:r>
          </a:p>
          <a:p>
            <a:pPr>
              <a:spcAft>
                <a:spcPts val="800"/>
              </a:spcAft>
              <a:defRPr sz="1600">
                <a:solidFill>
                  <a:srgbClr val="1A1A1A"/>
                </a:solidFill>
              </a:defRPr>
            </a:pPr>
            <a:r>
              <a:t>3. Add the AI configuration. In src/SprykerAcademy/Zed/AiFoundation/AiFoundationConfig.php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Wire the Agent into the Project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getAiConfigurations()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06287E"/>
                </a:solidFill>
                <a:latin typeface="Consolas"/>
              </a:rPr>
              <a:t>array_merge</a:t>
            </a:r>
            <a:r>
              <a:rPr sz="900">
                <a:solidFill>
                  <a:srgbClr val="2D2D2D"/>
                </a:solidFill>
                <a:latin typeface="Consolas"/>
              </a:rPr>
              <a:t>(</a:t>
            </a:r>
            <a:r>
              <a:rPr sz="900" b="1">
                <a:solidFill>
                  <a:srgbClr val="007020"/>
                </a:solidFill>
                <a:latin typeface="Consolas"/>
              </a:rPr>
              <a:t>parent</a:t>
            </a:r>
            <a:r>
              <a:rPr sz="900">
                <a:solidFill>
                  <a:srgbClr val="2D2D2D"/>
                </a:solidFill>
                <a:latin typeface="Consolas"/>
              </a:rPr>
              <a:t>::getAiConfigurations()</a:t>
            </a:r>
            <a:r>
              <a:rPr sz="900">
                <a:solidFill>
                  <a:srgbClr val="007020"/>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-&gt;resolveConfigurationReferences([</a:t>
            </a:r>
          </a:p>
          <a:p>
            <a:pPr>
              <a:spcBef>
                <a:spcPts val="0"/>
              </a:spcBef>
              <a:spcAft>
                <a:spcPts val="0"/>
              </a:spcAft>
            </a:pPr>
            <a:r>
              <a:rPr sz="900">
                <a:solidFill>
                  <a:srgbClr val="2D2D2D"/>
                </a:solidFill>
                <a:latin typeface="Consolas"/>
              </a:rPr>
              <a:t>        </a:t>
            </a:r>
            <a:r>
              <a:rPr sz="900">
                <a:solidFill>
                  <a:srgbClr val="880000"/>
                </a:solidFill>
                <a:latin typeface="Consolas"/>
              </a:rPr>
              <a:t>A</a:t>
            </a:r>
            <a:r>
              <a:rPr sz="900">
                <a:solidFill>
                  <a:srgbClr val="2D2D2D"/>
                </a:solidFill>
                <a:latin typeface="Consolas"/>
              </a:rPr>
              <a:t>iProductCreationConstants::</a:t>
            </a:r>
            <a:r>
              <a:rPr sz="900">
                <a:solidFill>
                  <a:srgbClr val="880000"/>
                </a:solidFill>
                <a:latin typeface="Consolas"/>
              </a:rPr>
              <a:t>AI_CONFIGURATION_PRODUCT_CREATION_OPENAI</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'provider_name'</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PROVIDER_OPENAI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'provider_config'</a:t>
            </a:r>
            <a:r>
              <a:rPr sz="900">
                <a:solidFill>
                  <a:srgbClr val="2D2D2D"/>
                </a:solidFill>
                <a:latin typeface="Consolas"/>
              </a:rPr>
              <a:t> =&gt; [</a:t>
            </a:r>
          </a:p>
          <a:p>
            <a:pPr>
              <a:spcBef>
                <a:spcPts val="0"/>
              </a:spcBef>
              <a:spcAft>
                <a:spcPts val="0"/>
              </a:spcAft>
            </a:pPr>
            <a:r>
              <a:rPr sz="900">
                <a:solidFill>
                  <a:srgbClr val="2D2D2D"/>
                </a:solidFill>
                <a:latin typeface="Consolas"/>
              </a:rPr>
              <a:t>                </a:t>
            </a:r>
            <a:r>
              <a:rPr sz="900">
                <a:solidFill>
                  <a:srgbClr val="4070A0"/>
                </a:solidFill>
                <a:latin typeface="Consolas"/>
              </a:rPr>
              <a:t>'key'</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CONFIGURATION_KEY_OPENAI_API_TOKEN</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'model'</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iCommerceConstants::</a:t>
            </a:r>
            <a:r>
              <a:rPr sz="900">
                <a:solidFill>
                  <a:srgbClr val="880000"/>
                </a:solidFill>
                <a:latin typeface="Consolas"/>
              </a:rPr>
              <a:t>CONFIGURATION_KEY_BACKOFFICE_ASSISTANT_OPENAI_MODEL</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'system_prompt'</a:t>
            </a:r>
            <a:r>
              <a:rPr sz="900">
                <a:solidFill>
                  <a:srgbClr val="2D2D2D"/>
                </a:solidFill>
                <a:latin typeface="Consolas"/>
              </a:rPr>
              <a:t> =&gt; </a:t>
            </a:r>
            <a:r>
              <a:rPr sz="900">
                <a:solidFill>
                  <a:srgbClr val="880000"/>
                </a:solidFill>
                <a:latin typeface="Consolas"/>
              </a:rPr>
              <a:t>A</a:t>
            </a:r>
            <a:r>
              <a:rPr sz="900">
                <a:solidFill>
                  <a:srgbClr val="2D2D2D"/>
                </a:solidFill>
                <a:latin typeface="Consolas"/>
              </a:rPr>
              <a:t>iFoundationConstants::</a:t>
            </a:r>
            <a:r>
              <a:rPr sz="900">
                <a:solidFill>
                  <a:srgbClr val="880000"/>
                </a:solidFill>
                <a:latin typeface="Consolas"/>
              </a:rPr>
              <a:t>CONFIGURATION_REFERENCE_PREFIX</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880000"/>
                </a:solidFill>
                <a:latin typeface="Consolas"/>
              </a:rPr>
              <a:t>A</a:t>
            </a:r>
            <a:r>
              <a:rPr sz="900">
                <a:solidFill>
                  <a:srgbClr val="2D2D2D"/>
                </a:solidFill>
                <a:latin typeface="Consolas"/>
              </a:rPr>
              <a:t>iProductCreationConstants::</a:t>
            </a:r>
            <a:r>
              <a:rPr sz="900">
                <a:solidFill>
                  <a:srgbClr val="880000"/>
                </a:solidFill>
                <a:latin typeface="Consolas"/>
              </a:rPr>
              <a:t>CONFIGURATION_KEY_SYSTEM_PROMPT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The agent reuses the assistant’s token and model settings and brings its own system prompt.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Wire the Agent into the Project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4. Enable SSE streaming. Tool call progress is only streamed for AI configuration names the assistant knows. In src/SprykerAcademy/Zed/AiCommerce/AiCommerceConfig.php :</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getBackofficeAssistantSseAiConfigurationNames()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06287E"/>
                </a:solidFill>
                <a:latin typeface="Consolas"/>
              </a:rPr>
              <a:t>array_values</a:t>
            </a:r>
            <a:r>
              <a:rPr sz="900">
                <a:solidFill>
                  <a:srgbClr val="2D2D2D"/>
                </a:solidFill>
                <a:latin typeface="Consolas"/>
              </a:rPr>
              <a:t>(</a:t>
            </a:r>
            <a:r>
              <a:rPr sz="900">
                <a:solidFill>
                  <a:srgbClr val="06287E"/>
                </a:solidFill>
                <a:latin typeface="Consolas"/>
              </a:rPr>
              <a:t>array_filter</a:t>
            </a: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parent</a:t>
            </a:r>
            <a:r>
              <a:rPr sz="900">
                <a:solidFill>
                  <a:srgbClr val="2D2D2D"/>
                </a:solidFill>
                <a:latin typeface="Consolas"/>
              </a:rPr>
              <a:t>::getBackofficeAssistantSseAiConfigurationNames()</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A</a:t>
            </a:r>
            <a:r>
              <a:rPr sz="900">
                <a:solidFill>
                  <a:srgbClr val="2D2D2D"/>
                </a:solidFill>
                <a:latin typeface="Consolas"/>
              </a:rPr>
              <a:t>iProductCreationConstants::</a:t>
            </a:r>
            <a:r>
              <a:rPr sz="900">
                <a:solidFill>
                  <a:srgbClr val="880000"/>
                </a:solidFill>
                <a:latin typeface="Consolas"/>
              </a:rPr>
              <a:t>AI_CONFIGURATION_PRODUCT_CREATION_OPENAI</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5. Apply.</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Wire the Agent into the Project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Where does the system prompt come from? configuration:sync loaded it from data/configuration/ai_product_creation.configuration.yml . You can now edit it live under Configuration &gt; AI Commerce &gt; Back Office Assistant &gt; System Prompts , next to a toggle that enables or disables the agent. Read the prompt: it defines the five conversation phases, including the mandatory confirmation before anything is created.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Open the Back Office Assistant and select Product Creation , or leave it on Auto.</a:t>
            </a:r>
          </a:p>
          <a:p>
            <a:pPr>
              <a:spcAft>
                <a:spcPts val="400"/>
              </a:spcAft>
              <a:defRPr sz="1500">
                <a:solidFill>
                  <a:srgbClr val="1A1A1A"/>
                </a:solidFill>
              </a:defRPr>
            </a:pPr>
            <a:r>
              <a:t>• Ask: “Which tax sets can I use for a new product?” You see the list_tax_sets tool call stream in, followed by the list. This proves Parts 1, 3, 4, and 5.</a:t>
            </a:r>
          </a:p>
          <a:p>
            <a:pPr>
              <a:spcAft>
                <a:spcPts val="400"/>
              </a:spcAft>
              <a:defRPr sz="1500">
                <a:solidFill>
                  <a:srgbClr val="1A1A1A"/>
                </a:solidFill>
              </a:defRPr>
            </a:pPr>
            <a:r>
              <a:t>• Ask: “Create a red cotton t-shirt in sizes S and M for 19.99 EUR, 50 in stock each.” Answer the agent’s questions and confirm the summary.</a:t>
            </a:r>
          </a:p>
          <a:p>
            <a:pPr>
              <a:spcAft>
                <a:spcPts val="400"/>
              </a:spcAft>
              <a:defRPr sz="1500">
                <a:solidFill>
                  <a:srgbClr val="1A1A1A"/>
                </a:solidFill>
              </a:defRPr>
            </a:pPr>
            <a:r>
              <a:t>• Open the edit link from the final answer. Check the variants, the price, the stock, and the approval status. Approval proves Part 2.</a:t>
            </a:r>
          </a:p>
          <a:p>
            <a:pPr>
              <a:spcAft>
                <a:spcPts val="400"/>
              </a:spcAft>
              <a:defRPr sz="1500">
                <a:solidFill>
                  <a:srgbClr val="1A1A1A"/>
                </a:solidFill>
              </a:defRPr>
            </a:pPr>
            <a:r>
              <a:t>• Optional: let the agent generate a product image. This uses the OpenAI image model and costs more than a chat message.</a:t>
            </a:r>
          </a:p>
          <a:p>
            <a:pPr>
              <a:spcAft>
                <a:spcPts val="800"/>
              </a:spcAft>
              <a:defRPr sz="1400" i="1">
                <a:solidFill>
                  <a:srgbClr val="888888"/>
                </a:solidFill>
              </a:defRPr>
            </a:pPr>
            <a:r>
              <a:t>❝ Searchability: the product appears in storefront search only after Publish and Synchronize ran, as in Exercise 10.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ai-foundation advanced/ai-foundation-agent/complete </a:t>
            </a:r>
            <a:r>
              <a:rPr sz="900">
                <a:solidFill>
                  <a:srgbClr val="2D2D2D"/>
                </a:solidFill>
                <a:latin typeface="Consolas"/>
              </a:rPr>
              <a:t>--run</a:t>
            </a:r>
          </a:p>
          <a:p>
            <a:pPr>
              <a:spcAft>
                <a:spcPts val="800"/>
              </a:spcAft>
              <a:defRPr sz="1600">
                <a:solidFill>
                  <a:srgbClr val="1A1A1A"/>
                </a:solidFill>
              </a:defRPr>
            </a:pPr>
            <a:r>
              <a:t>The complete branch contains the wiring of Part 5 in src/SprykerAcademy/Zed/AiCommerce/ and src/SprykerAcademy/Zed/AiFoundation/ .</a:t>
            </a:r>
          </a:p>
          <a:p>
            <a:pPr>
              <a:spcAft>
                <a:spcPts val="800"/>
              </a:spcAft>
              <a:defRPr sz="1400" i="1">
                <a:solidFill>
                  <a:srgbClr val="888888"/>
                </a:solidFill>
              </a:defRPr>
            </a:pPr>
            <a:r>
              <a:t>❝ Wired by hand in an earlier version of this exercise? Remove those lines from src/Pyz and config/Shared/config_ai.php before you load another branch or package: the loader replaces src/SprykerAcademy/ , and the Back Office fails when a registered plugin class no longer exists. The loader warns you about leftover references.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Change the system prompt so the agent always proposes a SKU prefix, and watch the behavior change without a deployment.</a:t>
            </a:r>
          </a:p>
          <a:p>
            <a:pPr>
              <a:spcAft>
                <a:spcPts val="400"/>
              </a:spcAft>
              <a:defRPr sz="1500">
                <a:solidFill>
                  <a:srgbClr val="1A1A1A"/>
                </a:solidFill>
              </a:defRPr>
            </a:pPr>
            <a:r>
              <a:t>• Add a tenth tool, for example get_product to look up an existing product by SKU. Remember the three places: the tool class, the factory, and the tool set.</a:t>
            </a:r>
          </a:p>
          <a:p>
            <a:pPr>
              <a:spcAft>
                <a:spcPts val="400"/>
              </a:spcAft>
              <a:defRPr sz="1500">
                <a:solidFill>
                  <a:srgbClr val="1A1A1A"/>
                </a:solidFill>
              </a:defRPr>
            </a:pPr>
            <a:r>
              <a:t>• Read the audit log to see every prompt and tool call your agent made.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