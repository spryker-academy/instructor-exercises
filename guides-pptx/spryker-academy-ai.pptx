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AI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AI Foundation and the Back Office Assistant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Install and configure the AI-powered Back Office Assistant</a:t>
            </a:r>
          </a:p>
          <a:p>
            <a:pPr>
              <a:spcAft>
                <a:spcPts val="1000"/>
              </a:spcAft>
            </a:pPr>
            <a:r>
              <a:rPr sz="1600" b="1">
                <a:solidFill>
                  <a:srgbClr val="00A89B"/>
                </a:solidFill>
              </a:rPr>
              <a:t>✓  </a:t>
            </a:r>
            <a:r>
              <a:rPr sz="1500">
                <a:solidFill>
                  <a:srgbClr val="1A1A1A"/>
                </a:solidFill>
              </a:rPr>
              <a:t>Register AI configurations with providers, models, and system prompts</a:t>
            </a:r>
          </a:p>
          <a:p>
            <a:pPr>
              <a:spcAft>
                <a:spcPts val="1000"/>
              </a:spcAft>
            </a:pPr>
            <a:r>
              <a:rPr sz="1600" b="1">
                <a:solidFill>
                  <a:srgbClr val="00A89B"/>
                </a:solidFill>
              </a:rPr>
              <a:t>✓  </a:t>
            </a:r>
            <a:r>
              <a:rPr sz="1500">
                <a:solidFill>
                  <a:srgbClr val="1A1A1A"/>
                </a:solidFill>
              </a:rPr>
              <a:t>Write AI tools with names, descriptions, and typed parameters</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Group tools into tool sets and expose them to an agent</a:t>
            </a:r>
          </a:p>
          <a:p>
            <a:pPr>
              <a:spcAft>
                <a:spcPts val="1000"/>
              </a:spcAft>
            </a:pPr>
            <a:r>
              <a:rPr sz="1600" b="1">
                <a:solidFill>
                  <a:srgbClr val="00A89B"/>
                </a:solidFill>
              </a:rPr>
              <a:t>✓  </a:t>
            </a:r>
            <a:r>
              <a:rPr sz="1500">
                <a:solidFill>
                  <a:srgbClr val="1A1A1A"/>
                </a:solidFill>
              </a:rPr>
              <a:t>Build a custom agent with structured responses on AI Foundation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01-back-office-assistant-setup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Install the Back Office Assistant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Back Office Assistant is an AI chat widget in the Spryker Back Office. It routes each message to an agent , and each agent can call tools to read or change shop data. Exercise 19 adds a new agent to it, so the assistant must work first.</a:t>
            </a:r>
          </a:p>
          <a:p>
            <a:pPr>
              <a:spcAft>
                <a:spcPts val="800"/>
              </a:spcAft>
              <a:defRPr sz="1600">
                <a:solidFill>
                  <a:srgbClr val="1A1A1A"/>
                </a:solidFill>
              </a:defRPr>
            </a:pPr>
            <a:r>
              <a:t>This guide follows the official Spryker documentation and was verified against b2b-demo-marketplace with spryker-feature/ai-commerce 202608.0 and spryker/ai-foundation 0.8.4.</a:t>
            </a:r>
          </a:p>
          <a:p>
            <a:pPr>
              <a:spcAft>
                <a:spcPts val="800"/>
              </a:spcAft>
              <a:defRPr sz="1600">
                <a:solidFill>
                  <a:srgbClr val="1A1A1A"/>
                </a:solidFill>
              </a:defRPr>
            </a:pPr>
            <a:r>
              <a:t>You will: - Register AI configurations for the intent router and the built-in agents - Register the built-in agent, tool set, SSE, and audit log plugins - Add the assistant settings to the Configuration Management UI - Build the chat widget frontend</a:t>
            </a:r>
          </a:p>
          <a:p>
            <a:pPr>
              <a:spcAft>
                <a:spcPts val="800"/>
              </a:spcAft>
              <a:defRPr sz="1600">
                <a:solidFill>
                  <a:srgbClr val="1A1A1A"/>
                </a:solidFill>
              </a:defRPr>
            </a:pPr>
            <a:r>
              <a:t>Official documentation: - Install Back Office Assistant - Install AI Commerce - Configure multiple AI providers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b2b-demo-marketplace with the AI Commerce feature installed. Check with:</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show spryker-feature/ai-commerce spryker/ai-foundation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grep</a:t>
            </a:r>
            <a:r>
              <a:rPr sz="900">
                <a:solidFill>
                  <a:srgbClr val="2D2D2D"/>
                </a:solidFill>
                <a:latin typeface="Consolas"/>
              </a:rPr>
              <a:t> </a:t>
            </a:r>
            <a:r>
              <a:rPr sz="900">
                <a:solidFill>
                  <a:srgbClr val="2D2D2D"/>
                </a:solidFill>
                <a:latin typeface="Consolas"/>
              </a:rPr>
              <a:t>-E</a:t>
            </a:r>
            <a:r>
              <a:rPr sz="900">
                <a:solidFill>
                  <a:srgbClr val="2D2D2D"/>
                </a:solidFill>
                <a:latin typeface="Consolas"/>
              </a:rPr>
              <a:t> </a:t>
            </a:r>
            <a:r>
              <a:rPr sz="900">
                <a:solidFill>
                  <a:srgbClr val="4070A0"/>
                </a:solidFill>
                <a:latin typeface="Consolas"/>
              </a:rPr>
              <a:t>"^name|^versions"</a:t>
            </a:r>
          </a:p>
          <a:p>
            <a:pPr>
              <a:spcAft>
                <a:spcPts val="400"/>
              </a:spcAft>
              <a:defRPr sz="1500">
                <a:solidFill>
                  <a:srgbClr val="1A1A1A"/>
                </a:solidFill>
              </a:defRPr>
            </a:pPr>
            <a:r>
              <a:t>• An OpenAI API token. You enter it in the Back Office in step 6. This guide sets up OpenAI only. For AWS Bedrock or Anthropic see Configure multiple AI providers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the Pieces Fit Together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Piece              Module        Role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AI configuration   AiFoundation  A named entry in config/Shared/config_ai.php : provider, API key, model, and optional system prompt</a:t>
            </a:r>
          </a:p>
          <a:p>
            <a:pPr>
              <a:spcAft>
                <a:spcPts val="100"/>
              </a:spcAft>
              <a:defRPr sz="1000">
                <a:solidFill>
                  <a:srgbClr val="1A1A1A"/>
                </a:solidFill>
                <a:latin typeface="Consolas"/>
              </a:defRPr>
            </a:pPr>
            <a:r>
              <a:t>Agent plugin       AiCommerce    Handles one domain, for example orders or discounts. Sends a prompt to AiFoundation                </a:t>
            </a:r>
          </a:p>
          <a:p>
            <a:pPr>
              <a:spcAft>
                <a:spcPts val="100"/>
              </a:spcAft>
              <a:defRPr sz="1000">
                <a:solidFill>
                  <a:srgbClr val="1A1A1A"/>
                </a:solidFill>
                <a:latin typeface="Consolas"/>
              </a:defRPr>
            </a:pPr>
            <a:r>
              <a:t>Intent router      AiCommerce    Reads every agent’s description and picks the agent for a user message                             </a:t>
            </a:r>
          </a:p>
          <a:p>
            <a:pPr>
              <a:spcAft>
                <a:spcPts val="100"/>
              </a:spcAft>
              <a:defRPr sz="1000">
                <a:solidFill>
                  <a:srgbClr val="1A1A1A"/>
                </a:solidFill>
                <a:latin typeface="Consolas"/>
              </a:defRPr>
            </a:pPr>
            <a:r>
              <a:t>Tool set plugin    AiFoundation  A named group of tools an agent may call                                                           </a:t>
            </a:r>
          </a:p>
          <a:p>
            <a:pPr>
              <a:spcAft>
                <a:spcPts val="100"/>
              </a:spcAft>
              <a:defRPr sz="1000">
                <a:solidFill>
                  <a:srgbClr val="1A1A1A"/>
                </a:solidFill>
                <a:latin typeface="Consolas"/>
              </a:defRPr>
            </a:pPr>
            <a:r>
              <a:t>SSE plugins        AiCommerce    Stream tool call progress to the chat widget with Server-Sent Events                               </a:t>
            </a:r>
          </a:p>
          <a:p>
            <a:pPr>
              <a:spcAft>
                <a:spcPts val="100"/>
              </a:spcAft>
              <a:defRPr sz="1000">
                <a:solidFill>
                  <a:srgbClr val="1A1A1A"/>
                </a:solidFill>
                <a:latin typeface="Consolas"/>
              </a:defRPr>
            </a:pPr>
            <a:r>
              <a:t>Audit log plugins  AiFoundation  Record every prompt and tool call</a:t>
            </a:r>
          </a:p>
          <a:p>
            <a:pPr>
              <a:spcAft>
                <a:spcPts val="800"/>
              </a:spcAft>
              <a:defRPr sz="1400" i="1">
                <a:solidFill>
                  <a:srgbClr val="888888"/>
                </a:solidFill>
              </a:defRPr>
            </a:pPr>
            <a:r>
              <a:t>❝ Why one AI configuration per agent? Each named configuration is tracked separately in the AiFoundation audit log. You can review the AI calls of one agent without the noise of the others.</a:t>
            </a:r>
          </a:p>
          <a:p>
            <a:pPr>
              <a:spcAft>
                <a:spcPts val="800"/>
              </a:spcAft>
              <a:defRPr sz="1600">
                <a:solidFill>
                  <a:srgbClr val="1A1A1A"/>
                </a:solidFill>
              </a:defRPr>
            </a:pPr>
            <a:r>
              <a:t>The values key and model are not hard-coded. The prefix CONFIGURATION_REFERENCE_PREFIX tells AiFoundation to read them at runtime from the Configuration Management UI in the Back Office.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1: Define the Constants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src/Pyz/Shared/AiCommerce/AiCommerceConstants.php . The interface already exists in the demo shop and holds the Smart PIM constants. Add the Back Office Assistant constants to it: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CONFIGURATION_KEY_BACKOFFICE_ASSISTANT_OPENAI_MODEL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'ai_commerce:backoffice_assistant:ai_vendor:openai_model'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AI_CONFIGURATION_INTENT_ROUTER_OPENAI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'AI_COMMERCE:AI_CONFIGURATION_INTENT_ROUTER_OPENAI'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AI_CONFIGURATION_GENERAL_AGENT_OPENAI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'AI_COMMERCE:AI_CONFIGURATION_GENERAL_AGENT_OPENAI'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AI_CONFIGURATION_ORDER_MANAGEMENT_OPENAI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'AI_COMMERCE:AI_CONFIGURATION_ORDER_MANAGEMENT_OPENAI'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AI_CONFIGURATION_DISCOUNT_MANAGEMENT_OPENAI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'AI_COMMERCE:AI_CONFIGURATION_DISCOUNT_MANAGEMENT_OPENAI'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AI_CONFIGURATION_FORM_FILL_OPENAI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'AI_COMMERCE:AI_CONFIGURATION_FORM_FILL_OPENAI'</a:t>
            </a:r>
            <a:r>
              <a:rPr sz="900">
                <a:solidFill>
                  <a:srgbClr val="007020"/>
                </a:solidFill>
                <a:latin typeface="Consolas"/>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1: Define the Constants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CONFIGURATION_KEY_OPENAI_API_TOKEN must also exist in this interface. The demo shop already defines it as 'ai_vendor:openai:general:api_token'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Append five entries to config/Shared/config_ai.php . The intent router has no system prompt. Each agent references its own prompt setting: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AI_CONFIGURATION_INTENT_ROUTER_OPENAI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AI_CONFIGURATION_GENERAL_AGENT_OPENAI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CONFIGURATION_KEY_GENERAL_PURPOSE_SYSTEM_PROMPT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Repeat the second block three more times with these pairs: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Configuration constant                       System prompt constant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AI_CONFIGURATION_ORDER_MANAGEMENT_OPENAI     CONFIGURATION_KEY_ORDER_MANAGEMENT_SYSTEM_PROMPT   </a:t>
            </a:r>
          </a:p>
          <a:p>
            <a:pPr>
              <a:spcAft>
                <a:spcPts val="100"/>
              </a:spcAft>
              <a:defRPr sz="1000">
                <a:solidFill>
                  <a:srgbClr val="1A1A1A"/>
                </a:solidFill>
                <a:latin typeface="Consolas"/>
              </a:defRPr>
            </a:pPr>
            <a:r>
              <a:t>AI_CONFIGURATION_DISCOUNT_MANAGEMENT_OPENAI  CONFIGURATION_KEY_DISCOUNT_MANAGEMENT_SYSTEM_PROMPT</a:t>
            </a:r>
          </a:p>
          <a:p>
            <a:pPr>
              <a:spcAft>
                <a:spcPts val="100"/>
              </a:spcAft>
              <a:defRPr sz="1000">
                <a:solidFill>
                  <a:srgbClr val="1A1A1A"/>
                </a:solidFill>
                <a:latin typeface="Consolas"/>
              </a:defRPr>
            </a:pPr>
            <a:r>
              <a:t>AI_CONFIGURATION_FORM_FILL_OPENAI            CONFIGURATION_KEY_FORM_FILL_SYSTEM_PROMPT</a:t>
            </a:r>
          </a:p>
          <a:p>
            <a:pPr>
              <a:spcAft>
                <a:spcPts val="800"/>
              </a:spcAft>
              <a:defRPr sz="1400" i="1">
                <a:solidFill>
                  <a:srgbClr val="888888"/>
                </a:solidFill>
              </a:defRPr>
            </a:pPr>
            <a:r>
              <a:t>❝ Array style: The demo shop file starts with one big $config[AiFoundationConstants::AI_CONFIGURATIONS] = [...] assignment for Smart PIM. Add the new entries below it with the $config[...][...] = [...] form shown here, so you do not overwrite the existing entries.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By default every get*AiConfigurationName() method in the feature returns null . Override them in src/Pyz/Zed/AiCommerce/AiCommerceConfig.php . Add these methods to the existing class: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getIntentRouterAiConfigurationName()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AI_CONFIGURATION_INTENT_ROUTER_OPENAI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getGeneralAgentAiConfigurationName()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AI_CONFIGURATION_GENERAL_AGENT_OPENAI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getOrderManagementAgentAiConfigurationName()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AI_CONFIGURATION_ORDER_MANAGEMENT_OPENAI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getDiscountManagementAgentAiConfigurationName()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AI_CONFIGURATION_DISCOUNT_MANAGEMENT_OPENAI</a:t>
            </a:r>
            <a:r>
              <a:rPr sz="900">
                <a:solidFill>
                  <a:srgbClr val="007020"/>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getFormFillAgentAiConfigurationName()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AI_CONFIGURATION_FORM_FILL_OPENAI</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Agents</a:t>
            </a:r>
          </a:p>
          <a:p>
            <a:pPr>
              <a:spcAft>
                <a:spcPts val="800"/>
              </a:spcAft>
              <a:defRPr sz="1600">
                <a:solidFill>
                  <a:srgbClr val="1A1A1A"/>
                </a:solidFill>
              </a:defRPr>
            </a:pPr>
            <a:r>
              <a:t>Create src/Pyz/Zed/AiCommerce/AiCommerceDependencyProvider.php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declare</a:t>
            </a:r>
            <a:r>
              <a:rPr sz="900">
                <a:solidFill>
                  <a:srgbClr val="2D2D2D"/>
                </a:solidFill>
                <a:latin typeface="Consolas"/>
              </a:rPr>
              <a:t>(strict_types </a:t>
            </a:r>
            <a:r>
              <a:rPr sz="900">
                <a:solidFill>
                  <a:srgbClr val="666666"/>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A</a:t>
            </a:r>
            <a:r>
              <a:rPr sz="900">
                <a:solidFill>
                  <a:srgbClr val="2D2D2D"/>
                </a:solidFill>
                <a:latin typeface="Consolas"/>
              </a:rPr>
              <a:t>iCommerceDependencyProvider </a:t>
            </a:r>
            <a:r>
              <a:rPr sz="900" b="1">
                <a:solidFill>
                  <a:srgbClr val="007020"/>
                </a:solidFill>
                <a:latin typeface="Consolas"/>
              </a:rPr>
              <a:t>as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prykerFeatureAiCommerceDependencyProvider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D</a:t>
            </a:r>
            <a:r>
              <a:rPr sz="900">
                <a:solidFill>
                  <a:srgbClr val="2D2D2D"/>
                </a:solidFill>
                <a:latin typeface="Consolas"/>
              </a:rPr>
              <a:t>iscountManagementAgentPlugin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F</a:t>
            </a:r>
            <a:r>
              <a:rPr sz="900">
                <a:solidFill>
                  <a:srgbClr val="2D2D2D"/>
                </a:solidFill>
                <a:latin typeface="Consolas"/>
              </a:rPr>
              <a:t>ormFillAgentPlugin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G</a:t>
            </a:r>
            <a:r>
              <a:rPr sz="900">
                <a:solidFill>
                  <a:srgbClr val="2D2D2D"/>
                </a:solidFill>
                <a:latin typeface="Consolas"/>
              </a:rPr>
              <a:t>eneralAgentPlugin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O</a:t>
            </a:r>
            <a:r>
              <a:rPr sz="900">
                <a:solidFill>
                  <a:srgbClr val="2D2D2D"/>
                </a:solidFill>
                <a:latin typeface="Consolas"/>
              </a:rPr>
              <a:t>rderManagementAgentPlugin</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prykerFeatureAiCommerceDependencyProvider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\SprykerFeature\Zed\AiCommerce\Dependency\BackofficeAssistant\BackofficeAssistantAgentPluginInterface&gt;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getBackofficeAssistantAgentPlugins()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eneralAgentPlugin()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O</a:t>
            </a:r>
            <a:r>
              <a:rPr sz="900">
                <a:solidFill>
                  <a:srgbClr val="2D2D2D"/>
                </a:solidFill>
                <a:latin typeface="Consolas"/>
              </a:rPr>
              <a:t>rderManagementAgentPlugin()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D</a:t>
            </a:r>
            <a:r>
              <a:rPr sz="900">
                <a:solidFill>
                  <a:srgbClr val="2D2D2D"/>
                </a:solidFill>
                <a:latin typeface="Consolas"/>
              </a:rPr>
              <a:t>iscountManagementAgentPlugin()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F</a:t>
            </a:r>
            <a:r>
              <a:rPr sz="900">
                <a:solidFill>
                  <a:srgbClr val="2D2D2D"/>
                </a:solidFill>
                <a:latin typeface="Consolas"/>
              </a:rPr>
              <a:t>ormFillAgentPlugin()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Create src/Pyz/Zed/AiFoundation/AiFoundationDependencyProvider.php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declare</a:t>
            </a:r>
            <a:r>
              <a:rPr sz="900">
                <a:solidFill>
                  <a:srgbClr val="2D2D2D"/>
                </a:solidFill>
                <a:latin typeface="Consolas"/>
              </a:rPr>
              <a:t>(strict_types </a:t>
            </a:r>
            <a:r>
              <a:rPr sz="900">
                <a:solidFill>
                  <a:srgbClr val="666666"/>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A</a:t>
            </a:r>
            <a:r>
              <a:rPr sz="900">
                <a:solidFill>
                  <a:srgbClr val="2D2D2D"/>
                </a:solidFill>
                <a:latin typeface="Consolas"/>
              </a:rPr>
              <a:t>iFoundationDependencyProvider </a:t>
            </a:r>
            <a:r>
              <a:rPr sz="900" b="1">
                <a:solidFill>
                  <a:srgbClr val="007020"/>
                </a:solidFill>
                <a:latin typeface="Consolas"/>
              </a:rPr>
              <a:t>as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prykerAiFoundationDependencyProvider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uditLogPostPromptPlugin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uditLogPostToolCallPlugin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06287E"/>
                </a:solidFill>
                <a:latin typeface="Consolas"/>
              </a:rPr>
              <a:t>Log</a:t>
            </a:r>
            <a:r>
              <a:rPr sz="900">
                <a:solidFill>
                  <a:srgbClr val="2D2D2D"/>
                </a:solidFill>
                <a:latin typeface="Consolas"/>
              </a:rPr>
              <a:t>\</a:t>
            </a:r>
            <a:r>
              <a:rPr sz="900">
                <a:solidFill>
                  <a:srgbClr val="880000"/>
                </a:solidFill>
                <a:latin typeface="Consolas"/>
              </a:rPr>
              <a:t>A</a:t>
            </a:r>
            <a:r>
              <a:rPr sz="900">
                <a:solidFill>
                  <a:srgbClr val="2D2D2D"/>
                </a:solidFill>
                <a:latin typeface="Consolas"/>
              </a:rPr>
              <a:t>iInteractionHandlerPlugin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B</a:t>
            </a:r>
            <a:r>
              <a:rPr sz="900">
                <a:solidFill>
                  <a:srgbClr val="2D2D2D"/>
                </a:solidFill>
                <a:latin typeface="Consolas"/>
              </a:rPr>
              <a:t>ackofficeAssistantSsePostToolCallPlugin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B</a:t>
            </a:r>
            <a:r>
              <a:rPr sz="900">
                <a:solidFill>
                  <a:srgbClr val="2D2D2D"/>
                </a:solidFill>
                <a:latin typeface="Consolas"/>
              </a:rPr>
              <a:t>ackofficeAssistantSsePreToolCallPlugin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D</a:t>
            </a:r>
            <a:r>
              <a:rPr sz="900">
                <a:solidFill>
                  <a:srgbClr val="2D2D2D"/>
                </a:solidFill>
                <a:latin typeface="Consolas"/>
              </a:rPr>
              <a:t>iscountManagementToolSetPlugin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F</a:t>
            </a:r>
            <a:r>
              <a:rPr sz="900">
                <a:solidFill>
                  <a:srgbClr val="2D2D2D"/>
                </a:solidFill>
                <a:latin typeface="Consolas"/>
              </a:rPr>
              <a:t>ormFillToolSetPlugin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N</a:t>
            </a:r>
            <a:r>
              <a:rPr sz="900">
                <a:solidFill>
                  <a:srgbClr val="2D2D2D"/>
                </a:solidFill>
                <a:latin typeface="Consolas"/>
              </a:rPr>
              <a:t>avigationToolSetPlugin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O</a:t>
            </a:r>
            <a:r>
              <a:rPr sz="900">
                <a:solidFill>
                  <a:srgbClr val="2D2D2D"/>
                </a:solidFill>
                <a:latin typeface="Consolas"/>
              </a:rPr>
              <a:t>rderDetailsToolSetPlugin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O</a:t>
            </a:r>
            <a:r>
              <a:rPr sz="900">
                <a:solidFill>
                  <a:srgbClr val="2D2D2D"/>
                </a:solidFill>
                <a:latin typeface="Consolas"/>
              </a:rPr>
              <a:t>rderManagementToolSetPlugin</a:t>
            </a:r>
            <a:r>
              <a:rPr sz="900">
                <a:solidFill>
                  <a:srgbClr val="007020"/>
                </a:solidFill>
                <a:latin typeface="Consolas"/>
              </a:rPr>
              <a:t>;</a:t>
            </a:r>
          </a:p>
          <a:p>
            <a:pPr>
              <a:spcBef>
                <a:spcPts val="0"/>
              </a:spcBef>
              <a:spcAft>
                <a:spcPts val="0"/>
              </a:spcAft>
            </a:pPr>
            <a:r>
              <a:rPr sz="900">
                <a:latin typeface="Consolas"/>
              </a:rPr>
              <a:t>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prykerAiFoundationDependencyProvider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\Spryker\Zed\AiFoundation\Dependency\Plugin\PostPromptPluginInterface&gt;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getPostPromptPlugins()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A</a:t>
            </a:r>
            <a:r>
              <a:rPr sz="900">
                <a:solidFill>
                  <a:srgbClr val="2D2D2D"/>
                </a:solidFill>
                <a:latin typeface="Consolas"/>
              </a:rPr>
              <a:t>uditLogPostPromptPlugin()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\Spryker\Zed\AiFoundation\Dependency\Plugin\PreToolCallPluginInterface&gt;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getPreToolCallPlugins()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B</a:t>
            </a:r>
            <a:r>
              <a:rPr sz="900">
                <a:solidFill>
                  <a:srgbClr val="2D2D2D"/>
                </a:solidFill>
                <a:latin typeface="Consolas"/>
              </a:rPr>
              <a:t>ackofficeAssistantSsePreToolCallPlugin()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(continued)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Twig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src/Pyz/Zed/Twig/TwigDependencyProvider.php and make sure getTwigPlugins() contains new AiCommerceTwigPlugin() . The current demo shop already registers it. It provides the Twig variables the chat widget needs.</a:t>
            </a:r>
          </a:p>
          <a:p>
            <a:pPr>
              <a:spcAft>
                <a:spcPts val="800"/>
              </a:spcAft>
              <a:defRPr sz="1400" i="1">
                <a:solidFill>
                  <a:srgbClr val="888888"/>
                </a:solidFill>
              </a:defRPr>
            </a:pPr>
            <a:r>
              <a:t>❝ Project-level layout override: If your project overrides src/Pyz/Zed/Gui/Presentation/Layout/layout.twig , include @AiCommerce/Partials/chat-widget.twig in the footer_js block as described in the official guide. The stock demo shop has no such override, so you can skip this.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Project-level setting schemas live in data/configuration/ . The feature package already ships the General and System Prompts groups of the assistant. You add the AI Vendor group, which backs the openai_model reference from step 2.</a:t>
            </a:r>
          </a:p>
          <a:p>
            <a:pPr>
              <a:spcAft>
                <a:spcPts val="800"/>
              </a:spcAft>
              <a:defRPr sz="1600">
                <a:solidFill>
                  <a:srgbClr val="1A1A1A"/>
                </a:solidFill>
              </a:defRPr>
            </a:pPr>
            <a:r>
              <a:t>Open data/configuration/ai_commerce.configuration.yml and add this tab as the first item under tabs: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backoffice_assistant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groups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ai_vendor</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AI Vendor</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AI configuration and vendor model used for the Backoffice Assistant.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ai_configuration</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AI Configuration</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AI configuration used for all Backoffice Assistant agents.</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radio</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'AI_COMMERCE:AI_CONFIGURATION_BACKOFFICE_ASSISTANT_OPENAI'</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options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'AI_COMMERCE:AI_CONFIGURATION_BACKOFFICE_ASSISTANT_OPENAI'</a:t>
            </a:r>
          </a:p>
          <a:p>
            <a:pPr>
              <a:spcBef>
                <a:spcPts val="0"/>
              </a:spcBef>
              <a:spcAft>
                <a:spcPts val="0"/>
              </a:spcAft>
            </a:pPr>
            <a:r>
              <a:rPr sz="900">
                <a:solidFill>
                  <a:srgbClr val="2D2D2D"/>
                </a:solidFill>
                <a:latin typeface="Consolas"/>
              </a:rPr>
              <a:t>                              </a:t>
            </a:r>
            <a:r>
              <a:rPr sz="900">
                <a:solidFill>
                  <a:srgbClr val="06287E"/>
                </a:solidFill>
                <a:latin typeface="Consolas"/>
              </a:rPr>
              <a:t>label</a:t>
            </a:r>
            <a:r>
              <a:rPr sz="900" b="1">
                <a:solidFill>
                  <a:srgbClr val="007020"/>
                </a:solidFill>
                <a:latin typeface="Consolas"/>
              </a:rPr>
              <a:t>:</a:t>
            </a:r>
            <a:r>
              <a:rPr sz="900">
                <a:solidFill>
                  <a:srgbClr val="2D2D2D"/>
                </a:solidFill>
                <a:latin typeface="Consolas"/>
              </a:rPr>
              <a:t> OpenAI</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openai_model</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OpenAI Model</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The OpenAI model used for the Backoffice Assistant. Model must support image input and structured output.</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'gpt-4.1'</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Indentation matters. The tab sits at the same depth as the existing - key: smart_pim tab. The official guide also lists AWS Bedrock and Anthropic options. Add them when you configure those providers.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6: Generate, Sync, and Enable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router:cache:warm-up:backoffice</a:t>
            </a:r>
          </a:p>
          <a:p>
            <a:pPr>
              <a:spcAft>
                <a:spcPts val="800"/>
              </a:spcAft>
              <a:defRPr sz="1600">
                <a:solidFill>
                  <a:srgbClr val="1A1A1A"/>
                </a:solidFill>
              </a:defRPr>
            </a:pPr>
            <a:r>
              <a:t>configuration:sync reports the number of processed settings. The number grows after you add the tab.</a:t>
            </a:r>
          </a:p>
          <a:p>
            <a:pPr>
              <a:spcAft>
                <a:spcPts val="800"/>
              </a:spcAft>
              <a:defRPr sz="1600">
                <a:solidFill>
                  <a:srgbClr val="1A1A1A"/>
                </a:solidFill>
              </a:defRPr>
            </a:pPr>
            <a:r>
              <a:t>Then in the Back Office:</a:t>
            </a:r>
          </a:p>
          <a:p>
            <a:pPr>
              <a:spcAft>
                <a:spcPts val="400"/>
              </a:spcAft>
              <a:defRPr sz="1500">
                <a:solidFill>
                  <a:srgbClr val="1A1A1A"/>
                </a:solidFill>
              </a:defRPr>
            </a:pPr>
            <a:r>
              <a:t>• Go to Configuration &gt; AI Vendor &gt; OpenAI and enter your API token, if it is not set yet.</a:t>
            </a:r>
          </a:p>
          <a:p>
            <a:pPr>
              <a:spcAft>
                <a:spcPts val="400"/>
              </a:spcAft>
              <a:defRPr sz="1500">
                <a:solidFill>
                  <a:srgbClr val="1A1A1A"/>
                </a:solidFill>
              </a:defRPr>
            </a:pPr>
            <a:r>
              <a:t>• Go to Configuration &gt; AI Commerce &gt; Back Office Assistant &gt; General .</a:t>
            </a:r>
          </a:p>
          <a:p>
            <a:pPr>
              <a:spcAft>
                <a:spcPts val="400"/>
              </a:spcAft>
              <a:defRPr sz="1500">
                <a:solidFill>
                  <a:srgbClr val="1A1A1A"/>
                </a:solidFill>
              </a:defRPr>
            </a:pPr>
            <a:r>
              <a:t>• Turn on Enable Back Office Assistant and save. The feature is off by default.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7: Build the Chat Widget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widget renders Markdown answers with two npm packages:</a:t>
            </a:r>
          </a:p>
          <a:p>
            <a:pPr>
              <a:spcBef>
                <a:spcPts val="0"/>
              </a:spcBef>
              <a:spcAft>
                <a:spcPts val="0"/>
              </a:spcAft>
            </a:pPr>
            <a:r>
              <a:rPr sz="900">
                <a:solidFill>
                  <a:srgbClr val="2D2D2D"/>
                </a:solidFill>
                <a:latin typeface="Consolas"/>
              </a:rPr>
              <a:t>docker/sdk</a:t>
            </a:r>
            <a:r>
              <a:rPr sz="900">
                <a:solidFill>
                  <a:srgbClr val="2D2D2D"/>
                </a:solidFill>
                <a:latin typeface="Consolas"/>
              </a:rPr>
              <a:t> cli npm install marked@^15.0.0 dompurify@^3.2.0</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frontend:project:install-dependencies</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frontend:zed:build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Reload any Back Office page. A chat icon appears in the bottom-right corner.</a:t>
            </a:r>
          </a:p>
          <a:p>
            <a:pPr>
              <a:spcAft>
                <a:spcPts val="400"/>
              </a:spcAft>
              <a:defRPr sz="1500">
                <a:solidFill>
                  <a:srgbClr val="1A1A1A"/>
                </a:solidFill>
              </a:defRPr>
            </a:pPr>
            <a:r>
              <a:t>• Ask: “Where can I create a discount?” The General agent answers with a navigation path.</a:t>
            </a:r>
          </a:p>
          <a:p>
            <a:pPr>
              <a:spcAft>
                <a:spcPts val="400"/>
              </a:spcAft>
              <a:defRPr sz="1500">
                <a:solidFill>
                  <a:srgbClr val="1A1A1A"/>
                </a:solidFill>
              </a:defRPr>
            </a:pPr>
            <a:r>
              <a:t>• Ask: “Show me the latest orders.” The Order Management agent answers, and you see tool call progress while it works.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Symptom                           Likely cause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No chat icon                      The assistant is not enabled in step 6, the Zed frontend was not built, or the Twig cache is stale. Run cache:empty-all .</a:t>
            </a:r>
          </a:p>
          <a:p>
            <a:pPr>
              <a:spcAft>
                <a:spcPts val="100"/>
              </a:spcAft>
              <a:defRPr sz="1000">
                <a:solidFill>
                  <a:srgbClr val="1A1A1A"/>
                </a:solidFill>
                <a:latin typeface="Consolas"/>
              </a:defRPr>
            </a:pPr>
            <a:r>
              <a:t>Icon visible, every answer fails  Missing or invalid OpenAI token, or an AI configuration name returns null . Recheck steps 2 and 3.                       </a:t>
            </a:r>
          </a:p>
          <a:p>
            <a:pPr>
              <a:spcAft>
                <a:spcPts val="100"/>
              </a:spcAft>
              <a:defRPr sz="1000">
                <a:solidFill>
                  <a:srgbClr val="1A1A1A"/>
                </a:solidFill>
                <a:latin typeface="Consolas"/>
              </a:defRPr>
            </a:pPr>
            <a:r>
              <a:t>configuration:sync fails          YAML indentation in step 5.                                                                                              </a:t>
            </a:r>
          </a:p>
          <a:p>
            <a:pPr>
              <a:spcAft>
                <a:spcPts val="100"/>
              </a:spcAft>
              <a:defRPr sz="1000">
                <a:solidFill>
                  <a:srgbClr val="1A1A1A"/>
                </a:solidFill>
                <a:latin typeface="Consolas"/>
              </a:defRPr>
            </a:pPr>
            <a:r>
              <a:t>Tool progress never streams       The SSE plugins from step 4 are missing.                                                                                 </a:t>
            </a:r>
          </a:p>
          <a:p>
            <a:pPr>
              <a:spcAft>
                <a:spcPts val="100"/>
              </a:spcAft>
              <a:defRPr sz="1000">
                <a:solidFill>
                  <a:srgbClr val="1A1A1A"/>
                </a:solidFill>
                <a:latin typeface="Consolas"/>
              </a:defRPr>
            </a:pPr>
            <a:r>
              <a:t>Where do I see what the AI did?   The audit log plugins record every prompt and tool call of each AI configuration.</a:t>
            </a:r>
          </a:p>
          <a:p>
            <a:pPr>
              <a:spcAft>
                <a:spcPts val="800"/>
              </a:spcAft>
              <a:defRPr sz="1600">
                <a:solidFill>
                  <a:srgbClr val="1A1A1A"/>
                </a:solidFill>
              </a:defRPr>
            </a:pPr>
            <a:r>
              <a:t>You are now ready for Exercise 19.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02-ai-foundation-agent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19: AI Foundation - Product Creation Agent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custom agent for the Back Office Assistant. The agent creates catalog products from a plain-language description such as “Create a red cotton t-shirt in sizes S, M and L for 19.99 EUR” . It interviews the user for missing data, asks for confirmation, and then calls your tools to create the product.</a:t>
            </a:r>
          </a:p>
          <a:p>
            <a:pPr>
              <a:spcAft>
                <a:spcPts val="800"/>
              </a:spcAft>
              <a:defRPr sz="1600">
                <a:solidFill>
                  <a:srgbClr val="1A1A1A"/>
                </a:solidFill>
              </a:defRPr>
            </a:pPr>
            <a:r>
              <a:t>You will learn how to: - Write an AI tool plugin: name, description, parameters, and execution - Group tools into a tool set plugin - Write an agent plugin that sends a prompt request to AiFoundation and maps the structured answer - Register a dedicated AI configuration with a system prompt - Wire the agent into the Back Office Assistant, including SSE streaming</a:t>
            </a:r>
          </a:p>
          <a:p>
            <a:pPr>
              <a:spcAft>
                <a:spcPts val="800"/>
              </a:spcAft>
              <a:defRPr sz="1600">
                <a:solidFill>
                  <a:srgbClr val="1A1A1A"/>
                </a:solidFill>
              </a:defRPr>
            </a:pPr>
            <a:r>
              <a:t>The business logic that creates products, prices, stock, and images is provided. You focus on the AI Foundation layer.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19: AI Foundation - Product Creation Agent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Official documentation: - Add a custom Back Office Assistant agent - Extend AI Commerce agents with custom toolsets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Back Office Assistant is installed and answers questions. See Setup: Install the Back Office Assistant</a:t>
            </a:r>
          </a:p>
          <a:p>
            <a:pPr>
              <a:spcAft>
                <a:spcPts val="400"/>
              </a:spcAft>
              <a:defRPr sz="1500">
                <a:solidFill>
                  <a:srgbClr val="1A1A1A"/>
                </a:solidFill>
              </a:defRPr>
            </a:pPr>
            <a:r>
              <a:t>• An OpenAI API token is configured in the Back Office</a:t>
            </a:r>
          </a:p>
          <a:p>
            <a:pPr>
              <a:spcAft>
                <a:spcPts val="400"/>
              </a:spcAft>
              <a:defRPr sz="1500">
                <a:solidFill>
                  <a:srgbClr val="1A1A1A"/>
                </a:solidFill>
              </a:defRPr>
            </a:pPr>
            <a:r>
              <a:t>• Access to the private spryker-academy/ai-product-creation repository on GitHub</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ai-product-creation advanced/ai-foundation-agent/skeleton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400" i="1">
                <a:solidFill>
                  <a:srgbClr val="888888"/>
                </a:solidFill>
              </a:defRPr>
            </a:pPr>
            <a:r>
              <a:t>❝ Order matters. Run composer dump-autoload first. Later in this exercise config_ai.php references a SprykerAcademy class, and every console command fails until the class can be autoloaded.</a:t>
            </a:r>
          </a:p>
          <a:p>
            <a:pPr>
              <a:spcAft>
                <a:spcPts val="800"/>
              </a:spcAft>
              <a:defRPr sz="1600">
                <a:solidFill>
                  <a:srgbClr val="1A1A1A"/>
                </a:solidFill>
              </a:defRPr>
            </a:pPr>
            <a:r>
              <a:t>The loader copies the module to src/SprykerAcademy/ , the agent settings to data/configuration/ai_product_creation.configuration.yml , and the tests to tests/SprykerAcademyTest/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an Agent Talks to the AI Model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User message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Intent router --- reads every agent's getDescription() and picks one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ProductCreationAgentPlugin::executeAgent()</a:t>
            </a:r>
          </a:p>
          <a:p>
            <a:pPr>
              <a:spcBef>
                <a:spcPts val="0"/>
              </a:spcBef>
              <a:spcAft>
                <a:spcPts val="0"/>
              </a:spcAft>
            </a:pPr>
            <a:r>
              <a:rPr sz="900">
                <a:solidFill>
                  <a:srgbClr val="2D2D2D"/>
                </a:solidFill>
                <a:latin typeface="Consolas"/>
              </a:rPr>
              <a:t>   |   builds a PromptRequestTransfer:</a:t>
            </a:r>
          </a:p>
          <a:p>
            <a:pPr>
              <a:spcBef>
                <a:spcPts val="0"/>
              </a:spcBef>
              <a:spcAft>
                <a:spcPts val="0"/>
              </a:spcAft>
            </a:pPr>
            <a:r>
              <a:rPr sz="900">
                <a:solidFill>
                  <a:srgbClr val="2D2D2D"/>
                </a:solidFill>
                <a:latin typeface="Consolas"/>
              </a:rPr>
              <a:t>   |   AI configuration name + conversation reference + tool set name + structured message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AiFoundationFacade::prompt()</a:t>
            </a:r>
          </a:p>
          <a:p>
            <a:pPr>
              <a:spcBef>
                <a:spcPts val="0"/>
              </a:spcBef>
              <a:spcAft>
                <a:spcPts val="0"/>
              </a:spcAft>
            </a:pPr>
            <a:r>
              <a:rPr sz="900">
                <a:solidFill>
                  <a:srgbClr val="2D2D2D"/>
                </a:solidFill>
                <a:latin typeface="Consolas"/>
              </a:rPr>
              <a:t>   |   sends system prompt, user message, and tool definitions to the AI provider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AI model &lt;----&gt; your ToolPlugins (the model asks, AiFoundation executes, the result goes back)</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Structured answer (ProductCreationAgentResponseTransfer) --&gt; chat widget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an Agent Talks to the AI Model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Class or file                            What the AI model sees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Tool                ToolPluginInterface                      Only getName() , getDescription() , and getParameters() . Never your PHP code</a:t>
            </a:r>
          </a:p>
          <a:p>
            <a:pPr>
              <a:spcAft>
                <a:spcPts val="100"/>
              </a:spcAft>
              <a:defRPr sz="1000">
                <a:solidFill>
                  <a:srgbClr val="1A1A1A"/>
                </a:solidFill>
                <a:latin typeface="Consolas"/>
              </a:defRPr>
            </a:pPr>
            <a:r>
              <a:t>Tool set            ToolSetPluginInterface                   Nothing. It is a named group the agent requests                              </a:t>
            </a:r>
          </a:p>
          <a:p>
            <a:pPr>
              <a:spcAft>
                <a:spcPts val="100"/>
              </a:spcAft>
              <a:defRPr sz="1000">
                <a:solidFill>
                  <a:srgbClr val="1A1A1A"/>
                </a:solidFill>
                <a:latin typeface="Consolas"/>
              </a:defRPr>
            </a:pPr>
            <a:r>
              <a:t>Agent               BackofficeAssistantAgentPluginInterface  getDescription() is read by the intent router                                </a:t>
            </a:r>
          </a:p>
          <a:p>
            <a:pPr>
              <a:spcAft>
                <a:spcPts val="100"/>
              </a:spcAft>
              <a:defRPr sz="1000">
                <a:solidFill>
                  <a:srgbClr val="1A1A1A"/>
                </a:solidFill>
                <a:latin typeface="Consolas"/>
              </a:defRPr>
            </a:pPr>
            <a:r>
              <a:t>System prompt       ai_product_creation.configuration.yml    The full text. It defines the behavior and conversation flow                 </a:t>
            </a:r>
          </a:p>
          <a:p>
            <a:pPr>
              <a:spcAft>
                <a:spcPts val="100"/>
              </a:spcAft>
              <a:defRPr sz="1000">
                <a:solidFill>
                  <a:srgbClr val="1A1A1A"/>
                </a:solidFill>
                <a:latin typeface="Consolas"/>
              </a:defRPr>
            </a:pPr>
            <a:r>
              <a:t>Structured message  ai_product_creation.transfer.xml         The property descriptions. The model must answer in this shape</a:t>
            </a:r>
          </a:p>
          <a:p>
            <a:pPr>
              <a:spcAft>
                <a:spcPts val="800"/>
              </a:spcAft>
              <a:defRPr sz="1400" i="1">
                <a:solidFill>
                  <a:srgbClr val="888888"/>
                </a:solidFill>
              </a:defRPr>
            </a:pPr>
            <a:r>
              <a:t>❝ The description is the interface. A tool with a vague description is never called, or is called at the wrong time. Write descriptions for a reader who knows nothing about your code.</a:t>
            </a:r>
          </a:p>
          <a:p>
            <a:pPr>
              <a:spcAft>
                <a:spcPts val="800"/>
              </a:spcAft>
              <a:defRPr sz="1600">
                <a:solidFill>
                  <a:srgbClr val="1A1A1A"/>
                </a:solidFill>
              </a:defRPr>
            </a:pPr>
            <a:r>
              <a:t>The module has nine tools. Seven are complete. Look at CreateProductToolPlugin and SetProductStockToolPlugin before you start. They show the full pattern.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Your First Tool</a:t>
            </a:r>
          </a:p>
          <a:p>
            <a:pPr>
              <a:spcAft>
                <a:spcPts val="800"/>
              </a:spcAft>
              <a:defRPr sz="1600">
                <a:solidFill>
                  <a:srgbClr val="1A1A1A"/>
                </a:solidFill>
              </a:defRPr>
            </a:pPr>
            <a:r>
              <a:t>Open src/SprykerAcademy/Zed/AiProductCreation/Communication/Plugin/AiFoundation/Tool/ListTaxSetsToolPlugin.php .</a:t>
            </a:r>
          </a:p>
          <a:p>
            <a:pPr>
              <a:spcAft>
                <a:spcPts val="800"/>
              </a:spcAft>
              <a:defRPr sz="1600">
                <a:solidFill>
                  <a:srgbClr val="1A1A1A"/>
                </a:solidFill>
              </a:defRPr>
            </a:pPr>
            <a:r>
              <a:t>The model needs a valid tax set name before it can call create_product . This tool lists the tax sets. Complete TODO-1 to TODO-4 :</a:t>
            </a:r>
          </a:p>
          <a:p>
            <a:pPr>
              <a:spcAft>
                <a:spcPts val="400"/>
              </a:spcAft>
              <a:defRPr sz="1500">
                <a:solidFill>
                  <a:srgbClr val="1A1A1A"/>
                </a:solidFill>
              </a:defRPr>
            </a:pPr>
            <a:r>
              <a:t>• getName() returns 'list_tax_sets' . The system prompt refers to the tool by this exact name.</a:t>
            </a:r>
          </a:p>
          <a:p>
            <a:pPr>
              <a:spcAft>
                <a:spcPts val="400"/>
              </a:spcAft>
              <a:defRPr sz="1500">
                <a:solidFill>
                  <a:srgbClr val="1A1A1A"/>
                </a:solidFill>
              </a:defRPr>
            </a:pPr>
            <a:r>
              <a:t>• getDescription() explains what the tool returns and why that is useful.</a:t>
            </a:r>
          </a:p>
          <a:p>
            <a:pPr>
              <a:spcAft>
                <a:spcPts val="400"/>
              </a:spcAft>
              <a:defRPr sz="1500">
                <a:solidFill>
                  <a:srgbClr val="1A1A1A"/>
                </a:solidFill>
              </a:defRPr>
            </a:pPr>
            <a:r>
              <a:t>• getParameters() returns an empty array, because the tool needs no input.</a:t>
            </a:r>
          </a:p>
          <a:p>
            <a:pPr>
              <a:spcAft>
                <a:spcPts val="400"/>
              </a:spcAft>
              <a:defRPr sz="1500">
                <a:solidFill>
                  <a:srgbClr val="1A1A1A"/>
                </a:solidFill>
              </a:defRPr>
            </a:pPr>
            <a:r>
              <a:t>• execute() delegates to the business layer: $this-&gt;getBusinessFactory()-&gt;createProductCreationReader()-&gt;listTaxSets($arguments)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Tools return JSON strings. Open ProductCreationReader::listTaxSets() . It returns json_encode([...]) . The model reads that text. On failure, a tool returns a JSON error message instead of throwing, so the model can explain the problem to the user.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Tool Parameters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ApproveProductToolPlugin.php in the same directory. New products are created as draft and stay invisible in the storefront until approved.</a:t>
            </a:r>
          </a:p>
          <a:p>
            <a:pPr>
              <a:spcAft>
                <a:spcPts val="800"/>
              </a:spcAft>
              <a:defRPr sz="1600">
                <a:solidFill>
                  <a:srgbClr val="1A1A1A"/>
                </a:solidFill>
              </a:defRPr>
            </a:pPr>
            <a:r>
              <a:t>Complete TODO-5 . Return two ToolParameter objects from getParameters() :</a:t>
            </a:r>
          </a:p>
          <a:p>
            <a:pPr>
              <a:spcAft>
                <a:spcPts val="100"/>
              </a:spcAft>
              <a:defRPr sz="1000">
                <a:solidFill>
                  <a:srgbClr val="1A1A1A"/>
                </a:solidFill>
                <a:latin typeface="Consolas"/>
              </a:defRPr>
            </a:pPr>
            <a:r>
              <a:t>name    type    required  description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sku     string  yes       Abstract or concrete product SKU                                          </a:t>
            </a:r>
          </a:p>
          <a:p>
            <a:pPr>
              <a:spcAft>
                <a:spcPts val="100"/>
              </a:spcAft>
              <a:defRPr sz="1000">
                <a:solidFill>
                  <a:srgbClr val="1A1A1A"/>
                </a:solidFill>
                <a:latin typeface="Consolas"/>
              </a:defRPr>
            </a:pPr>
            <a:r>
              <a:t>status  string  no        approved , draft , waiting_for_approval , or denied . Defaults to approved</a:t>
            </a:r>
          </a:p>
          <a:p>
            <a:pPr>
              <a:spcBef>
                <a:spcPts val="0"/>
              </a:spcBef>
              <a:spcAft>
                <a:spcPts val="0"/>
              </a:spcAft>
            </a:pPr>
            <a:r>
              <a:rPr sz="900" b="1">
                <a:solidFill>
                  <a:srgbClr val="007020"/>
                </a:solidFill>
                <a:latin typeface="Consolas"/>
              </a:rPr>
              <a:t>new</a:t>
            </a:r>
            <a:r>
              <a:rPr sz="900">
                <a:solidFill>
                  <a:srgbClr val="2D2D2D"/>
                </a:solidFill>
                <a:latin typeface="Consolas"/>
              </a:rPr>
              <a:t> </a:t>
            </a:r>
            <a:r>
              <a:rPr sz="900">
                <a:solidFill>
                  <a:srgbClr val="880000"/>
                </a:solidFill>
                <a:latin typeface="Consolas"/>
              </a:rPr>
              <a:t>T</a:t>
            </a:r>
            <a:r>
              <a:rPr sz="900">
                <a:solidFill>
                  <a:srgbClr val="2D2D2D"/>
                </a:solidFill>
                <a:latin typeface="Consolas"/>
              </a:rPr>
              <a:t>oolParameter(</a:t>
            </a:r>
          </a:p>
          <a:p>
            <a:pPr>
              <a:spcBef>
                <a:spcPts val="0"/>
              </a:spcBef>
              <a:spcAft>
                <a:spcPts val="0"/>
              </a:spcAft>
            </a:pPr>
            <a:r>
              <a:rPr sz="900">
                <a:solidFill>
                  <a:srgbClr val="2D2D2D"/>
                </a:solidFill>
                <a:latin typeface="Consolas"/>
              </a:rPr>
              <a:t>    name</a:t>
            </a:r>
            <a:r>
              <a:rPr sz="900">
                <a:solidFill>
                  <a:srgbClr val="007020"/>
                </a:solidFill>
                <a:latin typeface="Consolas"/>
              </a:rPr>
              <a:t>:</a:t>
            </a:r>
            <a:r>
              <a:rPr sz="900">
                <a:solidFill>
                  <a:srgbClr val="2D2D2D"/>
                </a:solidFill>
                <a:latin typeface="Consolas"/>
              </a:rPr>
              <a:t> </a:t>
            </a:r>
            <a:r>
              <a:rPr sz="900">
                <a:solidFill>
                  <a:srgbClr val="4070A0"/>
                </a:solidFill>
                <a:latin typeface="Consolas"/>
              </a:rPr>
              <a:t>'sku'</a:t>
            </a:r>
            <a:r>
              <a:rPr sz="900">
                <a:solidFill>
                  <a:srgbClr val="007020"/>
                </a:solidFill>
                <a:latin typeface="Consolas"/>
              </a:rPr>
              <a:t>,</a:t>
            </a:r>
          </a:p>
          <a:p>
            <a:pPr>
              <a:spcBef>
                <a:spcPts val="0"/>
              </a:spcBef>
              <a:spcAft>
                <a:spcPts val="0"/>
              </a:spcAft>
            </a:pPr>
            <a:r>
              <a:rPr sz="900">
                <a:solidFill>
                  <a:srgbClr val="2D2D2D"/>
                </a:solidFill>
                <a:latin typeface="Consolas"/>
              </a:rPr>
              <a:t>    type</a:t>
            </a:r>
            <a:r>
              <a:rPr sz="900">
                <a:solidFill>
                  <a:srgbClr val="007020"/>
                </a:solidFill>
                <a:latin typeface="Consolas"/>
              </a:rPr>
              <a:t>:</a:t>
            </a:r>
            <a:r>
              <a:rPr sz="900">
                <a:solidFill>
                  <a:srgbClr val="2D2D2D"/>
                </a:solidFill>
                <a:latin typeface="Consolas"/>
              </a:rPr>
              <a:t> </a:t>
            </a:r>
            <a:r>
              <a:rPr sz="900">
                <a:solidFill>
                  <a:srgbClr val="4070A0"/>
                </a:solidFill>
                <a:latin typeface="Consolas"/>
              </a:rPr>
              <a:t>'string'</a:t>
            </a:r>
            <a:r>
              <a:rPr sz="900">
                <a:solidFill>
                  <a:srgbClr val="007020"/>
                </a:solidFill>
                <a:latin typeface="Consolas"/>
              </a:rPr>
              <a:t>,</a:t>
            </a:r>
          </a:p>
          <a:p>
            <a:pPr>
              <a:spcBef>
                <a:spcPts val="0"/>
              </a:spcBef>
              <a:spcAft>
                <a:spcPts val="0"/>
              </a:spcAft>
            </a:pPr>
            <a:r>
              <a:rPr sz="900">
                <a:solidFill>
                  <a:srgbClr val="2D2D2D"/>
                </a:solidFill>
                <a:latin typeface="Consolas"/>
              </a:rPr>
              <a:t>    description</a:t>
            </a:r>
            <a:r>
              <a:rPr sz="900">
                <a:solidFill>
                  <a:srgbClr val="007020"/>
                </a:solidFill>
                <a:latin typeface="Consolas"/>
              </a:rPr>
              <a:t>:</a:t>
            </a:r>
            <a:r>
              <a:rPr sz="900">
                <a:solidFill>
                  <a:srgbClr val="2D2D2D"/>
                </a:solidFill>
                <a:latin typeface="Consolas"/>
              </a:rPr>
              <a:t> </a:t>
            </a:r>
            <a:r>
              <a:rPr sz="900">
                <a:solidFill>
                  <a:srgbClr val="4070A0"/>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isRequired</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Tool Parameters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Parameter names are a contract. AiFoundation passes the model’s arguments to execute(...$arguments) as a named array. ProductCreationWriter::approveProduct() reads $arguments['sku'] and $arguments['status'] . If the names differ, the value is lost.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Tool Set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src/SprykerAcademy/Zed/AiProductCreation/Communication/Plugin/AiFoundation/ProductCreationToolSetPlugin.php .</a:t>
            </a:r>
          </a:p>
          <a:p>
            <a:pPr>
              <a:spcAft>
                <a:spcPts val="400"/>
              </a:spcAft>
              <a:defRPr sz="1500">
                <a:solidFill>
                  <a:srgbClr val="1A1A1A"/>
                </a:solidFill>
              </a:defRPr>
            </a:pPr>
            <a:r>
              <a:t>• TODO-6: getName() returns AiProductCreationConstants::TOOL_SET_PRODUCT_CREATION .</a:t>
            </a:r>
          </a:p>
          <a:p>
            <a:pPr>
              <a:spcAft>
                <a:spcPts val="400"/>
              </a:spcAft>
              <a:defRPr sz="1500">
                <a:solidFill>
                  <a:srgbClr val="1A1A1A"/>
                </a:solidFill>
              </a:defRPr>
            </a:pPr>
            <a:r>
              <a:t>• TODO-7: getTools() returns all nine tools. Create each one through the factory, for example $this-&gt;getFactory()-&gt;createListCategoriesToolPlugin() . AiProductCreationCommunicationFactory lists all nine create*ToolPlugin() methods.</a:t>
            </a:r>
          </a:p>
          <a:p>
            <a:pPr>
              <a:spcAft>
                <a:spcPts val="800"/>
              </a:spcAft>
              <a:defRPr sz="1400" i="1">
                <a:solidFill>
                  <a:srgbClr val="888888"/>
                </a:solidFill>
              </a:defRPr>
            </a:pPr>
            <a:r>
              <a:t>❝ A tool that is not in a tool set does not exist for the model , even if its class is fully implemented.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The Agent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src/SprykerAcademy/Zed/AiProductCreation/Communication/Plugin/Agent/ProductCreationAgentPlugin.php . Read getDescription() first. The intent router uses this text to decide whether a user message belongs to your agent.</a:t>
            </a:r>
          </a:p>
          <a:p>
            <a:pPr>
              <a:spcAft>
                <a:spcPts val="800"/>
              </a:spcAft>
              <a:defRPr sz="1600">
                <a:solidFill>
                  <a:srgbClr val="1A1A1A"/>
                </a:solidFill>
              </a:defRPr>
            </a:pPr>
            <a:r>
              <a:t>TODO-8: build the PromptRequestTransfer in executeAgent() :</a:t>
            </a:r>
          </a:p>
          <a:p>
            <a:pPr>
              <a:spcAft>
                <a:spcPts val="100"/>
              </a:spcAft>
              <a:defRPr sz="1000">
                <a:solidFill>
                  <a:srgbClr val="1A1A1A"/>
                </a:solidFill>
                <a:latin typeface="Consolas"/>
              </a:defRPr>
            </a:pPr>
            <a:r>
              <a:t>Setter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setAiConfigurationName()    $this-&gt;getConfig()-&gt;getProductCreationAgentAiConfigurationName()                                                         Provider, model, and system prompt </a:t>
            </a:r>
          </a:p>
          <a:p>
            <a:pPr>
              <a:spcAft>
                <a:spcPts val="100"/>
              </a:spcAft>
              <a:defRPr sz="1000">
                <a:solidFill>
                  <a:srgbClr val="1A1A1A"/>
                </a:solidFill>
                <a:latin typeface="Consolas"/>
              </a:defRPr>
            </a:pPr>
            <a:r>
              <a:t>setConversationReference()  From the assistant request                                                                                               Conversation memory across messages</a:t>
            </a:r>
          </a:p>
          <a:p>
            <a:pPr>
              <a:spcAft>
                <a:spcPts val="100"/>
              </a:spcAft>
              <a:defRPr sz="1000">
                <a:solidFill>
                  <a:srgbClr val="1A1A1A"/>
                </a:solidFill>
                <a:latin typeface="Consolas"/>
              </a:defRPr>
            </a:pPr>
            <a:r>
              <a:t>setStructuredMessage()      new ProductCreationAgentResponseTransfer()                                                                               Forces the answer into this shape  </a:t>
            </a:r>
          </a:p>
          <a:p>
            <a:pPr>
              <a:spcAft>
                <a:spcPts val="100"/>
              </a:spcAft>
              <a:defRPr sz="1000">
                <a:solidFill>
                  <a:srgbClr val="1A1A1A"/>
                </a:solidFill>
                <a:latin typeface="Consolas"/>
              </a:defRPr>
            </a:pPr>
            <a:r>
              <a:t>addToolSetName()            AiProductCreationConstants::TOOL_SET_PRODUCT_CREATION                                                                    The tools the model may call       </a:t>
            </a:r>
          </a:p>
          <a:p>
            <a:pPr>
              <a:spcAft>
                <a:spcPts val="100"/>
              </a:spcAft>
              <a:defRPr sz="1000">
                <a:solidFill>
                  <a:srgbClr val="1A1A1A"/>
                </a:solidFill>
                <a:latin typeface="Consolas"/>
              </a:defRPr>
            </a:pPr>
            <a:r>
              <a:t>setPromptMessage()          A PromptMessageTransfer with type AiFoundationConstants::MESSAGE_TYPE_USER , the prompt as content, and the attachments  The user’s message</a:t>
            </a:r>
          </a:p>
          <a:p>
            <a:pPr>
              <a:spcAft>
                <a:spcPts val="800"/>
              </a:spcAft>
              <a:defRPr sz="1600">
                <a:solidFill>
                  <a:srgbClr val="1A1A1A"/>
                </a:solidFill>
              </a:defRPr>
            </a:pPr>
            <a:r>
              <a:t>TODO-9: copy agent , message , and reasoningMessage from the structured answer to the BackofficeAssistantPromptResponseTransfer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The Agent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a structured message? Without it the model answers with free text. With it, AiFoundation asks the provider for JSON that matches the transfer, and you get typed getters. Open ai_product_creation.transfer.xml : the property descriptions are instructions for the model. The agent property lets the model answer Guardrail when the request is off-topic.</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tests/SprykerAcademyTest/Zed/AiProductCreation/</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tests/SprykerAcademyTest/Zed/AiProductCreation/ Exercise19</a:t>
            </a:r>
          </a:p>
          <a:p>
            <a:pPr>
              <a:spcAft>
                <a:spcPts val="800"/>
              </a:spcAft>
              <a:defRPr sz="1600">
                <a:solidFill>
                  <a:srgbClr val="1A1A1A"/>
                </a:solidFill>
              </a:defRPr>
            </a:pPr>
            <a:r>
              <a:t>All 12 tests must pass. They use mocks, so no AI call is made and no token is spent. An error like getName(): Return value must be of type string, none returned points at a TODO you have not completed yet.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plugins exist, but the project does not know them yet.</a:t>
            </a:r>
          </a:p>
          <a:p>
            <a:pPr>
              <a:spcAft>
                <a:spcPts val="800"/>
              </a:spcAft>
              <a:defRPr sz="1600">
                <a:solidFill>
                  <a:srgbClr val="1A1A1A"/>
                </a:solidFill>
              </a:defRPr>
            </a:pPr>
            <a:r>
              <a:t>1. Register the agent. In src/Pyz/Zed/AiCommerce/AiCommerceDependencyProvider.php , add new ProductCreationAgentPlugin() to getBackofficeAssistantAgentPlugins() .</a:t>
            </a:r>
          </a:p>
          <a:p>
            <a:pPr>
              <a:spcAft>
                <a:spcPts val="800"/>
              </a:spcAft>
              <a:defRPr sz="1600">
                <a:solidFill>
                  <a:srgbClr val="1A1A1A"/>
                </a:solidFill>
              </a:defRPr>
            </a:pPr>
            <a:r>
              <a:t>2. Register the tool set. In src/Pyz/Zed/AiFoundation/AiFoundationDependencyProvider.php , add new ProductCreationToolSetPlugin() to getAiToolSetPlugins() .</a:t>
            </a:r>
          </a:p>
          <a:p>
            <a:pPr>
              <a:spcAft>
                <a:spcPts val="800"/>
              </a:spcAft>
              <a:defRPr sz="1600">
                <a:solidFill>
                  <a:srgbClr val="1A1A1A"/>
                </a:solidFill>
              </a:defRPr>
            </a:pPr>
            <a:r>
              <a:t>Both classes need an import: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iProductCreation\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P</a:t>
            </a:r>
            <a:r>
              <a:rPr sz="900">
                <a:solidFill>
                  <a:srgbClr val="2D2D2D"/>
                </a:solidFill>
                <a:latin typeface="Consolas"/>
              </a:rPr>
              <a:t>roductCreationAgentPlugin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iProductCreation\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P</a:t>
            </a:r>
            <a:r>
              <a:rPr sz="900">
                <a:solidFill>
                  <a:srgbClr val="2D2D2D"/>
                </a:solidFill>
                <a:latin typeface="Consolas"/>
              </a:rPr>
              <a:t>roductCreationToolSetPlugin</a:t>
            </a:r>
            <a:r>
              <a:rPr sz="900">
                <a:solidFill>
                  <a:srgbClr val="007020"/>
                </a:solidFill>
                <a:latin typeface="Consolas"/>
              </a:rPr>
              <a:t>;</a:t>
            </a:r>
          </a:p>
          <a:p>
            <a:pPr>
              <a:spcAft>
                <a:spcPts val="800"/>
              </a:spcAft>
              <a:defRPr sz="1600">
                <a:solidFill>
                  <a:srgbClr val="1A1A1A"/>
                </a:solidFill>
              </a:defRPr>
            </a:pPr>
            <a:r>
              <a:t>3. Add the AI configuration. Append to config/Shared/config_ai.php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A</a:t>
            </a:r>
            <a:r>
              <a:rPr sz="900">
                <a:solidFill>
                  <a:srgbClr val="2D2D2D"/>
                </a:solidFill>
                <a:latin typeface="Consolas"/>
              </a:rPr>
              <a:t>iProductCreation\</a:t>
            </a:r>
            <a:r>
              <a:rPr sz="900">
                <a:solidFill>
                  <a:srgbClr val="880000"/>
                </a:solidFill>
                <a:latin typeface="Consolas"/>
              </a:rPr>
              <a:t>A</a:t>
            </a:r>
            <a:r>
              <a:rPr sz="900">
                <a:solidFill>
                  <a:srgbClr val="2D2D2D"/>
                </a:solidFill>
                <a:latin typeface="Consolas"/>
              </a:rPr>
              <a:t>iProductCreationConstants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AI_CONFIGURATION_PRODUCT_CREATION_OPENAI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CONFIGURATION_KEY_SYSTEM_PROMPT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Put the use line at the top of the file with the other imports. The agent reuses the assistant’s token and model settings and brings its own system prompt.</a:t>
            </a:r>
          </a:p>
          <a:p>
            <a:pPr>
              <a:spcAft>
                <a:spcPts val="800"/>
              </a:spcAft>
              <a:defRPr sz="1600">
                <a:solidFill>
                  <a:srgbClr val="1A1A1A"/>
                </a:solidFill>
              </a:defRPr>
            </a:pPr>
            <a:r>
              <a:t>4. Enable SSE streaming. Tool call progress is only streamed for AI configuration names the assistant knows. Add to src/Pyz/Zed/AiCommerce/AiCommerceConfig.php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a:t>
            </a:r>
            <a:r>
              <a:rPr sz="900" b="1">
                <a:solidFill>
                  <a:srgbClr val="007020"/>
                </a:solidFill>
                <a:latin typeface="Consolas"/>
              </a:rPr>
              <a:t>&lt;string&gt;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getBackofficeAssistantSseAiConfigurationNames()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6287E"/>
                </a:solidFill>
                <a:latin typeface="Consolas"/>
              </a:rPr>
              <a:t>array_values</a:t>
            </a:r>
            <a:r>
              <a:rPr sz="900">
                <a:solidFill>
                  <a:srgbClr val="2D2D2D"/>
                </a:solidFill>
                <a:latin typeface="Consolas"/>
              </a:rPr>
              <a:t>(</a:t>
            </a:r>
            <a:r>
              <a:rPr sz="900">
                <a:solidFill>
                  <a:srgbClr val="06287E"/>
                </a:solidFill>
                <a:latin typeface="Consolas"/>
              </a:rPr>
              <a:t>array_filter</a:t>
            </a: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::getBackofficeAssistantSseAiConfigurationNames()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AI_CONFIGURATION_PRODUCT_CREATION_OPENAI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Aft>
                <a:spcPts val="800"/>
              </a:spcAft>
              <a:defRPr sz="1600">
                <a:solidFill>
                  <a:srgbClr val="1A1A1A"/>
                </a:solidFill>
              </a:defRPr>
            </a:pPr>
            <a:r>
              <a:t>Import the constants interface here as well: use SprykerAcademy\Shared\AiProductCreation\AiProductCreationConstants;</a:t>
            </a:r>
          </a:p>
          <a:p>
            <a:pPr>
              <a:spcAft>
                <a:spcPts val="800"/>
              </a:spcAft>
              <a:defRPr sz="1600">
                <a:solidFill>
                  <a:srgbClr val="1A1A1A"/>
                </a:solidFill>
              </a:defRPr>
            </a:pPr>
            <a:r>
              <a:t>5. Apply.</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Where does the system prompt come from? configuration:sync loaded it from data/configuration/ai_product_creation.configuration.yml . You can now edit it live under Configuration &gt; AI Commerce &gt; Back Office Assistant &gt; System Prompts , next to a toggle that enables or disables the agent. Read the prompt: it defines the five conversation phases, including the mandatory confirmation before anything is created.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the Back Office Assistant and select Product Creation , or leave it on Auto.</a:t>
            </a:r>
          </a:p>
          <a:p>
            <a:pPr>
              <a:spcAft>
                <a:spcPts val="400"/>
              </a:spcAft>
              <a:defRPr sz="1500">
                <a:solidFill>
                  <a:srgbClr val="1A1A1A"/>
                </a:solidFill>
              </a:defRPr>
            </a:pPr>
            <a:r>
              <a:t>• Ask: “Which tax sets can I use for a new product?” You see the list_tax_sets tool call stream in, followed by the list. This proves Parts 1, 3, 4, and 5.</a:t>
            </a:r>
          </a:p>
          <a:p>
            <a:pPr>
              <a:spcAft>
                <a:spcPts val="400"/>
              </a:spcAft>
              <a:defRPr sz="1500">
                <a:solidFill>
                  <a:srgbClr val="1A1A1A"/>
                </a:solidFill>
              </a:defRPr>
            </a:pPr>
            <a:r>
              <a:t>• Ask: “Create a red cotton t-shirt in sizes S and M for 19.99 EUR, 50 in stock each.” Answer the agent’s questions and confirm the summary.</a:t>
            </a:r>
          </a:p>
          <a:p>
            <a:pPr>
              <a:spcAft>
                <a:spcPts val="400"/>
              </a:spcAft>
              <a:defRPr sz="1500">
                <a:solidFill>
                  <a:srgbClr val="1A1A1A"/>
                </a:solidFill>
              </a:defRPr>
            </a:pPr>
            <a:r>
              <a:t>• Open the edit link from the final answer. Check the variants, the price, the stock, and the approval status. Approval proves Part 2.</a:t>
            </a:r>
          </a:p>
          <a:p>
            <a:pPr>
              <a:spcAft>
                <a:spcPts val="400"/>
              </a:spcAft>
              <a:defRPr sz="1500">
                <a:solidFill>
                  <a:srgbClr val="1A1A1A"/>
                </a:solidFill>
              </a:defRPr>
            </a:pPr>
            <a:r>
              <a:t>• Optional: let the agent generate a product image. This uses the OpenAI image model and costs more than a chat message.</a:t>
            </a:r>
          </a:p>
          <a:p>
            <a:pPr>
              <a:spcAft>
                <a:spcPts val="800"/>
              </a:spcAft>
              <a:defRPr sz="1400" i="1">
                <a:solidFill>
                  <a:srgbClr val="888888"/>
                </a:solidFill>
              </a:defRPr>
            </a:pPr>
            <a:r>
              <a:t>❝ Searchability: the product appears in storefront search only after Publish and Synchronize ran, as in Exercise 10.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ai-product-creation advanced/ai-foundation-agent/complete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For the complete branch the loader also does the wiring of Part 5 for you. It marks every line it adds with ai-product-creation exercise and removes those lines again when you load the skeleton or another package.</a:t>
            </a:r>
          </a:p>
          <a:p>
            <a:pPr>
              <a:spcAft>
                <a:spcPts val="800"/>
              </a:spcAft>
              <a:defRPr sz="1400" i="1">
                <a:solidFill>
                  <a:srgbClr val="888888"/>
                </a:solidFill>
              </a:defRPr>
            </a:pPr>
            <a:r>
              <a:t>❝ Switching packages: if you wired Part 5 by hand, remove those lines before you load contact-request or supplier . The loader replaces src/SprykerAcademy/ , and the Back Office fails when a registered plugin class no longer exists. The loader warns you about this.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Change the system prompt so the agent always proposes a SKU prefix, and watch the behavior change without a deployment.</a:t>
            </a:r>
          </a:p>
          <a:p>
            <a:pPr>
              <a:spcAft>
                <a:spcPts val="400"/>
              </a:spcAft>
              <a:defRPr sz="1500">
                <a:solidFill>
                  <a:srgbClr val="1A1A1A"/>
                </a:solidFill>
              </a:defRPr>
            </a:pPr>
            <a:r>
              <a:t>• Add a tenth tool, for example get_product to look up an existing product by SKU. Remember the three places: the tool class, the factory, and the tool set.</a:t>
            </a:r>
          </a:p>
          <a:p>
            <a:pPr>
              <a:spcAft>
                <a:spcPts val="400"/>
              </a:spcAft>
              <a:defRPr sz="1500">
                <a:solidFill>
                  <a:srgbClr val="1A1A1A"/>
                </a:solidFill>
              </a:defRPr>
            </a:pPr>
            <a:r>
              <a:t>• Read the audit log to see every prompt and tool call your agent made.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