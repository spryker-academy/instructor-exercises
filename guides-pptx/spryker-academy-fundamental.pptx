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11680"/>
            <a:ext cx="10362895" cy="1371600"/>
          </a:xfrm>
          <a:prstGeom prst="rect">
            <a:avLst/>
          </a:prstGeom>
          <a:noFill/>
        </p:spPr>
        <p:txBody>
          <a:bodyPr wrap="square">
            <a:spAutoFit/>
          </a:bodyPr>
          <a:lstStyle/>
          <a:p>
            <a:pPr algn="ctr">
              <a:defRPr sz="4000" b="1">
                <a:solidFill>
                  <a:srgbClr val="00A89B"/>
                </a:solidFill>
              </a:defRPr>
            </a:pPr>
            <a:r>
              <a:t>Spryker Academy — Fundamental Exercises</a:t>
            </a:r>
          </a:p>
        </p:txBody>
      </p:sp>
      <p:sp>
        <p:nvSpPr>
          <p:cNvPr id="3" name="TextBox 2"/>
          <p:cNvSpPr txBox="1"/>
          <p:nvPr/>
        </p:nvSpPr>
        <p:spPr>
          <a:xfrm>
            <a:off x="914400" y="3474720"/>
            <a:ext cx="10362895" cy="914400"/>
          </a:xfrm>
          <a:prstGeom prst="rect">
            <a:avLst/>
          </a:prstGeom>
          <a:noFill/>
        </p:spPr>
        <p:txBody>
          <a:bodyPr wrap="square">
            <a:spAutoFit/>
          </a:bodyPr>
          <a:lstStyle/>
          <a:p>
            <a:pPr algn="ctr">
              <a:defRPr sz="2000">
                <a:solidFill>
                  <a:srgbClr val="888888"/>
                </a:solidFill>
              </a:defRPr>
            </a:pPr>
            <a:r>
              <a:t>Instructor-Led Training | Backend Development Fundamentals</a:t>
            </a:r>
          </a:p>
        </p:txBody>
      </p:sp>
      <p:sp>
        <p:nvSpPr>
          <p:cNvPr id="4" name="Rectangle 3"/>
          <p:cNvSpPr/>
          <p:nvPr/>
        </p:nvSpPr>
        <p:spPr>
          <a:xfrm>
            <a:off x="3657600" y="475488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822960"/>
          </a:xfrm>
          <a:prstGeom prst="rect">
            <a:avLst/>
          </a:prstGeom>
          <a:noFill/>
        </p:spPr>
        <p:txBody>
          <a:bodyPr wrap="square">
            <a:spAutoFit/>
          </a:bodyPr>
          <a:lstStyle/>
          <a:p>
            <a:pPr>
              <a:defRPr sz="3200" b="1">
                <a:solidFill>
                  <a:srgbClr val="00A89B"/>
                </a:solidFill>
              </a:defRPr>
            </a:pPr>
            <a:r>
              <a:t>What You Will Learn</a:t>
            </a:r>
          </a:p>
        </p:txBody>
      </p:sp>
      <p:sp>
        <p:nvSpPr>
          <p:cNvPr id="3" name="Rectangle 2"/>
          <p:cNvSpPr/>
          <p:nvPr/>
        </p:nvSpPr>
        <p:spPr>
          <a:xfrm>
            <a:off x="640080" y="1143000"/>
            <a:ext cx="27432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Understand Spryker's layered architecture (Yves, Zed, Client, Shared)</a:t>
            </a:r>
          </a:p>
          <a:p>
            <a:pPr>
              <a:spcAft>
                <a:spcPts val="1000"/>
              </a:spcAft>
            </a:pPr>
            <a:r>
              <a:rPr sz="1600" b="1">
                <a:solidFill>
                  <a:srgbClr val="00A89B"/>
                </a:solidFill>
              </a:rPr>
              <a:t>✓  </a:t>
            </a:r>
            <a:r>
              <a:rPr sz="1500">
                <a:solidFill>
                  <a:srgbClr val="1A1A1A"/>
                </a:solidFill>
              </a:rPr>
              <a:t>Build Back Office pages with Controllers, Twig templates, and Navigation</a:t>
            </a:r>
          </a:p>
          <a:p>
            <a:pPr>
              <a:spcAft>
                <a:spcPts val="1000"/>
              </a:spcAft>
            </a:pPr>
            <a:r>
              <a:rPr sz="1600" b="1">
                <a:solidFill>
                  <a:srgbClr val="00A89B"/>
                </a:solidFill>
              </a:rPr>
              <a:t>✓  </a:t>
            </a:r>
            <a:r>
              <a:rPr sz="1500">
                <a:solidFill>
                  <a:srgbClr val="1A1A1A"/>
                </a:solidFill>
              </a:rPr>
              <a:t>Define and generate Data Transfer Objects (DTOs) using Transfer XML</a:t>
            </a:r>
          </a:p>
          <a:p>
            <a:pPr>
              <a:spcAft>
                <a:spcPts val="1000"/>
              </a:spcAft>
            </a:pPr>
            <a:r>
              <a:rPr sz="1600" b="1">
                <a:solidFill>
                  <a:srgbClr val="00A89B"/>
                </a:solidFill>
              </a:rPr>
              <a:t>✓  </a:t>
            </a:r>
            <a:r>
              <a:rPr sz="1500">
                <a:solidFill>
                  <a:srgbClr val="1A1A1A"/>
                </a:solidFill>
              </a:rPr>
              <a:t>Create database schemas with Propel ORM and Schema XML</a:t>
            </a:r>
          </a:p>
        </p:txBody>
      </p:sp>
      <p:sp>
        <p:nvSpPr>
          <p:cNvPr id="5" name="TextBox 4"/>
          <p:cNvSpPr txBox="1"/>
          <p:nvPr/>
        </p:nvSpPr>
        <p:spPr>
          <a:xfrm>
            <a:off x="621792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Implement module layers: Persistence, Business, and Communication</a:t>
            </a:r>
          </a:p>
          <a:p>
            <a:pPr>
              <a:spcAft>
                <a:spcPts val="1000"/>
              </a:spcAft>
            </a:pPr>
            <a:r>
              <a:rPr sz="1600" b="1">
                <a:solidFill>
                  <a:srgbClr val="00A89B"/>
                </a:solidFill>
              </a:rPr>
              <a:t>✓  </a:t>
            </a:r>
            <a:r>
              <a:rPr sz="1500">
                <a:solidFill>
                  <a:srgbClr val="1A1A1A"/>
                </a:solidFill>
              </a:rPr>
              <a:t>Connect Storefront to Back Office via Client/Stub and BackendGateway</a:t>
            </a:r>
          </a:p>
          <a:p>
            <a:pPr>
              <a:spcAft>
                <a:spcPts val="1000"/>
              </a:spcAft>
            </a:pPr>
            <a:r>
              <a:rPr sz="1600" b="1">
                <a:solidFill>
                  <a:srgbClr val="00A89B"/>
                </a:solidFill>
              </a:rPr>
              <a:t>✓  </a:t>
            </a:r>
            <a:r>
              <a:rPr sz="1500">
                <a:solidFill>
                  <a:srgbClr val="1A1A1A"/>
                </a:solidFill>
              </a:rPr>
              <a:t>Manage application configuration with Config classes and DI</a:t>
            </a:r>
          </a:p>
          <a:p>
            <a:pPr>
              <a:spcAft>
                <a:spcPts val="1000"/>
              </a:spcAft>
            </a:pPr>
            <a:r>
              <a:rPr sz="1600" b="1">
                <a:solidFill>
                  <a:srgbClr val="00A89B"/>
                </a:solidFill>
              </a:rPr>
              <a:t>✓  </a:t>
            </a:r>
            <a:r>
              <a:rPr sz="1500">
                <a:solidFill>
                  <a:srgbClr val="1A1A1A"/>
                </a:solidFill>
              </a:rPr>
              <a:t>Extend core Spryker modules following SOLID principles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Spryker Backend Development: Best Practices &amp; Architecture Guide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Spryker Backend Development: Best Practices &amp; Architecture Guide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comprehensive reference building on the exercises you have completed. Every pattern shown here is drawn from real Spryker modules and the training codebase.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Table of Contents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Module Architecture</a:t>
            </a:r>
          </a:p>
          <a:p>
            <a:pPr>
              <a:spcAft>
                <a:spcPts val="400"/>
              </a:spcAft>
              <a:defRPr sz="1500">
                <a:solidFill>
                  <a:srgbClr val="1A1A1A"/>
                </a:solidFill>
              </a:defRPr>
            </a:pPr>
            <a:r>
              <a:t>• Persistence Layer</a:t>
            </a:r>
          </a:p>
          <a:p>
            <a:pPr>
              <a:spcAft>
                <a:spcPts val="400"/>
              </a:spcAft>
              <a:defRPr sz="1500">
                <a:solidFill>
                  <a:srgbClr val="1A1A1A"/>
                </a:solidFill>
              </a:defRPr>
            </a:pPr>
            <a:r>
              <a:t>• Transfer Objects (DTOs)</a:t>
            </a:r>
          </a:p>
          <a:p>
            <a:pPr>
              <a:spcAft>
                <a:spcPts val="400"/>
              </a:spcAft>
              <a:defRPr sz="1500">
                <a:solidFill>
                  <a:srgbClr val="1A1A1A"/>
                </a:solidFill>
              </a:defRPr>
            </a:pPr>
            <a:r>
              <a:t>• Business Layer</a:t>
            </a:r>
          </a:p>
          <a:p>
            <a:pPr>
              <a:spcAft>
                <a:spcPts val="400"/>
              </a:spcAft>
              <a:defRPr sz="1500">
                <a:solidFill>
                  <a:srgbClr val="1A1A1A"/>
                </a:solidFill>
              </a:defRPr>
            </a:pPr>
            <a:r>
              <a:t>• Communication Between Yves and Zed</a:t>
            </a:r>
          </a:p>
          <a:p>
            <a:pPr>
              <a:spcAft>
                <a:spcPts val="400"/>
              </a:spcAft>
              <a:defRPr sz="1500">
                <a:solidFill>
                  <a:srgbClr val="1A1A1A"/>
                </a:solidFill>
              </a:defRPr>
            </a:pPr>
            <a:r>
              <a:t>• DependencyProvider Patterns</a:t>
            </a:r>
          </a:p>
          <a:p>
            <a:pPr>
              <a:spcAft>
                <a:spcPts val="400"/>
              </a:spcAft>
              <a:defRPr sz="1500">
                <a:solidFill>
                  <a:srgbClr val="1A1A1A"/>
                </a:solidFill>
              </a:defRPr>
            </a:pPr>
            <a:r>
              <a:t>• Plugin Architecture</a:t>
            </a:r>
          </a:p>
          <a:p>
            <a:pPr>
              <a:spcAft>
                <a:spcPts val="400"/>
              </a:spcAft>
              <a:defRPr sz="1500">
                <a:solidFill>
                  <a:srgbClr val="1A1A1A"/>
                </a:solidFill>
              </a:defRPr>
            </a:pPr>
            <a:r>
              <a:t>• Query Best Practices &amp; Avoiding N+1</a:t>
            </a:r>
          </a:p>
          <a:p>
            <a:pPr>
              <a:spcAft>
                <a:spcPts val="400"/>
              </a:spcAft>
              <a:defRPr sz="1500">
                <a:solidFill>
                  <a:srgbClr val="1A1A1A"/>
                </a:solidFill>
              </a:defRPr>
            </a:pPr>
            <a:r>
              <a:t>• Testing</a:t>
            </a:r>
          </a:p>
          <a:p>
            <a:pPr>
              <a:spcAft>
                <a:spcPts val="400"/>
              </a:spcAft>
              <a:defRPr sz="1500">
                <a:solidFill>
                  <a:srgbClr val="1A1A1A"/>
                </a:solidFill>
              </a:defRPr>
            </a:pPr>
            <a:r>
              <a:t>• Common Commands Reference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separates concerns across four application layers. Each module lives in a namespace that encodes both the vendor and the layer.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src/</a:t>
            </a:r>
          </a:p>
          <a:p>
            <a:pPr>
              <a:spcBef>
                <a:spcPts val="0"/>
              </a:spcBef>
              <a:spcAft>
                <a:spcPts val="0"/>
              </a:spcAft>
            </a:pPr>
            <a:r>
              <a:rPr sz="900">
                <a:solidFill>
                  <a:srgbClr val="2D2D2D"/>
                </a:solidFill>
                <a:latin typeface="Consolas"/>
              </a:rPr>
              <a:t>└── SprykerAcademy/</a:t>
            </a:r>
          </a:p>
          <a:p>
            <a:pPr>
              <a:spcBef>
                <a:spcPts val="0"/>
              </a:spcBef>
              <a:spcAft>
                <a:spcPts val="0"/>
              </a:spcAft>
            </a:pPr>
            <a:r>
              <a:rPr sz="900">
                <a:solidFill>
                  <a:srgbClr val="2D2D2D"/>
                </a:solidFill>
                <a:latin typeface="Consolas"/>
              </a:rPr>
              <a:t>    ├── Zed/          # Backend: persistence, business logic, Back Office UI</a:t>
            </a:r>
          </a:p>
          <a:p>
            <a:pPr>
              <a:spcBef>
                <a:spcPts val="0"/>
              </a:spcBef>
              <a:spcAft>
                <a:spcPts val="0"/>
              </a:spcAft>
            </a:pPr>
            <a:r>
              <a:rPr sz="900">
                <a:solidFill>
                  <a:srgbClr val="2D2D2D"/>
                </a:solidFill>
                <a:latin typeface="Consolas"/>
              </a:rPr>
              <a:t>    │   └── ContactRequest/</a:t>
            </a:r>
          </a:p>
          <a:p>
            <a:pPr>
              <a:spcBef>
                <a:spcPts val="0"/>
              </a:spcBef>
              <a:spcAft>
                <a:spcPts val="0"/>
              </a:spcAft>
            </a:pPr>
            <a:r>
              <a:rPr sz="900">
                <a:solidFill>
                  <a:srgbClr val="2D2D2D"/>
                </a:solidFill>
                <a:latin typeface="Consolas"/>
              </a:rPr>
              <a:t>    │       ├── Business/</a:t>
            </a:r>
          </a:p>
          <a:p>
            <a:pPr>
              <a:spcBef>
                <a:spcPts val="0"/>
              </a:spcBef>
              <a:spcAft>
                <a:spcPts val="0"/>
              </a:spcAft>
            </a:pPr>
            <a:r>
              <a:rPr sz="900">
                <a:solidFill>
                  <a:srgbClr val="2D2D2D"/>
                </a:solidFill>
                <a:latin typeface="Consolas"/>
              </a:rPr>
              <a:t>    │       │   ├── ContactRequestFacade.php</a:t>
            </a:r>
          </a:p>
          <a:p>
            <a:pPr>
              <a:spcBef>
                <a:spcPts val="0"/>
              </a:spcBef>
              <a:spcAft>
                <a:spcPts val="0"/>
              </a:spcAft>
            </a:pPr>
            <a:r>
              <a:rPr sz="900">
                <a:solidFill>
                  <a:srgbClr val="2D2D2D"/>
                </a:solidFill>
                <a:latin typeface="Consolas"/>
              </a:rPr>
              <a:t>    │       │   ├── ContactRequestFacadeInterface.php</a:t>
            </a:r>
          </a:p>
          <a:p>
            <a:pPr>
              <a:spcBef>
                <a:spcPts val="0"/>
              </a:spcBef>
              <a:spcAft>
                <a:spcPts val="0"/>
              </a:spcAft>
            </a:pPr>
            <a:r>
              <a:rPr sz="900">
                <a:solidFill>
                  <a:srgbClr val="2D2D2D"/>
                </a:solidFill>
                <a:latin typeface="Consolas"/>
              </a:rPr>
              <a:t>    │       │   ├── ContactRequestBusinessFactory.php</a:t>
            </a:r>
          </a:p>
          <a:p>
            <a:pPr>
              <a:spcBef>
                <a:spcPts val="0"/>
              </a:spcBef>
              <a:spcAft>
                <a:spcPts val="0"/>
              </a:spcAft>
            </a:pPr>
            <a:r>
              <a:rPr sz="900">
                <a:solidFill>
                  <a:srgbClr val="2D2D2D"/>
                </a:solidFill>
                <a:latin typeface="Consolas"/>
              </a:rPr>
              <a:t>    │       │   ├── Reader/</a:t>
            </a:r>
          </a:p>
          <a:p>
            <a:pPr>
              <a:spcBef>
                <a:spcPts val="0"/>
              </a:spcBef>
              <a:spcAft>
                <a:spcPts val="0"/>
              </a:spcAft>
            </a:pPr>
            <a:r>
              <a:rPr sz="900">
                <a:solidFill>
                  <a:srgbClr val="2D2D2D"/>
                </a:solidFill>
                <a:latin typeface="Consolas"/>
              </a:rPr>
              <a:t>    │       │   └── Writer/</a:t>
            </a:r>
          </a:p>
          <a:p>
            <a:pPr>
              <a:spcBef>
                <a:spcPts val="0"/>
              </a:spcBef>
              <a:spcAft>
                <a:spcPts val="0"/>
              </a:spcAft>
            </a:pPr>
            <a:r>
              <a:rPr sz="900">
                <a:solidFill>
                  <a:srgbClr val="2D2D2D"/>
                </a:solidFill>
                <a:latin typeface="Consolas"/>
              </a:rPr>
              <a:t>    │       ├── Communication/</a:t>
            </a:r>
          </a:p>
          <a:p>
            <a:pPr>
              <a:spcBef>
                <a:spcPts val="0"/>
              </a:spcBef>
              <a:spcAft>
                <a:spcPts val="0"/>
              </a:spcAft>
            </a:pPr>
            <a:r>
              <a:rPr sz="900">
                <a:solidFill>
                  <a:srgbClr val="2D2D2D"/>
                </a:solidFill>
                <a:latin typeface="Consolas"/>
              </a:rPr>
              <a:t>    │       │   └── Controller/</a:t>
            </a:r>
          </a:p>
          <a:p>
            <a:pPr>
              <a:spcBef>
                <a:spcPts val="0"/>
              </a:spcBef>
              <a:spcAft>
                <a:spcPts val="0"/>
              </a:spcAft>
            </a:pPr>
            <a:r>
              <a:rPr sz="900">
                <a:solidFill>
                  <a:srgbClr val="2D2D2D"/>
                </a:solidFill>
                <a:latin typeface="Consolas"/>
              </a:rPr>
              <a:t>    │       ├── Persistence/</a:t>
            </a:r>
          </a:p>
          <a:p>
            <a:pPr>
              <a:spcBef>
                <a:spcPts val="0"/>
              </a:spcBef>
              <a:spcAft>
                <a:spcPts val="0"/>
              </a:spcAft>
            </a:pPr>
            <a:r>
              <a:rPr sz="900">
                <a:solidFill>
                  <a:srgbClr val="2D2D2D"/>
                </a:solidFill>
                <a:latin typeface="Consolas"/>
              </a:rPr>
              <a:t>    │       │   ├── ContactRequestRepository.php</a:t>
            </a:r>
          </a:p>
          <a:p>
            <a:pPr>
              <a:spcBef>
                <a:spcPts val="0"/>
              </a:spcBef>
              <a:spcAft>
                <a:spcPts val="0"/>
              </a:spcAft>
            </a:pPr>
            <a:r>
              <a:rPr sz="900">
                <a:solidFill>
                  <a:srgbClr val="2D2D2D"/>
                </a:solidFill>
                <a:latin typeface="Consolas"/>
              </a:rPr>
              <a:t>    │       │   ├── ContactRequestEntityManager.php</a:t>
            </a:r>
          </a:p>
          <a:p>
            <a:pPr>
              <a:spcBef>
                <a:spcPts val="0"/>
              </a:spcBef>
              <a:spcAft>
                <a:spcPts val="0"/>
              </a:spcAft>
            </a:pPr>
            <a:r>
              <a:rPr sz="900">
                <a:solidFill>
                  <a:srgbClr val="2D2D2D"/>
                </a:solidFill>
                <a:latin typeface="Consolas"/>
              </a:rPr>
              <a:t>    │       │   ├── ContactRequestPersistenceFactory.php</a:t>
            </a:r>
          </a:p>
          <a:p>
            <a:pPr>
              <a:spcBef>
                <a:spcPts val="0"/>
              </a:spcBef>
              <a:spcAft>
                <a:spcPts val="0"/>
              </a:spcAft>
            </a:pPr>
            <a:r>
              <a:rPr sz="900">
                <a:solidFill>
                  <a:srgbClr val="2D2D2D"/>
                </a:solidFill>
                <a:latin typeface="Consolas"/>
              </a:rPr>
              <a:t>    │       │   ├── Mapper/</a:t>
            </a:r>
          </a:p>
          <a:p>
            <a:pPr>
              <a:spcBef>
                <a:spcPts val="0"/>
              </a:spcBef>
              <a:spcAft>
                <a:spcPts val="0"/>
              </a:spcAft>
            </a:pPr>
            <a:r>
              <a:rPr sz="900">
                <a:solidFill>
                  <a:srgbClr val="2D2D2D"/>
                </a:solidFill>
                <a:latin typeface="Consolas"/>
              </a:rPr>
              <a:t>    │       │   └── Propel/Schema/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       └── Presentation/</a:t>
            </a:r>
          </a:p>
          <a:p>
            <a:pPr>
              <a:spcBef>
                <a:spcPts val="0"/>
              </a:spcBef>
              <a:spcAft>
                <a:spcPts val="0"/>
              </a:spcAft>
            </a:pPr>
            <a:r>
              <a:rPr sz="900">
                <a:solidFill>
                  <a:srgbClr val="2D2D2D"/>
                </a:solidFill>
                <a:latin typeface="Consolas"/>
              </a:rPr>
              <a:t>    ├── Yves/         # Storefront: rendering, routing</a:t>
            </a:r>
          </a:p>
          <a:p>
            <a:pPr>
              <a:spcBef>
                <a:spcPts val="0"/>
              </a:spcBef>
              <a:spcAft>
                <a:spcPts val="0"/>
              </a:spcAft>
            </a:pPr>
            <a:r>
              <a:rPr sz="900">
                <a:solidFill>
                  <a:srgbClr val="2D2D2D"/>
                </a:solidFill>
                <a:latin typeface="Consolas"/>
              </a:rPr>
              <a:t>    │   └── ContactRequestPage/</a:t>
            </a:r>
          </a:p>
          <a:p>
            <a:pPr>
              <a:spcBef>
                <a:spcPts val="0"/>
              </a:spcBef>
              <a:spcAft>
                <a:spcPts val="0"/>
              </a:spcAft>
            </a:pPr>
            <a:r>
              <a:rPr sz="900">
                <a:solidFill>
                  <a:srgbClr val="2D2D2D"/>
                </a:solidFill>
                <a:latin typeface="Consolas"/>
              </a:rPr>
              <a:t>    │       ├── Controller/</a:t>
            </a:r>
          </a:p>
          <a:p>
            <a:pPr>
              <a:spcBef>
                <a:spcPts val="0"/>
              </a:spcBef>
              <a:spcAft>
                <a:spcPts val="0"/>
              </a:spcAft>
            </a:pPr>
            <a:r>
              <a:rPr sz="900">
                <a:solidFill>
                  <a:srgbClr val="2D2D2D"/>
                </a:solidFill>
                <a:latin typeface="Consolas"/>
              </a:rPr>
              <a:t>    │       ├── Plugin/Router/</a:t>
            </a:r>
          </a:p>
          <a:p>
            <a:pPr>
              <a:spcBef>
                <a:spcPts val="0"/>
              </a:spcBef>
              <a:spcAft>
                <a:spcPts val="0"/>
              </a:spcAft>
            </a:pPr>
            <a:r>
              <a:rPr sz="900">
                <a:solidFill>
                  <a:srgbClr val="2D2D2D"/>
                </a:solidFill>
                <a:latin typeface="Consolas"/>
              </a:rPr>
              <a:t>    │       └── Theme/</a:t>
            </a:r>
          </a:p>
          <a:p>
            <a:pPr>
              <a:spcBef>
                <a:spcPts val="0"/>
              </a:spcBef>
              <a:spcAft>
                <a:spcPts val="0"/>
              </a:spcAft>
            </a:pPr>
            <a:r>
              <a:rPr sz="900">
                <a:solidFill>
                  <a:srgbClr val="2D2D2D"/>
                </a:solidFill>
                <a:latin typeface="Consolas"/>
              </a:rPr>
              <a:t>    ├── Client/       # Bridge between Yves and Zed</a:t>
            </a:r>
          </a:p>
          <a:p>
            <a:pPr>
              <a:spcBef>
                <a:spcPts val="0"/>
              </a:spcBef>
              <a:spcAft>
                <a:spcPts val="0"/>
              </a:spcAft>
            </a:pPr>
            <a:r>
              <a:rPr sz="900">
                <a:solidFill>
                  <a:srgbClr val="2D2D2D"/>
                </a:solidFill>
                <a:latin typeface="Consolas"/>
              </a:rPr>
              <a:t>    │   └── ContactRequest/</a:t>
            </a:r>
          </a:p>
          <a:p>
            <a:pPr>
              <a:spcBef>
                <a:spcPts val="0"/>
              </a:spcBef>
              <a:spcAft>
                <a:spcPts val="0"/>
              </a:spcAft>
            </a:pPr>
            <a:r>
              <a:rPr sz="900">
                <a:solidFill>
                  <a:srgbClr val="2D2D2D"/>
                </a:solidFill>
                <a:latin typeface="Consolas"/>
              </a:rPr>
              <a:t>    │       └── Stub/</a:t>
            </a:r>
          </a:p>
          <a:p>
            <a:pPr>
              <a:spcBef>
                <a:spcPts val="0"/>
              </a:spcBef>
              <a:spcAft>
                <a:spcPts val="0"/>
              </a:spcAft>
            </a:pPr>
            <a:r>
              <a:rPr sz="900">
                <a:solidFill>
                  <a:srgbClr val="2D2D2D"/>
                </a:solidFill>
                <a:latin typeface="Consolas"/>
              </a:rPr>
              <a:t>    └── Shared/       # Transfer definitions, constants</a:t>
            </a:r>
          </a:p>
          <a:p>
            <a:pPr>
              <a:spcBef>
                <a:spcPts val="0"/>
              </a:spcBef>
              <a:spcAft>
                <a:spcPts val="0"/>
              </a:spcAft>
            </a:pPr>
            <a:r>
              <a:rPr sz="900">
                <a:solidFill>
                  <a:srgbClr val="2D2D2D"/>
                </a:solidFill>
                <a:latin typeface="Consolas"/>
              </a:rPr>
              <a:t>        └── ContactRequest/Transfer/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Layer Responsibilities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Layer   Namespace                   Responsibility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Zed     Namespace\Zed\Module\       Business logic, persistence, Back Office controllers, console commands</a:t>
            </a:r>
          </a:p>
          <a:p>
            <a:pPr>
              <a:spcAft>
                <a:spcPts val="100"/>
              </a:spcAft>
              <a:defRPr sz="1000">
                <a:solidFill>
                  <a:srgbClr val="1A1A1A"/>
                </a:solidFill>
                <a:latin typeface="Consolas"/>
              </a:defRPr>
            </a:pPr>
            <a:r>
              <a:t>Yves    Namespace\Yves\ModulePage\  Storefront controllers, Twig templates, routing                       </a:t>
            </a:r>
          </a:p>
          <a:p>
            <a:pPr>
              <a:spcAft>
                <a:spcPts val="100"/>
              </a:spcAft>
              <a:defRPr sz="1000">
                <a:solidFill>
                  <a:srgbClr val="1A1A1A"/>
                </a:solidFill>
                <a:latin typeface="Consolas"/>
              </a:defRPr>
            </a:pPr>
            <a:r>
              <a:t>Client  Namespace\Client\Module\    HTTP calls to Zed via ZedRequestClient                                </a:t>
            </a:r>
          </a:p>
          <a:p>
            <a:pPr>
              <a:spcAft>
                <a:spcPts val="100"/>
              </a:spcAft>
              <a:defRPr sz="1000">
                <a:solidFill>
                  <a:srgbClr val="1A1A1A"/>
                </a:solidFill>
                <a:latin typeface="Consolas"/>
              </a:defRPr>
            </a:pPr>
            <a:r>
              <a:t>Shared  Namespace\Shared\Module\    Transfer XMLs, constants visible to all layers</a:t>
            </a:r>
          </a:p>
          <a:p>
            <a:pPr>
              <a:spcBef>
                <a:spcPts val="1200"/>
              </a:spcBef>
              <a:spcAft>
                <a:spcPts val="600"/>
              </a:spcAft>
              <a:defRPr sz="2000" b="1">
                <a:solidFill>
                  <a:srgbClr val="1A1A1A"/>
                </a:solidFill>
              </a:defRPr>
            </a:pPr>
            <a:r>
              <a:t>Key Rule: Yves Must Never Access the Database Directly</a:t>
            </a:r>
          </a:p>
          <a:p>
            <a:pPr>
              <a:spcAft>
                <a:spcPts val="800"/>
              </a:spcAft>
              <a:defRPr sz="1600">
                <a:solidFill>
                  <a:srgbClr val="1A1A1A"/>
                </a:solidFill>
              </a:defRPr>
            </a:pPr>
            <a:r>
              <a:t>Yves communicates with Zed exclusively through the Client layer:</a:t>
            </a:r>
          </a:p>
          <a:p>
            <a:pPr>
              <a:spcBef>
                <a:spcPts val="0"/>
              </a:spcBef>
              <a:spcAft>
                <a:spcPts val="0"/>
              </a:spcAft>
            </a:pPr>
            <a:r>
              <a:rPr sz="900">
                <a:solidFill>
                  <a:srgbClr val="2D2D2D"/>
                </a:solidFill>
                <a:latin typeface="Consolas"/>
              </a:rPr>
              <a:t>Yves Controller</a:t>
            </a:r>
          </a:p>
          <a:p>
            <a:pPr>
              <a:spcBef>
                <a:spcPts val="0"/>
              </a:spcBef>
              <a:spcAft>
                <a:spcPts val="0"/>
              </a:spcAft>
            </a:pPr>
            <a:r>
              <a:rPr sz="900">
                <a:solidFill>
                  <a:srgbClr val="2D2D2D"/>
                </a:solidFill>
                <a:latin typeface="Consolas"/>
              </a:rPr>
              <a:t>  -&gt; Client (ContactRequestClient)</a:t>
            </a:r>
          </a:p>
          <a:p>
            <a:pPr>
              <a:spcBef>
                <a:spcPts val="0"/>
              </a:spcBef>
              <a:spcAft>
                <a:spcPts val="0"/>
              </a:spcAft>
            </a:pPr>
            <a:r>
              <a:rPr sz="900">
                <a:solidFill>
                  <a:srgbClr val="2D2D2D"/>
                </a:solidFill>
                <a:latin typeface="Consolas"/>
              </a:rPr>
              <a:t>    -&gt; Stub (ContactRequestStub)</a:t>
            </a:r>
          </a:p>
          <a:p>
            <a:pPr>
              <a:spcBef>
                <a:spcPts val="0"/>
              </a:spcBef>
              <a:spcAft>
                <a:spcPts val="0"/>
              </a:spcAft>
            </a:pPr>
            <a:r>
              <a:rPr sz="900">
                <a:solidFill>
                  <a:srgbClr val="2D2D2D"/>
                </a:solidFill>
                <a:latin typeface="Consolas"/>
              </a:rPr>
              <a:t>      -&gt; ZedRequestClient::call('/contact-request/gateway/find-contact-request', $transfer)</a:t>
            </a:r>
          </a:p>
          <a:p>
            <a:pPr>
              <a:spcBef>
                <a:spcPts val="0"/>
              </a:spcBef>
              <a:spcAft>
                <a:spcPts val="0"/>
              </a:spcAft>
            </a:pPr>
            <a:r>
              <a:rPr sz="900">
                <a:solidFill>
                  <a:srgbClr val="2D2D2D"/>
                </a:solidFill>
                <a:latin typeface="Consolas"/>
              </a:rPr>
              <a:t>        -&gt; Zed GatewayController</a:t>
            </a:r>
          </a:p>
          <a:p>
            <a:pPr>
              <a:spcBef>
                <a:spcPts val="0"/>
              </a:spcBef>
              <a:spcAft>
                <a:spcPts val="0"/>
              </a:spcAft>
            </a:pPr>
            <a:r>
              <a:rPr sz="900">
                <a:solidFill>
                  <a:srgbClr val="2D2D2D"/>
                </a:solidFill>
                <a:latin typeface="Consolas"/>
              </a:rPr>
              <a:t>          -&gt; Facade -&gt; Business Logic -&gt; Repository/EntityManager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2.1 Repository vs EntityManager</a:t>
            </a:r>
          </a:p>
          <a:p>
            <a:pPr>
              <a:spcAft>
                <a:spcPts val="800"/>
              </a:spcAft>
              <a:defRPr sz="1600">
                <a:solidFill>
                  <a:srgbClr val="1A1A1A"/>
                </a:solidFill>
              </a:defRPr>
            </a:pPr>
            <a:r>
              <a:t>Repository = reads only. EntityManager = writes only. This separation ensures clean architecture and testability.</a:t>
            </a:r>
          </a:p>
          <a:p>
            <a:pPr>
              <a:spcAft>
                <a:spcPts val="800"/>
              </a:spcAft>
              <a:defRPr sz="1600">
                <a:solidFill>
                  <a:srgbClr val="1A1A1A"/>
                </a:solidFill>
              </a:defRPr>
            </a:pPr>
            <a:r>
              <a:t>Repository (reads):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elloWorldRepository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bstractRepository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elloWorldRepositoryInterface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M</a:t>
            </a:r>
            <a:r>
              <a:rPr sz="900">
                <a:solidFill>
                  <a:srgbClr val="2D2D2D"/>
                </a:solidFill>
                <a:latin typeface="Consolas"/>
              </a:rPr>
              <a:t>essageCriteriaTransfer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880000"/>
                </a:solidFill>
                <a:latin typeface="Consolas"/>
              </a:rPr>
              <a:t>M</a:t>
            </a:r>
            <a:r>
              <a:rPr sz="900">
                <a:solidFill>
                  <a:srgbClr val="2D2D2D"/>
                </a:solidFill>
                <a:latin typeface="Consolas"/>
              </a:rPr>
              <a:t>essageTransfer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-&gt;getFactory()-&gt;createContactRequestQuery()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-&gt;getIdContactRequest())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-&gt;findOneByIdContactRequest(</a:t>
            </a:r>
            <a:r>
              <a:rPr sz="900">
                <a:solidFill>
                  <a:srgbClr val="19177C"/>
                </a:solidFill>
                <a:latin typeface="Consolas"/>
              </a:rPr>
              <a:t>$contactRequestCriteria</a:t>
            </a:r>
            <a:r>
              <a:rPr sz="900">
                <a:solidFill>
                  <a:srgbClr val="2D2D2D"/>
                </a:solidFill>
                <a:latin typeface="Consolas"/>
              </a:rPr>
              <a:t>-&gt;getIdContactRequest())</a:t>
            </a:r>
            <a:r>
              <a:rPr sz="900">
                <a:solidFill>
                  <a:srgbClr val="007020"/>
                </a:solidFill>
                <a:latin typeface="Consolas"/>
              </a:rPr>
              <a:t>;</a:t>
            </a:r>
          </a:p>
          <a:p>
            <a:pPr>
              <a:spcBef>
                <a:spcPts val="0"/>
              </a:spcBef>
              <a:spcAft>
                <a:spcPts val="0"/>
              </a:spcAft>
            </a:pPr>
            <a:r>
              <a:rPr sz="900">
                <a:solidFill>
                  <a:srgbClr val="2D2D2D"/>
                </a:solidFill>
                <a:latin typeface="Consolas"/>
              </a:rPr>
              <a:t>        } </a:t>
            </a:r>
            <a:r>
              <a:rPr sz="900" b="1">
                <a:solidFill>
                  <a:srgbClr val="007020"/>
                </a:solidFill>
                <a:latin typeface="Consolas"/>
              </a:rPr>
              <a:t>elseif</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-&gt;getMessage())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-&gt;filterByMessage(</a:t>
            </a:r>
          </a:p>
          <a:p>
            <a:pPr>
              <a:spcBef>
                <a:spcPts val="0"/>
              </a:spcBef>
              <a:spcAft>
                <a:spcPts val="0"/>
              </a:spcAft>
            </a:pPr>
            <a:r>
              <a:rPr sz="900">
                <a:solidFill>
                  <a:srgbClr val="2D2D2D"/>
                </a:solidFill>
                <a:latin typeface="Consolas"/>
              </a:rPr>
              <a:t>                </a:t>
            </a:r>
            <a:r>
              <a:rPr sz="900">
                <a:solidFill>
                  <a:srgbClr val="06287E"/>
                </a:solidFill>
                <a:latin typeface="Consolas"/>
              </a:rPr>
              <a:t>sprintf</a:t>
            </a:r>
            <a:r>
              <a:rPr sz="900">
                <a:solidFill>
                  <a:srgbClr val="2D2D2D"/>
                </a:solidFill>
                <a:latin typeface="Consolas"/>
              </a:rPr>
              <a:t>(</a:t>
            </a:r>
            <a:r>
              <a:rPr sz="900">
                <a:solidFill>
                  <a:srgbClr val="4070A0"/>
                </a:solidFill>
                <a:latin typeface="Consolas"/>
              </a:rPr>
              <a:t>'%%%s%%'</a:t>
            </a:r>
            <a:r>
              <a:rPr sz="900">
                <a:solidFill>
                  <a:srgbClr val="007020"/>
                </a:solidFill>
                <a:latin typeface="Consolas"/>
              </a:rPr>
              <a:t>,</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-&gt;getMessage())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C</a:t>
            </a:r>
            <a:r>
              <a:rPr sz="900">
                <a:solidFill>
                  <a:srgbClr val="2D2D2D"/>
                </a:solidFill>
                <a:latin typeface="Consolas"/>
              </a:rPr>
              <a:t>riteria::</a:t>
            </a:r>
            <a:r>
              <a:rPr sz="900">
                <a:solidFill>
                  <a:srgbClr val="880000"/>
                </a:solidFill>
                <a:latin typeface="Consolas"/>
              </a:rPr>
              <a:t>LIKE</a:t>
            </a:r>
            <a:r>
              <a:rPr sz="900">
                <a:solidFill>
                  <a:srgbClr val="007020"/>
                </a:solidFill>
                <a:latin typeface="Consolas"/>
              </a:rPr>
              <a:t>,</a:t>
            </a:r>
          </a:p>
          <a:p>
            <a:pPr>
              <a:spcBef>
                <a:spcPts val="0"/>
              </a:spcBef>
              <a:spcAft>
                <a:spcPts val="0"/>
              </a:spcAft>
            </a:pPr>
            <a:r>
              <a:rPr sz="900">
                <a:solidFill>
                  <a:srgbClr val="2D2D2D"/>
                </a:solidFill>
                <a:latin typeface="Consolas"/>
              </a:rPr>
              <a:t>            )-&gt;findOne()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666666"/>
                </a:solidFill>
                <a:latin typeface="Consolas"/>
              </a:rPr>
              <a:t>!</a:t>
            </a:r>
            <a:r>
              <a:rPr sz="900">
                <a:solidFill>
                  <a:srgbClr val="19177C"/>
                </a:solidFill>
                <a:latin typeface="Consolas"/>
              </a:rPr>
              <a:t>$contactRequestEntity</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-&gt;mapEntityToContactRequestTransfer(</a:t>
            </a:r>
            <a:r>
              <a:rPr sz="900">
                <a:solidFill>
                  <a:srgbClr val="19177C"/>
                </a:solidFill>
                <a:latin typeface="Consolas"/>
              </a:rPr>
              <a:t>$contactRequestEntity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essageTransfer())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EntityManager (writes):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elloWorldEntityManager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bstractEntityManager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elloWorldEntityManagerInterface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a:t>
            </a:r>
            <a:r>
              <a:rPr sz="900">
                <a:solidFill>
                  <a:srgbClr val="880000"/>
                </a:solidFill>
                <a:latin typeface="Consolas"/>
              </a:rPr>
              <a:t>M</a:t>
            </a:r>
            <a:r>
              <a:rPr sz="900">
                <a:solidFill>
                  <a:srgbClr val="2D2D2D"/>
                </a:solidFill>
                <a:latin typeface="Consolas"/>
              </a:rPr>
              <a:t>essageTransfer </a:t>
            </a:r>
            <a:r>
              <a:rPr sz="900">
                <a:solidFill>
                  <a:srgbClr val="19177C"/>
                </a:solidFill>
                <a:latin typeface="Consolas"/>
              </a:rPr>
              <a:t>$contactRequestTransfer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-&gt;mapContactRequestTransferToEntity(</a:t>
            </a:r>
            <a:r>
              <a:rPr sz="900">
                <a:solidFill>
                  <a:srgbClr val="19177C"/>
                </a:solidFill>
                <a:latin typeface="Consolas"/>
              </a:rPr>
              <a:t>$contactRequestTransfer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-&gt;save()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-&gt;mapEntityToContactRequestTransfer(</a:t>
            </a:r>
            <a:r>
              <a:rPr sz="900">
                <a:solidFill>
                  <a:srgbClr val="19177C"/>
                </a:solidFill>
                <a:latin typeface="Consolas"/>
              </a:rPr>
              <a:t>$contactRequestEntity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essageTransfer())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2.2 PersistenceFactory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All Propel query objects and mappers are created through the PersistenceFactory. Never instantiate them directly.</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elloWorldPersistenceFactory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bstractPersistenceFactory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createContactRequestQuery()</a:t>
            </a:r>
            <a:r>
              <a:rPr sz="900">
                <a:solidFill>
                  <a:srgbClr val="007020"/>
                </a:solidFill>
                <a:latin typeface="Consolas"/>
              </a:rPr>
              <a:t>:</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yzMessageQuery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yzMessageQuery::create()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Always use ::create(), never new</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createContactRequestMapper()</a:t>
            </a:r>
            <a:r>
              <a:rPr sz="900">
                <a:solidFill>
                  <a:srgbClr val="007020"/>
                </a:solidFill>
                <a:latin typeface="Consolas"/>
              </a:rPr>
              <a:t>:</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essageMapper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essageMapper()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2.2 PersistenceFactory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When providing queries to the Communication layer (e.g., for GUI tables), use $container-&gt;factory() to get a fresh instance each time:</a:t>
            </a:r>
          </a:p>
          <a:p>
            <a:pPr>
              <a:spcBef>
                <a:spcPts val="0"/>
              </a:spcBef>
              <a:spcAft>
                <a:spcPts val="0"/>
              </a:spcAft>
            </a:pP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PROPEL_QUERY_SUPPLIER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-&gt;factory(</a:t>
            </a:r>
            <a:r>
              <a:rPr sz="900" b="1">
                <a:solidFill>
                  <a:srgbClr val="007020"/>
                </a:solidFill>
                <a:latin typeface="Consolas"/>
              </a:rPr>
              <a:t>fn</a:t>
            </a:r>
            <a:r>
              <a:rPr sz="900">
                <a:solidFill>
                  <a:srgbClr val="2D2D2D"/>
                </a:solidFill>
                <a:latin typeface="Consolas"/>
              </a:rPr>
              <a:t> () =&gt; </a:t>
            </a:r>
            <a:r>
              <a:rPr sz="900">
                <a:solidFill>
                  <a:srgbClr val="880000"/>
                </a:solidFill>
                <a:latin typeface="Consolas"/>
              </a:rPr>
              <a:t>P</a:t>
            </a:r>
            <a:r>
              <a:rPr sz="900">
                <a:solidFill>
                  <a:srgbClr val="2D2D2D"/>
                </a:solidFill>
                <a:latin typeface="Consolas"/>
              </a:rPr>
              <a:t>yzSupplierQuery::create())</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Mappers are dedicated classes in Persistence/Mapper/ that contain no business logic - only field mapping.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upplierMapper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Transfer -&gt; Entity: use modifiedToArray() so only set fields are mapped</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mapSupplierTransferToSupplierEntity(</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r>
              <a:rPr sz="900">
                <a:solidFill>
                  <a:srgbClr val="19177C"/>
                </a:solidFill>
                <a:latin typeface="Consolas"/>
              </a:rPr>
              <a:t>$supplierEntity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$supplierEntity</a:t>
            </a:r>
            <a:r>
              <a:rPr sz="900">
                <a:solidFill>
                  <a:srgbClr val="2D2D2D"/>
                </a:solidFill>
                <a:latin typeface="Consolas"/>
              </a:rPr>
              <a:t>-&gt;fromArray(</a:t>
            </a:r>
            <a:r>
              <a:rPr sz="900">
                <a:solidFill>
                  <a:srgbClr val="19177C"/>
                </a:solidFill>
                <a:latin typeface="Consolas"/>
              </a:rPr>
              <a:t>$supplierTransfer</a:t>
            </a:r>
            <a:r>
              <a:rPr sz="900">
                <a:solidFill>
                  <a:srgbClr val="2D2D2D"/>
                </a:solidFill>
                <a:latin typeface="Consolas"/>
              </a:rPr>
              <a:t>-&gt;modifiedToArray())</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Entity -&gt; Transfer: use toArray() + ignoreMissingProperties=true</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mapSupplierEntityToSupplierTransfer(</a:t>
            </a:r>
          </a:p>
          <a:p>
            <a:pPr>
              <a:spcBef>
                <a:spcPts val="0"/>
              </a:spcBef>
              <a:spcAft>
                <a:spcPts val="0"/>
              </a:spcAft>
            </a:pP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r>
              <a:rPr sz="900">
                <a:solidFill>
                  <a:srgbClr val="19177C"/>
                </a:solidFill>
                <a:latin typeface="Consolas"/>
              </a:rPr>
              <a:t>$supplierEntity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$supplierTransfer</a:t>
            </a:r>
            <a:r>
              <a:rPr sz="900">
                <a:solidFill>
                  <a:srgbClr val="2D2D2D"/>
                </a:solidFill>
                <a:latin typeface="Consolas"/>
              </a:rPr>
              <a:t>-&gt;fromArray(</a:t>
            </a:r>
            <a:r>
              <a:rPr sz="900">
                <a:solidFill>
                  <a:srgbClr val="19177C"/>
                </a:solidFill>
                <a:latin typeface="Consolas"/>
              </a:rPr>
              <a:t>$supplierEntity</a:t>
            </a:r>
            <a:r>
              <a:rPr sz="900">
                <a:solidFill>
                  <a:srgbClr val="2D2D2D"/>
                </a:solidFill>
                <a:latin typeface="Consolas"/>
              </a:rPr>
              <a:t>-&gt;toArray()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true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Important: Use modifiedToArray() (not toArray() ) when writing to the database. This ensures only explicitly-set properties are written, preventing accidental overwriting of defaults or existing values.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2.4 Propel Schema Conventions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&lt;database</a:t>
            </a:r>
            <a:r>
              <a:rPr sz="900">
                <a:solidFill>
                  <a:srgbClr val="007020"/>
                </a:solidFill>
                <a:latin typeface="Consolas"/>
              </a:rPr>
              <a:t> name=</a:t>
            </a:r>
            <a:r>
              <a:rPr sz="900">
                <a:solidFill>
                  <a:srgbClr val="4070A0"/>
                </a:solidFill>
                <a:latin typeface="Consolas"/>
              </a:rPr>
              <a:t>"zed"</a:t>
            </a:r>
          </a:p>
          <a:p>
            <a:pPr>
              <a:spcBef>
                <a:spcPts val="0"/>
              </a:spcBef>
              <a:spcAft>
                <a:spcPts val="0"/>
              </a:spcAft>
            </a:pPr>
            <a:r>
              <a:rPr sz="900">
                <a:solidFill>
                  <a:srgbClr val="007020"/>
                </a:solidFill>
                <a:latin typeface="Consolas"/>
              </a:rPr>
              <a:t>          namespace=</a:t>
            </a:r>
            <a:r>
              <a:rPr sz="900">
                <a:solidFill>
                  <a:srgbClr val="4070A0"/>
                </a:solidFill>
                <a:latin typeface="Consolas"/>
              </a:rPr>
              <a:t>"Orm\Zed\ContactRequest\Persistence"</a:t>
            </a:r>
          </a:p>
          <a:p>
            <a:pPr>
              <a:spcBef>
                <a:spcPts val="0"/>
              </a:spcBef>
              <a:spcAft>
                <a:spcPts val="0"/>
              </a:spcAft>
            </a:pPr>
            <a:r>
              <a:rPr sz="900">
                <a:solidFill>
                  <a:srgbClr val="007020"/>
                </a:solidFill>
                <a:latin typeface="Consolas"/>
              </a:rPr>
              <a:t>          package=</a:t>
            </a:r>
            <a:r>
              <a:rPr sz="900">
                <a:solidFill>
                  <a:srgbClr val="4070A0"/>
                </a:solidFill>
                <a:latin typeface="Consolas"/>
              </a:rPr>
              <a:t>"src.Orm.Zed.ContactRequest.Persistence"</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"pyz_contact_request"</a:t>
            </a:r>
            <a:r>
              <a:rPr sz="900">
                <a:solidFill>
                  <a:srgbClr val="007020"/>
                </a:solidFill>
                <a:latin typeface="Consolas"/>
              </a:rPr>
              <a:t> idMethod=</a:t>
            </a:r>
            <a:r>
              <a:rPr sz="900">
                <a:solidFill>
                  <a:srgbClr val="4070A0"/>
                </a:solidFill>
                <a:latin typeface="Consolas"/>
              </a:rPr>
              <a:t>"native"</a:t>
            </a:r>
            <a:r>
              <a:rPr sz="900">
                <a:solidFill>
                  <a:srgbClr val="007020"/>
                </a:solidFill>
                <a:latin typeface="Consolas"/>
              </a:rPr>
              <a:t> allowPkInsert=</a:t>
            </a:r>
            <a:r>
              <a:rPr sz="900">
                <a:solidFill>
                  <a:srgbClr val="4070A0"/>
                </a:solidFill>
                <a:latin typeface="Consolas"/>
              </a:rPr>
              <a:t>"true"</a:t>
            </a:r>
            <a:r>
              <a:rPr sz="900">
                <a:solidFill>
                  <a:srgbClr val="007020"/>
                </a:solidFill>
                <a:latin typeface="Consolas"/>
              </a:rPr>
              <a:t> phpName=</a:t>
            </a:r>
            <a:r>
              <a:rPr sz="900">
                <a:solidFill>
                  <a:srgbClr val="4070A0"/>
                </a:solidFill>
                <a:latin typeface="Consolas"/>
              </a:rPr>
              <a:t>"PyzContactRequest"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"id_contact_request"</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a:solidFill>
                  <a:srgbClr val="007020"/>
                </a:solidFill>
                <a:latin typeface="Consolas"/>
              </a:rPr>
              <a:t> primaryKey=</a:t>
            </a:r>
            <a:r>
              <a:rPr sz="900">
                <a:solidFill>
                  <a:srgbClr val="4070A0"/>
                </a:solidFill>
                <a:latin typeface="Consolas"/>
              </a:rPr>
              <a:t>"true"</a:t>
            </a:r>
            <a:r>
              <a:rPr sz="900">
                <a:solidFill>
                  <a:srgbClr val="007020"/>
                </a:solidFill>
                <a:latin typeface="Consolas"/>
              </a:rPr>
              <a:t> autoIncrement=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"VARCHAR"</a:t>
            </a:r>
            <a:r>
              <a:rPr sz="900">
                <a:solidFill>
                  <a:srgbClr val="007020"/>
                </a:solidFill>
                <a:latin typeface="Consolas"/>
              </a:rPr>
              <a:t> size=</a:t>
            </a:r>
            <a:r>
              <a:rPr sz="900">
                <a:solidFill>
                  <a:srgbClr val="4070A0"/>
                </a:solidFill>
                <a:latin typeface="Consolas"/>
              </a:rPr>
              <a:t>"255"</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a:t>
            </a:r>
            <a:r>
              <a:rPr sz="900">
                <a:solidFill>
                  <a:srgbClr val="007020"/>
                </a:solidFill>
                <a:latin typeface="Consolas"/>
              </a:rPr>
              <a:t> name=</a:t>
            </a:r>
            <a:r>
              <a:rPr sz="900">
                <a:solidFill>
                  <a:srgbClr val="4070A0"/>
                </a:solidFill>
                <a:latin typeface="Consolas"/>
              </a:rPr>
              <a:t>"pyz_contact_request-message"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&lt;unique-column</a:t>
            </a:r>
            <a:r>
              <a:rPr sz="900">
                <a:solidFill>
                  <a:srgbClr val="007020"/>
                </a:solidFill>
                <a:latin typeface="Consolas"/>
              </a:rPr>
              <a:t> name=</a:t>
            </a:r>
            <a:r>
              <a:rPr sz="900">
                <a:solidFill>
                  <a:srgbClr val="4070A0"/>
                </a:solidFill>
                <a:latin typeface="Consolas"/>
              </a:rPr>
              <a:t>"message"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&lt;/unique&gt;</a:t>
            </a:r>
          </a:p>
          <a:p>
            <a:pPr>
              <a:spcBef>
                <a:spcPts val="0"/>
              </a:spcBef>
              <a:spcAft>
                <a:spcPts val="0"/>
              </a:spcAft>
            </a:pPr>
            <a:r>
              <a:rPr sz="900">
                <a:solidFill>
                  <a:srgbClr val="2D2D2D"/>
                </a:solidFill>
                <a:latin typeface="Consolas"/>
              </a:rPr>
              <a:t>        </a:t>
            </a:r>
            <a:r>
              <a:rPr sz="900" b="1">
                <a:solidFill>
                  <a:srgbClr val="007020"/>
                </a:solidFill>
                <a:latin typeface="Consolas"/>
              </a:rPr>
              <a:t>&lt;id-method-parameter</a:t>
            </a:r>
            <a:r>
              <a:rPr sz="900">
                <a:solidFill>
                  <a:srgbClr val="007020"/>
                </a:solidFill>
                <a:latin typeface="Consolas"/>
              </a:rPr>
              <a:t> value=</a:t>
            </a:r>
            <a:r>
              <a:rPr sz="900">
                <a:solidFill>
                  <a:srgbClr val="4070A0"/>
                </a:solidFill>
                <a:latin typeface="Consolas"/>
              </a:rPr>
              <a:t>"pyz_contact_request_pk_seq"</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&lt;/table&gt;</a:t>
            </a:r>
          </a:p>
          <a:p>
            <a:pPr>
              <a:spcBef>
                <a:spcPts val="0"/>
              </a:spcBef>
              <a:spcAft>
                <a:spcPts val="0"/>
              </a:spcAft>
            </a:pPr>
            <a:r>
              <a:rPr sz="900" b="1">
                <a:solidFill>
                  <a:srgbClr val="007020"/>
                </a:solidFill>
                <a:latin typeface="Consolas"/>
              </a:rPr>
              <a:t>&lt;/database&gt;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2.4 Propel Schema Conventions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Conventions: - Project-level tables use pyz_ prefix (Spryker core uses spy_ ) - PHP class name ( phpName ) uses PascalCase prefixed with Pyz - Generated ORM classes land in Orm\Zed\{Module}\Persistence\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3.1 Transfer XML Definition</a:t>
            </a:r>
          </a:p>
          <a:p>
            <a:pPr>
              <a:spcAft>
                <a:spcPts val="800"/>
              </a:spcAft>
              <a:defRPr sz="1600">
                <a:solidFill>
                  <a:srgbClr val="1A1A1A"/>
                </a:solidFill>
              </a:defRPr>
            </a:pPr>
            <a:r>
              <a:t>Transfers live in Shared/{Module}/Transfer/*.transfer.xml and are generated into Generated\Shared\Transfer\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&lt;transfers</a:t>
            </a:r>
            <a:r>
              <a:rPr sz="900">
                <a:solidFill>
                  <a:srgbClr val="007020"/>
                </a:solidFill>
                <a:latin typeface="Consolas"/>
              </a:rPr>
              <a:t> xmlns=</a:t>
            </a:r>
            <a:r>
              <a:rPr sz="900">
                <a:solidFill>
                  <a:srgbClr val="4070A0"/>
                </a:solidFill>
                <a:latin typeface="Consolas"/>
              </a:rPr>
              <a:t>"spryker:transfer-01"</a:t>
            </a:r>
          </a:p>
          <a:p>
            <a:pPr>
              <a:spcBef>
                <a:spcPts val="0"/>
              </a:spcBef>
              <a:spcAft>
                <a:spcPts val="0"/>
              </a:spcAft>
            </a:pP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xsi:schemaLocation=</a:t>
            </a:r>
            <a:r>
              <a:rPr sz="900">
                <a:solidFill>
                  <a:srgbClr val="4070A0"/>
                </a:solidFill>
                <a:latin typeface="Consolas"/>
              </a:rPr>
              <a:t>"spryker:transfer-01 http://static.spryker.com/transfer-01.xsd"</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Core entity transfer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"idContactRequest"</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Criteria transfer: used for search/filter parameters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"ContactRequestCriteria"</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"idContactRequest"</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Response transfer: wraps results with success flag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"ContactRequestResponse"</a:t>
            </a:r>
            <a:r>
              <a:rPr sz="900" b="1">
                <a:solidFill>
                  <a:srgbClr val="007020"/>
                </a:solidFill>
                <a:latin typeface="Consolas"/>
              </a:rPr>
              <a:t>&gt;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"contactRequest"</a:t>
            </a:r>
            <a:r>
              <a:rPr sz="900">
                <a:solidFill>
                  <a:srgbClr val="007020"/>
                </a:solidFill>
                <a:latin typeface="Consolas"/>
              </a:rPr>
              <a:t> type=</a:t>
            </a:r>
            <a:r>
              <a:rPr sz="900">
                <a:solidFill>
                  <a:srgbClr val="4070A0"/>
                </a:solidFill>
                <a:latin typeface="Consolas"/>
              </a:rPr>
              <a:t>"ContactRequest"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"isSuccessful"</a:t>
            </a:r>
            <a:r>
              <a:rPr sz="900">
                <a:solidFill>
                  <a:srgbClr val="007020"/>
                </a:solidFill>
                <a:latin typeface="Consolas"/>
              </a:rPr>
              <a:t> type=</a:t>
            </a:r>
            <a:r>
              <a:rPr sz="900">
                <a:solidFill>
                  <a:srgbClr val="4070A0"/>
                </a:solidFill>
                <a:latin typeface="Consolas"/>
              </a:rPr>
              <a:t>"bool"</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b="1">
                <a:solidFill>
                  <a:srgbClr val="007020"/>
                </a:solidFill>
                <a:latin typeface="Consolas"/>
              </a:rPr>
              <a:t>&lt;/transfers&gt;</a:t>
            </a:r>
          </a:p>
          <a:p>
            <a:pPr>
              <a:spcAft>
                <a:spcPts val="800"/>
              </a:spcAft>
              <a:defRPr sz="1600">
                <a:solidFill>
                  <a:srgbClr val="1A1A1A"/>
                </a:solidFill>
              </a:defRPr>
            </a:pPr>
            <a:r>
              <a:t>For collections of IDs, use the singular attribute:</a:t>
            </a:r>
          </a:p>
          <a:p>
            <a:pPr>
              <a:spcBef>
                <a:spcPts val="0"/>
              </a:spcBef>
              <a:spcAft>
                <a:spcPts val="0"/>
              </a:spcAft>
            </a:pP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"SupplierCriteria"</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"idsSupplier"</a:t>
            </a:r>
            <a:r>
              <a:rPr sz="900">
                <a:solidFill>
                  <a:srgbClr val="007020"/>
                </a:solidFill>
                <a:latin typeface="Consolas"/>
              </a:rPr>
              <a:t> singular=</a:t>
            </a:r>
            <a:r>
              <a:rPr sz="900">
                <a:solidFill>
                  <a:srgbClr val="4070A0"/>
                </a:solidFill>
                <a:latin typeface="Consolas"/>
              </a:rPr>
              <a:t>"idSupplier"</a:t>
            </a:r>
            <a:r>
              <a:rPr sz="900">
                <a:solidFill>
                  <a:srgbClr val="007020"/>
                </a:solidFill>
                <a:latin typeface="Consolas"/>
              </a:rPr>
              <a:t> type=</a:t>
            </a:r>
            <a:r>
              <a:rPr sz="900">
                <a:solidFill>
                  <a:srgbClr val="4070A0"/>
                </a:solidFill>
                <a:latin typeface="Consolas"/>
              </a:rPr>
              <a:t>"array"</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"idSupplier"</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"name"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b="1">
                <a:solidFill>
                  <a:srgbClr val="007020"/>
                </a:solidFill>
                <a:latin typeface="Consolas"/>
              </a:rPr>
              <a:t>&lt;/transfer&gt;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3.2 Naming Conventions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Purpose                   Convention                  Example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Core entity               {Entity}Transfer            SupplierTransfer              </a:t>
            </a:r>
          </a:p>
          <a:p>
            <a:pPr>
              <a:spcAft>
                <a:spcPts val="100"/>
              </a:spcAft>
              <a:defRPr sz="1000">
                <a:solidFill>
                  <a:srgbClr val="1A1A1A"/>
                </a:solidFill>
                <a:latin typeface="Consolas"/>
              </a:defRPr>
            </a:pPr>
            <a:r>
              <a:t>Search/filter parameters  {Entity}CriteriaTransfer    ContactRequestCriteriaTransfer</a:t>
            </a:r>
          </a:p>
          <a:p>
            <a:pPr>
              <a:spcAft>
                <a:spcPts val="100"/>
              </a:spcAft>
              <a:defRPr sz="1000">
                <a:solidFill>
                  <a:srgbClr val="1A1A1A"/>
                </a:solidFill>
                <a:latin typeface="Consolas"/>
              </a:defRPr>
            </a:pPr>
            <a:r>
              <a:t>Wrapping a result         {Entity}ResponseTransfer    ContactRequestResponseTransfer</a:t>
            </a:r>
          </a:p>
          <a:p>
            <a:pPr>
              <a:spcAft>
                <a:spcPts val="100"/>
              </a:spcAft>
              <a:defRPr sz="1000">
                <a:solidFill>
                  <a:srgbClr val="1A1A1A"/>
                </a:solidFill>
                <a:latin typeface="Consolas"/>
              </a:defRPr>
            </a:pPr>
            <a:r>
              <a:t>Collection container      {Entity}CollectionTransfer  SupplierCollectionTransfer    </a:t>
            </a:r>
          </a:p>
          <a:p>
            <a:pPr>
              <a:spcAft>
                <a:spcPts val="100"/>
              </a:spcAft>
              <a:defRPr sz="1000">
                <a:solidFill>
                  <a:srgbClr val="1A1A1A"/>
                </a:solidFill>
                <a:latin typeface="Consolas"/>
              </a:defRPr>
            </a:pPr>
            <a:r>
              <a:t>Primary key property      id{Entity}                  idSupplier                    </a:t>
            </a:r>
          </a:p>
          <a:p>
            <a:pPr>
              <a:spcAft>
                <a:spcPts val="100"/>
              </a:spcAft>
              <a:defRPr sz="1000">
                <a:solidFill>
                  <a:srgbClr val="1A1A1A"/>
                </a:solidFill>
                <a:latin typeface="Consolas"/>
              </a:defRPr>
            </a:pPr>
            <a:r>
              <a:t>Foreign key property      fk{Entity}                  fkSupplier                    </a:t>
            </a:r>
          </a:p>
          <a:p>
            <a:pPr>
              <a:spcAft>
                <a:spcPts val="100"/>
              </a:spcAft>
              <a:defRPr sz="1000">
                <a:solidFill>
                  <a:srgbClr val="1A1A1A"/>
                </a:solidFill>
                <a:latin typeface="Consolas"/>
              </a:defRPr>
            </a:pPr>
            <a:r>
              <a:t>Array of IDs              ids{Entity} with singular   idsSupplier</a:t>
            </a:r>
          </a:p>
          <a:p>
            <a:pPr>
              <a:spcBef>
                <a:spcPts val="1200"/>
              </a:spcBef>
              <a:spcAft>
                <a:spcPts val="600"/>
              </a:spcAft>
              <a:defRPr sz="2000" b="1">
                <a:solidFill>
                  <a:srgbClr val="1A1A1A"/>
                </a:solidFill>
              </a:defRPr>
            </a:pPr>
            <a:r>
              <a:t>3.3 Key Methods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3.2 Naming Conventions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$transfer-&gt;toArray()                Returns ALL properties, including nulls                             </a:t>
            </a:r>
          </a:p>
          <a:p>
            <a:pPr>
              <a:spcAft>
                <a:spcPts val="100"/>
              </a:spcAft>
              <a:defRPr sz="1000">
                <a:solidFill>
                  <a:srgbClr val="1A1A1A"/>
                </a:solidFill>
                <a:latin typeface="Consolas"/>
              </a:defRPr>
            </a:pPr>
            <a:r>
              <a:t>$transfer-&gt;modifiedToArray()        Returns ONLY explicitly-set properties - use for DB writes          </a:t>
            </a:r>
          </a:p>
          <a:p>
            <a:pPr>
              <a:spcAft>
                <a:spcPts val="100"/>
              </a:spcAft>
              <a:defRPr sz="1000">
                <a:solidFill>
                  <a:srgbClr val="1A1A1A"/>
                </a:solidFill>
                <a:latin typeface="Consolas"/>
              </a:defRPr>
            </a:pPr>
            <a:r>
              <a:t>$transfer-&gt;fromArray($array, true)  Populate from array, ignore missing keys (safe for Entity-&gt;Transfer)</a:t>
            </a:r>
          </a:p>
          <a:p>
            <a:pPr>
              <a:spcAft>
                <a:spcPts val="100"/>
              </a:spcAft>
              <a:defRPr sz="1000">
                <a:solidFill>
                  <a:srgbClr val="1A1A1A"/>
                </a:solidFill>
                <a:latin typeface="Consolas"/>
              </a:defRPr>
            </a:pPr>
            <a:r>
              <a:t>$transfer-&gt;requireField()           Throws exception if the field is null - use for validation          </a:t>
            </a:r>
          </a:p>
          <a:p>
            <a:pPr>
              <a:spcAft>
                <a:spcPts val="100"/>
              </a:spcAft>
              <a:defRPr sz="1000">
                <a:solidFill>
                  <a:srgbClr val="1A1A1A"/>
                </a:solidFill>
                <a:latin typeface="Consolas"/>
              </a:defRPr>
            </a:pPr>
            <a:r>
              <a:t>$transfer-&gt;getFieldOrFail()         Returns value or throws exception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4.1 Facade: The Module’s Public API</a:t>
            </a:r>
          </a:p>
          <a:p>
            <a:pPr>
              <a:spcAft>
                <a:spcPts val="800"/>
              </a:spcAft>
              <a:defRPr sz="1600">
                <a:solidFill>
                  <a:srgbClr val="1A1A1A"/>
                </a:solidFill>
              </a:defRPr>
            </a:pPr>
            <a:r>
              <a:t>The Facade is the only public entry point to a module. It delegates immediately to business objects created by the Factory.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\SprykerAcademy\Zed\Supplier\Business\SupplierBusinessFactory</a:t>
            </a:r>
            <a:r>
              <a:rPr sz="900" i="1">
                <a:solidFill>
                  <a:srgbClr val="60A0B0"/>
                </a:solidFill>
                <a:latin typeface="Consolas"/>
              </a:rPr>
              <a:t> getFactory()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upplierFacade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bstractFacade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upplierFacadeInterface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@api</a:t>
            </a:r>
          </a:p>
          <a:p>
            <a:pPr>
              <a:spcBef>
                <a:spcPts val="0"/>
              </a:spcBef>
              <a:spcAft>
                <a:spcPts val="0"/>
              </a:spcAft>
            </a:pPr>
            <a:r>
              <a:rPr sz="900" i="1">
                <a:solidFill>
                  <a:srgbClr val="60A0B0"/>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-&gt;createSupplierWriter()</a:t>
            </a:r>
          </a:p>
          <a:p>
            <a:pPr>
              <a:spcBef>
                <a:spcPts val="0"/>
              </a:spcBef>
              <a:spcAft>
                <a:spcPts val="0"/>
              </a:spcAft>
            </a:pPr>
            <a:r>
              <a:rPr sz="900">
                <a:solidFill>
                  <a:srgbClr val="2D2D2D"/>
                </a:solidFill>
                <a:latin typeface="Consolas"/>
              </a:rPr>
              <a:t>            -&gt;create(</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@api</a:t>
            </a:r>
          </a:p>
          <a:p>
            <a:pPr>
              <a:spcBef>
                <a:spcPts val="0"/>
              </a:spcBef>
              <a:spcAft>
                <a:spcPts val="0"/>
              </a:spcAft>
            </a:pPr>
            <a:r>
              <a:rPr sz="900" i="1">
                <a:solidFill>
                  <a:srgbClr val="60A0B0"/>
                </a:solidFill>
                <a:latin typeface="Consolas"/>
              </a:rPr>
              <a:t>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-&gt;createSupplierReader()</a:t>
            </a:r>
          </a:p>
          <a:p>
            <a:pPr>
              <a:spcBef>
                <a:spcPts val="0"/>
              </a:spcBef>
              <a:spcAft>
                <a:spcPts val="0"/>
              </a:spcAft>
            </a:pPr>
            <a:r>
              <a:rPr sz="900">
                <a:solidFill>
                  <a:srgbClr val="2D2D2D"/>
                </a:solidFill>
                <a:latin typeface="Consolas"/>
              </a:rPr>
              <a:t>            -&gt;getSuppliers(</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Rules: - Every public method is tagged @api - The Facade contains no logic - only delegation - @method docblocks on the class provide IDE autocomplete for getFactory() , getRepository() , etc.</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Factory creates business objects and injects dependencies. Naming convention: create*() for new instances, get*() for provided dependencies.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\SprykerAcademy\Zed\Supplier\Persistence\SupplierEntityManagerInterface</a:t>
            </a:r>
            <a:r>
              <a:rPr sz="900" i="1">
                <a:solidFill>
                  <a:srgbClr val="60A0B0"/>
                </a:solidFill>
                <a:latin typeface="Consolas"/>
              </a:rPr>
              <a:t> getEntityManager()</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\SprykerAcademy\Zed\Supplier\Persistence\SupplierRepositoryInterface</a:t>
            </a:r>
            <a:r>
              <a:rPr sz="900" i="1">
                <a:solidFill>
                  <a:srgbClr val="60A0B0"/>
                </a:solidFill>
                <a:latin typeface="Consolas"/>
              </a:rPr>
              <a:t> getRepository()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upplierBusinessFactory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bstractBusinessFactory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createSupplierWriter()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-&gt;getEntityManager()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createSupplierReader()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-&gt;getRepository()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4.3 Reader/Writer Separation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Reader classes only call the Repository. Writer classes only call the EntityManager. This makes testing trivial and prevents mutations in read paths.</a:t>
            </a:r>
          </a:p>
          <a:p>
            <a:pPr>
              <a:spcBef>
                <a:spcPts val="0"/>
              </a:spcBef>
              <a:spcAft>
                <a:spcPts val="0"/>
              </a:spcAft>
            </a:pPr>
            <a:r>
              <a:rPr sz="900">
                <a:solidFill>
                  <a:srgbClr val="2D2D2D"/>
                </a:solidFill>
                <a:latin typeface="Consolas"/>
              </a:rPr>
              <a:t>readonly </a:t>
            </a: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upplierRepositoryInterface </a:t>
            </a:r>
            <a:r>
              <a:rPr sz="900">
                <a:solidFill>
                  <a:srgbClr val="19177C"/>
                </a:solidFill>
                <a:latin typeface="Consolas"/>
              </a:rPr>
              <a:t>$supplierRepository</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-&gt;supplierRepository-&gt;getSuppliers(</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4.3 Reader/Writer Separation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readonly </a:t>
            </a: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upplierEntityManagerInterface </a:t>
            </a:r>
            <a:r>
              <a:rPr sz="900">
                <a:solidFill>
                  <a:srgbClr val="19177C"/>
                </a:solidFill>
                <a:latin typeface="Consolas"/>
              </a:rPr>
              <a:t>$supplierEntityManager</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-&gt;supplierEntityManager-&gt;createSupplier(</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Communication Between Yves and Zed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Step 1: Yves Controller calls the Client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Communication Between Yves and Zed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getAction(</a:t>
            </a:r>
            <a:r>
              <a:rPr sz="900">
                <a:solidFill>
                  <a:srgbClr val="902000"/>
                </a:solidFill>
                <a:latin typeface="Consolas"/>
              </a:rPr>
              <a:t>int</a:t>
            </a:r>
            <a:r>
              <a:rPr sz="900">
                <a:solidFill>
                  <a:srgbClr val="2D2D2D"/>
                </a:solidFill>
                <a:latin typeface="Consolas"/>
              </a:rPr>
              <a:t> </a:t>
            </a:r>
            <a:r>
              <a:rPr sz="900">
                <a:solidFill>
                  <a:srgbClr val="19177C"/>
                </a:solidFill>
                <a:latin typeface="Consolas"/>
              </a:rPr>
              <a:t>$idContactRequest</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V</a:t>
            </a:r>
            <a:r>
              <a:rPr sz="900">
                <a:solidFill>
                  <a:srgbClr val="2D2D2D"/>
                </a:solidFill>
                <a:latin typeface="Consolas"/>
              </a:rPr>
              <a:t>iew</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essageCriteriaTransfer()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$contactRequestCriteriaTransfer</a:t>
            </a:r>
            <a:r>
              <a:rPr sz="900">
                <a:solidFill>
                  <a:srgbClr val="2D2D2D"/>
                </a:solidFill>
                <a:latin typeface="Consolas"/>
              </a:rPr>
              <a:t>-&gt;setIdContactRequest(</a:t>
            </a:r>
            <a:r>
              <a:rPr sz="900">
                <a:solidFill>
                  <a:srgbClr val="19177C"/>
                </a:solidFill>
                <a:latin typeface="Consolas"/>
              </a:rPr>
              <a:t>$idContactRequest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$contactRequestResponseTransfer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-&gt;getContactRequestClient()</a:t>
            </a:r>
          </a:p>
          <a:p>
            <a:pPr>
              <a:spcBef>
                <a:spcPts val="0"/>
              </a:spcBef>
              <a:spcAft>
                <a:spcPts val="0"/>
              </a:spcAft>
            </a:pPr>
            <a:r>
              <a:rPr sz="900">
                <a:solidFill>
                  <a:srgbClr val="2D2D2D"/>
                </a:solidFill>
                <a:latin typeface="Consolas"/>
              </a:rPr>
              <a:t>            -&gt;findContactRequest(</a:t>
            </a:r>
            <a:r>
              <a:rPr sz="900">
                <a:solidFill>
                  <a:srgbClr val="19177C"/>
                </a:solidFill>
                <a:latin typeface="Consolas"/>
              </a:rPr>
              <a:t>$contactRequestCriteriaTransfer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a:t>
            </a:r>
          </a:p>
          <a:p>
            <a:pPr>
              <a:spcBef>
                <a:spcPts val="0"/>
              </a:spcBef>
              <a:spcAft>
                <a:spcPts val="0"/>
              </a:spcAft>
            </a:pPr>
            <a:r>
              <a:rPr sz="900">
                <a:solidFill>
                  <a:srgbClr val="2D2D2D"/>
                </a:solidFill>
                <a:latin typeface="Consolas"/>
              </a:rPr>
              <a:t>            [</a:t>
            </a:r>
            <a:r>
              <a:rPr sz="900">
                <a:solidFill>
                  <a:srgbClr val="4070A0"/>
                </a:solidFill>
                <a:latin typeface="Consolas"/>
              </a:rPr>
              <a:t>'message'</a:t>
            </a:r>
            <a:r>
              <a:rPr sz="900">
                <a:solidFill>
                  <a:srgbClr val="2D2D2D"/>
                </a:solidFill>
                <a:latin typeface="Consolas"/>
              </a:rPr>
              <a:t> =&gt; </a:t>
            </a:r>
            <a:r>
              <a:rPr sz="900">
                <a:solidFill>
                  <a:srgbClr val="19177C"/>
                </a:solidFill>
                <a:latin typeface="Consolas"/>
              </a:rPr>
              <a:t>$contactRequestResponseTransfer</a:t>
            </a:r>
            <a:r>
              <a:rPr sz="900">
                <a:solidFill>
                  <a:srgbClr val="2D2D2D"/>
                </a:solidFill>
                <a:latin typeface="Consolas"/>
              </a:rPr>
              <a:t>-&gt;getMessage()]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'@ContactRequestPage/views/contact-request/get.twig'</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Client delegates to the Stub</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elloWorldClient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bstractClient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elloWorldClientInterface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M</a:t>
            </a:r>
            <a:r>
              <a:rPr sz="900">
                <a:solidFill>
                  <a:srgbClr val="2D2D2D"/>
                </a:solidFill>
                <a:latin typeface="Consolas"/>
              </a:rPr>
              <a:t>essageCriteriaTransfer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-&gt;getFactory()-&gt;createContactRequestStub()-&gt;findContactRequest(</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Bef>
                <a:spcPts val="1200"/>
              </a:spcBef>
              <a:spcAft>
                <a:spcPts val="600"/>
              </a:spcAft>
              <a:defRPr sz="2000" b="1">
                <a:solidFill>
                  <a:srgbClr val="1A1A1A"/>
                </a:solidFill>
              </a:defRPr>
            </a:pPr>
            <a:r>
              <a:t>Step 3: Stub makes the HTTP call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Client delegates to the Stub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elloWorldStub</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Z</a:t>
            </a:r>
            <a:r>
              <a:rPr sz="900">
                <a:solidFill>
                  <a:srgbClr val="2D2D2D"/>
                </a:solidFill>
                <a:latin typeface="Consolas"/>
              </a:rPr>
              <a:t>edRequestClientInterface </a:t>
            </a:r>
            <a:r>
              <a:rPr sz="900">
                <a:solidFill>
                  <a:srgbClr val="19177C"/>
                </a:solidFill>
                <a:latin typeface="Consolas"/>
              </a:rPr>
              <a:t>$zedRequestClient</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M</a:t>
            </a:r>
            <a:r>
              <a:rPr sz="900">
                <a:solidFill>
                  <a:srgbClr val="2D2D2D"/>
                </a:solidFill>
                <a:latin typeface="Consolas"/>
              </a:rPr>
              <a:t>essageCriteriaTransfer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URL convention: /{module-name}/gateway/{action-name}</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-&gt;zedRequestClient-&gt;call(</a:t>
            </a:r>
          </a:p>
          <a:p>
            <a:pPr>
              <a:spcBef>
                <a:spcPts val="0"/>
              </a:spcBef>
              <a:spcAft>
                <a:spcPts val="0"/>
              </a:spcAft>
            </a:pPr>
            <a:r>
              <a:rPr sz="900">
                <a:solidFill>
                  <a:srgbClr val="2D2D2D"/>
                </a:solidFill>
                <a:latin typeface="Consolas"/>
              </a:rPr>
              <a:t>            </a:t>
            </a:r>
            <a:r>
              <a:rPr sz="900">
                <a:solidFill>
                  <a:srgbClr val="4070A0"/>
                </a:solidFill>
                <a:latin typeface="Consolas"/>
              </a:rPr>
              <a:t>'/contact-request/gateway/find-contact-request'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4: GatewayController receives the call in Zed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G</a:t>
            </a:r>
            <a:r>
              <a:rPr sz="900">
                <a:solidFill>
                  <a:srgbClr val="2D2D2D"/>
                </a:solidFill>
                <a:latin typeface="Consolas"/>
              </a:rPr>
              <a:t>atewayController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bstractGatewayController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findContactRequestAction(</a:t>
            </a:r>
            <a:r>
              <a:rPr sz="900">
                <a:solidFill>
                  <a:srgbClr val="880000"/>
                </a:solidFill>
                <a:latin typeface="Consolas"/>
              </a:rPr>
              <a:t>M</a:t>
            </a:r>
            <a:r>
              <a:rPr sz="900">
                <a:solidFill>
                  <a:srgbClr val="2D2D2D"/>
                </a:solidFill>
                <a:latin typeface="Consolas"/>
              </a:rPr>
              <a:t>essageCriteriaTransfer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-&gt;getFacade()-&gt;findContactRequest(</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Gateway URL convention: /contact-request/gateway/find-contact-request maps to ContactRequest module -&gt; GatewayController -&gt; findContactRequestAction() . Transfers are serialized/deserialized automatically.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DependencyProviders wire external dependencies (facades, clients, services) into a module’s container.</a:t>
            </a:r>
          </a:p>
          <a:p>
            <a:pPr>
              <a:spcBef>
                <a:spcPts val="1200"/>
              </a:spcBef>
              <a:spcAft>
                <a:spcPts val="600"/>
              </a:spcAft>
              <a:defRPr sz="2000" b="1">
                <a:solidFill>
                  <a:srgbClr val="1A1A1A"/>
                </a:solidFill>
              </a:defRPr>
            </a:pPr>
            <a:r>
              <a:t>Client Layer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CLIENT_ZED_REQUEST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'CLIENT_ZED_REQUEST'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provideServiceLayerDependencies(</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-&gt;addZedRequestClient(</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addZedRequestClient(</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CLIENT_ZED_REQUEST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 =&gt; </a:t>
            </a:r>
            <a:r>
              <a:rPr sz="900">
                <a:solidFill>
                  <a:srgbClr val="19177C"/>
                </a:solidFill>
                <a:latin typeface="Consolas"/>
              </a:rPr>
              <a:t>$container</a:t>
            </a:r>
            <a:r>
              <a:rPr sz="900">
                <a:solidFill>
                  <a:srgbClr val="2D2D2D"/>
                </a:solidFill>
                <a:latin typeface="Consolas"/>
              </a:rPr>
              <a:t>-&gt;getLocator()-&gt;zedRequest()-&gt;client()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Yves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elloWorldPageDependencyProvider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bstractBundleDependencyProvider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CLIENT_CONTACT_REQUEST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'CLIENT_CONTACT_REQUEST'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provideDependencies(</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CLIENT_CONTACT_REQUEST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 =&gt; </a:t>
            </a:r>
            <a:r>
              <a:rPr sz="900">
                <a:solidFill>
                  <a:srgbClr val="19177C"/>
                </a:solidFill>
                <a:latin typeface="Consolas"/>
              </a:rPr>
              <a:t>$container</a:t>
            </a:r>
            <a:r>
              <a:rPr sz="900">
                <a:solidFill>
                  <a:srgbClr val="2D2D2D"/>
                </a:solidFill>
                <a:latin typeface="Consolas"/>
              </a:rPr>
              <a:t>-&gt;getLocator()-&gt;contactRequest()-&gt;client()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Container Methods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Behavior                          Use For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$container-&gt;set(key, fn)  Singleton: resolved once, cached  Facades, clients, services     </a:t>
            </a:r>
          </a:p>
          <a:p>
            <a:pPr>
              <a:spcAft>
                <a:spcPts val="100"/>
              </a:spcAft>
              <a:defRPr sz="1000">
                <a:solidFill>
                  <a:srgbClr val="1A1A1A"/>
                </a:solidFill>
                <a:latin typeface="Consolas"/>
              </a:defRPr>
            </a:pPr>
            <a:r>
              <a:t>$container-&gt;factory(fn)   New instance every resolution     Propel Query objects (stateful)</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7. Plugin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Plugins are Spryker’s extension mechanism. They implement a defined interface and are registered in a DependencyProvider.</a:t>
            </a:r>
          </a:p>
          <a:p>
            <a:pPr>
              <a:spcBef>
                <a:spcPts val="1200"/>
              </a:spcBef>
              <a:spcAft>
                <a:spcPts val="600"/>
              </a:spcAft>
              <a:defRPr sz="2000" b="1">
                <a:solidFill>
                  <a:srgbClr val="1A1A1A"/>
                </a:solidFill>
              </a:defRPr>
            </a:pPr>
            <a:r>
              <a:t>Publisher Plugin (Publish &amp; Synchronize)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7. Plugin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upplierSearchWritePublisherPlugin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bstractPlugin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P</a:t>
            </a:r>
            <a:r>
              <a:rPr sz="900">
                <a:solidFill>
                  <a:srgbClr val="2D2D2D"/>
                </a:solidFill>
                <a:latin typeface="Consolas"/>
              </a:rPr>
              <a:t>ublisherPluginInterface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handleBulk(</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$eventEntityTransfers</a:t>
            </a:r>
            <a:r>
              <a:rPr sz="900">
                <a:solidFill>
                  <a:srgbClr val="007020"/>
                </a:solidFill>
                <a:latin typeface="Consolas"/>
              </a:rPr>
              <a:t>,</a:t>
            </a:r>
            <a:r>
              <a:rPr sz="900">
                <a:solidFill>
                  <a:srgbClr val="2D2D2D"/>
                </a:solidFill>
                <a:latin typeface="Consolas"/>
              </a:rPr>
              <a:t> </a:t>
            </a:r>
            <a:r>
              <a:rPr sz="900">
                <a:solidFill>
                  <a:srgbClr val="19177C"/>
                </a:solidFill>
                <a:latin typeface="Consolas"/>
              </a:rPr>
              <a:t>$eventName</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-&gt;getFacade()-&gt;writeCollectionBySupplierEvents(</a:t>
            </a:r>
            <a:r>
              <a:rPr sz="900">
                <a:solidFill>
                  <a:srgbClr val="19177C"/>
                </a:solidFill>
                <a:latin typeface="Consolas"/>
              </a:rPr>
              <a:t>$eventEntityTransfers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getSubscribedEvents()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SUPPLIER_PUBLISH</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ENTITY_PYZ_SUPPLIER_CREATE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ENTITY_PYZ_SUPPLIER_UPDATE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Router Plugin (Yves Routing)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elloWorldPageRouteProviderPlugin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bstractRouteProviderPlugin</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addRoutes(</a:t>
            </a:r>
            <a:r>
              <a:rPr sz="900">
                <a:solidFill>
                  <a:srgbClr val="880000"/>
                </a:solidFill>
                <a:latin typeface="Consolas"/>
              </a:rPr>
              <a:t>R</a:t>
            </a:r>
            <a:r>
              <a:rPr sz="900">
                <a:solidFill>
                  <a:srgbClr val="2D2D2D"/>
                </a:solidFill>
                <a:latin typeface="Consolas"/>
              </a:rPr>
              <a:t>outeCollection </a:t>
            </a:r>
            <a:r>
              <a:rPr sz="900">
                <a:solidFill>
                  <a:srgbClr val="19177C"/>
                </a:solidFill>
                <a:latin typeface="Consolas"/>
              </a:rPr>
              <a:t>$routeCollection</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R</a:t>
            </a:r>
            <a:r>
              <a:rPr sz="900">
                <a:solidFill>
                  <a:srgbClr val="2D2D2D"/>
                </a:solidFill>
                <a:latin typeface="Consolas"/>
              </a:rPr>
              <a:t>outeCollection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$route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-&gt;buildRoute(</a:t>
            </a:r>
          </a:p>
          <a:p>
            <a:pPr>
              <a:spcBef>
                <a:spcPts val="0"/>
              </a:spcBef>
              <a:spcAft>
                <a:spcPts val="0"/>
              </a:spcAft>
            </a:pPr>
            <a:r>
              <a:rPr sz="900">
                <a:solidFill>
                  <a:srgbClr val="2D2D2D"/>
                </a:solidFill>
                <a:latin typeface="Consolas"/>
              </a:rPr>
              <a:t>            </a:t>
            </a:r>
            <a:r>
              <a:rPr sz="900">
                <a:solidFill>
                  <a:srgbClr val="4070A0"/>
                </a:solidFill>
                <a:latin typeface="Consolas"/>
              </a:rPr>
              <a:t>'contact-request/message/{idContactRequest}'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'ContactRequestPage'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Module</a:t>
            </a:r>
          </a:p>
          <a:p>
            <a:pPr>
              <a:spcBef>
                <a:spcPts val="0"/>
              </a:spcBef>
              <a:spcAft>
                <a:spcPts val="0"/>
              </a:spcAft>
            </a:pPr>
            <a:r>
              <a:rPr sz="900">
                <a:solidFill>
                  <a:srgbClr val="2D2D2D"/>
                </a:solidFill>
                <a:latin typeface="Consolas"/>
              </a:rPr>
              <a:t>            </a:t>
            </a:r>
            <a:r>
              <a:rPr sz="900">
                <a:solidFill>
                  <a:srgbClr val="4070A0"/>
                </a:solidFill>
                <a:latin typeface="Consolas"/>
              </a:rPr>
              <a:t>'Message'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Controller</a:t>
            </a:r>
          </a:p>
          <a:p>
            <a:pPr>
              <a:spcBef>
                <a:spcPts val="0"/>
              </a:spcBef>
              <a:spcAft>
                <a:spcPts val="0"/>
              </a:spcAft>
            </a:pPr>
            <a:r>
              <a:rPr sz="900">
                <a:solidFill>
                  <a:srgbClr val="2D2D2D"/>
                </a:solidFill>
                <a:latin typeface="Consolas"/>
              </a:rPr>
              <a:t>            </a:t>
            </a:r>
            <a:r>
              <a:rPr sz="900">
                <a:solidFill>
                  <a:srgbClr val="4070A0"/>
                </a:solidFill>
                <a:latin typeface="Consolas"/>
              </a:rPr>
              <a:t>'getAction'</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Action</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$route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$route</a:t>
            </a:r>
            <a:r>
              <a:rPr sz="900">
                <a:solidFill>
                  <a:srgbClr val="2D2D2D"/>
                </a:solidFill>
                <a:latin typeface="Consolas"/>
              </a:rPr>
              <a:t>-&gt;setMethods([</a:t>
            </a:r>
            <a:r>
              <a:rPr sz="900">
                <a:solidFill>
                  <a:srgbClr val="4070A0"/>
                </a:solidFill>
                <a:latin typeface="Consolas"/>
              </a:rPr>
              <a:t>'GET'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$routeCollection</a:t>
            </a:r>
            <a:r>
              <a:rPr sz="900">
                <a:solidFill>
                  <a:srgbClr val="2D2D2D"/>
                </a:solidFill>
                <a:latin typeface="Consolas"/>
              </a:rPr>
              <a:t>-&gt;add(</a:t>
            </a:r>
            <a:r>
              <a:rPr sz="900">
                <a:solidFill>
                  <a:srgbClr val="4070A0"/>
                </a:solidFill>
                <a:latin typeface="Consolas"/>
              </a:rPr>
              <a:t>'contact-request-message'</a:t>
            </a:r>
            <a:r>
              <a:rPr sz="900">
                <a:solidFill>
                  <a:srgbClr val="007020"/>
                </a:solidFill>
                <a:latin typeface="Consolas"/>
              </a:rPr>
              <a:t>,</a:t>
            </a:r>
            <a:r>
              <a:rPr sz="900">
                <a:solidFill>
                  <a:srgbClr val="2D2D2D"/>
                </a:solidFill>
                <a:latin typeface="Consolas"/>
              </a:rPr>
              <a:t> </a:t>
            </a:r>
            <a:r>
              <a:rPr sz="900">
                <a:solidFill>
                  <a:srgbClr val="19177C"/>
                </a:solidFill>
                <a:latin typeface="Consolas"/>
              </a:rPr>
              <a:t>$route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$routeCollection</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Router Plugin (Yves Routing)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Plugin rules: - Plugins are thin - they delegate to the Facade, no logic inside - Registered in project-level DependencyProviders - @method docblock links the Plugin to its Facade for IDE support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 Query Best Practices &amp; Avoiding N+1</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8.1 The N+1 Problem</a:t>
            </a:r>
          </a:p>
          <a:p>
            <a:pPr>
              <a:spcAft>
                <a:spcPts val="800"/>
              </a:spcAft>
              <a:defRPr sz="1600">
                <a:solidFill>
                  <a:srgbClr val="1A1A1A"/>
                </a:solidFill>
              </a:defRPr>
            </a:pPr>
            <a:r>
              <a:t>The N+1 problem occurs when you fetch a list of entities, then make a separate database query for each entity’s related data. If you have 100 suppliers, this means 1 query to get the list + 100 queries for related data = 101 queries.</a:t>
            </a:r>
          </a:p>
          <a:p>
            <a:pPr>
              <a:spcAft>
                <a:spcPts val="800"/>
              </a:spcAft>
              <a:defRPr sz="1600">
                <a:solidFill>
                  <a:srgbClr val="1A1A1A"/>
                </a:solidFill>
              </a:defRPr>
            </a:pPr>
            <a:r>
              <a:t>Bad - N+1 pattern (DO NOT DO THIS):</a:t>
            </a:r>
          </a:p>
          <a:p>
            <a:pPr>
              <a:spcBef>
                <a:spcPts val="0"/>
              </a:spcBef>
              <a:spcAft>
                <a:spcPts val="0"/>
              </a:spcAft>
            </a:pPr>
            <a:r>
              <a:rPr sz="900" i="1">
                <a:solidFill>
                  <a:srgbClr val="60A0B0"/>
                </a:solidFill>
                <a:latin typeface="Consolas"/>
              </a:rPr>
              <a:t>// 1 query to fetch all suppliers</a:t>
            </a:r>
          </a:p>
          <a:p>
            <a:pPr>
              <a:spcBef>
                <a:spcPts val="0"/>
              </a:spcBef>
              <a:spcAft>
                <a:spcPts val="0"/>
              </a:spcAft>
            </a:pPr>
            <a:r>
              <a:rPr sz="900">
                <a:solidFill>
                  <a:srgbClr val="19177C"/>
                </a:solidFill>
                <a:latin typeface="Consolas"/>
              </a:rPr>
              <a:t>$suppliers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-&gt;supplierRepository-&gt;getSuppliers(</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N queries - one per supplier!</a:t>
            </a:r>
          </a:p>
          <a:p>
            <a:pPr>
              <a:spcBef>
                <a:spcPts val="0"/>
              </a:spcBef>
              <a:spcAft>
                <a:spcPts val="0"/>
              </a:spcAft>
            </a:pPr>
            <a:r>
              <a:rPr sz="900">
                <a:solidFill>
                  <a:srgbClr val="2D2D2D"/>
                </a:solidFill>
                <a:latin typeface="Consolas"/>
              </a:rPr>
              <a:t>    </a:t>
            </a:r>
            <a:r>
              <a:rPr sz="900">
                <a:solidFill>
                  <a:srgbClr val="19177C"/>
                </a:solidFill>
                <a:latin typeface="Consolas"/>
              </a:rPr>
              <a:t>$storageData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-&gt;storageRepository-&gt;findByFkSupplier(</a:t>
            </a:r>
            <a:r>
              <a:rPr sz="900">
                <a:solidFill>
                  <a:srgbClr val="19177C"/>
                </a:solidFill>
                <a:latin typeface="Consolas"/>
              </a:rPr>
              <a:t>$supplier</a:t>
            </a:r>
            <a:r>
              <a:rPr sz="900">
                <a:solidFill>
                  <a:srgbClr val="2D2D2D"/>
                </a:solidFill>
                <a:latin typeface="Consolas"/>
              </a:rPr>
              <a:t>-&gt;getIdSupplier())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 process</a:t>
            </a:r>
          </a:p>
          <a:p>
            <a:pPr>
              <a:spcBef>
                <a:spcPts val="0"/>
              </a:spcBef>
              <a:spcAft>
                <a:spcPts val="0"/>
              </a:spcAft>
            </a:pPr>
            <a:r>
              <a:rPr sz="900">
                <a:solidFill>
                  <a:srgbClr val="2D2D2D"/>
                </a:solidFill>
                <a:latin typeface="Consolas"/>
              </a:rPr>
              <a: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Fetch ALL related data in one query using filterBy*_In() , then index by ID for O(1) lookups: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writeCollectionBySupplierIds(</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Step 1: Fetch ALL suppliers in ONE query, index by ID</a:t>
            </a:r>
          </a:p>
          <a:p>
            <a:pPr>
              <a:spcBef>
                <a:spcPts val="0"/>
              </a:spcBef>
              <a:spcAft>
                <a:spcPts val="0"/>
              </a:spcAft>
            </a:pPr>
            <a:r>
              <a:rPr sz="900">
                <a:solidFill>
                  <a:srgbClr val="2D2D2D"/>
                </a:solidFill>
                <a:latin typeface="Consolas"/>
              </a:rPr>
              <a:t>    </a:t>
            </a:r>
            <a:r>
              <a:rPr sz="900">
                <a:solidFill>
                  <a:srgbClr val="19177C"/>
                </a:solidFill>
                <a:latin typeface="Consolas"/>
              </a:rPr>
              <a:t>$supplierTransfersIndexed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-&gt;getSupplierTransfersIndexed(</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Step 2: Fetch ALL storage data in ONE query, index by FK</a:t>
            </a:r>
          </a:p>
          <a:p>
            <a:pPr>
              <a:spcBef>
                <a:spcPts val="0"/>
              </a:spcBef>
              <a:spcAft>
                <a:spcPts val="0"/>
              </a:spcAft>
            </a:pPr>
            <a:r>
              <a:rPr sz="900">
                <a:solidFill>
                  <a:srgbClr val="2D2D2D"/>
                </a:solidFill>
                <a:latin typeface="Consolas"/>
              </a:rPr>
              <a:t>    </a:t>
            </a:r>
            <a:r>
              <a:rPr sz="900">
                <a:solidFill>
                  <a:srgbClr val="19177C"/>
                </a:solidFill>
                <a:latin typeface="Consolas"/>
              </a:rPr>
              <a:t>$supplierStorageTransfersIndexed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-&gt;getSupplierStorageTransfersIndexed(</a:t>
            </a:r>
          </a:p>
          <a:p>
            <a:pPr>
              <a:spcBef>
                <a:spcPts val="0"/>
              </a:spcBef>
              <a:spcAft>
                <a:spcPts val="0"/>
              </a:spcAft>
            </a:pPr>
            <a:r>
              <a:rPr sz="900">
                <a:solidFill>
                  <a:srgbClr val="2D2D2D"/>
                </a:solidFill>
                <a:latin typeface="Consolas"/>
              </a:rPr>
              <a:t>        </a:t>
            </a:r>
            <a:r>
              <a:rPr sz="900">
                <a:solidFill>
                  <a:srgbClr val="06287E"/>
                </a:solidFill>
                <a:latin typeface="Consolas"/>
              </a:rPr>
              <a:t>array_keys</a:t>
            </a:r>
            <a:r>
              <a:rPr sz="900">
                <a:solidFill>
                  <a:srgbClr val="2D2D2D"/>
                </a:solidFill>
                <a:latin typeface="Consolas"/>
              </a:rPr>
              <a:t>(</a:t>
            </a:r>
            <a:r>
              <a:rPr sz="900">
                <a:solidFill>
                  <a:srgbClr val="19177C"/>
                </a:solidFill>
                <a:latin typeface="Consolas"/>
              </a:rPr>
              <a:t>$supplierTransfersIndexed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Step 3: Iterate with array lookups - NO database calls inside the loop</a:t>
            </a:r>
          </a:p>
          <a:p>
            <a:pPr>
              <a:spcBef>
                <a:spcPts val="0"/>
              </a:spcBef>
              <a:spcAft>
                <a:spcPts val="0"/>
              </a:spcAft>
            </a:pPr>
            <a:r>
              <a:rPr sz="900">
                <a:solidFill>
                  <a:srgbClr val="2D2D2D"/>
                </a:solidFill>
                <a:latin typeface="Consolas"/>
              </a:rPr>
              <a:t>    </a:t>
            </a: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$supplierTransfersIndexed</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$supplierId</a:t>
            </a:r>
            <a:r>
              <a:rPr sz="900">
                <a:solidFill>
                  <a:srgbClr val="2D2D2D"/>
                </a:solidFill>
                <a:latin typeface="Consolas"/>
              </a:rPr>
              <a:t> =&gt; </a:t>
            </a:r>
            <a:r>
              <a:rPr sz="900">
                <a:solidFill>
                  <a:srgbClr val="19177C"/>
                </a:solidFill>
                <a:latin typeface="Consolas"/>
              </a:rPr>
              <a:t>$supplierTransfer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$storageTransfer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$supplierStorageTransfersIndexed</a:t>
            </a:r>
            <a:r>
              <a:rPr sz="900">
                <a:solidFill>
                  <a:srgbClr val="2D2D2D"/>
                </a:solidFill>
                <a:latin typeface="Consolas"/>
              </a:rPr>
              <a:t>[</a:t>
            </a:r>
            <a:r>
              <a:rPr sz="900">
                <a:solidFill>
                  <a:srgbClr val="19177C"/>
                </a:solidFill>
                <a:latin typeface="Consolas"/>
              </a:rPr>
              <a:t>$supplierId</a:t>
            </a: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upplierStorageTransfer()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 process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Bef>
                <a:spcPts val="0"/>
              </a:spcBef>
              <a:spcAft>
                <a:spcPts val="0"/>
              </a:spcAft>
            </a:pPr>
            <a:r>
              <a:rPr sz="900">
                <a:latin typeface="Consolas"/>
              </a:rPr>
              <a:t> </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getSupplierTransfersIndexed(</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upplierCriteriaTransfer())-&gt;setIdsSupplier(</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-&gt;supplierFacade-&gt;getSupplierCollection(</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$indexed</a:t>
            </a:r>
            <a:r>
              <a:rPr sz="900">
                <a:solidFill>
                  <a:srgbClr val="2D2D2D"/>
                </a:solidFill>
                <a:latin typeface="Consolas"/>
              </a:rPr>
              <a:t>[</a:t>
            </a:r>
            <a:r>
              <a:rPr sz="900">
                <a:solidFill>
                  <a:srgbClr val="19177C"/>
                </a:solidFill>
                <a:latin typeface="Consolas"/>
              </a:rPr>
              <a:t>$supplier</a:t>
            </a:r>
            <a:r>
              <a:rPr sz="900">
                <a:solidFill>
                  <a:srgbClr val="2D2D2D"/>
                </a:solidFill>
                <a:latin typeface="Consolas"/>
              </a:rPr>
              <a:t>-&gt;getIdSupplier()] </a:t>
            </a:r>
            <a:r>
              <a:rPr sz="900">
                <a:solidFill>
                  <a:srgbClr val="666666"/>
                </a:solidFill>
                <a:latin typeface="Consolas"/>
              </a:rPr>
              <a:t>=</a:t>
            </a:r>
            <a:r>
              <a:rPr sz="900">
                <a:solidFill>
                  <a:srgbClr val="2D2D2D"/>
                </a:solidFill>
                <a:latin typeface="Consolas"/>
              </a:rPr>
              <a:t> </a:t>
            </a:r>
            <a:r>
              <a:rPr sz="900">
                <a:solidFill>
                  <a:srgbClr val="19177C"/>
                </a:solidFill>
                <a:latin typeface="Consolas"/>
              </a:rPr>
              <a:t>$supplier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$indexed</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8.3 Bulk Fetching with filterBy*_In()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Propel generates filterBy*_In() methods that produce SQL WHERE column IN (...) clauses:</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-&gt;getFactory()-&gt;createSupplierQuery()</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-&gt;getIdsSupplier())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-&gt;filterByIdSupplier_In(</a:t>
            </a:r>
            <a:r>
              <a:rPr sz="900">
                <a:solidFill>
                  <a:srgbClr val="19177C"/>
                </a:solidFill>
                <a:latin typeface="Consolas"/>
              </a:rPr>
              <a:t>$criteria</a:t>
            </a:r>
            <a:r>
              <a:rPr sz="900">
                <a:solidFill>
                  <a:srgbClr val="2D2D2D"/>
                </a:solidFill>
                <a:latin typeface="Consolas"/>
              </a:rPr>
              <a:t>-&gt;getIdsSupplier())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-&gt;getName()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-&gt;filterByName(</a:t>
            </a:r>
            <a:r>
              <a:rPr sz="900">
                <a:solidFill>
                  <a:srgbClr val="19177C"/>
                </a:solidFill>
                <a:latin typeface="Consolas"/>
              </a:rPr>
              <a:t>$criteria</a:t>
            </a:r>
            <a:r>
              <a:rPr sz="900">
                <a:solidFill>
                  <a:srgbClr val="2D2D2D"/>
                </a:solidFill>
                <a:latin typeface="Consolas"/>
              </a:rPr>
              <a:t>-&gt;getName())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-&gt;mapEntitiesToTransfers(</a:t>
            </a:r>
            <a:r>
              <a:rPr sz="900">
                <a:solidFill>
                  <a:srgbClr val="19177C"/>
                </a:solidFill>
                <a:latin typeface="Consolas"/>
              </a:rPr>
              <a:t>$query</a:t>
            </a:r>
            <a:r>
              <a:rPr sz="900">
                <a:solidFill>
                  <a:srgbClr val="2D2D2D"/>
                </a:solidFill>
                <a:latin typeface="Consolas"/>
              </a:rPr>
              <a:t>-&gt;find())</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8.4 Guard Against Empty IN Clauses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An empty IN () clause causes a SQL error. Always check before querying:</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getSupplierSearches(</a:t>
            </a:r>
            <a:r>
              <a:rPr sz="900">
                <a:solidFill>
                  <a:srgbClr val="880000"/>
                </a:solidFill>
                <a:latin typeface="Consolas"/>
              </a:rPr>
              <a:t>S</a:t>
            </a:r>
            <a:r>
              <a:rPr sz="900">
                <a:solidFill>
                  <a:srgbClr val="2D2D2D"/>
                </a:solidFill>
                <a:latin typeface="Consolas"/>
              </a:rPr>
              <a:t>upplierSearchCriteriaTransfer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-&gt;getFksSupplier() </a:t>
            </a:r>
            <a:r>
              <a:rPr sz="900">
                <a:solidFill>
                  <a:srgbClr val="666666"/>
                </a:solidFill>
                <a:latin typeface="Consolas"/>
              </a:rPr>
              <a:t>===</a:t>
            </a:r>
            <a:r>
              <a:rPr sz="900">
                <a:solidFill>
                  <a:srgbClr val="2D2D2D"/>
                </a:solidFill>
                <a:latin typeface="Consolas"/>
              </a:rPr>
              <a:t> [])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Guard: never execute IN with empty array</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$entities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-&gt;createSupplierSearchQuery()</a:t>
            </a:r>
          </a:p>
          <a:p>
            <a:pPr>
              <a:spcBef>
                <a:spcPts val="0"/>
              </a:spcBef>
              <a:spcAft>
                <a:spcPts val="0"/>
              </a:spcAft>
            </a:pPr>
            <a:r>
              <a:rPr sz="900">
                <a:solidFill>
                  <a:srgbClr val="2D2D2D"/>
                </a:solidFill>
                <a:latin typeface="Consolas"/>
              </a:rPr>
              <a:t>        -&gt;filterByFkSupplier_In(</a:t>
            </a:r>
            <a:r>
              <a:rPr sz="900">
                <a:solidFill>
                  <a:srgbClr val="19177C"/>
                </a:solidFill>
                <a:latin typeface="Consolas"/>
              </a:rPr>
              <a:t>$criteria</a:t>
            </a:r>
            <a:r>
              <a:rPr sz="900">
                <a:solidFill>
                  <a:srgbClr val="2D2D2D"/>
                </a:solidFill>
                <a:latin typeface="Consolas"/>
              </a:rPr>
              <a:t>-&gt;getFksSupplier())</a:t>
            </a:r>
          </a:p>
          <a:p>
            <a:pPr>
              <a:spcBef>
                <a:spcPts val="0"/>
              </a:spcBef>
              <a:spcAft>
                <a:spcPts val="0"/>
              </a:spcAft>
            </a:pPr>
            <a:r>
              <a:rPr sz="900">
                <a:solidFill>
                  <a:srgbClr val="2D2D2D"/>
                </a:solidFill>
                <a:latin typeface="Consolas"/>
              </a:rPr>
              <a:t>        -&gt;find()</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-&gt;mapEntitiesToTransfers(</a:t>
            </a:r>
            <a:r>
              <a:rPr sz="900">
                <a:solidFill>
                  <a:srgbClr val="19177C"/>
                </a:solidFill>
                <a:latin typeface="Consolas"/>
              </a:rPr>
              <a:t>$entities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SQL                          Use Case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filterByColumn($value)                  WHERE column = ?             Exact match                    </a:t>
            </a:r>
          </a:p>
          <a:p>
            <a:pPr>
              <a:spcAft>
                <a:spcPts val="100"/>
              </a:spcAft>
              <a:defRPr sz="1000">
                <a:solidFill>
                  <a:srgbClr val="1A1A1A"/>
                </a:solidFill>
                <a:latin typeface="Consolas"/>
              </a:defRPr>
            </a:pPr>
            <a:r>
              <a:t>filterByColumn($value, Criteria::LIKE)  WHERE column LIKE ?          Partial match (use % wildcards)</a:t>
            </a:r>
          </a:p>
          <a:p>
            <a:pPr>
              <a:spcAft>
                <a:spcPts val="100"/>
              </a:spcAft>
              <a:defRPr sz="1000">
                <a:solidFill>
                  <a:srgbClr val="1A1A1A"/>
                </a:solidFill>
                <a:latin typeface="Consolas"/>
              </a:defRPr>
            </a:pPr>
            <a:r>
              <a:t>filterByColumn_In($array)               WHERE column IN (?, ?, ...)  Bulk fetch by multiple values  </a:t>
            </a:r>
          </a:p>
          <a:p>
            <a:pPr>
              <a:spcAft>
                <a:spcPts val="100"/>
              </a:spcAft>
              <a:defRPr sz="1000">
                <a:solidFill>
                  <a:srgbClr val="1A1A1A"/>
                </a:solidFill>
                <a:latin typeface="Consolas"/>
              </a:defRPr>
            </a:pPr>
            <a:r>
              <a:t>findOne()                               LIMIT 1                      Get single result              </a:t>
            </a:r>
          </a:p>
          <a:p>
            <a:pPr>
              <a:spcAft>
                <a:spcPts val="100"/>
              </a:spcAft>
              <a:defRPr sz="1000">
                <a:solidFill>
                  <a:srgbClr val="1A1A1A"/>
                </a:solidFill>
                <a:latin typeface="Consolas"/>
              </a:defRPr>
            </a:pPr>
            <a:r>
              <a:t>find()                                  No limit                     Get collection                 </a:t>
            </a:r>
          </a:p>
          <a:p>
            <a:pPr>
              <a:spcAft>
                <a:spcPts val="100"/>
              </a:spcAft>
              <a:defRPr sz="1000">
                <a:solidFill>
                  <a:srgbClr val="1A1A1A"/>
                </a:solidFill>
                <a:latin typeface="Consolas"/>
              </a:defRPr>
            </a:pPr>
            <a:r>
              <a:t>findOneByColumnName($value)             WHERE column = ? LIMIT 1     Shorthand for filter + findOne </a:t>
            </a:r>
          </a:p>
          <a:p>
            <a:pPr>
              <a:spcAft>
                <a:spcPts val="100"/>
              </a:spcAft>
              <a:defRPr sz="1000">
                <a:solidFill>
                  <a:srgbClr val="1A1A1A"/>
                </a:solidFill>
                <a:latin typeface="Consolas"/>
              </a:defRPr>
            </a:pPr>
            <a:r>
              <a:t>findOneOrCreate()                       Finds or creates entity      Upsert patterns (data import)  </a:t>
            </a:r>
          </a:p>
          <a:p>
            <a:pPr>
              <a:spcAft>
                <a:spcPts val="100"/>
              </a:spcAft>
              <a:defRPr sz="1000">
                <a:solidFill>
                  <a:srgbClr val="1A1A1A"/>
                </a:solidFill>
                <a:latin typeface="Consolas"/>
              </a:defRPr>
            </a:pPr>
            <a:r>
              <a:t>count()                                 SELECT COUNT(*)              Count results without fetching</a:t>
            </a:r>
          </a:p>
          <a:p>
            <a:pPr>
              <a:spcBef>
                <a:spcPts val="1200"/>
              </a:spcBef>
              <a:spcAft>
                <a:spcPts val="600"/>
              </a:spcAft>
              <a:defRPr sz="2000" b="1">
                <a:solidFill>
                  <a:srgbClr val="1A1A1A"/>
                </a:solidFill>
              </a:defRPr>
            </a:pPr>
            <a:r>
              <a:t>8.6 Criteria Pattern for Complex Queries</a:t>
            </a:r>
          </a:p>
          <a:p>
            <a:pPr>
              <a:spcAft>
                <a:spcPts val="800"/>
              </a:spcAft>
              <a:defRPr sz="1600">
                <a:solidFill>
                  <a:srgbClr val="1A1A1A"/>
                </a:solidFill>
              </a:defRPr>
            </a:pPr>
            <a:r>
              <a:t>Instead of adding many method parameters, use a CriteriaTransfer to encapsulate search conditions: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Repository applies conditions based on what's set in criteria</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M</a:t>
            </a:r>
            <a:r>
              <a:rPr sz="900">
                <a:solidFill>
                  <a:srgbClr val="2D2D2D"/>
                </a:solidFill>
                <a:latin typeface="Consolas"/>
              </a:rPr>
              <a:t>essageCriteriaTransfer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880000"/>
                </a:solidFill>
                <a:latin typeface="Consolas"/>
              </a:rPr>
              <a:t>M</a:t>
            </a:r>
            <a:r>
              <a:rPr sz="900">
                <a:solidFill>
                  <a:srgbClr val="2D2D2D"/>
                </a:solidFill>
                <a:latin typeface="Consolas"/>
              </a:rPr>
              <a:t>essageTransfer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-&gt;getFactory()-&gt;createContactRequestQuery()</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-&gt;getIdContactRequest())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-&gt;findOneByIdContactRequest(</a:t>
            </a:r>
            <a:r>
              <a:rPr sz="900">
                <a:solidFill>
                  <a:srgbClr val="19177C"/>
                </a:solidFill>
                <a:latin typeface="Consolas"/>
              </a:rPr>
              <a:t>$criteria</a:t>
            </a:r>
            <a:r>
              <a:rPr sz="900">
                <a:solidFill>
                  <a:srgbClr val="2D2D2D"/>
                </a:solidFill>
                <a:latin typeface="Consolas"/>
              </a:rPr>
              <a:t>-&gt;getIdContactRequest())</a:t>
            </a:r>
            <a:r>
              <a:rPr sz="900">
                <a:solidFill>
                  <a:srgbClr val="007020"/>
                </a:solidFill>
                <a:latin typeface="Consolas"/>
              </a:rPr>
              <a:t>;</a:t>
            </a:r>
          </a:p>
          <a:p>
            <a:pPr>
              <a:spcBef>
                <a:spcPts val="0"/>
              </a:spcBef>
              <a:spcAft>
                <a:spcPts val="0"/>
              </a:spcAft>
            </a:pPr>
            <a:r>
              <a:rPr sz="900">
                <a:solidFill>
                  <a:srgbClr val="2D2D2D"/>
                </a:solidFill>
                <a:latin typeface="Consolas"/>
              </a:rPr>
              <a:t>    } </a:t>
            </a:r>
            <a:r>
              <a:rPr sz="900" b="1">
                <a:solidFill>
                  <a:srgbClr val="007020"/>
                </a:solidFill>
                <a:latin typeface="Consolas"/>
              </a:rPr>
              <a:t>elseif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-&gt;getMessage())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-&gt;filterByMessage(</a:t>
            </a:r>
          </a:p>
          <a:p>
            <a:pPr>
              <a:spcBef>
                <a:spcPts val="0"/>
              </a:spcBef>
              <a:spcAft>
                <a:spcPts val="0"/>
              </a:spcAft>
            </a:pPr>
            <a:r>
              <a:rPr sz="900">
                <a:solidFill>
                  <a:srgbClr val="2D2D2D"/>
                </a:solidFill>
                <a:latin typeface="Consolas"/>
              </a:rPr>
              <a:t>            </a:t>
            </a:r>
            <a:r>
              <a:rPr sz="900">
                <a:solidFill>
                  <a:srgbClr val="06287E"/>
                </a:solidFill>
                <a:latin typeface="Consolas"/>
              </a:rPr>
              <a:t>sprintf</a:t>
            </a:r>
            <a:r>
              <a:rPr sz="900">
                <a:solidFill>
                  <a:srgbClr val="2D2D2D"/>
                </a:solidFill>
                <a:latin typeface="Consolas"/>
              </a:rPr>
              <a:t>(</a:t>
            </a:r>
            <a:r>
              <a:rPr sz="900">
                <a:solidFill>
                  <a:srgbClr val="4070A0"/>
                </a:solidFill>
                <a:latin typeface="Consolas"/>
              </a:rPr>
              <a:t>'%%%s%%'</a:t>
            </a:r>
            <a:r>
              <a:rPr sz="900">
                <a:solidFill>
                  <a:srgbClr val="007020"/>
                </a:solidFill>
                <a:latin typeface="Consolas"/>
              </a:rPr>
              <a:t>,</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-&gt;getMessage())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C</a:t>
            </a:r>
            <a:r>
              <a:rPr sz="900">
                <a:solidFill>
                  <a:srgbClr val="2D2D2D"/>
                </a:solidFill>
                <a:latin typeface="Consolas"/>
              </a:rPr>
              <a:t>riteria::</a:t>
            </a:r>
            <a:r>
              <a:rPr sz="900">
                <a:solidFill>
                  <a:srgbClr val="880000"/>
                </a:solidFill>
                <a:latin typeface="Consolas"/>
              </a:rPr>
              <a:t>LIKE</a:t>
            </a:r>
            <a:r>
              <a:rPr sz="900">
                <a:solidFill>
                  <a:srgbClr val="007020"/>
                </a:solidFill>
                <a:latin typeface="Consolas"/>
              </a:rPr>
              <a:t>,</a:t>
            </a:r>
          </a:p>
          <a:p>
            <a:pPr>
              <a:spcBef>
                <a:spcPts val="0"/>
              </a:spcBef>
              <a:spcAft>
                <a:spcPts val="0"/>
              </a:spcAft>
            </a:pPr>
            <a:r>
              <a:rPr sz="900">
                <a:solidFill>
                  <a:srgbClr val="2D2D2D"/>
                </a:solidFill>
                <a:latin typeface="Consolas"/>
              </a:rPr>
              <a:t>        )-&gt;findOne()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 map and return</a:t>
            </a:r>
          </a:p>
          <a:p>
            <a:pPr>
              <a:spcBef>
                <a:spcPts val="0"/>
              </a:spcBef>
              <a:spcAft>
                <a:spcPts val="0"/>
              </a:spcAft>
            </a:pPr>
            <a:r>
              <a:rPr sz="900">
                <a:solidFill>
                  <a:srgbClr val="2D2D2D"/>
                </a:solidFill>
                <a:latin typeface="Consolas"/>
              </a:rPr>
              <a: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pattern scales cleanly as you add more filter options - just add properties to the CriteriaTransfer and conditions in the Repository.</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9.1 Unit Tests: Mock the Interface</a:t>
            </a:r>
          </a:p>
          <a:p>
            <a:pPr>
              <a:spcAft>
                <a:spcPts val="800"/>
              </a:spcAft>
              <a:defRPr sz="1600">
                <a:solidFill>
                  <a:srgbClr val="1A1A1A"/>
                </a:solidFill>
              </a:defRPr>
            </a:pPr>
            <a:r>
              <a:t>Test a single class in isolation. Mock ALL collaborators via their interfaces: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SprykerAcademyTest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Zed</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Business</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SupplierReaderTest</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upplierReaderTest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U</a:t>
            </a:r>
            <a:r>
              <a:rPr sz="900">
                <a:solidFill>
                  <a:srgbClr val="2D2D2D"/>
                </a:solidFill>
                <a:latin typeface="Consolas"/>
              </a:rPr>
              <a:t>nit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testGetSuppliersReturnsRepositoryResult()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upplierCriteriaTransfer()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$expected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upplierTransfer())-&gt;setIdSupplier(</a:t>
            </a:r>
            <a:r>
              <a:rPr sz="900">
                <a:solidFill>
                  <a:srgbClr val="40A070"/>
                </a:solidFill>
                <a:latin typeface="Consolas"/>
              </a:rPr>
              <a:t>1</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Mock the interface, not the concrete class</a:t>
            </a:r>
          </a:p>
          <a:p>
            <a:pPr>
              <a:spcBef>
                <a:spcPts val="0"/>
              </a:spcBef>
              <a:spcAft>
                <a:spcPts val="0"/>
              </a:spcAft>
            </a:pPr>
            <a:r>
              <a:rPr sz="900">
                <a:solidFill>
                  <a:srgbClr val="2D2D2D"/>
                </a:solidFill>
                <a:latin typeface="Consolas"/>
              </a:rPr>
              <a:t>        </a:t>
            </a:r>
            <a:r>
              <a:rPr sz="900">
                <a:solidFill>
                  <a:srgbClr val="19177C"/>
                </a:solidFill>
                <a:latin typeface="Consolas"/>
              </a:rPr>
              <a:t>$repositoryMock</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-&gt;createMock(</a:t>
            </a:r>
            <a:r>
              <a:rPr sz="900">
                <a:solidFill>
                  <a:srgbClr val="880000"/>
                </a:solidFill>
                <a:latin typeface="Consolas"/>
              </a:rPr>
              <a:t>S</a:t>
            </a:r>
            <a:r>
              <a:rPr sz="900">
                <a:solidFill>
                  <a:srgbClr val="2D2D2D"/>
                </a:solidFill>
                <a:latin typeface="Consolas"/>
              </a:rPr>
              <a:t>upplierRepositoryInterface::</a:t>
            </a:r>
            <a:r>
              <a:rPr sz="900" b="1">
                <a:solidFill>
                  <a:srgbClr val="007020"/>
                </a:solidFill>
                <a:latin typeface="Consolas"/>
              </a:rPr>
              <a:t>class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$repositoryMock</a:t>
            </a:r>
            <a:r>
              <a:rPr sz="900">
                <a:solidFill>
                  <a:srgbClr val="2D2D2D"/>
                </a:solidFill>
                <a:latin typeface="Consolas"/>
              </a:rPr>
              <a:t>-&gt;expects(</a:t>
            </a:r>
            <a:r>
              <a:rPr sz="900">
                <a:solidFill>
                  <a:srgbClr val="19177C"/>
                </a:solidFill>
                <a:latin typeface="Consolas"/>
              </a:rPr>
              <a:t>$this</a:t>
            </a:r>
            <a:r>
              <a:rPr sz="900">
                <a:solidFill>
                  <a:srgbClr val="2D2D2D"/>
                </a:solidFill>
                <a:latin typeface="Consolas"/>
              </a:rPr>
              <a:t>-&gt;once())</a:t>
            </a:r>
          </a:p>
          <a:p>
            <a:pPr>
              <a:spcBef>
                <a:spcPts val="0"/>
              </a:spcBef>
              <a:spcAft>
                <a:spcPts val="0"/>
              </a:spcAft>
            </a:pPr>
            <a:r>
              <a:rPr sz="900">
                <a:solidFill>
                  <a:srgbClr val="2D2D2D"/>
                </a:solidFill>
                <a:latin typeface="Consolas"/>
              </a:rPr>
              <a:t>            -&gt;method(</a:t>
            </a:r>
            <a:r>
              <a:rPr sz="900">
                <a:solidFill>
                  <a:srgbClr val="4070A0"/>
                </a:solidFill>
                <a:latin typeface="Consolas"/>
              </a:rPr>
              <a:t>'getSuppliers'</a:t>
            </a:r>
            <a:r>
              <a:rPr sz="900">
                <a:solidFill>
                  <a:srgbClr val="2D2D2D"/>
                </a:solidFill>
                <a:latin typeface="Consolas"/>
              </a:rPr>
              <a: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-&gt;with(</a:t>
            </a:r>
            <a:r>
              <a:rPr sz="900">
                <a:solidFill>
                  <a:srgbClr val="19177C"/>
                </a:solidFill>
                <a:latin typeface="Consolas"/>
              </a:rPr>
              <a:t>$criteria</a:t>
            </a:r>
            <a:r>
              <a:rPr sz="900">
                <a:solidFill>
                  <a:srgbClr val="2D2D2D"/>
                </a:solidFill>
                <a:latin typeface="Consolas"/>
              </a:rPr>
              <a:t>)</a:t>
            </a:r>
          </a:p>
          <a:p>
            <a:pPr>
              <a:spcBef>
                <a:spcPts val="0"/>
              </a:spcBef>
              <a:spcAft>
                <a:spcPts val="0"/>
              </a:spcAft>
            </a:pPr>
            <a:r>
              <a:rPr sz="900">
                <a:solidFill>
                  <a:srgbClr val="2D2D2D"/>
                </a:solidFill>
                <a:latin typeface="Consolas"/>
              </a:rPr>
              <a:t>            -&gt;willReturn(</a:t>
            </a:r>
            <a:r>
              <a:rPr sz="900">
                <a:solidFill>
                  <a:srgbClr val="19177C"/>
                </a:solidFill>
                <a:latin typeface="Consolas"/>
              </a:rPr>
              <a:t>$expected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$reader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r>
              <a:rPr sz="900">
                <a:solidFill>
                  <a:srgbClr val="19177C"/>
                </a:solidFill>
                <a:latin typeface="Consolas"/>
              </a:rPr>
              <a:t>$repositoryMock</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$actual</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$reader</a:t>
            </a:r>
            <a:r>
              <a:rPr sz="900">
                <a:solidFill>
                  <a:srgbClr val="2D2D2D"/>
                </a:solidFill>
                <a:latin typeface="Consolas"/>
              </a:rPr>
              <a:t>-&gt;getSuppliers(</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-&gt;assertSame(</a:t>
            </a:r>
            <a:r>
              <a:rPr sz="900">
                <a:solidFill>
                  <a:srgbClr val="19177C"/>
                </a:solidFill>
                <a:latin typeface="Consolas"/>
              </a:rPr>
              <a:t>$expected</a:t>
            </a:r>
            <a:r>
              <a:rPr sz="900">
                <a:solidFill>
                  <a:srgbClr val="007020"/>
                </a:solidFill>
                <a:latin typeface="Consolas"/>
              </a:rPr>
              <a:t>,</a:t>
            </a:r>
            <a:r>
              <a:rPr sz="900">
                <a:solidFill>
                  <a:srgbClr val="2D2D2D"/>
                </a:solidFill>
                <a:latin typeface="Consolas"/>
              </a:rPr>
              <a:t> </a:t>
            </a:r>
            <a:r>
              <a:rPr sz="900">
                <a:solidFill>
                  <a:srgbClr val="19177C"/>
                </a:solidFill>
                <a:latin typeface="Consolas"/>
              </a:rPr>
              <a:t>$actual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9.2 Testing Write Operations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testCreateDelegatesToEntityManager()</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$input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upplierTransfer())-&gt;setName(</a:t>
            </a:r>
            <a:r>
              <a:rPr sz="900">
                <a:solidFill>
                  <a:srgbClr val="4070A0"/>
                </a:solidFill>
                <a:latin typeface="Consolas"/>
              </a:rPr>
              <a:t>'Supplier 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$expected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upplierTransfer())-&gt;setIdSupplier(</a:t>
            </a:r>
            <a:r>
              <a:rPr sz="900">
                <a:solidFill>
                  <a:srgbClr val="40A070"/>
                </a:solidFill>
                <a:latin typeface="Consolas"/>
              </a:rPr>
              <a:t>1</a:t>
            </a:r>
            <a:r>
              <a:rPr sz="900">
                <a:solidFill>
                  <a:srgbClr val="2D2D2D"/>
                </a:solidFill>
                <a:latin typeface="Consolas"/>
              </a:rPr>
              <a:t>)-&gt;setName(</a:t>
            </a:r>
            <a:r>
              <a:rPr sz="900">
                <a:solidFill>
                  <a:srgbClr val="4070A0"/>
                </a:solidFill>
                <a:latin typeface="Consolas"/>
              </a:rPr>
              <a:t>'Supplier 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$entityManagerMock</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-&gt;createMock(</a:t>
            </a:r>
            <a:r>
              <a:rPr sz="900">
                <a:solidFill>
                  <a:srgbClr val="880000"/>
                </a:solidFill>
                <a:latin typeface="Consolas"/>
              </a:rPr>
              <a:t>S</a:t>
            </a:r>
            <a:r>
              <a:rPr sz="900">
                <a:solidFill>
                  <a:srgbClr val="2D2D2D"/>
                </a:solidFill>
                <a:latin typeface="Consolas"/>
              </a:rPr>
              <a:t>upplierEntityManagerInterface::</a:t>
            </a:r>
            <a:r>
              <a:rPr sz="900" b="1">
                <a:solidFill>
                  <a:srgbClr val="007020"/>
                </a:solidFill>
                <a:latin typeface="Consolas"/>
              </a:rPr>
              <a:t>class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$entityManagerMock</a:t>
            </a:r>
            <a:r>
              <a:rPr sz="900">
                <a:solidFill>
                  <a:srgbClr val="2D2D2D"/>
                </a:solidFill>
                <a:latin typeface="Consolas"/>
              </a:rPr>
              <a:t>-&gt;expects(</a:t>
            </a:r>
            <a:r>
              <a:rPr sz="900">
                <a:solidFill>
                  <a:srgbClr val="19177C"/>
                </a:solidFill>
                <a:latin typeface="Consolas"/>
              </a:rPr>
              <a:t>$this</a:t>
            </a:r>
            <a:r>
              <a:rPr sz="900">
                <a:solidFill>
                  <a:srgbClr val="2D2D2D"/>
                </a:solidFill>
                <a:latin typeface="Consolas"/>
              </a:rPr>
              <a:t>-&gt;once())</a:t>
            </a:r>
          </a:p>
          <a:p>
            <a:pPr>
              <a:spcBef>
                <a:spcPts val="0"/>
              </a:spcBef>
              <a:spcAft>
                <a:spcPts val="0"/>
              </a:spcAft>
            </a:pPr>
            <a:r>
              <a:rPr sz="900">
                <a:solidFill>
                  <a:srgbClr val="2D2D2D"/>
                </a:solidFill>
                <a:latin typeface="Consolas"/>
              </a:rPr>
              <a:t>        -&gt;method(</a:t>
            </a:r>
            <a:r>
              <a:rPr sz="900">
                <a:solidFill>
                  <a:srgbClr val="4070A0"/>
                </a:solidFill>
                <a:latin typeface="Consolas"/>
              </a:rPr>
              <a:t>'createSupplier'</a:t>
            </a:r>
            <a:r>
              <a:rPr sz="900">
                <a:solidFill>
                  <a:srgbClr val="2D2D2D"/>
                </a:solidFill>
                <a:latin typeface="Consolas"/>
              </a:rPr>
              <a:t>)</a:t>
            </a:r>
          </a:p>
          <a:p>
            <a:pPr>
              <a:spcBef>
                <a:spcPts val="0"/>
              </a:spcBef>
              <a:spcAft>
                <a:spcPts val="0"/>
              </a:spcAft>
            </a:pPr>
            <a:r>
              <a:rPr sz="900">
                <a:solidFill>
                  <a:srgbClr val="2D2D2D"/>
                </a:solidFill>
                <a:latin typeface="Consolas"/>
              </a:rPr>
              <a:t>        -&gt;with(</a:t>
            </a:r>
            <a:r>
              <a:rPr sz="900">
                <a:solidFill>
                  <a:srgbClr val="19177C"/>
                </a:solidFill>
                <a:latin typeface="Consolas"/>
              </a:rPr>
              <a:t>$input</a:t>
            </a:r>
            <a:r>
              <a:rPr sz="900">
                <a:solidFill>
                  <a:srgbClr val="2D2D2D"/>
                </a:solidFill>
                <a:latin typeface="Consolas"/>
              </a:rPr>
              <a:t>)</a:t>
            </a:r>
          </a:p>
          <a:p>
            <a:pPr>
              <a:spcBef>
                <a:spcPts val="0"/>
              </a:spcBef>
              <a:spcAft>
                <a:spcPts val="0"/>
              </a:spcAft>
            </a:pPr>
            <a:r>
              <a:rPr sz="900">
                <a:solidFill>
                  <a:srgbClr val="2D2D2D"/>
                </a:solidFill>
                <a:latin typeface="Consolas"/>
              </a:rPr>
              <a:t>        -&gt;willReturn(</a:t>
            </a:r>
            <a:r>
              <a:rPr sz="900">
                <a:solidFill>
                  <a:srgbClr val="19177C"/>
                </a:solidFill>
                <a:latin typeface="Consolas"/>
              </a:rPr>
              <a:t>$expected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$writer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r>
              <a:rPr sz="900">
                <a:solidFill>
                  <a:srgbClr val="19177C"/>
                </a:solidFill>
                <a:latin typeface="Consolas"/>
              </a:rPr>
              <a:t>$entityManagerMock</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$actual</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$writer</a:t>
            </a:r>
            <a:r>
              <a:rPr sz="900">
                <a:solidFill>
                  <a:srgbClr val="2D2D2D"/>
                </a:solidFill>
                <a:latin typeface="Consolas"/>
              </a:rPr>
              <a:t>-&gt;create(</a:t>
            </a:r>
            <a:r>
              <a:rPr sz="900">
                <a:solidFill>
                  <a:srgbClr val="19177C"/>
                </a:solidFill>
                <a:latin typeface="Consolas"/>
              </a:rPr>
              <a:t>$input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-&gt;assertSame(</a:t>
            </a:r>
            <a:r>
              <a:rPr sz="900">
                <a:solidFill>
                  <a:srgbClr val="19177C"/>
                </a:solidFill>
                <a:latin typeface="Consolas"/>
              </a:rPr>
              <a:t>$expected</a:t>
            </a:r>
            <a:r>
              <a:rPr sz="900">
                <a:solidFill>
                  <a:srgbClr val="007020"/>
                </a:solidFill>
                <a:latin typeface="Consolas"/>
              </a:rPr>
              <a:t>,</a:t>
            </a:r>
            <a:r>
              <a:rPr sz="900">
                <a:solidFill>
                  <a:srgbClr val="2D2D2D"/>
                </a:solidFill>
                <a:latin typeface="Consolas"/>
              </a:rPr>
              <a:t> </a:t>
            </a:r>
            <a:r>
              <a:rPr sz="900">
                <a:solidFill>
                  <a:srgbClr val="19177C"/>
                </a:solidFill>
                <a:latin typeface="Consolas"/>
              </a:rPr>
              <a:t>$actual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9.3 Integration Tests: Clean State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Use setUp() and tearDown() to ensure database isolation:</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upplierDataImportTest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U</a:t>
            </a:r>
            <a:r>
              <a:rPr sz="900">
                <a:solidFill>
                  <a:srgbClr val="2D2D2D"/>
                </a:solidFill>
                <a:latin typeface="Consolas"/>
              </a:rPr>
              <a:t>nit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setUp()</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parent</a:t>
            </a:r>
            <a:r>
              <a:rPr sz="900">
                <a:solidFill>
                  <a:srgbClr val="2D2D2D"/>
                </a:solidFill>
                <a:latin typeface="Consolas"/>
              </a:rPr>
              <a:t>::setUp()</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-&gt;cleanTestData()</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tearDown()</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-&gt;cleanTestData()</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parent</a:t>
            </a:r>
            <a:r>
              <a:rPr sz="900">
                <a:solidFill>
                  <a:srgbClr val="2D2D2D"/>
                </a:solidFill>
                <a:latin typeface="Consolas"/>
              </a:rPr>
              <a:t>::tearDown()</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9.4 Group Annotations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Every test class must carry @group annotations mirroring the namespace hierarchy:</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SprykerAcademyTest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Zed</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Business</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SupplierReaderTest</a:t>
            </a:r>
          </a:p>
          <a:p>
            <a:pPr>
              <a:spcBef>
                <a:spcPts val="0"/>
              </a:spcBef>
              <a:spcAft>
                <a:spcPts val="0"/>
              </a:spcAft>
            </a:pPr>
            <a:r>
              <a:rPr sz="900" i="1">
                <a:solidFill>
                  <a:srgbClr val="60A0B0"/>
                </a:solidFill>
                <a:latin typeface="Consolas"/>
              </a:rPr>
              <a:t> */</a:t>
            </a:r>
          </a:p>
          <a:p>
            <a:pPr>
              <a:spcAft>
                <a:spcPts val="800"/>
              </a:spcAft>
              <a:defRPr sz="1600">
                <a:solidFill>
                  <a:srgbClr val="1A1A1A"/>
                </a:solidFill>
              </a:defRPr>
            </a:pPr>
            <a:r>
              <a:t>This enables running subsets of tests: vendor/bin/codecept run --group Supplier .</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10. Common Commands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Command                                               When to Use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docker/sdk cli composer dump-autoload                 After loading a new exercise       </a:t>
            </a:r>
          </a:p>
          <a:p>
            <a:pPr>
              <a:spcAft>
                <a:spcPts val="100"/>
              </a:spcAft>
              <a:defRPr sz="1000">
                <a:solidFill>
                  <a:srgbClr val="1A1A1A"/>
                </a:solidFill>
                <a:latin typeface="Consolas"/>
              </a:defRPr>
            </a:pPr>
            <a:r>
              <a:t>docker/sdk console transfer:generate                  After modifying .transfer.xml files</a:t>
            </a:r>
          </a:p>
          <a:p>
            <a:pPr>
              <a:spcAft>
                <a:spcPts val="100"/>
              </a:spcAft>
              <a:defRPr sz="1000">
                <a:solidFill>
                  <a:srgbClr val="1A1A1A"/>
                </a:solidFill>
                <a:latin typeface="Consolas"/>
              </a:defRPr>
            </a:pPr>
            <a:r>
              <a:t>docker/sdk console propel:install                     After modifying .schema.xml files  </a:t>
            </a:r>
          </a:p>
          <a:p>
            <a:pPr>
              <a:spcAft>
                <a:spcPts val="100"/>
              </a:spcAft>
              <a:defRPr sz="1000">
                <a:solidFill>
                  <a:srgbClr val="1A1A1A"/>
                </a:solidFill>
                <a:latin typeface="Consolas"/>
              </a:defRPr>
            </a:pPr>
            <a:r>
              <a:t>docker/sdk console data:import                        After implementing data importers  </a:t>
            </a:r>
          </a:p>
          <a:p>
            <a:pPr>
              <a:spcAft>
                <a:spcPts val="100"/>
              </a:spcAft>
              <a:defRPr sz="1000">
                <a:solidFill>
                  <a:srgbClr val="1A1A1A"/>
                </a:solidFill>
                <a:latin typeface="Consolas"/>
              </a:defRPr>
            </a:pPr>
            <a:r>
              <a:t>docker/sdk console event:trigger                      To trigger publish &amp; sync events   </a:t>
            </a:r>
          </a:p>
          <a:p>
            <a:pPr>
              <a:spcAft>
                <a:spcPts val="100"/>
              </a:spcAft>
              <a:defRPr sz="1000">
                <a:solidFill>
                  <a:srgbClr val="1A1A1A"/>
                </a:solidFill>
                <a:latin typeface="Consolas"/>
              </a:defRPr>
            </a:pPr>
            <a:r>
              <a:t>docker/sdk console queue:worker:start                 To process queued messages         </a:t>
            </a:r>
          </a:p>
          <a:p>
            <a:pPr>
              <a:spcAft>
                <a:spcPts val="100"/>
              </a:spcAft>
              <a:defRPr sz="1000">
                <a:solidFill>
                  <a:srgbClr val="1A1A1A"/>
                </a:solidFill>
                <a:latin typeface="Consolas"/>
              </a:defRPr>
            </a:pPr>
            <a:r>
              <a:t>docker/sdk console search:setup:sources               After modifying search schemas     </a:t>
            </a:r>
          </a:p>
          <a:p>
            <a:pPr>
              <a:spcAft>
                <a:spcPts val="100"/>
              </a:spcAft>
              <a:defRPr sz="1000">
                <a:solidFill>
                  <a:srgbClr val="1A1A1A"/>
                </a:solidFill>
                <a:latin typeface="Consolas"/>
              </a:defRPr>
            </a:pPr>
            <a:r>
              <a:t>docker/sdk console glue-api:controller:cache:warm-up  After adding Glue API resources    </a:t>
            </a:r>
          </a:p>
          <a:p>
            <a:pPr>
              <a:spcAft>
                <a:spcPts val="100"/>
              </a:spcAft>
              <a:defRPr sz="1000">
                <a:solidFill>
                  <a:srgbClr val="1A1A1A"/>
                </a:solidFill>
                <a:latin typeface="Consolas"/>
              </a:defRPr>
            </a:pPr>
            <a:r>
              <a:t>docker/sdk console router:cache:warm-up               After adding new route providers   </a:t>
            </a:r>
          </a:p>
          <a:p>
            <a:pPr>
              <a:spcAft>
                <a:spcPts val="100"/>
              </a:spcAft>
              <a:defRPr sz="1000">
                <a:solidFill>
                  <a:srgbClr val="1A1A1A"/>
                </a:solidFill>
                <a:latin typeface="Consolas"/>
              </a:defRPr>
            </a:pPr>
            <a:r>
              <a:t>docker/sdk console navigation:build-cache             After modifying navigation XML     </a:t>
            </a:r>
          </a:p>
          <a:p>
            <a:pPr>
              <a:spcAft>
                <a:spcPts val="100"/>
              </a:spcAft>
              <a:defRPr sz="1000">
                <a:solidFill>
                  <a:srgbClr val="1A1A1A"/>
                </a:solidFill>
                <a:latin typeface="Consolas"/>
              </a:defRPr>
            </a:pPr>
            <a:r>
              <a:t>docker/sdk console cache:empty-all                    When experiencing cache issues     </a:t>
            </a:r>
          </a:p>
          <a:p>
            <a:pPr>
              <a:spcAft>
                <a:spcPts val="100"/>
              </a:spcAft>
              <a:defRPr sz="1000">
                <a:solidFill>
                  <a:srgbClr val="1A1A1A"/>
                </a:solidFill>
                <a:latin typeface="Consolas"/>
              </a:defRPr>
            </a:pPr>
            <a:r>
              <a:t>docker/sdk console c:e                                Shortcut for cache:empty-all</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Quick Reference: File Naming and Location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What                    Path Pattern                                                   Example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Facade                  Zed/{Module}/Business/{Module}Facade.php                       ContactRequestFacade.php                 </a:t>
            </a:r>
          </a:p>
          <a:p>
            <a:pPr>
              <a:spcAft>
                <a:spcPts val="100"/>
              </a:spcAft>
              <a:defRPr sz="1000">
                <a:solidFill>
                  <a:srgbClr val="1A1A1A"/>
                </a:solidFill>
                <a:latin typeface="Consolas"/>
              </a:defRPr>
            </a:pPr>
            <a:r>
              <a:t>Facade Interface        Zed/{Module}/Business/{Module}FacadeInterface.php              ContactRequestFacadeInterface.php        </a:t>
            </a:r>
          </a:p>
          <a:p>
            <a:pPr>
              <a:spcAft>
                <a:spcPts val="100"/>
              </a:spcAft>
              <a:defRPr sz="1000">
                <a:solidFill>
                  <a:srgbClr val="1A1A1A"/>
                </a:solidFill>
                <a:latin typeface="Consolas"/>
              </a:defRPr>
            </a:pPr>
            <a:r>
              <a:t>Business Factory        Zed/{Module}/Business/{Module}BusinessFactory.php              ContactRequestBusinessFactory.php        </a:t>
            </a:r>
          </a:p>
          <a:p>
            <a:pPr>
              <a:spcAft>
                <a:spcPts val="100"/>
              </a:spcAft>
              <a:defRPr sz="1000">
                <a:solidFill>
                  <a:srgbClr val="1A1A1A"/>
                </a:solidFill>
                <a:latin typeface="Consolas"/>
              </a:defRPr>
            </a:pPr>
            <a:r>
              <a:t>Reader                  Zed/{Module}/Business/Reader/{Entity}Reader.php                ContactRequestReader.php                 </a:t>
            </a:r>
          </a:p>
          <a:p>
            <a:pPr>
              <a:spcAft>
                <a:spcPts val="100"/>
              </a:spcAft>
              <a:defRPr sz="1000">
                <a:solidFill>
                  <a:srgbClr val="1A1A1A"/>
                </a:solidFill>
                <a:latin typeface="Consolas"/>
              </a:defRPr>
            </a:pPr>
            <a:r>
              <a:t>Writer                  Zed/{Module}/Business/Writer/{Entity}Writer.php                ContactRequestWriter.php                 </a:t>
            </a:r>
          </a:p>
          <a:p>
            <a:pPr>
              <a:spcAft>
                <a:spcPts val="100"/>
              </a:spcAft>
              <a:defRPr sz="1000">
                <a:solidFill>
                  <a:srgbClr val="1A1A1A"/>
                </a:solidFill>
                <a:latin typeface="Consolas"/>
              </a:defRPr>
            </a:pPr>
            <a:r>
              <a:t>Repository              Zed/{Module}/Persistence/{Module}Repository.php                ContactRequestRepository.php             </a:t>
            </a:r>
          </a:p>
          <a:p>
            <a:pPr>
              <a:spcAft>
                <a:spcPts val="100"/>
              </a:spcAft>
              <a:defRPr sz="1000">
                <a:solidFill>
                  <a:srgbClr val="1A1A1A"/>
                </a:solidFill>
                <a:latin typeface="Consolas"/>
              </a:defRPr>
            </a:pPr>
            <a:r>
              <a:t>Repository Interface    Zed/{Module}/Persistence/{Module}RepositoryInterface.php       ContactRequestRepositoryInterface.php    </a:t>
            </a:r>
          </a:p>
          <a:p>
            <a:pPr>
              <a:spcAft>
                <a:spcPts val="100"/>
              </a:spcAft>
              <a:defRPr sz="1000">
                <a:solidFill>
                  <a:srgbClr val="1A1A1A"/>
                </a:solidFill>
                <a:latin typeface="Consolas"/>
              </a:defRPr>
            </a:pPr>
            <a:r>
              <a:t>EntityManager           Zed/{Module}/Persistence/{Module}EntityManager.php             ContactRequestEntityManager.php          </a:t>
            </a:r>
          </a:p>
          <a:p>
            <a:pPr>
              <a:spcAft>
                <a:spcPts val="100"/>
              </a:spcAft>
              <a:defRPr sz="1000">
                <a:solidFill>
                  <a:srgbClr val="1A1A1A"/>
                </a:solidFill>
                <a:latin typeface="Consolas"/>
              </a:defRPr>
            </a:pPr>
            <a:r>
              <a:t>PersistenceFactory      Zed/{Module}/Persistence/{Module}PersistenceFactory.php        ContactRequestPersistenceFactory.php     </a:t>
            </a:r>
          </a:p>
          <a:p>
            <a:pPr>
              <a:spcAft>
                <a:spcPts val="100"/>
              </a:spcAft>
              <a:defRPr sz="1000">
                <a:solidFill>
                  <a:srgbClr val="1A1A1A"/>
                </a:solidFill>
                <a:latin typeface="Consolas"/>
              </a:defRPr>
            </a:pPr>
            <a:r>
              <a:t>Mapper                  Zed/{Module}/Persistence/Mapper/{Entity}Mapper.php             ContactRequestMapper.php                 </a:t>
            </a:r>
          </a:p>
          <a:p>
            <a:pPr>
              <a:spcAft>
                <a:spcPts val="100"/>
              </a:spcAft>
              <a:defRPr sz="1000">
                <a:solidFill>
                  <a:srgbClr val="1A1A1A"/>
                </a:solidFill>
                <a:latin typeface="Consolas"/>
              </a:defRPr>
            </a:pPr>
            <a:r>
              <a:t>Propel Schema           Zed/{Module}/Persistence/Propel/Schema/pyz_{table}.schema.xml  pyz_contact_request.schema.xml           </a:t>
            </a:r>
          </a:p>
          <a:p>
            <a:pPr>
              <a:spcAft>
                <a:spcPts val="100"/>
              </a:spcAft>
              <a:defRPr sz="1000">
                <a:solidFill>
                  <a:srgbClr val="1A1A1A"/>
                </a:solidFill>
                <a:latin typeface="Consolas"/>
              </a:defRPr>
            </a:pPr>
            <a:r>
              <a:t>GatewayController       Zed/{Module}/Communication/Controller/GatewayController.php    GatewayController.php                    </a:t>
            </a:r>
          </a:p>
          <a:p>
            <a:pPr>
              <a:spcAft>
                <a:spcPts val="100"/>
              </a:spcAft>
              <a:defRPr sz="1000">
                <a:solidFill>
                  <a:srgbClr val="1A1A1A"/>
                </a:solidFill>
                <a:latin typeface="Consolas"/>
              </a:defRPr>
            </a:pPr>
            <a:r>
              <a:t>Back Office Controller  Zed/{Module}/Communication/Controller/{Name}Controller.php     ContactRequestController.php             </a:t>
            </a:r>
          </a:p>
          <a:p>
            <a:pPr>
              <a:spcAft>
                <a:spcPts val="100"/>
              </a:spcAft>
              <a:defRPr sz="1000">
                <a:solidFill>
                  <a:srgbClr val="1A1A1A"/>
                </a:solidFill>
                <a:latin typeface="Consolas"/>
              </a:defRPr>
            </a:pPr>
            <a:r>
              <a:t>Twig Template           Zed/{Module}/Presentation/{Controller}/{action}.twig           Message/add.twig                         </a:t>
            </a:r>
          </a:p>
          <a:p>
            <a:pPr>
              <a:spcAft>
                <a:spcPts val="100"/>
              </a:spcAft>
              <a:defRPr sz="1000">
                <a:solidFill>
                  <a:srgbClr val="1A1A1A"/>
                </a:solidFill>
                <a:latin typeface="Consolas"/>
              </a:defRPr>
            </a:pPr>
            <a:r>
              <a:t>Client                  Client/{Module}/{Module}Client.php                             ContactRequestClient.php                 </a:t>
            </a:r>
          </a:p>
          <a:p>
            <a:pPr>
              <a:spcAft>
                <a:spcPts val="100"/>
              </a:spcAft>
              <a:defRPr sz="1000">
                <a:solidFill>
                  <a:srgbClr val="1A1A1A"/>
                </a:solidFill>
                <a:latin typeface="Consolas"/>
              </a:defRPr>
            </a:pPr>
            <a:r>
              <a:t>Stub                    Client/{Module}/Stub/{Module}Stub.php                          ContactRequestStub.php</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Quick Reference: File Naming and Location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Transfer XML            Shared/{Module}/Transfer/{module}.transfer.xml                 contact_request.transfer.xml             </a:t>
            </a:r>
          </a:p>
          <a:p>
            <a:pPr>
              <a:spcAft>
                <a:spcPts val="100"/>
              </a:spcAft>
              <a:defRPr sz="1000">
                <a:solidFill>
                  <a:srgbClr val="1A1A1A"/>
                </a:solidFill>
                <a:latin typeface="Consolas"/>
              </a:defRPr>
            </a:pPr>
            <a:r>
              <a:t>DependencyProvider      {Layer}/{Module}/{Module}DependencyProvider.php                ContactRequestDependencyProvider.php     </a:t>
            </a:r>
          </a:p>
          <a:p>
            <a:pPr>
              <a:spcAft>
                <a:spcPts val="100"/>
              </a:spcAft>
              <a:defRPr sz="1000">
                <a:solidFill>
                  <a:srgbClr val="1A1A1A"/>
                </a:solidFill>
                <a:latin typeface="Consolas"/>
              </a:defRPr>
            </a:pPr>
            <a:r>
              <a:t>Route Plugin            Yves/{Module}/Plugin/Router/{Module}RouteProviderPlugin.php    ContactRequestPageRouteProviderPlugin.php</a:t>
            </a:r>
          </a:p>
          <a:p>
            <a:pPr>
              <a:spcAft>
                <a:spcPts val="100"/>
              </a:spcAft>
              <a:defRPr sz="1000">
                <a:solidFill>
                  <a:srgbClr val="1A1A1A"/>
                </a:solidFill>
                <a:latin typeface="Consolas"/>
              </a:defRPr>
            </a:pPr>
            <a:r>
              <a:t>Unit Test               tests/{Ns}Test/Zed/{Module}/Business/{Class}Test.php           SupplierReaderTest.php</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 Contact Request Page in Back Office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 Contact Request Page in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simple Spryker Back Office page and add an entry for it in the main navigation.</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Demo shop started on your local machine</a:t>
            </a:r>
          </a:p>
          <a:p>
            <a:pPr>
              <a:spcAft>
                <a:spcPts val="400"/>
              </a:spcAft>
              <a:defRPr sz="1500">
                <a:solidFill>
                  <a:srgbClr val="1A1A1A"/>
                </a:solidFill>
              </a:defRPr>
            </a:pPr>
            <a:r>
              <a:t>• Exercises repository cloned (see Student Setup Guide )</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basics/contact-request-back-office/skeleton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Back Office is the product name for the administration interface. From the code perspective, we refer to the Zed namespace. Code related to the Back Office is placed inside src/Pyz/Zed/* or src/SprykerAcademy/Zed/ .</a:t>
            </a:r>
          </a:p>
          <a:p>
            <a:pPr>
              <a:spcAft>
                <a:spcPts val="800"/>
              </a:spcAft>
              <a:defRPr sz="1600">
                <a:solidFill>
                  <a:srgbClr val="1A1A1A"/>
                </a:solidFill>
              </a:defRPr>
            </a:pPr>
            <a:r>
              <a:t>We will work in a module named ContactRequest located at src/SprykerAcademy/Zed/ContactRequest/ .</a:t>
            </a:r>
          </a:p>
          <a:p>
            <a:pPr>
              <a:spcBef>
                <a:spcPts val="1200"/>
              </a:spcBef>
              <a:spcAft>
                <a:spcPts val="600"/>
              </a:spcAft>
              <a:defRPr sz="2000" b="1">
                <a:solidFill>
                  <a:srgbClr val="1A1A1A"/>
                </a:solidFill>
              </a:defRPr>
            </a:pPr>
            <a:r>
              <a:t>1. The Controller</a:t>
            </a:r>
          </a:p>
          <a:p>
            <a:pPr>
              <a:spcAft>
                <a:spcPts val="800"/>
              </a:spcAft>
              <a:defRPr sz="1600">
                <a:solidFill>
                  <a:srgbClr val="1A1A1A"/>
                </a:solidFill>
              </a:defRPr>
            </a:pPr>
            <a:r>
              <a:t>The Controller class is in the Communication layer inside the Controller subdirectory:</a:t>
            </a:r>
          </a:p>
          <a:p>
            <a:pPr>
              <a:spcAft>
                <a:spcPts val="800"/>
              </a:spcAft>
              <a:defRPr sz="1600">
                <a:solidFill>
                  <a:srgbClr val="1A1A1A"/>
                </a:solidFill>
              </a:defRPr>
            </a:pPr>
            <a:r>
              <a:t>src/SprykerAcademy/Zed/ContactRequest/Communication/Controller/IndexController.php</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H</a:t>
            </a:r>
            <a:r>
              <a:rPr sz="900">
                <a:solidFill>
                  <a:srgbClr val="2D2D2D"/>
                </a:solidFill>
                <a:latin typeface="Consolas"/>
              </a:rPr>
              <a:t>elloWorld\</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C</a:t>
            </a:r>
            <a:r>
              <a:rPr sz="900">
                <a:solidFill>
                  <a:srgbClr val="2D2D2D"/>
                </a:solidFill>
                <a:latin typeface="Consolas"/>
              </a:rPr>
              <a:t>ontroller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K</a:t>
            </a:r>
            <a:r>
              <a:rPr sz="900">
                <a:solidFill>
                  <a:srgbClr val="2D2D2D"/>
                </a:solidFill>
                <a:latin typeface="Consolas"/>
              </a:rPr>
              <a:t>ernel\</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C</a:t>
            </a:r>
            <a:r>
              <a:rPr sz="900">
                <a:solidFill>
                  <a:srgbClr val="2D2D2D"/>
                </a:solidFill>
                <a:latin typeface="Consolas"/>
              </a:rPr>
              <a:t>ontroller\</a:t>
            </a:r>
            <a:r>
              <a:rPr sz="900">
                <a:solidFill>
                  <a:srgbClr val="880000"/>
                </a:solidFill>
                <a:latin typeface="Consolas"/>
              </a:rPr>
              <a:t>A</a:t>
            </a:r>
            <a:r>
              <a:rPr sz="900">
                <a:solidFill>
                  <a:srgbClr val="2D2D2D"/>
                </a:solidFill>
                <a:latin typeface="Consolas"/>
              </a:rPr>
              <a:t>bstractController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a:t>
            </a:r>
            <a:r>
              <a:rPr sz="900" b="1">
                <a:solidFill>
                  <a:srgbClr val="FF0000"/>
                </a:solidFill>
                <a:latin typeface="Consolas"/>
              </a:rPr>
              <a:t>TODO</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We extend from Spryker’s AbstractController which provides helper methods, and implement a basic indexAction() that returns an array passed to the template.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Use $this-&gt;viewResponse() and return the result. Pass a key-value array where the key will be the variable name accessible in the template. The value should be the string 'Contact Request!' .</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Template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the module folder ContactRequest , the Presentation layer follows the same naming as the Controller prefix. Create a folder called Hello and inside it a twig file named index.twig (matching the action name without the Action suffix).</a:t>
            </a:r>
          </a:p>
          <a:p>
            <a:pPr>
              <a:spcAft>
                <a:spcPts val="800"/>
              </a:spcAft>
              <a:defRPr sz="1600">
                <a:solidFill>
                  <a:srgbClr val="1A1A1A"/>
                </a:solidFill>
              </a:defRPr>
            </a:pPr>
            <a:r>
              <a:t>src/SprykerAcademy/Zed/ContactRequest/Presentation/Hello/index.twig</a:t>
            </a:r>
          </a:p>
          <a:p>
            <a:pPr>
              <a:spcBef>
                <a:spcPts val="0"/>
              </a:spcBef>
              <a:spcAft>
                <a:spcPts val="0"/>
              </a:spcAft>
            </a:pPr>
            <a:r>
              <a:rPr sz="900">
                <a:solidFill>
                  <a:srgbClr val="2D2D2D"/>
                </a:solidFill>
                <a:latin typeface="Consolas"/>
              </a:rPr>
              <a:t>{% extends '@Gui/Layout/layout.twig'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content %}</a:t>
            </a:r>
          </a:p>
          <a:p>
            <a:pPr>
              <a:spcBef>
                <a:spcPts val="0"/>
              </a:spcBef>
              <a:spcAft>
                <a:spcPts val="0"/>
              </a:spcAft>
            </a:pPr>
            <a:r>
              <a:rPr sz="900">
                <a:solidFill>
                  <a:srgbClr val="2D2D2D"/>
                </a:solidFill>
                <a:latin typeface="Consolas"/>
              </a:rPr>
              <a:t>    {# TODO #}</a:t>
            </a:r>
          </a:p>
          <a:p>
            <a:pPr>
              <a:spcBef>
                <a:spcPts val="0"/>
              </a:spcBef>
              <a:spcAft>
                <a:spcPts val="0"/>
              </a:spcAft>
            </a:pPr>
            <a:r>
              <a:rPr sz="900">
                <a:solidFill>
                  <a:srgbClr val="2D2D2D"/>
                </a:solidFill>
                <a:latin typeface="Consolas"/>
              </a:rPr>
              <a:t>{% endblock %}</a:t>
            </a:r>
          </a:p>
          <a:p>
            <a:pPr>
              <a:spcAft>
                <a:spcPts val="800"/>
              </a:spcAft>
              <a:defRPr sz="1600">
                <a:solidFill>
                  <a:srgbClr val="1A1A1A"/>
                </a:solidFill>
              </a:defRPr>
            </a:pPr>
            <a:r>
              <a:t>Coding time:</a:t>
            </a:r>
          </a:p>
          <a:p>
            <a:pPr>
              <a:spcAft>
                <a:spcPts val="800"/>
              </a:spcAft>
              <a:defRPr sz="1600">
                <a:solidFill>
                  <a:srgbClr val="1A1A1A"/>
                </a:solidFill>
              </a:defRPr>
            </a:pPr>
            <a:r>
              <a:t>Use the string you returned in the Controller action inside the template. The syntax is {{ yourKeyFromTheArray }} .</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editing, run:</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800"/>
              </a:spcAft>
              <a:defRPr sz="1600">
                <a:solidFill>
                  <a:srgbClr val="1A1A1A"/>
                </a:solidFill>
              </a:defRPr>
            </a:pPr>
            <a:r>
              <a:t>Visit: http://backoffice.eu.spryker.local/contact-request/index/index (Credentials: admin@spryker.com / change123 )</a:t>
            </a:r>
          </a:p>
          <a:p>
            <a:pPr>
              <a:spcAft>
                <a:spcPts val="800"/>
              </a:spcAft>
              <a:defRPr sz="1600">
                <a:solidFill>
                  <a:srgbClr val="1A1A1A"/>
                </a:solidFill>
              </a:defRPr>
            </a:pPr>
            <a:r>
              <a:t>Note the URL pattern: module / controller / action ( contact-request/index/index ). Back Office routing is resolved automatically from these names.</a:t>
            </a:r>
          </a:p>
          <a:p>
            <a:pPr>
              <a:spcAft>
                <a:spcPts val="800"/>
              </a:spcAft>
              <a:defRPr sz="1400" i="1">
                <a:solidFill>
                  <a:srgbClr val="888888"/>
                </a:solidFill>
              </a:defRPr>
            </a:pPr>
            <a:r>
              <a:t>❝ Tip: When both the controller and action are named index , Spryker allows you to omit them from the URL. So http://backoffice.eu.spryker.local/contact-request resolves to the same page.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The Navigation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Make your new page accessible through the Back Office navigation.</a:t>
            </a:r>
          </a:p>
          <a:p>
            <a:pPr>
              <a:spcAft>
                <a:spcPts val="800"/>
              </a:spcAft>
              <a:defRPr sz="1600">
                <a:solidFill>
                  <a:srgbClr val="1A1A1A"/>
                </a:solidFill>
              </a:defRPr>
            </a:pPr>
            <a:r>
              <a:t>Coding time:</a:t>
            </a:r>
          </a:p>
          <a:p>
            <a:pPr>
              <a:spcAft>
                <a:spcPts val="800"/>
              </a:spcAft>
              <a:defRPr sz="1600">
                <a:solidFill>
                  <a:srgbClr val="1A1A1A"/>
                </a:solidFill>
              </a:defRPr>
            </a:pPr>
            <a:r>
              <a:t>Open config/Zed/navigation.xml . Copy an existing navigation entry and adjust it to point to your Contact Request page. The keyword bundle refers to the module name.</a:t>
            </a:r>
          </a:p>
          <a:p>
            <a:pPr>
              <a:spcAft>
                <a:spcPts val="800"/>
              </a:spcAft>
              <a:defRPr sz="1600">
                <a:solidFill>
                  <a:srgbClr val="1A1A1A"/>
                </a:solidFill>
              </a:defRPr>
            </a:pPr>
            <a:r>
              <a:t>Rebuild the navigation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application:build-navigation-cache</a:t>
            </a:r>
          </a:p>
          <a:p>
            <a:pPr>
              <a:spcAft>
                <a:spcPts val="800"/>
              </a:spcAft>
              <a:defRPr sz="1600">
                <a:solidFill>
                  <a:srgbClr val="1A1A1A"/>
                </a:solidFill>
              </a:defRPr>
            </a:pPr>
            <a:r>
              <a:t>Validate the result in the Back Office.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Exercise1</a:t>
            </a:r>
          </a:p>
          <a:p>
            <a:pPr>
              <a:spcAft>
                <a:spcPts val="800"/>
              </a:spcAft>
              <a:defRPr sz="1600">
                <a:solidFill>
                  <a:srgbClr val="1A1A1A"/>
                </a:solidFill>
              </a:defRPr>
            </a:pPr>
            <a:r>
              <a:t>All tests should pass if your implementation is correct.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basics/contact-request-back-office/complete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2: Create a Data Transfer Object</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2: Create a Data Transfer Object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Spryker, data transfer objects (DTOs) are used to pass data across layers and services. In this exercise you will create a message DTO from scratch and use it in the Contact Request page.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basics/data-transfer-object/skeleton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DTOs are defined in XML files in the Shared namespace: src/SprykerAcademy/Shared/&lt;Module&gt;/Transfer/&lt;module&gt;.transfer.xml</a:t>
            </a:r>
          </a:p>
          <a:p>
            <a:pPr>
              <a:spcAft>
                <a:spcPts val="800"/>
              </a:spcAft>
              <a:defRPr sz="1600">
                <a:solidFill>
                  <a:srgbClr val="1A1A1A"/>
                </a:solidFill>
              </a:defRPr>
            </a:pPr>
            <a:r>
              <a:t>Spryker’s DTO generator finds all transfer files, merges them, and auto-generates PHP classes.</a:t>
            </a:r>
          </a:p>
          <a:p>
            <a:pPr>
              <a:spcBef>
                <a:spcPts val="1200"/>
              </a:spcBef>
              <a:spcAft>
                <a:spcPts val="600"/>
              </a:spcAft>
              <a:defRPr sz="2000" b="1">
                <a:solidFill>
                  <a:srgbClr val="1A1A1A"/>
                </a:solidFill>
              </a:defRPr>
            </a:pPr>
            <a:r>
              <a:t>1. The Transfer Definition</a:t>
            </a:r>
          </a:p>
          <a:p>
            <a:pPr>
              <a:spcAft>
                <a:spcPts val="800"/>
              </a:spcAft>
              <a:defRPr sz="1600">
                <a:solidFill>
                  <a:srgbClr val="1A1A1A"/>
                </a:solidFill>
              </a:defRPr>
            </a:pPr>
            <a:r>
              <a:t>A DTO is defined by the &lt;transfer&gt; element with a name attribute. For example: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&lt;?xml</a:t>
            </a:r>
            <a:r>
              <a:rPr sz="900">
                <a:solidFill>
                  <a:srgbClr val="2D2D2D"/>
                </a:solidFill>
                <a:latin typeface="Consolas"/>
              </a:rPr>
              <a:t> version="1.0"</a:t>
            </a:r>
            <a:r>
              <a:rPr sz="900" b="1">
                <a:solidFill>
                  <a:srgbClr val="007020"/>
                </a:solidFill>
                <a:latin typeface="Consolas"/>
              </a:rPr>
              <a:t>?&gt;</a:t>
            </a:r>
          </a:p>
          <a:p>
            <a:pPr>
              <a:spcBef>
                <a:spcPts val="0"/>
              </a:spcBef>
              <a:spcAft>
                <a:spcPts val="0"/>
              </a:spcAft>
            </a:pPr>
            <a:r>
              <a:rPr sz="900" b="1">
                <a:solidFill>
                  <a:srgbClr val="007020"/>
                </a:solidFill>
                <a:latin typeface="Consolas"/>
              </a:rPr>
              <a:t>&lt;transfers</a:t>
            </a:r>
            <a:r>
              <a:rPr sz="900">
                <a:solidFill>
                  <a:srgbClr val="007020"/>
                </a:solidFill>
                <a:latin typeface="Consolas"/>
              </a:rPr>
              <a:t> xmlns=</a:t>
            </a:r>
            <a:r>
              <a:rPr sz="900">
                <a:solidFill>
                  <a:srgbClr val="4070A0"/>
                </a:solidFill>
                <a:latin typeface="Consolas"/>
              </a:rPr>
              <a:t>"spryker:transfer-01"</a:t>
            </a:r>
          </a:p>
          <a:p>
            <a:pPr>
              <a:spcBef>
                <a:spcPts val="0"/>
              </a:spcBef>
              <a:spcAft>
                <a:spcPts val="0"/>
              </a:spcAft>
            </a:pP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xsi:schemaLocation=</a:t>
            </a:r>
            <a:r>
              <a:rPr sz="900">
                <a:solidFill>
                  <a:srgbClr val="4070A0"/>
                </a:solidFill>
                <a:latin typeface="Consolas"/>
              </a:rPr>
              <a:t>"spryker:transfer-01 http://static.spryker.com/transfer-01.xsd"</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"Human"</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"height"</a:t>
            </a:r>
            <a:r>
              <a:rPr sz="900">
                <a:solidFill>
                  <a:srgbClr val="007020"/>
                </a:solidFill>
                <a:latin typeface="Consolas"/>
              </a:rPr>
              <a:t> type=</a:t>
            </a:r>
            <a:r>
              <a:rPr sz="900">
                <a:solidFill>
                  <a:srgbClr val="4070A0"/>
                </a:solidFill>
                <a:latin typeface="Consolas"/>
              </a:rPr>
              <a:t>"int"</a:t>
            </a:r>
            <a:r>
              <a:rPr sz="900">
                <a:solidFill>
                  <a:srgbClr val="2D2D2D"/>
                </a:solidFill>
                <a:latin typeface="Consolas"/>
              </a:rPr>
              <a:t> </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&lt;/transfers&gt;</a:t>
            </a:r>
          </a:p>
          <a:p>
            <a:pPr>
              <a:spcAft>
                <a:spcPts val="800"/>
              </a:spcAft>
              <a:defRPr sz="1600">
                <a:solidFill>
                  <a:srgbClr val="1A1A1A"/>
                </a:solidFill>
              </a:defRPr>
            </a:pPr>
            <a:r>
              <a:t>This generates a HumanTransfer class with a height property of type int .</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add a DTO named ContactRequest with: - Property idContactRequest of type int - Property message of type string</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Then generate the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Check the auto-generated file at src/Generated/Shared/Transfer/ContactRequestTransfer.php and review the helper methods.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 instantiate DTOs like normal objects:</a:t>
            </a:r>
          </a:p>
          <a:p>
            <a:pPr>
              <a:spcBef>
                <a:spcPts val="0"/>
              </a:spcBef>
              <a:spcAft>
                <a:spcPts val="0"/>
              </a:spcAft>
            </a:pPr>
            <a:r>
              <a:rPr sz="900">
                <a:solidFill>
                  <a:srgbClr val="19177C"/>
                </a:solidFill>
                <a:latin typeface="Consolas"/>
              </a:rPr>
              <a:t>$myTransfer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yTransfer()</a:t>
            </a:r>
            <a:r>
              <a:rPr sz="900">
                <a:solidFill>
                  <a:srgbClr val="007020"/>
                </a:solidFill>
                <a:latin typeface="Consolas"/>
              </a:rPr>
              <a:t>;</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src/SprykerAcademy/Zed/ContactRequest/Communication/Controller/IndexController.php . Initialize a Generated\Shared\Transfer\ContactRequestTransfer object, set idContactRequest to 1 and message to 'Contact Request!' , and pass the object to the template under the key contactRequest .</a:t>
            </a:r>
          </a:p>
          <a:p>
            <a:pPr>
              <a:spcBef>
                <a:spcPts val="1200"/>
              </a:spcBef>
              <a:spcAft>
                <a:spcPts val="600"/>
              </a:spcAft>
              <a:defRPr sz="2000" b="1">
                <a:solidFill>
                  <a:srgbClr val="1A1A1A"/>
                </a:solidFill>
              </a:defRPr>
            </a:pPr>
            <a:r>
              <a:t>3. The Template</a:t>
            </a:r>
          </a:p>
          <a:p>
            <a:pPr>
              <a:spcAft>
                <a:spcPts val="800"/>
              </a:spcAft>
              <a:defRPr sz="1600">
                <a:solidFill>
                  <a:srgbClr val="1A1A1A"/>
                </a:solidFill>
              </a:defRPr>
            </a:pPr>
            <a:r>
              <a:t>Access object properties in Twig using dot notation:</a:t>
            </a:r>
          </a:p>
          <a:p>
            <a:pPr>
              <a:spcBef>
                <a:spcPts val="0"/>
              </a:spcBef>
              <a:spcAft>
                <a:spcPts val="0"/>
              </a:spcAft>
            </a:pPr>
            <a:r>
              <a:rPr sz="900">
                <a:solidFill>
                  <a:srgbClr val="2D2D2D"/>
                </a:solidFill>
                <a:latin typeface="Consolas"/>
              </a:rPr>
              <a:t>{{ myVar.property }}</a:t>
            </a:r>
          </a:p>
          <a:p>
            <a:pPr>
              <a:spcAft>
                <a:spcPts val="800"/>
              </a:spcAft>
              <a:defRPr sz="1600">
                <a:solidFill>
                  <a:srgbClr val="1A1A1A"/>
                </a:solidFill>
              </a:defRPr>
            </a:pPr>
            <a:r>
              <a:t>Coding time: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src/SprykerAcademy/Zed/ContactRequest/Presentation/Index/index.twig and display the transfer's message property using dot notation.</a:t>
            </a:r>
          </a:p>
          <a:p>
            <a:pPr>
              <a:spcAft>
                <a:spcPts val="800"/>
              </a:spcAft>
              <a:defRPr sz="1600">
                <a:solidFill>
                  <a:srgbClr val="1A1A1A"/>
                </a:solidFill>
              </a:defRPr>
            </a:pPr>
            <a:r>
              <a:t>Visit: http://backoffice.eu.spryker.local/contact-request/index/index (Credentials: admin@spryker.com / change123 )</a:t>
            </a:r>
          </a:p>
          <a:p>
            <a:pPr>
              <a:spcAft>
                <a:spcPts val="800"/>
              </a:spcAft>
              <a:defRPr sz="1400" i="1">
                <a:solidFill>
                  <a:srgbClr val="888888"/>
                </a:solidFill>
              </a:defRPr>
            </a:pPr>
            <a:r>
              <a:t>❝ Tip: http://backoffice.eu.spryker.local/contact-request resolves to the same page.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Exercise2</a:t>
            </a:r>
          </a:p>
          <a:p>
            <a:pPr>
              <a:spcAft>
                <a:spcPts val="800"/>
              </a:spcAft>
              <a:defRPr sz="1600">
                <a:solidFill>
                  <a:srgbClr val="1A1A1A"/>
                </a:solidFill>
              </a:defRPr>
            </a:pPr>
            <a:r>
              <a:t>All tests should pass if your transfer definition is correct.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basics/data-transfer-object/complete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3: Create a Table and Entity Representation</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3: Create a Table and Entity Representation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database table to store messages and an entity representation for a message using Propel ORM.</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basics/contact-request-table-schema/skeleton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The Propel Schema File</a:t>
            </a:r>
          </a:p>
          <a:p>
            <a:pPr>
              <a:spcAft>
                <a:spcPts val="800"/>
              </a:spcAft>
              <a:defRPr sz="1600">
                <a:solidFill>
                  <a:srgbClr val="1A1A1A"/>
                </a:solidFill>
              </a:defRPr>
            </a:pPr>
            <a:r>
              <a:t>Here is an example Propel schema definition for a pyz_human table: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&lt;?xml</a:t>
            </a:r>
            <a:r>
              <a:rPr sz="900">
                <a:solidFill>
                  <a:srgbClr val="2D2D2D"/>
                </a:solidFill>
                <a:latin typeface="Consolas"/>
              </a:rPr>
              <a:t> version="1.0"</a:t>
            </a:r>
            <a:r>
              <a:rPr sz="900" b="1">
                <a:solidFill>
                  <a:srgbClr val="007020"/>
                </a:solidFill>
                <a:latin typeface="Consolas"/>
              </a:rPr>
              <a:t>?&gt;</a:t>
            </a:r>
          </a:p>
          <a:p>
            <a:pPr>
              <a:spcBef>
                <a:spcPts val="0"/>
              </a:spcBef>
              <a:spcAft>
                <a:spcPts val="0"/>
              </a:spcAft>
            </a:pPr>
            <a:r>
              <a:rPr sz="900" b="1">
                <a:solidFill>
                  <a:srgbClr val="007020"/>
                </a:solidFill>
                <a:latin typeface="Consolas"/>
              </a:rPr>
              <a:t>&lt;database</a:t>
            </a: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name=</a:t>
            </a:r>
            <a:r>
              <a:rPr sz="900">
                <a:solidFill>
                  <a:srgbClr val="4070A0"/>
                </a:solidFill>
                <a:latin typeface="Consolas"/>
              </a:rPr>
              <a:t>"zed"</a:t>
            </a:r>
          </a:p>
          <a:p>
            <a:pPr>
              <a:spcBef>
                <a:spcPts val="0"/>
              </a:spcBef>
              <a:spcAft>
                <a:spcPts val="0"/>
              </a:spcAft>
            </a:pPr>
            <a:r>
              <a:rPr sz="900">
                <a:solidFill>
                  <a:srgbClr val="007020"/>
                </a:solidFill>
                <a:latin typeface="Consolas"/>
              </a:rPr>
              <a:t>    xsi:noNamespaceSchemaLocation=</a:t>
            </a:r>
            <a:r>
              <a:rPr sz="900">
                <a:solidFill>
                  <a:srgbClr val="4070A0"/>
                </a:solidFill>
                <a:latin typeface="Consolas"/>
              </a:rPr>
              <a:t>"http://static.spryker.com/schema-01.xsd"</a:t>
            </a:r>
          </a:p>
          <a:p>
            <a:pPr>
              <a:spcBef>
                <a:spcPts val="0"/>
              </a:spcBef>
              <a:spcAft>
                <a:spcPts val="0"/>
              </a:spcAft>
            </a:pPr>
            <a:r>
              <a:rPr sz="900">
                <a:solidFill>
                  <a:srgbClr val="007020"/>
                </a:solidFill>
                <a:latin typeface="Consolas"/>
              </a:rPr>
              <a:t>    namespace=</a:t>
            </a:r>
            <a:r>
              <a:rPr sz="900">
                <a:solidFill>
                  <a:srgbClr val="4070A0"/>
                </a:solidFill>
                <a:latin typeface="Consolas"/>
              </a:rPr>
              <a:t>"Orm\Zed\Human\Persistence"</a:t>
            </a:r>
          </a:p>
          <a:p>
            <a:pPr>
              <a:spcBef>
                <a:spcPts val="0"/>
              </a:spcBef>
              <a:spcAft>
                <a:spcPts val="0"/>
              </a:spcAft>
            </a:pPr>
            <a:r>
              <a:rPr sz="900">
                <a:solidFill>
                  <a:srgbClr val="007020"/>
                </a:solidFill>
                <a:latin typeface="Consolas"/>
              </a:rPr>
              <a:t>    package=</a:t>
            </a:r>
            <a:r>
              <a:rPr sz="900">
                <a:solidFill>
                  <a:srgbClr val="4070A0"/>
                </a:solidFill>
                <a:latin typeface="Consolas"/>
              </a:rPr>
              <a:t>"src.Orm.Zed.Human.Persistence"</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"pyz_human"</a:t>
            </a:r>
            <a:r>
              <a:rPr sz="900">
                <a:solidFill>
                  <a:srgbClr val="007020"/>
                </a:solidFill>
                <a:latin typeface="Consolas"/>
              </a:rPr>
              <a:t> idMethod=</a:t>
            </a:r>
            <a:r>
              <a:rPr sz="900">
                <a:solidFill>
                  <a:srgbClr val="4070A0"/>
                </a:solidFill>
                <a:latin typeface="Consolas"/>
              </a:rPr>
              <a:t>"native"</a:t>
            </a:r>
            <a:r>
              <a:rPr sz="900">
                <a:solidFill>
                  <a:srgbClr val="007020"/>
                </a:solidFill>
                <a:latin typeface="Consolas"/>
              </a:rPr>
              <a:t> allowPkInsert=</a:t>
            </a:r>
            <a:r>
              <a:rPr sz="900">
                <a:solidFill>
                  <a:srgbClr val="4070A0"/>
                </a:solidFill>
                <a:latin typeface="Consolas"/>
              </a:rPr>
              <a:t>"true"</a:t>
            </a:r>
            <a:r>
              <a:rPr sz="900">
                <a:solidFill>
                  <a:srgbClr val="007020"/>
                </a:solidFill>
                <a:latin typeface="Consolas"/>
              </a:rPr>
              <a:t> phpName=</a:t>
            </a:r>
            <a:r>
              <a:rPr sz="900">
                <a:solidFill>
                  <a:srgbClr val="4070A0"/>
                </a:solidFill>
                <a:latin typeface="Consolas"/>
              </a:rPr>
              <a:t>"PyzHuman"</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"id_human"</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a:solidFill>
                  <a:srgbClr val="007020"/>
                </a:solidFill>
                <a:latin typeface="Consolas"/>
              </a:rPr>
              <a:t> primaryKey=</a:t>
            </a:r>
            <a:r>
              <a:rPr sz="900">
                <a:solidFill>
                  <a:srgbClr val="4070A0"/>
                </a:solidFill>
                <a:latin typeface="Consolas"/>
              </a:rPr>
              <a:t>"true"</a:t>
            </a:r>
            <a:r>
              <a:rPr sz="900">
                <a:solidFill>
                  <a:srgbClr val="007020"/>
                </a:solidFill>
                <a:latin typeface="Consolas"/>
              </a:rPr>
              <a:t> autoIncrement=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"genetic_code"</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"VARCHAR"</a:t>
            </a:r>
            <a:r>
              <a:rPr sz="900">
                <a:solidFill>
                  <a:srgbClr val="007020"/>
                </a:solidFill>
                <a:latin typeface="Consolas"/>
              </a:rPr>
              <a:t> size=</a:t>
            </a:r>
            <a:r>
              <a:rPr sz="900">
                <a:solidFill>
                  <a:srgbClr val="4070A0"/>
                </a:solidFill>
                <a:latin typeface="Consolas"/>
              </a:rPr>
              <a:t>"255"</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"height"</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&lt;unique</a:t>
            </a:r>
            <a:r>
              <a:rPr sz="900">
                <a:solidFill>
                  <a:srgbClr val="007020"/>
                </a:solidFill>
                <a:latin typeface="Consolas"/>
              </a:rPr>
              <a:t> name=</a:t>
            </a:r>
            <a:r>
              <a:rPr sz="900">
                <a:solidFill>
                  <a:srgbClr val="4070A0"/>
                </a:solidFill>
                <a:latin typeface="Consolas"/>
              </a:rPr>
              <a:t>"pyz_human-genetic_code"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&lt;unique-column</a:t>
            </a:r>
            <a:r>
              <a:rPr sz="900">
                <a:solidFill>
                  <a:srgbClr val="007020"/>
                </a:solidFill>
                <a:latin typeface="Consolas"/>
              </a:rPr>
              <a:t> name=</a:t>
            </a:r>
            <a:r>
              <a:rPr sz="900">
                <a:solidFill>
                  <a:srgbClr val="4070A0"/>
                </a:solidFill>
                <a:latin typeface="Consolas"/>
              </a:rPr>
              <a:t>"genetic_code"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&lt;/unique&gt;</a:t>
            </a:r>
          </a:p>
          <a:p>
            <a:pPr>
              <a:spcBef>
                <a:spcPts val="0"/>
              </a:spcBef>
              <a:spcAft>
                <a:spcPts val="0"/>
              </a:spcAft>
            </a:pPr>
            <a:r>
              <a:rPr sz="900">
                <a:solidFill>
                  <a:srgbClr val="2D2D2D"/>
                </a:solidFill>
                <a:latin typeface="Consolas"/>
              </a:rPr>
              <a:t>    </a:t>
            </a:r>
            <a:r>
              <a:rPr sz="900" b="1">
                <a:solidFill>
                  <a:srgbClr val="007020"/>
                </a:solidFill>
                <a:latin typeface="Consolas"/>
              </a:rPr>
              <a:t>&lt;/table&gt;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&lt;/database&gt;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src/SprykerAcademy/Zed/ContactRequest/Persistence/Propel/Schema/pyz_contact_request.schema.xml and add the definition for the PyzContactRequest table:</a:t>
            </a:r>
          </a:p>
          <a:p>
            <a:pPr>
              <a:spcAft>
                <a:spcPts val="400"/>
              </a:spcAft>
              <a:defRPr sz="1500">
                <a:solidFill>
                  <a:srgbClr val="1A1A1A"/>
                </a:solidFill>
              </a:defRPr>
            </a:pPr>
            <a:r>
              <a:t>• Column id_contact_request : type INTEGER , primary key, auto-increment, required</a:t>
            </a:r>
          </a:p>
          <a:p>
            <a:pPr>
              <a:spcAft>
                <a:spcPts val="400"/>
              </a:spcAft>
              <a:defRPr sz="1500">
                <a:solidFill>
                  <a:srgbClr val="1A1A1A"/>
                </a:solidFill>
              </a:defRPr>
            </a:pPr>
            <a:r>
              <a:t>• Column message : type VARCHAR , size 255 , required, unique</a:t>
            </a:r>
          </a:p>
          <a:p>
            <a:pPr>
              <a:spcAft>
                <a:spcPts val="800"/>
              </a:spcAft>
              <a:defRPr sz="1600">
                <a:solidFill>
                  <a:srgbClr val="1A1A1A"/>
                </a:solidFill>
              </a:defRPr>
            </a:pPr>
            <a:r>
              <a:t>Then generate the entity and run migrations: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Aft>
                <a:spcPts val="800"/>
              </a:spcAft>
              <a:defRPr sz="1600">
                <a:solidFill>
                  <a:srgbClr val="1A1A1A"/>
                </a:solidFill>
              </a:defRPr>
            </a:pPr>
            <a:r>
              <a:t>Coding time:</a:t>
            </a:r>
          </a:p>
          <a:p>
            <a:pPr>
              <a:spcAft>
                <a:spcPts val="800"/>
              </a:spcAft>
              <a:defRPr sz="1600">
                <a:solidFill>
                  <a:srgbClr val="1A1A1A"/>
                </a:solidFill>
              </a:defRPr>
            </a:pPr>
            <a:r>
              <a:t>Verify the pyz_contact_request table was created in the database (using a tool of your choice). Locate the generated entity in src/Orm/Zed/ContactRequest/Persistence/ and its subfolders.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Exercise3</a:t>
            </a:r>
          </a:p>
          <a:p>
            <a:pPr>
              <a:spcAft>
                <a:spcPts val="800"/>
              </a:spcAft>
              <a:defRPr sz="1600">
                <a:solidFill>
                  <a:srgbClr val="1A1A1A"/>
                </a:solidFill>
              </a:defRPr>
            </a:pPr>
            <a:r>
              <a:t>All tests should pass if your schema definition is correct.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basics/contact-request-table-schema/complete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4: Module Layers - Back Office Step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4: Module Layers - Back Office Step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message through a Back Office controller and persist it in the database. You will learn how to work with the Persistence, Business, and Communication layers in Zed.</a:t>
            </a:r>
          </a:p>
          <a:p>
            <a:pPr>
              <a:spcAft>
                <a:spcPts val="800"/>
              </a:spcAft>
              <a:defRPr sz="1600">
                <a:solidFill>
                  <a:srgbClr val="1A1A1A"/>
                </a:solidFill>
              </a:defRPr>
            </a:pPr>
            <a:r>
              <a:t>Part 1 of 2 - This guide focuses on the Zed layer.</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Create the Persistence Layer</a:t>
            </a:r>
          </a:p>
          <a:p>
            <a:pPr>
              <a:spcBef>
                <a:spcPts val="800"/>
              </a:spcBef>
              <a:spcAft>
                <a:spcPts val="400"/>
              </a:spcAft>
              <a:defRPr sz="1700" b="1">
                <a:solidFill>
                  <a:srgbClr val="1A1A1A"/>
                </a:solidFill>
              </a:defRPr>
            </a:pPr>
            <a:r>
              <a:t>1.1 Add a ContactRequestCriteriaTransfer Definition</a:t>
            </a:r>
          </a:p>
          <a:p>
            <a:pPr>
              <a:spcAft>
                <a:spcPts val="800"/>
              </a:spcAft>
              <a:defRPr sz="1600">
                <a:solidFill>
                  <a:srgbClr val="1A1A1A"/>
                </a:solidFill>
              </a:defRPr>
            </a:pPr>
            <a:r>
              <a:t>It is good practice to not use simple types directly for requesting data from the Persistence Layer. Instead, create a *CriteriaTransfer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add a DTO named ContactRequestCriteria with: - Property idContactRequest of type int - Property message of type string</a:t>
            </a:r>
          </a:p>
          <a:p>
            <a:pPr>
              <a:spcAft>
                <a:spcPts val="800"/>
              </a:spcAft>
              <a:defRPr sz="1600">
                <a:solidFill>
                  <a:srgbClr val="1A1A1A"/>
                </a:solidFill>
              </a:defRPr>
            </a:pPr>
            <a:r>
              <a:t>Regenerate transfers: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800"/>
              </a:spcBef>
              <a:spcAft>
                <a:spcPts val="400"/>
              </a:spcAft>
              <a:defRPr sz="1700" b="1">
                <a:solidFill>
                  <a:srgbClr val="1A1A1A"/>
                </a:solidFill>
              </a:defRPr>
            </a:pPr>
            <a:r>
              <a:t>1.2 Create the Persistence Layer Factory</a:t>
            </a:r>
          </a:p>
          <a:p>
            <a:pPr>
              <a:spcAft>
                <a:spcPts val="800"/>
              </a:spcAft>
              <a:defRPr sz="1600">
                <a:solidFill>
                  <a:srgbClr val="1A1A1A"/>
                </a:solidFill>
              </a:defRPr>
            </a:pPr>
            <a:r>
              <a:t>Query classes are auto-generated from Propel schema files. All ORM generated query classes have a static create() method.</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src/SprykerAcademy/Zed/ContactRequest/Persistence/ContactRequestPersistenceFactory.php . In the createContactRequestQuery() method, return an instance of PyzContactRequestQuery .</a:t>
            </a:r>
          </a:p>
          <a:p>
            <a:pPr>
              <a:spcBef>
                <a:spcPts val="800"/>
              </a:spcBef>
              <a:spcAft>
                <a:spcPts val="400"/>
              </a:spcAft>
              <a:defRPr sz="1700" b="1">
                <a:solidFill>
                  <a:srgbClr val="1A1A1A"/>
                </a:solidFill>
              </a:defRPr>
            </a:pPr>
            <a:r>
              <a:t>1.3 Create the Repository</a:t>
            </a:r>
          </a:p>
          <a:p>
            <a:pPr>
              <a:spcAft>
                <a:spcPts val="800"/>
              </a:spcAft>
              <a:defRPr sz="1600">
                <a:solidFill>
                  <a:srgbClr val="1A1A1A"/>
                </a:solidFill>
              </a:defRPr>
            </a:pPr>
            <a:r>
              <a:t>The Repository reads data. Use getFactory() to access the Persistence Factory (provided by AbstractRepository ).</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patterns: - Propel query objects provide magic findOneBy&lt;ColumnName&gt;() methods for exact lookups - For partial matching, use filterBy&lt;ColumnName&gt;() with Criteria::LIKE as the second parameter, then call findOne() . You will need to import Propel\Runtime\ActiveQuery\Criteria - Convert entities to DTOs using the Mapper (available via the 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src/SprykerAcademy/Zed/ContactRequest/Persistence/ContactRequestRepository.php . In the findContactRequest() method: 1. Get the message query from the factory 2. If the criteria has an idContactRequest , find by ID and return the result 3. If the criteria has a message string, use LIKE filtering to find a partial match and return only one result 4. Return null if no entity was found 5. Map the entity to a DTO using the ContactRequestMapper and return it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1.4 Create the EntityManager</a:t>
            </a:r>
          </a:p>
          <a:p>
            <a:pPr>
              <a:spcAft>
                <a:spcPts val="800"/>
              </a:spcAft>
              <a:defRPr sz="1600">
                <a:solidFill>
                  <a:srgbClr val="1A1A1A"/>
                </a:solidFill>
              </a:defRPr>
            </a:pPr>
            <a:r>
              <a:t>The EntityManager handles writes. Transform the DTO to an entity, save it, and transform it back.</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src/SprykerAcademy/Zed/ContactRequest/Persistence/ContactRequestEntityManager.php . In the createContactRequest() method: 1. Map the DTO to an entity using the ContactRequestMapper 2. Call $contactRequestEntity-&gt;save() 3. Map the entity back to a DTO and return it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Add ContactRequestResponseTransfer Definition</a:t>
            </a:r>
          </a:p>
          <a:p>
            <a:pPr>
              <a:spcAft>
                <a:spcPts val="800"/>
              </a:spcAft>
              <a:defRPr sz="1600">
                <a:solidFill>
                  <a:srgbClr val="1A1A1A"/>
                </a:solidFill>
              </a:defRPr>
            </a:pPr>
            <a:r>
              <a:t>Wrap the DTO in a *ResponseTransfer to include success/error information.</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add a DTO named ContactRequestResponse with: - Property contactRequest of type ContactRequest - Property isSuccessful of type bool</a:t>
            </a:r>
          </a:p>
          <a:p>
            <a:pPr>
              <a:spcAft>
                <a:spcPts val="800"/>
              </a:spcAft>
              <a:defRPr sz="1600">
                <a:solidFill>
                  <a:srgbClr val="1A1A1A"/>
                </a:solidFill>
              </a:defRPr>
            </a:pPr>
            <a:r>
              <a:t>Regenerate: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800"/>
              </a:spcBef>
              <a:spcAft>
                <a:spcPts val="400"/>
              </a:spcAft>
              <a:defRPr sz="1700" b="1">
                <a:solidFill>
                  <a:srgbClr val="1A1A1A"/>
                </a:solidFill>
              </a:defRPr>
            </a:pPr>
            <a:r>
              <a:t>2.2 The Writer</a:t>
            </a:r>
          </a:p>
          <a:p>
            <a:pPr>
              <a:spcAft>
                <a:spcPts val="800"/>
              </a:spcAft>
              <a:defRPr sz="1600">
                <a:solidFill>
                  <a:srgbClr val="1A1A1A"/>
                </a:solidFill>
              </a:defRPr>
            </a:pPr>
            <a:r>
              <a:t>Separate reading from writing. The Writer uses the EntityManager.</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src/SprykerAcademy/Zed/ContactRequest/Business/Writer/ContactRequestWriter.php : - Inject ContactRequestEntityManagerInterface through the constructor - In the create() method, use the EntityManager to create and return the message</a:t>
            </a:r>
          </a:p>
          <a:p>
            <a:pPr>
              <a:spcBef>
                <a:spcPts val="800"/>
              </a:spcBef>
              <a:spcAft>
                <a:spcPts val="400"/>
              </a:spcAft>
              <a:defRPr sz="1700" b="1">
                <a:solidFill>
                  <a:srgbClr val="1A1A1A"/>
                </a:solidFill>
              </a:defRPr>
            </a:pPr>
            <a:r>
              <a:t>2.3 The Reader</a:t>
            </a:r>
          </a:p>
          <a:p>
            <a:pPr>
              <a:spcAft>
                <a:spcPts val="800"/>
              </a:spcAft>
              <a:defRPr sz="1600">
                <a:solidFill>
                  <a:srgbClr val="1A1A1A"/>
                </a:solidFill>
              </a:defRPr>
            </a:pPr>
            <a:r>
              <a:t>The Reader uses the Repository and prepares the response.</a:t>
            </a:r>
          </a:p>
          <a:p>
            <a:pPr>
              <a:spcAft>
                <a:spcPts val="800"/>
              </a:spcAft>
              <a:defRPr sz="1600">
                <a:solidFill>
                  <a:srgbClr val="1A1A1A"/>
                </a:solidFill>
              </a:defRPr>
            </a:pPr>
            <a:r>
              <a:t>Coding time: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src/SprykerAcademy/Zed/ContactRequest/Business/Reader/ContactRequestReader.php : - Inject ContactRequestRepositoryInterface through the constructor - In the findContactRequest() method, use the Repository to find a message by criteria - Create a ContactRequestResponseTransfer and set message and isSuccessful based on the result - Return the response</a:t>
            </a:r>
          </a:p>
          <a:p>
            <a:pPr>
              <a:spcBef>
                <a:spcPts val="800"/>
              </a:spcBef>
              <a:spcAft>
                <a:spcPts val="400"/>
              </a:spcAft>
              <a:defRPr sz="1700" b="1">
                <a:solidFill>
                  <a:srgbClr val="1A1A1A"/>
                </a:solidFill>
              </a:defRPr>
            </a:pPr>
            <a:r>
              <a:t>2.4 Expose Functionality through the Facade</a:t>
            </a:r>
          </a:p>
          <a:p>
            <a:pPr>
              <a:spcAft>
                <a:spcPts val="800"/>
              </a:spcAft>
              <a:defRPr sz="1600">
                <a:solidFill>
                  <a:srgbClr val="1A1A1A"/>
                </a:solidFill>
              </a:defRPr>
            </a:pPr>
            <a:r>
              <a:t>The Facade is the module’s public API. Since Spryker 202602.0, you can use $this-&gt;getService(ClassName::class) directly in the Facade — no Business Factory needed. Spryker’s DI container automatically wires the dependencies of the service class.</a:t>
            </a:r>
          </a:p>
          <a:p>
            <a:pPr>
              <a:spcAft>
                <a:spcPts val="800"/>
              </a:spcAft>
              <a:defRPr sz="1600">
                <a:solidFill>
                  <a:srgbClr val="1A1A1A"/>
                </a:solidFill>
              </a:defRPr>
            </a:pPr>
            <a:r>
              <a:t>Coding time:</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src/SprykerAcademy/Zed/ContactRequest/Business/ContactRequestFacade.php . Implement createContactRequest() and findContactRequest() using $this-&gt;getService(ContactRequestWriter::class) and $this-&gt;getService(ContactRequestReader::class) .</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Controller for the Back Office</a:t>
            </a:r>
          </a:p>
          <a:p>
            <a:pPr>
              <a:spcAft>
                <a:spcPts val="800"/>
              </a:spcAft>
              <a:defRPr sz="1600">
                <a:solidFill>
                  <a:srgbClr val="1A1A1A"/>
                </a:solidFill>
              </a:defRPr>
            </a:pPr>
            <a:r>
              <a:t>Since Spryker 202602.0, controllers support constructor dependency injection. The facade is injected directly — no need for $this-&gt;getFacade() .</a:t>
            </a:r>
          </a:p>
          <a:p>
            <a:pPr>
              <a:spcAft>
                <a:spcPts val="800"/>
              </a:spcAft>
              <a:defRPr sz="1600">
                <a:solidFill>
                  <a:srgbClr val="1A1A1A"/>
                </a:solidFill>
              </a:defRPr>
            </a:pPr>
            <a:r>
              <a:t>Coding time:</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src/SprykerAcademy/Zed/ContactRequest/Communication/Controller/IndexController.php . The facade is already injected via the constructor as $this-&gt;contactRequestFacade . Complete addAction() : 1. Instantiate ContactRequestCriteriaTransfer and set the message from the query parameter 2. Call $this-&gt;contactRequestFacade-&gt;findContactRequest() to look it up 3. If not found, create a new ContactRequestTransfer with the message and persist it via $this-&gt;contactRequestFacade-&gt;createContactRequest()</a:t>
            </a:r>
          </a:p>
          <a:p>
            <a:pPr>
              <a:spcBef>
                <a:spcPts val="800"/>
              </a:spcBef>
              <a:spcAft>
                <a:spcPts val="400"/>
              </a:spcAft>
              <a:defRPr sz="1700" b="1">
                <a:solidFill>
                  <a:srgbClr val="1A1A1A"/>
                </a:solidFill>
              </a:defRPr>
            </a:pPr>
            <a:r>
              <a:t>3.2 Template for the Back Office</a:t>
            </a:r>
          </a:p>
          <a:p>
            <a:pPr>
              <a:spcAft>
                <a:spcPts val="800"/>
              </a:spcAft>
              <a:defRPr sz="1600">
                <a:solidFill>
                  <a:srgbClr val="1A1A1A"/>
                </a:solidFill>
              </a:defRPr>
            </a:pPr>
            <a:r>
              <a:t>The controller passes contactRequest (a ContactRequestTransfer ) to the template. Access object properties with dot notation: objectName.objectProperty .</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src/SprykerAcademy/Zed/ContactRequest/Presentation/Index/add.twig . Replace the placeholder 'show-contact-request-message-here' with the message of the contact request using dot notation ( contactRequest.message ).</a:t>
            </a:r>
          </a:p>
          <a:p>
            <a:pPr>
              <a:spcAft>
                <a:spcPts val="800"/>
              </a:spcAft>
              <a:defRPr sz="1600">
                <a:solidFill>
                  <a:srgbClr val="1A1A1A"/>
                </a:solidFill>
              </a:defRPr>
            </a:pPr>
            <a:r>
              <a:t>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800"/>
              </a:spcAft>
              <a:defRPr sz="1600">
                <a:solidFill>
                  <a:srgbClr val="1A1A1A"/>
                </a:solidFill>
              </a:defRPr>
            </a:pPr>
            <a:r>
              <a:t>Visit: http://backoffice.eu.spryker.local/contact-request/index/add Use query parameter ?message=YourName to create a contact request with a custom message.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Exercise4</a:t>
            </a:r>
          </a:p>
          <a:p>
            <a:pPr>
              <a:spcAft>
                <a:spcPts val="800"/>
              </a:spcAft>
              <a:defRPr sz="1600">
                <a:solidFill>
                  <a:srgbClr val="1A1A1A"/>
                </a:solidFill>
              </a:defRPr>
            </a:pPr>
            <a:r>
              <a:t>This tests the ContactRequestReader and ContactRequestWriter business logic. All tests should pass if your implementation is correct.</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basics/module-layers/complete</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5: Module Layers - Storefront Step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5: Module Layers - Storefront Step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display a persisted message in Yves (the Storefront). You will learn how to communicate between Yves and Zed using the Client layer and the BackendGateway.</a:t>
            </a:r>
          </a:p>
          <a:p>
            <a:pPr>
              <a:spcAft>
                <a:spcPts val="800"/>
              </a:spcAft>
              <a:defRPr sz="1600">
                <a:solidFill>
                  <a:srgbClr val="1A1A1A"/>
                </a:solidFill>
              </a:defRPr>
            </a:pPr>
            <a:r>
              <a:t>Part 2 of 2 - This guide focuses on showing the contact request in Yves.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Exercise 4: Module Layers - Back Office Step</a:t>
            </a:r>
          </a:p>
          <a:p>
            <a:pPr>
              <a:spcAft>
                <a:spcPts val="800"/>
              </a:spcAft>
              <a:defRPr sz="1600">
                <a:solidFill>
                  <a:srgbClr val="1A1A1A"/>
                </a:solidFill>
              </a:defRPr>
            </a:pPr>
            <a:r>
              <a:t>We continue on the code from Part 1.</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Expose Message to Storefronts</a:t>
            </a:r>
          </a:p>
          <a:p>
            <a:pPr>
              <a:spcBef>
                <a:spcPts val="800"/>
              </a:spcBef>
              <a:spcAft>
                <a:spcPts val="400"/>
              </a:spcAft>
              <a:defRPr sz="1700" b="1">
                <a:solidFill>
                  <a:srgbClr val="1A1A1A"/>
                </a:solidFill>
              </a:defRPr>
            </a:pPr>
            <a:r>
              <a:t>1.1 GatewayController for Communication with Yves</a:t>
            </a:r>
          </a:p>
          <a:p>
            <a:pPr>
              <a:spcAft>
                <a:spcPts val="800"/>
              </a:spcAft>
              <a:defRPr sz="1600">
                <a:solidFill>
                  <a:srgbClr val="1A1A1A"/>
                </a:solidFill>
              </a:defRPr>
            </a:pPr>
            <a:r>
              <a:t>The GatewayController exposes an endpoint from Zed to Yves via the BackendGateway.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src/SprykerAcademy/Zed/ContactRequest/Communication/Controller/GatewayController.php . Complete findContactRequestAction() by finding a message through the Facade using the ContactRequestCriteriaTransfer .</a:t>
            </a:r>
          </a:p>
          <a:p>
            <a:pPr>
              <a:spcAft>
                <a:spcPts val="800"/>
              </a:spcAft>
              <a:defRPr sz="1600">
                <a:solidFill>
                  <a:srgbClr val="1A1A1A"/>
                </a:solidFill>
              </a:defRPr>
            </a:pPr>
            <a:r>
              <a:t>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Create a Stub for Calling BackendGateway</a:t>
            </a:r>
          </a:p>
          <a:p>
            <a:pPr>
              <a:spcAft>
                <a:spcPts val="800"/>
              </a:spcAft>
              <a:defRPr sz="1600">
                <a:solidFill>
                  <a:srgbClr val="1A1A1A"/>
                </a:solidFill>
              </a:defRPr>
            </a:pPr>
            <a:r>
              <a:t>The Stub uses ZedRequestClient to call Zed from the Storefront.</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src/SprykerAcademy/Client/ContactRequest/Stub/ContactRequestStub.php . In the findContactRequest() method, fill in the correct path to the GatewayController action.</a:t>
            </a:r>
          </a:p>
          <a:p>
            <a:pPr>
              <a:spcAft>
                <a:spcPts val="800"/>
              </a:spcAft>
              <a:defRPr sz="1600">
                <a:solidFill>
                  <a:srgbClr val="1A1A1A"/>
                </a:solidFill>
              </a:defRPr>
            </a:pPr>
            <a:r>
              <a:t>The DTO is serialized on one side and deserialized on the other side of the request.</a:t>
            </a:r>
          </a:p>
          <a:p>
            <a:pPr>
              <a:spcBef>
                <a:spcPts val="800"/>
              </a:spcBef>
              <a:spcAft>
                <a:spcPts val="400"/>
              </a:spcAft>
              <a:defRPr sz="1700" b="1">
                <a:solidFill>
                  <a:srgbClr val="1A1A1A"/>
                </a:solidFill>
              </a:defRPr>
            </a:pPr>
            <a:r>
              <a:t>2.2 Provide ZedRequestClient as a Dependency</a:t>
            </a:r>
          </a:p>
          <a:p>
            <a:pPr>
              <a:spcAft>
                <a:spcPts val="800"/>
              </a:spcAft>
              <a:defRPr sz="1600">
                <a:solidFill>
                  <a:srgbClr val="1A1A1A"/>
                </a:solidFill>
              </a:defRPr>
            </a:pPr>
            <a:r>
              <a:t>Every external dependency must be provided through the DependencyProvider. The pattern:</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addStoreClient(</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CLIENT_STORE</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-&gt;getLocator()-&gt;store()-&gt;client()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The locator works as: $container-&gt;getLocator()-&gt;&lt;moduleName&gt;()-&gt;&lt;what&gt;() .</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src/SprykerAcademy/Client/ContactRequest/ContactRequestDependencyProvider.php . In the addZedRequestClient() method, make the ZedRequestClient available using the locator and the constant CLIENT_ZED_REQUEST .</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2.3 Instantiate the ContactRequestStub</a:t>
            </a:r>
          </a:p>
          <a:p>
            <a:pPr>
              <a:spcAft>
                <a:spcPts val="800"/>
              </a:spcAft>
              <a:defRPr sz="1600">
                <a:solidFill>
                  <a:srgbClr val="1A1A1A"/>
                </a:solidFill>
              </a:defRPr>
            </a:pPr>
            <a:r>
              <a:t>Note the naming conventions: create*() for instantiation (using new ), get*() for retrieving provided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src/SprykerAcademy/Client/ContactRequest/ContactRequestFactory.php . In createContactRequestStub() , instantiate and return a ContactRequestStub with the correct dependency injected.</a:t>
            </a:r>
          </a:p>
          <a:p>
            <a:pPr>
              <a:spcBef>
                <a:spcPts val="800"/>
              </a:spcBef>
              <a:spcAft>
                <a:spcPts val="400"/>
              </a:spcAft>
              <a:defRPr sz="1700" b="1">
                <a:solidFill>
                  <a:srgbClr val="1A1A1A"/>
                </a:solidFill>
              </a:defRPr>
            </a:pPr>
            <a:r>
              <a:t>2.4 Create the Client (Internal API)</a:t>
            </a:r>
          </a:p>
          <a:p>
            <a:pPr>
              <a:spcAft>
                <a:spcPts val="800"/>
              </a:spcAft>
              <a:defRPr sz="1600">
                <a:solidFill>
                  <a:srgbClr val="1A1A1A"/>
                </a:solidFill>
              </a:defRPr>
            </a:pPr>
            <a:r>
              <a:t>The *Client class is what gets provided to other clients, Yves, or Glue through their DependencyProviders.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src/SprykerAcademy/Client/ContactRequest/ContactRequestClient.php . Complete findContactRequest() by using the factory to create a ContactRequestStub and return the found contact request.</a:t>
            </a:r>
          </a:p>
          <a:p>
            <a:pPr>
              <a:spcAft>
                <a:spcPts val="800"/>
              </a:spcAft>
              <a:defRPr sz="1600">
                <a:solidFill>
                  <a:srgbClr val="1A1A1A"/>
                </a:solidFill>
              </a:defRPr>
            </a:pPr>
            <a:r>
              <a:t>Update IDE auto-completion:</a:t>
            </a:r>
          </a:p>
          <a:p>
            <a:pPr>
              <a:spcBef>
                <a:spcPts val="0"/>
              </a:spcBef>
              <a:spcAft>
                <a:spcPts val="0"/>
              </a:spcAft>
            </a:pPr>
            <a:r>
              <a:rPr sz="900">
                <a:solidFill>
                  <a:srgbClr val="2D2D2D"/>
                </a:solidFill>
                <a:latin typeface="Consolas"/>
              </a:rPr>
              <a:t>docker/sdk</a:t>
            </a:r>
            <a:r>
              <a:rPr sz="900">
                <a:solidFill>
                  <a:srgbClr val="2D2D2D"/>
                </a:solidFill>
                <a:latin typeface="Consolas"/>
              </a:rPr>
              <a:t> console dev:ide-auto-completion:generate</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DependencyProvider and Factory</a:t>
            </a:r>
          </a:p>
          <a:p>
            <a:pPr>
              <a:spcAft>
                <a:spcPts val="800"/>
              </a:spcAft>
              <a:defRPr sz="1600">
                <a:solidFill>
                  <a:srgbClr val="1A1A1A"/>
                </a:solidFill>
              </a:defRPr>
            </a:pPr>
            <a:r>
              <a:t>Make the ContactRequestClient available in the Yves application layer.</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src/SprykerAcademy/Yves/ContactRequestPage/ContactRequestPageDependencyProvider.php . In the addContactRequestClient() method, make the ContactRequestClient available.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src/SprykerAcademy/Yves/ContactRequestPage/ContactRequestPageFactory.php . Complete getContactRequestClient() by returning the provided dependency using ContactRequestPageDependencyProvider::CLIENT_CONTACT_REQUEST .</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Controller</a:t>
            </a:r>
          </a:p>
          <a:p>
            <a:pPr>
              <a:spcAft>
                <a:spcPts val="800"/>
              </a:spcAft>
              <a:defRPr sz="1600">
                <a:solidFill>
                  <a:srgbClr val="1A1A1A"/>
                </a:solidFill>
              </a:defRPr>
            </a:pPr>
            <a:r>
              <a:t>The template is already provided at src/SprykerAcademy/Yves/ContactRequestPage/Theme/default/views/contact-request/get.twig and expects a variable named contactRequest .</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src/SprykerAcademy/Yves/ContactRequestPage/Controller/IndexController.php . Complete getAction() : 1. Instantiate a ContactRequestCriteriaTransfer and set the contact request ID ( idContactRequest ) from the route parameter 2. Use getFactory() to access the ContactRequestClient 3. Find a contact request by the criteria and assign the result to $contactRequestResponseTransfer</a:t>
            </a:r>
          </a:p>
          <a:p>
            <a:pPr>
              <a:spcBef>
                <a:spcPts val="800"/>
              </a:spcBef>
              <a:spcAft>
                <a:spcPts val="400"/>
              </a:spcAft>
              <a:defRPr sz="1700" b="1">
                <a:solidFill>
                  <a:srgbClr val="1A1A1A"/>
                </a:solidFill>
              </a:defRPr>
            </a:pPr>
            <a:r>
              <a:t>3.3 Routing</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Unlike the Back Office, Yves requires explicit route definitions via a *RouteProviderPlugin .</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src/SprykerAcademy/Yves/ContactRequestPage/Plugin/Router/ContactRequestPageRouteProviderPlugin.php . In addContactRequestGetRoute() , fill in the correct module name and controller name for the placeholders.</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src/SprykerAcademy/Yves/Router/RouterDependencyProvider.php . Add an instance of ContactRequestPageRouteProviderPlugin at the end of the router plugins in getRouteProvider() .</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5: Module Layers - Storefront Step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If Yves answers Route 'x' not found for a route you just added Yves keeps its route collection in src/Generated/Yves/Router , and cache:empty-all does not clear that folder - it only clears the Zed router and the Twig cache. The collection is built on the first request and then reused, so a route added afterwards is invisible while the pages of the previous state still work. Delete the folder and let the next request rebuild it: rm -rf src/Generated/Yves/Router ./exercises/load.sh does this for you on every load.</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Create a contact request via Back Office: http://backoffice.eu.spryker.local/contact-request/index/add</a:t>
            </a:r>
          </a:p>
          <a:p>
            <a:pPr>
              <a:spcAft>
                <a:spcPts val="400"/>
              </a:spcAft>
              <a:defRPr sz="1500">
                <a:solidFill>
                  <a:srgbClr val="1A1A1A"/>
                </a:solidFill>
              </a:defRPr>
            </a:pPr>
            <a:r>
              <a:t>• View the contact request in Yves using its idContactRequest : http://yves.eu.spryker.local/contact-request/1</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Exercise5</a:t>
            </a:r>
          </a:p>
          <a:p>
            <a:pPr>
              <a:spcAft>
                <a:spcPts val="800"/>
              </a:spcAft>
              <a:defRPr sz="1600">
                <a:solidFill>
                  <a:srgbClr val="1A1A1A"/>
                </a:solidFill>
              </a:defRPr>
            </a:pPr>
            <a:r>
              <a:t>Or run all exercise tests at once: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a:p>
            <a:pPr>
              <a:spcAft>
                <a:spcPts val="800"/>
              </a:spcAft>
              <a:defRPr sz="1600">
                <a:solidFill>
                  <a:srgbClr val="1A1A1A"/>
                </a:solidFill>
              </a:defRPr>
            </a:pPr>
            <a:r>
              <a:t>All tests should pass if your implementation is correct.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basics/module-layers/complete</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6: Define and Use a Config Value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6: Define and Use a Config Value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define a config value in the default config file and cascade it through the module’s Config class into a controller, displaying it in a Twig template.</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all previous exercises (1 through 5)</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There is no skeleton for this exercise. You will create all files by hand using what you have learned so far.</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Your task is to create a Back Office page accessible at:</a:t>
            </a:r>
          </a:p>
          <a:p>
            <a:pPr>
              <a:spcAft>
                <a:spcPts val="800"/>
              </a:spcAft>
              <a:defRPr sz="1600">
                <a:solidFill>
                  <a:srgbClr val="1A1A1A"/>
                </a:solidFill>
              </a:defRPr>
            </a:pPr>
            <a:r>
              <a:t>http://backoffice.eu.spryker.local/contact-request/config/index</a:t>
            </a:r>
          </a:p>
          <a:p>
            <a:pPr>
              <a:spcAft>
                <a:spcPts val="800"/>
              </a:spcAft>
              <a:defRPr sz="1600">
                <a:solidFill>
                  <a:srgbClr val="1A1A1A"/>
                </a:solidFill>
              </a:defRPr>
            </a:pPr>
            <a:r>
              <a:t>that displays a config value defined in config_default.php .</a:t>
            </a:r>
          </a:p>
          <a:p>
            <a:pPr>
              <a:spcAft>
                <a:spcPts val="800"/>
              </a:spcAft>
              <a:defRPr sz="1600">
                <a:solidFill>
                  <a:srgbClr val="1A1A1A"/>
                </a:solidFill>
              </a:defRPr>
            </a:pPr>
            <a:r>
              <a:t>We continue working in the ContactRequest module at src/SprykerAcademy/Zed/ContactRequest/ .</a:t>
            </a:r>
          </a:p>
          <a:p>
            <a:pPr>
              <a:spcBef>
                <a:spcPts val="1200"/>
              </a:spcBef>
              <a:spcAft>
                <a:spcPts val="600"/>
              </a:spcAft>
              <a:defRPr sz="2000" b="1">
                <a:solidFill>
                  <a:srgbClr val="1A1A1A"/>
                </a:solidFill>
              </a:defRPr>
            </a:pPr>
            <a:r>
              <a:t>1. Create a Constants Interface</a:t>
            </a:r>
          </a:p>
          <a:p>
            <a:pPr>
              <a:spcAft>
                <a:spcPts val="800"/>
              </a:spcAft>
              <a:defRPr sz="1600">
                <a:solidFill>
                  <a:srgbClr val="1A1A1A"/>
                </a:solidFill>
              </a:defRPr>
            </a:pPr>
            <a:r>
              <a:t>Constants interfaces live in the Shared namespace so they can be used across all application layers (Zed, Yves, Client).</a:t>
            </a:r>
          </a:p>
          <a:p>
            <a:pPr>
              <a:spcAft>
                <a:spcPts val="800"/>
              </a:spcAft>
              <a:defRPr sz="1600">
                <a:solidFill>
                  <a:srgbClr val="1A1A1A"/>
                </a:solidFill>
              </a:defRPr>
            </a:pPr>
            <a:r>
              <a:t>Coding time:</a:t>
            </a:r>
          </a:p>
          <a:p>
            <a:pPr>
              <a:spcAft>
                <a:spcPts val="800"/>
              </a:spcAft>
              <a:defRPr sz="1600">
                <a:solidFill>
                  <a:srgbClr val="1A1A1A"/>
                </a:solidFill>
              </a:defRPr>
            </a:pPr>
            <a:r>
              <a:t>Create src/SprykerAcademy/Shared/ContactRequest/ContactRequestConstants.php :</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H</a:t>
            </a:r>
            <a:r>
              <a:rPr sz="900">
                <a:solidFill>
                  <a:srgbClr val="2D2D2D"/>
                </a:solidFill>
                <a:latin typeface="Consolas"/>
              </a:rPr>
              <a:t>elloWorld</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interface</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elloWorldConstants</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MY_CONFIG_VALUE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'CONTACT_REQUEST:MY_CONFIG_VALUE'</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The string 'CONTACT_REQUEST:MY_CONFIG_VALUE' is the key used in config files. The convention is MODULE_NAME:CONFIG_KEY .</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Set the Config Value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config/Shared/config_default.php and add your config value at the end of the file (before the closing ?&gt; or end of file):</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H</a:t>
            </a:r>
            <a:r>
              <a:rPr sz="900">
                <a:solidFill>
                  <a:srgbClr val="2D2D2D"/>
                </a:solidFill>
                <a:latin typeface="Consolas"/>
              </a:rPr>
              <a:t>elloWorld\</a:t>
            </a:r>
            <a:r>
              <a:rPr sz="900">
                <a:solidFill>
                  <a:srgbClr val="880000"/>
                </a:solidFill>
                <a:latin typeface="Consolas"/>
              </a:rPr>
              <a:t>H</a:t>
            </a:r>
            <a:r>
              <a:rPr sz="900">
                <a:solidFill>
                  <a:srgbClr val="2D2D2D"/>
                </a:solidFill>
                <a:latin typeface="Consolas"/>
              </a:rPr>
              <a:t>elloWorldConstants</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$config</a:t>
            </a:r>
            <a:r>
              <a:rPr sz="900">
                <a:solidFill>
                  <a:srgbClr val="2D2D2D"/>
                </a:solidFill>
                <a:latin typeface="Consolas"/>
              </a:rPr>
              <a:t>[</a:t>
            </a:r>
            <a:r>
              <a:rPr sz="900">
                <a:solidFill>
                  <a:srgbClr val="880000"/>
                </a:solidFill>
                <a:latin typeface="Consolas"/>
              </a:rPr>
              <a:t>H</a:t>
            </a:r>
            <a:r>
              <a:rPr sz="900">
                <a:solidFill>
                  <a:srgbClr val="2D2D2D"/>
                </a:solidFill>
                <a:latin typeface="Consolas"/>
              </a:rPr>
              <a:t>elloWorldConstants::</a:t>
            </a:r>
            <a:r>
              <a:rPr sz="900">
                <a:solidFill>
                  <a:srgbClr val="880000"/>
                </a:solidFill>
                <a:latin typeface="Consolas"/>
              </a:rPr>
              <a:t>MY_CONFIG_VALUE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'Hello from config!'</a:t>
            </a:r>
            <a:r>
              <a:rPr sz="900">
                <a:solidFill>
                  <a:srgbClr val="007020"/>
                </a:solidFill>
                <a:latin typeface="Consolas"/>
              </a:rPr>
              <a:t>;</a:t>
            </a:r>
          </a:p>
          <a:p>
            <a:pPr>
              <a:spcAft>
                <a:spcPts val="800"/>
              </a:spcAft>
              <a:defRPr sz="1600">
                <a:solidFill>
                  <a:srgbClr val="1A1A1A"/>
                </a:solidFill>
              </a:defRPr>
            </a:pPr>
            <a:r>
              <a:t>You can use any string you like as the value.</a:t>
            </a:r>
          </a:p>
          <a:p>
            <a:pPr>
              <a:spcBef>
                <a:spcPts val="1200"/>
              </a:spcBef>
              <a:spcAft>
                <a:spcPts val="600"/>
              </a:spcAft>
              <a:defRPr sz="2000" b="1">
                <a:solidFill>
                  <a:srgbClr val="1A1A1A"/>
                </a:solidFill>
              </a:defRPr>
            </a:pPr>
            <a:r>
              <a:t>3. Create the Config Class</a:t>
            </a:r>
          </a:p>
          <a:p>
            <a:pPr>
              <a:spcAft>
                <a:spcPts val="800"/>
              </a:spcAft>
              <a:defRPr sz="1600">
                <a:solidFill>
                  <a:srgbClr val="1A1A1A"/>
                </a:solidFill>
              </a:defRPr>
            </a:pPr>
            <a:r>
              <a:t>Each module can have a Config class that provides typed access to global config values. The naming convention is &lt;Module&gt;Config.php at the module root.</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Set the Config Value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Zed Config class extends Spryker\Zed\Kernel\AbstractBundleConfig , which provides the $this-&gt;get() helper method to read values from the global config.</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src/SprykerAcademy/Zed/ContactRequest/ContactRequestConfig.php :</a:t>
            </a:r>
          </a:p>
          <a:p>
            <a:pPr>
              <a:spcAft>
                <a:spcPts val="400"/>
              </a:spcAft>
              <a:defRPr sz="1500">
                <a:solidFill>
                  <a:srgbClr val="1A1A1A"/>
                </a:solidFill>
              </a:defRPr>
            </a:pPr>
            <a:r>
              <a:t>• Extend Spryker\Zed\Kernel\AbstractBundleConfig</a:t>
            </a:r>
          </a:p>
          <a:p>
            <a:pPr>
              <a:spcAft>
                <a:spcPts val="400"/>
              </a:spcAft>
              <a:defRPr sz="1500">
                <a:solidFill>
                  <a:srgbClr val="1A1A1A"/>
                </a:solidFill>
              </a:defRPr>
            </a:pPr>
            <a:r>
              <a:t>• Add a getMyConfigValue(): string method that uses $this-&gt;get(ContactRequestConstants::MY_CONFIG_VALUE) to return the config value</a:t>
            </a:r>
          </a:p>
          <a:p>
            <a:pPr>
              <a:spcAft>
                <a:spcPts val="400"/>
              </a:spcAft>
              <a:defRPr sz="1500">
                <a:solidFill>
                  <a:srgbClr val="1A1A1A"/>
                </a:solidFill>
              </a:defRPr>
            </a:pPr>
            <a:r>
              <a:t>• Optionally pass a second argument to $this-&gt;get() as a default fallback value</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Create the Communication 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To access the Config class from a controller, you need a CommunicationFactory. The factory extends Spryker\Zed\Kernel\Communication\AbstractCommunicationFactory , which provides the getConfig() helper method.</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src/SprykerAcademy/Zed/ContactRequest/Communication/ContactRequestCommunicationFactory.php :</a:t>
            </a:r>
          </a:p>
          <a:p>
            <a:pPr>
              <a:spcAft>
                <a:spcPts val="400"/>
              </a:spcAft>
              <a:defRPr sz="1500">
                <a:solidFill>
                  <a:srgbClr val="1A1A1A"/>
                </a:solidFill>
              </a:defRPr>
            </a:pPr>
            <a:r>
              <a:t>• Extend Spryker\Zed\Kernel\Communication\AbstractCommunicationFactory</a:t>
            </a:r>
          </a:p>
          <a:p>
            <a:pPr>
              <a:spcAft>
                <a:spcPts val="400"/>
              </a:spcAft>
              <a:defRPr sz="1500">
                <a:solidFill>
                  <a:srgbClr val="1A1A1A"/>
                </a:solidFill>
              </a:defRPr>
            </a:pPr>
            <a:r>
              <a:t>• The class body can be empty — the getConfig() method is inherited</a:t>
            </a:r>
          </a:p>
          <a:p>
            <a:pPr>
              <a:spcAft>
                <a:spcPts val="400"/>
              </a:spcAft>
              <a:defRPr sz="1500">
                <a:solidFill>
                  <a:srgbClr val="1A1A1A"/>
                </a:solidFill>
              </a:defRPr>
            </a:pPr>
            <a:r>
              <a:t>• Add the following annotation for IDE support:</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\SprykerAcademy\Zed\ContactRequest\ContactRequestConfig</a:t>
            </a:r>
            <a:r>
              <a:rPr sz="900" i="1">
                <a:solidFill>
                  <a:srgbClr val="60A0B0"/>
                </a:solidFill>
                <a:latin typeface="Consolas"/>
              </a:rPr>
              <a:t> getConfig()</a:t>
            </a:r>
          </a:p>
          <a:p>
            <a:pPr>
              <a:spcBef>
                <a:spcPts val="0"/>
              </a:spcBef>
              <a:spcAft>
                <a:spcPts val="0"/>
              </a:spcAft>
            </a:pPr>
            <a:r>
              <a:rPr sz="900" i="1">
                <a:solidFill>
                  <a:srgbClr val="60A0B0"/>
                </a:solidFill>
                <a:latin typeface="Consolas"/>
              </a:rPr>
              <a:t> */</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src/SprykerAcademy/Zed/ContactRequest/Presentation/Config/index.twig :</a:t>
            </a:r>
          </a:p>
          <a:p>
            <a:pPr>
              <a:spcBef>
                <a:spcPts val="0"/>
              </a:spcBef>
              <a:spcAft>
                <a:spcPts val="0"/>
              </a:spcAft>
            </a:pPr>
            <a:r>
              <a:rPr sz="900">
                <a:solidFill>
                  <a:srgbClr val="2D2D2D"/>
                </a:solidFill>
                <a:latin typeface="Consolas"/>
              </a:rPr>
              <a:t>{% extends '@Gui/Layout/layout.twig'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content %}</a:t>
            </a:r>
          </a:p>
          <a:p>
            <a:pPr>
              <a:spcBef>
                <a:spcPts val="0"/>
              </a:spcBef>
              <a:spcAft>
                <a:spcPts val="0"/>
              </a:spcAft>
            </a:pPr>
            <a:r>
              <a:rPr sz="900">
                <a:solidFill>
                  <a:srgbClr val="2D2D2D"/>
                </a:solidFill>
                <a:latin typeface="Consolas"/>
              </a:rPr>
              <a:t>    {{ configValue }}</a:t>
            </a:r>
          </a:p>
          <a:p>
            <a:pPr>
              <a:spcBef>
                <a:spcPts val="0"/>
              </a:spcBef>
              <a:spcAft>
                <a:spcPts val="0"/>
              </a:spcAft>
            </a:pPr>
            <a:r>
              <a:rPr sz="900">
                <a:solidFill>
                  <a:srgbClr val="2D2D2D"/>
                </a:solidFill>
                <a:latin typeface="Consolas"/>
              </a:rPr>
              <a:t>{% endblock %}</a:t>
            </a:r>
          </a:p>
          <a:p>
            <a:pPr>
              <a:spcAft>
                <a:spcPts val="800"/>
              </a:spcAft>
              <a:defRPr sz="1600">
                <a:solidFill>
                  <a:srgbClr val="1A1A1A"/>
                </a:solidFill>
              </a:defRPr>
            </a:pPr>
            <a:r>
              <a:t>The folder Config matches the controller name, and index.twig matches the action name.</a:t>
            </a:r>
          </a:p>
          <a:p>
            <a:pPr>
              <a:spcBef>
                <a:spcPts val="1200"/>
              </a:spcBef>
              <a:spcAft>
                <a:spcPts val="600"/>
              </a:spcAft>
              <a:defRPr sz="2000" b="1">
                <a:solidFill>
                  <a:srgbClr val="1A1A1A"/>
                </a:solidFill>
              </a:defRPr>
            </a:pPr>
            <a:r>
              <a:t>6. Create the Controller</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src/SprykerAcademy/Zed/ContactRequest/Communication/Controller/ConfigController.php :</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Extend Spryker\Zed\Kernel\Communication\Controller\AbstractController</a:t>
            </a:r>
          </a:p>
          <a:p>
            <a:pPr>
              <a:spcAft>
                <a:spcPts val="400"/>
              </a:spcAft>
              <a:defRPr sz="1500">
                <a:solidFill>
                  <a:srgbClr val="1A1A1A"/>
                </a:solidFill>
              </a:defRPr>
            </a:pPr>
            <a:r>
              <a:t>• Implement indexAction() : Get the config value from the Config class Return $this-&gt;viewResponse(['configValue' =&gt; $configValue])</a:t>
            </a:r>
          </a:p>
          <a:p>
            <a:pPr>
              <a:spcAft>
                <a:spcPts val="800"/>
              </a:spcAft>
              <a:defRPr sz="1600">
                <a:solidFill>
                  <a:srgbClr val="1A1A1A"/>
                </a:solidFill>
              </a:defRPr>
            </a:pPr>
            <a:r>
              <a:t>Starting with Spryker 202512.0 , Zed controllers support constructor dependency injection . This means you can inject the Config class directly into the controller instead of going through the factory chain:</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H</a:t>
            </a:r>
            <a:r>
              <a:rPr sz="900">
                <a:solidFill>
                  <a:srgbClr val="2D2D2D"/>
                </a:solidFill>
                <a:latin typeface="Consolas"/>
              </a:rPr>
              <a:t>elloWorld\</a:t>
            </a:r>
            <a:r>
              <a:rPr sz="900">
                <a:solidFill>
                  <a:srgbClr val="880000"/>
                </a:solidFill>
                <a:latin typeface="Consolas"/>
              </a:rPr>
              <a:t>H</a:t>
            </a:r>
            <a:r>
              <a:rPr sz="900">
                <a:solidFill>
                  <a:srgbClr val="2D2D2D"/>
                </a:solidFill>
                <a:latin typeface="Consolas"/>
              </a:rPr>
              <a:t>elloWorldConfig</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private</a:t>
            </a:r>
            <a:r>
              <a:rPr sz="900">
                <a:solidFill>
                  <a:srgbClr val="2D2D2D"/>
                </a:solidFill>
                <a:latin typeface="Consolas"/>
              </a:rPr>
              <a:t> readonly </a:t>
            </a:r>
            <a:r>
              <a:rPr sz="900">
                <a:solidFill>
                  <a:srgbClr val="880000"/>
                </a:solidFill>
                <a:latin typeface="Consolas"/>
              </a:rPr>
              <a:t>H</a:t>
            </a:r>
            <a:r>
              <a:rPr sz="900">
                <a:solidFill>
                  <a:srgbClr val="2D2D2D"/>
                </a:solidFill>
                <a:latin typeface="Consolas"/>
              </a:rPr>
              <a:t>elloWorldConfig </a:t>
            </a:r>
            <a:r>
              <a:rPr sz="900">
                <a:solidFill>
                  <a:srgbClr val="19177C"/>
                </a:solidFill>
                <a:latin typeface="Consolas"/>
              </a:rPr>
              <a:t>$config</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$configValue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-&gt;config-&gt;getMyConfigValue()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-&gt;viewResponse([</a:t>
            </a:r>
          </a:p>
          <a:p>
            <a:pPr>
              <a:spcBef>
                <a:spcPts val="0"/>
              </a:spcBef>
              <a:spcAft>
                <a:spcPts val="0"/>
              </a:spcAft>
            </a:pPr>
            <a:r>
              <a:rPr sz="900">
                <a:solidFill>
                  <a:srgbClr val="2D2D2D"/>
                </a:solidFill>
                <a:latin typeface="Consolas"/>
              </a:rPr>
              <a:t>            </a:t>
            </a:r>
            <a:r>
              <a:rPr sz="900">
                <a:solidFill>
                  <a:srgbClr val="4070A0"/>
                </a:solidFill>
                <a:latin typeface="Consolas"/>
              </a:rPr>
              <a:t>'configValue'</a:t>
            </a:r>
            <a:r>
              <a:rPr sz="900">
                <a:solidFill>
                  <a:srgbClr val="2D2D2D"/>
                </a:solidFill>
                <a:latin typeface="Consolas"/>
              </a:rPr>
              <a:t> =&gt; </a:t>
            </a:r>
            <a:r>
              <a:rPr sz="900">
                <a:solidFill>
                  <a:srgbClr val="19177C"/>
                </a:solidFill>
                <a:latin typeface="Consolas"/>
              </a:rPr>
              <a:t>$configValue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Alternatively, you can use the traditional factory approach (which still works and is the pattern you will find in older codebases):</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\SprykerAcademy\Zed\ContactRequest\Communication\ContactRequestCommunicationFactory</a:t>
            </a:r>
            <a:r>
              <a:rPr sz="900" i="1">
                <a:solidFill>
                  <a:srgbClr val="60A0B0"/>
                </a:solidFill>
                <a:latin typeface="Consolas"/>
              </a:rPr>
              <a:t> getFactory()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$configValue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-&gt;getFactory()-&gt;getConfig()-&gt;getMyConfigValue()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-&gt;viewResponse([</a:t>
            </a:r>
          </a:p>
          <a:p>
            <a:pPr>
              <a:spcBef>
                <a:spcPts val="0"/>
              </a:spcBef>
              <a:spcAft>
                <a:spcPts val="0"/>
              </a:spcAft>
            </a:pPr>
            <a:r>
              <a:rPr sz="900">
                <a:solidFill>
                  <a:srgbClr val="2D2D2D"/>
                </a:solidFill>
                <a:latin typeface="Consolas"/>
              </a:rPr>
              <a:t>            </a:t>
            </a:r>
            <a:r>
              <a:rPr sz="900">
                <a:solidFill>
                  <a:srgbClr val="4070A0"/>
                </a:solidFill>
                <a:latin typeface="Consolas"/>
              </a:rPr>
              <a:t>'configValue'</a:t>
            </a:r>
            <a:r>
              <a:rPr sz="900">
                <a:solidFill>
                  <a:srgbClr val="2D2D2D"/>
                </a:solidFill>
                <a:latin typeface="Consolas"/>
              </a:rPr>
              <a:t> =&gt; </a:t>
            </a:r>
            <a:r>
              <a:rPr sz="900">
                <a:solidFill>
                  <a:srgbClr val="19177C"/>
                </a:solidFill>
                <a:latin typeface="Consolas"/>
              </a:rPr>
              <a:t>$configValue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Choose either approach for your implementation.</a:t>
            </a:r>
          </a:p>
          <a:p>
            <a:pPr>
              <a:spcAft>
                <a:spcPts val="800"/>
              </a:spcAft>
              <a:defRPr sz="1600">
                <a:solidFill>
                  <a:srgbClr val="1A1A1A"/>
                </a:solidFill>
              </a:defRPr>
            </a:pPr>
            <a:r>
              <a:t>Clear the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800"/>
              </a:spcAft>
              <a:defRPr sz="1600">
                <a:solidFill>
                  <a:srgbClr val="1A1A1A"/>
                </a:solidFill>
              </a:defRPr>
            </a:pPr>
            <a:r>
              <a:t>Visit: http://backoffice.eu.spryker.local/contact-request/config/index (Credentials: admin@spryker.com / change123 )</a:t>
            </a:r>
          </a:p>
          <a:p>
            <a:pPr>
              <a:spcAft>
                <a:spcPts val="800"/>
              </a:spcAft>
              <a:defRPr sz="1600">
                <a:solidFill>
                  <a:srgbClr val="1A1A1A"/>
                </a:solidFill>
              </a:defRPr>
            </a:pPr>
            <a:r>
              <a:t>You should see your config value displayed on the page.</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Exercise6</a:t>
            </a:r>
          </a:p>
          <a:p>
            <a:pPr>
              <a:spcAft>
                <a:spcPts val="800"/>
              </a:spcAft>
              <a:defRPr sz="1600">
                <a:solidFill>
                  <a:srgbClr val="1A1A1A"/>
                </a:solidFill>
              </a:defRPr>
            </a:pPr>
            <a:r>
              <a:t>All tests should pass if your implementation is correct.</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basics/configuration/complete</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6b: Build the Contact Request Module with the AI Dev SDK</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6b: Build the Contact Request Module with the AI Dev SDK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Exercises 1 to 6 you built the ContactRequest module by hand: a Back Office page, a transfer object, a Propel table, the Persistence, Business and Communication layers, the Client, a Yves page and a module config. In this exercise you build the same module again, this time by giving one prompt to your AI coding assistant. The Spryker AI Dev SDK provides the assistant with Spryker's architecture rules, skills and agents, and the automated tests of Exercises 1 to 6 are the acceptance criteria.</a:t>
            </a:r>
          </a:p>
          <a:p>
            <a:pPr>
              <a:spcAft>
                <a:spcPts val="800"/>
              </a:spcAft>
              <a:defRPr sz="1600">
                <a:solidFill>
                  <a:srgbClr val="1A1A1A"/>
                </a:solidFill>
              </a:defRPr>
            </a:pPr>
            <a:r>
              <a:t>You will learn how to:</a:t>
            </a:r>
          </a:p>
          <a:p>
            <a:pPr>
              <a:spcAft>
                <a:spcPts val="400"/>
              </a:spcAft>
              <a:defRPr sz="1500">
                <a:solidFill>
                  <a:srgbClr val="1A1A1A"/>
                </a:solidFill>
              </a:defRPr>
            </a:pPr>
            <a:r>
              <a:t>• Set up the AI Dev SDK in a project with ai-dev:setup</a:t>
            </a:r>
          </a:p>
          <a:p>
            <a:pPr>
              <a:spcAft>
                <a:spcPts val="400"/>
              </a:spcAft>
              <a:defRPr sz="1500">
                <a:solidFill>
                  <a:srgbClr val="1A1A1A"/>
                </a:solidFill>
              </a:defRPr>
            </a:pPr>
            <a:r>
              <a:t>• Read what the SDK generates: the agents file, the rules, the skills and the agents</a:t>
            </a:r>
          </a:p>
          <a:p>
            <a:pPr>
              <a:spcAft>
                <a:spcPts val="400"/>
              </a:spcAft>
              <a:defRPr sz="1500">
                <a:solidFill>
                  <a:srgbClr val="1A1A1A"/>
                </a:solidFill>
              </a:defRPr>
            </a:pPr>
            <a:r>
              <a:t>• Write a prompt that uses existing tests as the specification</a:t>
            </a:r>
          </a:p>
          <a:p>
            <a:pPr>
              <a:spcAft>
                <a:spcPts val="400"/>
              </a:spcAft>
              <a:defRPr sz="1500">
                <a:solidFill>
                  <a:srgbClr val="1A1A1A"/>
                </a:solidFill>
              </a:defRPr>
            </a:pPr>
            <a:r>
              <a:t>• Review AI-generated Spryker code against the rules you learned in Exercises 1 to 6</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6b: Build the Contact Request Module with the AI Dev SDK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Official documentation:</a:t>
            </a:r>
          </a:p>
          <a:p>
            <a:pPr>
              <a:spcAft>
                <a:spcPts val="400"/>
              </a:spcAft>
              <a:defRPr sz="1500">
                <a:solidFill>
                  <a:srgbClr val="1A1A1A"/>
                </a:solidFill>
              </a:defRPr>
            </a:pPr>
            <a:r>
              <a:t>• AI Dev SDK</a:t>
            </a:r>
          </a:p>
          <a:p>
            <a:pPr>
              <a:spcAft>
                <a:spcPts val="400"/>
              </a:spcAft>
              <a:defRPr sz="1500">
                <a:solidFill>
                  <a:srgbClr val="1A1A1A"/>
                </a:solidFill>
              </a:defRPr>
            </a:pPr>
            <a:r>
              <a:t>• Install AI Dev</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Exercises 1 to 6 completed, so you know what "correct" looks like.</a:t>
            </a:r>
          </a:p>
          <a:p>
            <a:pPr>
              <a:spcAft>
                <a:spcPts val="400"/>
              </a:spcAft>
              <a:defRPr sz="1500">
                <a:solidFill>
                  <a:srgbClr val="1A1A1A"/>
                </a:solidFill>
              </a:defRPr>
            </a:pPr>
            <a:r>
              <a:t>• An AI coding assistant installed on your machine: Claude Code, Cursor, GitHub Copilot, Windsurf, OpenCode or Codex. The SDK generates files for all of them.</a:t>
            </a:r>
          </a:p>
          <a:p>
            <a:pPr>
              <a:spcAft>
                <a:spcPts val="400"/>
              </a:spcAft>
              <a:defRPr sz="1500">
                <a:solidFill>
                  <a:srgbClr val="1A1A1A"/>
                </a:solidFill>
              </a:defRPr>
            </a:pPr>
            <a:r>
              <a:t>• The spryker-sdk/ai-dev package. The B2B Marketplace demo shop ships it out of the box (see composer.json ).</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 Set Up the AI Dev SDK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SDK is a Composer package with console commands. Run the setup once per project:</a:t>
            </a:r>
          </a:p>
          <a:p>
            <a:pPr>
              <a:spcBef>
                <a:spcPts val="0"/>
              </a:spcBef>
              <a:spcAft>
                <a:spcPts val="0"/>
              </a:spcAft>
            </a:pPr>
            <a:r>
              <a:rPr sz="900">
                <a:solidFill>
                  <a:srgbClr val="2D2D2D"/>
                </a:solidFill>
                <a:latin typeface="Consolas"/>
              </a:rPr>
              <a:t>docker/sdk</a:t>
            </a:r>
            <a:r>
              <a:rPr sz="900">
                <a:solidFill>
                  <a:srgbClr val="2D2D2D"/>
                </a:solidFill>
                <a:latin typeface="Consolas"/>
              </a:rPr>
              <a:t> console ai-dev:setup</a:t>
            </a:r>
          </a:p>
          <a:p>
            <a:pPr>
              <a:spcAft>
                <a:spcPts val="800"/>
              </a:spcAft>
              <a:defRPr sz="1600">
                <a:solidFill>
                  <a:srgbClr val="1A1A1A"/>
                </a:solidFill>
              </a:defRPr>
            </a:pPr>
            <a:r>
              <a:t>The command is interactive:</a:t>
            </a:r>
          </a:p>
          <a:p>
            <a:pPr>
              <a:spcAft>
                <a:spcPts val="400"/>
              </a:spcAft>
              <a:defRPr sz="1500">
                <a:solidFill>
                  <a:srgbClr val="1A1A1A"/>
                </a:solidFill>
              </a:defRPr>
            </a:pPr>
            <a:r>
              <a:t>• It detects your AI tool from the folders in the project ( .claude , .cursor , .github , ...) and asks you to confirm, or lets you pick one.</a:t>
            </a:r>
          </a:p>
          <a:p>
            <a:pPr>
              <a:spcAft>
                <a:spcPts val="400"/>
              </a:spcAft>
              <a:defRPr sz="1500">
                <a:solidFill>
                  <a:srgbClr val="1A1A1A"/>
                </a:solidFill>
              </a:defRPr>
            </a:pPr>
            <a:r>
              <a:t>• It asks whether to generate the files ready to use or as examples ( example.CLAUDE.md , .claude/skills/propel-schema-example , ...). Choose ready to use for this training.</a:t>
            </a:r>
          </a:p>
          <a:p>
            <a:pPr>
              <a:spcAft>
                <a:spcPts val="400"/>
              </a:spcAft>
              <a:defRPr sz="1500">
                <a:solidFill>
                  <a:srgbClr val="1A1A1A"/>
                </a:solidFill>
              </a:defRPr>
            </a:pPr>
            <a:r>
              <a:t>• For each step it asks for confirmation: Generate rules , Generate agents/context file , Generate skills , Generate agents . Say yes to all. Existing files are never overwritten unless you agree.</a:t>
            </a:r>
          </a:p>
          <a:p>
            <a:pPr>
              <a:spcAft>
                <a:spcPts val="800"/>
              </a:spcAft>
              <a:defRPr sz="1600">
                <a:solidFill>
                  <a:srgbClr val="1A1A1A"/>
                </a:solidFill>
              </a:defRPr>
            </a:pPr>
            <a:r>
              <a:t>What lands in the project depends on the tool:</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 Set Up the AI Dev SDK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Tool              Context file                     Rules                  Skills             Agents         </a:t>
            </a:r>
          </a:p>
          <a:p>
            <a:pPr>
              <a:spcAft>
                <a:spcPts val="100"/>
              </a:spcAft>
              <a:defRPr sz="1000">
                <a:solidFill>
                  <a:srgbClr val="1A1A1A"/>
                </a:solidFill>
                <a:latin typeface="Consolas"/>
              </a:defRPr>
            </a:pPr>
            <a:r>
              <a:t>----------------  -------------------------------  ---------------------  -----------------  ---------------</a:t>
            </a:r>
          </a:p>
          <a:p>
            <a:pPr>
              <a:spcAft>
                <a:spcPts val="100"/>
              </a:spcAft>
              <a:defRPr sz="1000">
                <a:solidFill>
                  <a:srgbClr val="1A1A1A"/>
                </a:solidFill>
                <a:latin typeface="Consolas"/>
              </a:defRPr>
            </a:pPr>
            <a:r>
              <a:t>Claude Code       CLAUDE.md                        .claude/rules/         .claude/skills/    .claude/agents/</a:t>
            </a:r>
          </a:p>
          <a:p>
            <a:pPr>
              <a:spcAft>
                <a:spcPts val="100"/>
              </a:spcAft>
              <a:defRPr sz="1000">
                <a:solidFill>
                  <a:srgbClr val="1A1A1A"/>
                </a:solidFill>
                <a:latin typeface="Consolas"/>
              </a:defRPr>
            </a:pPr>
            <a:r>
              <a:t>Cursor            AGENTS.md                        .cursor/rules/         .cursor/skills/    .cursor/agents/</a:t>
            </a:r>
          </a:p>
          <a:p>
            <a:pPr>
              <a:spcAft>
                <a:spcPts val="100"/>
              </a:spcAft>
              <a:defRPr sz="1000">
                <a:solidFill>
                  <a:srgbClr val="1A1A1A"/>
                </a:solidFill>
                <a:latin typeface="Consolas"/>
              </a:defRPr>
            </a:pPr>
            <a:r>
              <a:t>GitHub Copilot    .github/copilot-instructions.md  .github/instructions/  .github/skills/    .github/agents/</a:t>
            </a:r>
          </a:p>
          <a:p>
            <a:pPr>
              <a:spcAft>
                <a:spcPts val="100"/>
              </a:spcAft>
              <a:defRPr sz="1000">
                <a:solidFill>
                  <a:srgbClr val="1A1A1A"/>
                </a:solidFill>
                <a:latin typeface="Consolas"/>
              </a:defRPr>
            </a:pPr>
            <a:r>
              <a:t>Windsurf          .windsurfrules                   .windsurf/rules/       .windsurf/skills/  —              </a:t>
            </a:r>
          </a:p>
          <a:p>
            <a:pPr>
              <a:spcAft>
                <a:spcPts val="100"/>
              </a:spcAft>
              <a:defRPr sz="1000">
                <a:solidFill>
                  <a:srgbClr val="1A1A1A"/>
                </a:solidFill>
                <a:latin typeface="Consolas"/>
              </a:defRPr>
            </a:pPr>
            <a:r>
              <a:t>OpenCode / Codex  AGENTS.md                        .opencode/rules/       .agents/skills/    —</a:t>
            </a:r>
          </a:p>
          <a:p>
            <a:pPr>
              <a:spcAft>
                <a:spcPts val="800"/>
              </a:spcAft>
              <a:defRPr sz="1600">
                <a:solidFill>
                  <a:srgbClr val="1A1A1A"/>
                </a:solidFill>
              </a:defRPr>
            </a:pPr>
            <a:r>
              <a:t>The other commands of the module generate single artifacts ( ai-dev:generate-agents-file , ai-dev:generate-skills ) and start the MCP server ( ai-dev:mcp-server ) that lets the assistant query transfers, interfaces and OMS information of the running application. You do not need them for this exercise.</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What to look at (5 minutes, no coding)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context file ( CLAUDE.md or AGENTS.md ). It is the architecture brief for the assistant: the console commands, the architectural rules (single responsibility, dependencies through the constructor, no new in business logic, transfers are never modified in place), and the project organization. Note the rule about the custom namespace: the assistant must write into src/SprykerAcademy , because that namespace is registered before Pyz in PROJECT_NAMESPACES .</a:t>
            </a:r>
          </a:p>
          <a:p>
            <a:pPr>
              <a:spcAft>
                <a:spcPts val="400"/>
              </a:spcAft>
              <a:defRPr sz="1500">
                <a:solidFill>
                  <a:srgbClr val="1A1A1A"/>
                </a:solidFill>
              </a:defRPr>
            </a:pPr>
            <a:r>
              <a:t>• The rules folder : one Markdown file per convention. Open dependency-provider.md , factory-pattern.md , layer-communication.md , transfer-object.md , persistence.md , controller.md and naming-conventions.md . These are the same rules you applied by hand in Exercises 4 to 6.</a:t>
            </a:r>
          </a:p>
          <a:p>
            <a:pPr>
              <a:spcAft>
                <a:spcPts val="400"/>
              </a:spcAft>
              <a:defRPr sz="1500">
                <a:solidFill>
                  <a:srgbClr val="1A1A1A"/>
                </a:solidFill>
              </a:defRPr>
            </a:pPr>
            <a:r>
              <a:t>• The skills folder : task recipes the assistant follows, for example propel-schema , data-import , spryker-customization , codecept-functional , code-review , static-validation , spryker-docs-research , spryker-runtime .</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What to look at (5 minutes, no coding)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agents folder : specialised roles such as spryker-feature-expert , spryker-code-reviewer , spryker-verifier , spryker-issue-diagnoser and spryker-data-seeder .</a:t>
            </a:r>
          </a:p>
          <a:p>
            <a:pPr>
              <a:spcAft>
                <a:spcPts val="800"/>
              </a:spcAft>
              <a:defRPr sz="1400" i="1">
                <a:solidFill>
                  <a:srgbClr val="888888"/>
                </a:solidFill>
              </a:defRPr>
            </a:pPr>
            <a:r>
              <a:t>❝ Do not study every file now. The point is to know that the assistant reads the same conventions you learned, and where to look when it produces something odd.</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Prepare a Clean Start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Load the reference solution of Exercise 6. This installs the wiring the loader manages (navigation entry, the config value in config_default.php , the Yves router) and the automated tests of Exercises 1 to 6:</a:t>
            </a:r>
          </a:p>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basics/configuration/complete</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Aft>
                <a:spcPts val="800"/>
              </a:spcAft>
              <a:defRPr sz="1600">
                <a:solidFill>
                  <a:srgbClr val="1A1A1A"/>
                </a:solidFill>
              </a:defRPr>
            </a:pPr>
            <a:r>
              <a:t>Now delete the module code and keep the wiring and the tests. This is your empty page:</a:t>
            </a:r>
          </a:p>
          <a:p>
            <a:pPr>
              <a:spcBef>
                <a:spcPts val="0"/>
              </a:spcBef>
              <a:spcAft>
                <a:spcPts val="0"/>
              </a:spcAft>
            </a:pPr>
            <a:r>
              <a:rPr sz="900">
                <a:solidFill>
                  <a:srgbClr val="06287E"/>
                </a:solidFill>
                <a:latin typeface="Consolas"/>
              </a:rPr>
              <a:t>rm</a:t>
            </a:r>
            <a:r>
              <a:rPr sz="900">
                <a:solidFill>
                  <a:srgbClr val="2D2D2D"/>
                </a:solidFill>
                <a:latin typeface="Consolas"/>
              </a:rPr>
              <a:t> </a:t>
            </a:r>
            <a:r>
              <a:rPr sz="900">
                <a:solidFill>
                  <a:srgbClr val="2D2D2D"/>
                </a:solidFill>
                <a:latin typeface="Consolas"/>
              </a:rPr>
              <a:t>-rf</a:t>
            </a:r>
            <a:r>
              <a:rPr sz="900">
                <a:solidFill>
                  <a:srgbClr val="2D2D2D"/>
                </a:solidFill>
                <a:latin typeface="Consolas"/>
              </a:rPr>
              <a:t> src/SprykerAcademy/Zed/ContactRequest </a:t>
            </a:r>
            <a:r>
              <a:rPr sz="900">
                <a:solidFill>
                  <a:srgbClr val="902000"/>
                </a:solidFill>
                <a:latin typeface="Consolas"/>
              </a:rPr>
              <a:t>\</a:t>
            </a:r>
          </a:p>
          <a:p>
            <a:pPr>
              <a:spcBef>
                <a:spcPts val="0"/>
              </a:spcBef>
              <a:spcAft>
                <a:spcPts val="0"/>
              </a:spcAft>
            </a:pPr>
            <a:r>
              <a:rPr sz="900">
                <a:solidFill>
                  <a:srgbClr val="2D2D2D"/>
                </a:solidFill>
                <a:latin typeface="Consolas"/>
              </a:rPr>
              <a:t>       src/SprykerAcademy/Client/ContactRequest </a:t>
            </a:r>
            <a:r>
              <a:rPr sz="900">
                <a:solidFill>
                  <a:srgbClr val="902000"/>
                </a:solidFill>
                <a:latin typeface="Consolas"/>
              </a:rPr>
              <a:t>\</a:t>
            </a:r>
          </a:p>
          <a:p>
            <a:pPr>
              <a:spcBef>
                <a:spcPts val="0"/>
              </a:spcBef>
              <a:spcAft>
                <a:spcPts val="0"/>
              </a:spcAft>
            </a:pPr>
            <a:r>
              <a:rPr sz="900">
                <a:solidFill>
                  <a:srgbClr val="2D2D2D"/>
                </a:solidFill>
                <a:latin typeface="Consolas"/>
              </a:rPr>
              <a:t>       src/SprykerAcademy/Shared/ContactRequest/Transfer </a:t>
            </a:r>
            <a:r>
              <a:rPr sz="900">
                <a:solidFill>
                  <a:srgbClr val="902000"/>
                </a:solidFill>
                <a:latin typeface="Consolas"/>
              </a:rPr>
              <a:t>\</a:t>
            </a:r>
          </a:p>
          <a:p>
            <a:pPr>
              <a:spcBef>
                <a:spcPts val="0"/>
              </a:spcBef>
              <a:spcAft>
                <a:spcPts val="0"/>
              </a:spcAft>
            </a:pPr>
            <a:r>
              <a:rPr sz="900">
                <a:solidFill>
                  <a:srgbClr val="2D2D2D"/>
                </a:solidFill>
                <a:latin typeface="Consolas"/>
              </a:rPr>
              <a:t>       src/SprykerAcademy/Yves/ContactRequestPage</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Two files stay on purpose, because the wiring references them:</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Prepare a Clean Start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src/SprykerAcademy/Shared/ContactRequest/ContactRequestConstants.php : config/Shared/config_default.php reads ContactRequestConstants::MY_CONFIG_VALUE . Without the class every console command fails.</a:t>
            </a:r>
          </a:p>
          <a:p>
            <a:pPr>
              <a:spcAft>
                <a:spcPts val="400"/>
              </a:spcAft>
              <a:defRPr sz="1500">
                <a:solidFill>
                  <a:srgbClr val="1A1A1A"/>
                </a:solidFill>
              </a:defRPr>
            </a:pPr>
            <a:r>
              <a:t>• src/SprykerAcademy/Yves/Router/RouterDependencyProvider.php : it registers ContactRequestPageRouteProviderPlugin , a class the assistant has to create with exactly that name. Until it exists, the Yves storefront answers with an error. That is expected.</a:t>
            </a:r>
          </a:p>
          <a:p>
            <a:pPr>
              <a:spcAft>
                <a:spcPts val="800"/>
              </a:spcAft>
              <a:defRPr sz="1600">
                <a:solidFill>
                  <a:srgbClr val="1A1A1A"/>
                </a:solidFill>
              </a:defRPr>
            </a:pPr>
            <a:r>
              <a:t>Both are part of the specification the assistant gets.</a:t>
            </a:r>
          </a:p>
          <a:p>
            <a:pPr>
              <a:spcAft>
                <a:spcPts val="800"/>
              </a:spcAft>
              <a:defRPr sz="1600">
                <a:solidFill>
                  <a:srgbClr val="1A1A1A"/>
                </a:solidFill>
              </a:defRPr>
            </a:pPr>
            <a:r>
              <a:t>Confirm that the tests fail now:</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your AI tool in the project root and give it this prompt. Adjust nothing except, if you like, the wording.</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Build the ContactRequest module in the SprykerAcademy namespace of this Spryker project.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The specification is the test suite in tests/SprykerAcademyTest/Zed/ContactRequest/</a:t>
            </a:r>
          </a:p>
          <a:p>
            <a:pPr>
              <a:spcBef>
                <a:spcPts val="0"/>
              </a:spcBef>
              <a:spcAft>
                <a:spcPts val="0"/>
              </a:spcAft>
            </a:pPr>
            <a:r>
              <a:rPr sz="900">
                <a:solidFill>
                  <a:srgbClr val="2D2D2D"/>
                </a:solidFill>
                <a:latin typeface="Consolas"/>
              </a:rPr>
              <a:t>(folders Exercise1 to Exercise6 plus codeception.yml). Read every test first and derive</a:t>
            </a:r>
          </a:p>
          <a:p>
            <a:pPr>
              <a:spcBef>
                <a:spcPts val="0"/>
              </a:spcBef>
              <a:spcAft>
                <a:spcPts val="0"/>
              </a:spcAft>
            </a:pPr>
            <a:r>
              <a:rPr sz="900">
                <a:solidFill>
                  <a:srgbClr val="2D2D2D"/>
                </a:solidFill>
                <a:latin typeface="Consolas"/>
              </a:rPr>
              <a:t>the class names, namespaces, file paths, method names, routes and values from them.</a:t>
            </a:r>
          </a:p>
          <a:p>
            <a:pPr>
              <a:spcBef>
                <a:spcPts val="0"/>
              </a:spcBef>
              <a:spcAft>
                <a:spcPts val="0"/>
              </a:spcAft>
            </a:pPr>
            <a:r>
              <a:rPr sz="900">
                <a:solidFill>
                  <a:srgbClr val="2D2D2D"/>
                </a:solidFill>
                <a:latin typeface="Consolas"/>
              </a:rPr>
              <a:t>Do not modify the tests.</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Scope, in this order:</a:t>
            </a:r>
          </a:p>
          <a:p>
            <a:pPr>
              <a:spcBef>
                <a:spcPts val="0"/>
              </a:spcBef>
              <a:spcAft>
                <a:spcPts val="0"/>
              </a:spcAft>
            </a:pPr>
            <a:r>
              <a:rPr sz="900">
                <a:solidFill>
                  <a:srgbClr val="2D2D2D"/>
                </a:solidFill>
                <a:latin typeface="Consolas"/>
              </a:rPr>
              <a:t>1. Zed Back Office page: IndexController with indexAction() at /contact-request/index/index,</a:t>
            </a:r>
          </a:p>
          <a:p>
            <a:pPr>
              <a:spcBef>
                <a:spcPts val="0"/>
              </a:spcBef>
              <a:spcAft>
                <a:spcPts val="0"/>
              </a:spcAft>
            </a:pPr>
            <a:r>
              <a:rPr sz="900">
                <a:solidFill>
                  <a:srgbClr val="2D2D2D"/>
                </a:solidFill>
                <a:latin typeface="Consolas"/>
              </a:rPr>
              <a:t>   Twig template in Presentation/Index/index.twig. The navigation entry already exists.</a:t>
            </a:r>
          </a:p>
          <a:p>
            <a:pPr>
              <a:spcBef>
                <a:spcPts val="0"/>
              </a:spcBef>
              <a:spcAft>
                <a:spcPts val="0"/>
              </a:spcAft>
            </a:pPr>
            <a:r>
              <a:rPr sz="900">
                <a:solidFill>
                  <a:srgbClr val="2D2D2D"/>
                </a:solidFill>
                <a:latin typeface="Consolas"/>
              </a:rPr>
              <a:t>2. Transfer definition src/SprykerAcademy/Shared/ContactRequest/Transfer/contact_request.transfer.xml</a:t>
            </a:r>
          </a:p>
          <a:p>
            <a:pPr>
              <a:spcBef>
                <a:spcPts val="0"/>
              </a:spcBef>
              <a:spcAft>
                <a:spcPts val="0"/>
              </a:spcAft>
            </a:pPr>
            <a:r>
              <a:rPr sz="900">
                <a:solidFill>
                  <a:srgbClr val="2D2D2D"/>
                </a:solidFill>
                <a:latin typeface="Consolas"/>
              </a:rPr>
              <a:t>   with the ContactRequest transfer (idContactRequest, message) plus ContactRequestCriteria and</a:t>
            </a:r>
          </a:p>
          <a:p>
            <a:pPr>
              <a:spcBef>
                <a:spcPts val="0"/>
              </a:spcBef>
              <a:spcAft>
                <a:spcPts val="0"/>
              </a:spcAft>
            </a:pPr>
            <a:r>
              <a:rPr sz="900">
                <a:solidFill>
                  <a:srgbClr val="2D2D2D"/>
                </a:solidFill>
                <a:latin typeface="Consolas"/>
              </a:rPr>
              <a:t>   ContactRequestResponse (isSuccessful, contactRequest). Run docker/sdk console transfer:generate.</a:t>
            </a:r>
          </a:p>
          <a:p>
            <a:pPr>
              <a:spcBef>
                <a:spcPts val="0"/>
              </a:spcBef>
              <a:spcAft>
                <a:spcPts val="0"/>
              </a:spcAft>
            </a:pPr>
            <a:r>
              <a:rPr sz="900">
                <a:solidFill>
                  <a:srgbClr val="2D2D2D"/>
                </a:solidFill>
                <a:latin typeface="Consolas"/>
              </a:rPr>
              <a:t>3. Propel schema src/SprykerAcademy/Zed/ContactRequest/Persistence/Propel/Schema/pyz_contact_request.schema.xml</a:t>
            </a:r>
          </a:p>
          <a:p>
            <a:pPr>
              <a:spcBef>
                <a:spcPts val="0"/>
              </a:spcBef>
              <a:spcAft>
                <a:spcPts val="0"/>
              </a:spcAft>
            </a:pPr>
            <a:r>
              <a:rPr sz="900">
                <a:solidFill>
                  <a:srgbClr val="2D2D2D"/>
                </a:solidFill>
                <a:latin typeface="Consolas"/>
              </a:rPr>
              <a:t>   (table pyz_contact_request, namespace Orm\Zed\ContactRequest\Persistence). Run docker/sdk console propel:install.</a:t>
            </a:r>
          </a:p>
          <a:p>
            <a:pPr>
              <a:spcBef>
                <a:spcPts val="0"/>
              </a:spcBef>
              <a:spcAft>
                <a:spcPts val="0"/>
              </a:spcAft>
            </a:pPr>
            <a:r>
              <a:rPr sz="900">
                <a:solidFill>
                  <a:srgbClr val="2D2D2D"/>
                </a:solidFill>
                <a:latin typeface="Consolas"/>
              </a:rPr>
              <a:t>4. Persistence layer (PersistenceFactory, Repository + interface, EntityManager + interface, Mapper),</a:t>
            </a:r>
          </a:p>
          <a:p>
            <a:pPr>
              <a:spcBef>
                <a:spcPts val="0"/>
              </a:spcBef>
              <a:spcAft>
                <a:spcPts val="0"/>
              </a:spcAft>
            </a:pPr>
            <a:r>
              <a:rPr sz="900">
                <a:solidFill>
                  <a:srgbClr val="2D2D2D"/>
                </a:solidFill>
                <a:latin typeface="Consolas"/>
              </a:rPr>
              <a:t>   Business layer (Facade + interface, BusinessFactory, Reader/ContactRequestReader, Writer/ContactRequestWriter)</a:t>
            </a:r>
          </a:p>
          <a:p>
            <a:pPr>
              <a:spcBef>
                <a:spcPts val="0"/>
              </a:spcBef>
              <a:spcAft>
                <a:spcPts val="0"/>
              </a:spcAft>
            </a:pPr>
            <a:r>
              <a:rPr sz="900">
                <a:solidFill>
                  <a:srgbClr val="2D2D2D"/>
                </a:solidFill>
                <a:latin typeface="Consolas"/>
              </a:rPr>
              <a:t>   and Communication layer (CommunicationFactory, IndexController, ContactRequestController with an add</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form page at /contact-request/contact-request/add, GatewayController).</a:t>
            </a:r>
          </a:p>
          <a:p>
            <a:pPr>
              <a:spcBef>
                <a:spcPts val="0"/>
              </a:spcBef>
              <a:spcAft>
                <a:spcPts val="0"/>
              </a:spcAft>
            </a:pPr>
            <a:r>
              <a:rPr sz="900">
                <a:solidFill>
                  <a:srgbClr val="2D2D2D"/>
                </a:solidFill>
                <a:latin typeface="Consolas"/>
              </a:rPr>
              <a:t>5. Client layer src/SprykerAcademy/Client/ContactRequest (Client + interface, Factory, DependencyProvider,</a:t>
            </a:r>
          </a:p>
          <a:p>
            <a:pPr>
              <a:spcBef>
                <a:spcPts val="0"/>
              </a:spcBef>
              <a:spcAft>
                <a:spcPts val="0"/>
              </a:spcAft>
            </a:pPr>
            <a:r>
              <a:rPr sz="900">
                <a:solidFill>
                  <a:srgbClr val="2D2D2D"/>
                </a:solidFill>
                <a:latin typeface="Consolas"/>
              </a:rPr>
              <a:t>   Stub/ContactRequestStub using the ZedRequestClient and the gateway path</a:t>
            </a:r>
          </a:p>
          <a:p>
            <a:pPr>
              <a:spcBef>
                <a:spcPts val="0"/>
              </a:spcBef>
              <a:spcAft>
                <a:spcPts val="0"/>
              </a:spcAft>
            </a:pPr>
            <a:r>
              <a:rPr sz="900">
                <a:solidFill>
                  <a:srgbClr val="2D2D2D"/>
                </a:solidFill>
                <a:latin typeface="Consolas"/>
              </a:rPr>
              <a:t>   /contact-request/gateway/find-contact-request).</a:t>
            </a:r>
          </a:p>
          <a:p>
            <a:pPr>
              <a:spcBef>
                <a:spcPts val="0"/>
              </a:spcBef>
              <a:spcAft>
                <a:spcPts val="0"/>
              </a:spcAft>
            </a:pPr>
            <a:r>
              <a:rPr sz="900">
                <a:solidFill>
                  <a:srgbClr val="2D2D2D"/>
                </a:solidFill>
                <a:latin typeface="Consolas"/>
              </a:rPr>
              <a:t>6. Yves module src/SprykerAcademy/Yves/ContactRequestPage with a ContactRequestController, a</a:t>
            </a:r>
          </a:p>
          <a:p>
            <a:pPr>
              <a:spcBef>
                <a:spcPts val="0"/>
              </a:spcBef>
              <a:spcAft>
                <a:spcPts val="0"/>
              </a:spcAft>
            </a:pPr>
            <a:r>
              <a:rPr sz="900">
                <a:solidFill>
                  <a:srgbClr val="2D2D2D"/>
                </a:solidFill>
                <a:latin typeface="Consolas"/>
              </a:rPr>
              <a:t>   ContactRequestPageRouteProviderPlugin (already registered in</a:t>
            </a:r>
          </a:p>
          <a:p>
            <a:pPr>
              <a:spcBef>
                <a:spcPts val="0"/>
              </a:spcBef>
              <a:spcAft>
                <a:spcPts val="0"/>
              </a:spcAft>
            </a:pPr>
            <a:r>
              <a:rPr sz="900">
                <a:solidFill>
                  <a:srgbClr val="2D2D2D"/>
                </a:solidFill>
                <a:latin typeface="Consolas"/>
              </a:rPr>
              <a:t>   src/SprykerAcademy/Yves/Router/RouterDependencyProvider.php) and the template</a:t>
            </a:r>
          </a:p>
          <a:p>
            <a:pPr>
              <a:spcBef>
                <a:spcPts val="0"/>
              </a:spcBef>
              <a:spcAft>
                <a:spcPts val="0"/>
              </a:spcAft>
            </a:pPr>
            <a:r>
              <a:rPr sz="900">
                <a:solidFill>
                  <a:srgbClr val="2D2D2D"/>
                </a:solidFill>
                <a:latin typeface="Consolas"/>
              </a:rPr>
              <a:t>   Theme/default/views/contact-request/get.twig that shows one contact request by id at</a:t>
            </a:r>
          </a:p>
          <a:p>
            <a:pPr>
              <a:spcBef>
                <a:spcPts val="0"/>
              </a:spcBef>
              <a:spcAft>
                <a:spcPts val="0"/>
              </a:spcAft>
            </a:pPr>
            <a:r>
              <a:rPr sz="900">
                <a:solidFill>
                  <a:srgbClr val="2D2D2D"/>
                </a:solidFill>
                <a:latin typeface="Consolas"/>
              </a:rPr>
              <a:t>   /contact-request/{idContactRequest} (route parameter `idContactRequest`).</a:t>
            </a:r>
          </a:p>
          <a:p>
            <a:pPr>
              <a:spcBef>
                <a:spcPts val="0"/>
              </a:spcBef>
              <a:spcAft>
                <a:spcPts val="0"/>
              </a:spcAft>
            </a:pPr>
            <a:r>
              <a:rPr sz="900">
                <a:solidFill>
                  <a:srgbClr val="2D2D2D"/>
                </a:solidFill>
                <a:latin typeface="Consolas"/>
              </a:rPr>
              <a:t>7. Module config: ContactRequestConfig with getMyConfigValue() reading</a:t>
            </a:r>
          </a:p>
          <a:p>
            <a:pPr>
              <a:spcBef>
                <a:spcPts val="0"/>
              </a:spcBef>
              <a:spcAft>
                <a:spcPts val="0"/>
              </a:spcAft>
            </a:pPr>
            <a:r>
              <a:rPr sz="900">
                <a:solidFill>
                  <a:srgbClr val="2D2D2D"/>
                </a:solidFill>
                <a:latin typeface="Consolas"/>
              </a:rPr>
              <a:t>   SprykerAcademy\Shared\ContactRequest\ContactRequestConstants::MY_CONFIG_VALUE (the constants interface</a:t>
            </a:r>
          </a:p>
          <a:p>
            <a:pPr>
              <a:spcBef>
                <a:spcPts val="0"/>
              </a:spcBef>
              <a:spcAft>
                <a:spcPts val="0"/>
              </a:spcAft>
            </a:pPr>
            <a:r>
              <a:rPr sz="900">
                <a:solidFill>
                  <a:srgbClr val="2D2D2D"/>
                </a:solidFill>
                <a:latin typeface="Consolas"/>
              </a:rPr>
              <a:t>   exists and the value is set in config/Shared/config_default.php) and a ConfigController at /contact-request/config/index that</a:t>
            </a:r>
          </a:p>
          <a:p>
            <a:pPr>
              <a:spcBef>
                <a:spcPts val="0"/>
              </a:spcBef>
              <a:spcAft>
                <a:spcPts val="0"/>
              </a:spcAft>
            </a:pPr>
            <a:r>
              <a:rPr sz="900">
                <a:solidFill>
                  <a:srgbClr val="2D2D2D"/>
                </a:solidFill>
                <a:latin typeface="Consolas"/>
              </a:rPr>
              <a:t>   renders the value.</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Follow the Spryker rules and skills of the AI Dev SDK in this project: all dependencies through</a:t>
            </a:r>
          </a:p>
          <a:p>
            <a:pPr>
              <a:spcBef>
                <a:spcPts val="0"/>
              </a:spcBef>
              <a:spcAft>
                <a:spcPts val="0"/>
              </a:spcAft>
            </a:pPr>
            <a:r>
              <a:rPr sz="900">
                <a:solidFill>
                  <a:srgbClr val="2D2D2D"/>
                </a:solidFill>
                <a:latin typeface="Consolas"/>
              </a:rPr>
              <a:t>DependencyProvider and factories, no `new` in business logic, entities never leave the</a:t>
            </a:r>
          </a:p>
          <a:p>
            <a:pPr>
              <a:spcBef>
                <a:spcPts val="0"/>
              </a:spcBef>
              <a:spcAft>
                <a:spcPts val="0"/>
              </a:spcAft>
            </a:pPr>
            <a:r>
              <a:rPr sz="900">
                <a:solidFill>
                  <a:srgbClr val="2D2D2D"/>
                </a:solidFill>
                <a:latin typeface="Consolas"/>
              </a:rPr>
              <a:t>Persistence layer, transfers between layers, interfaces for every business model.</a:t>
            </a:r>
          </a:p>
          <a:p>
            <a:pPr>
              <a:spcBef>
                <a:spcPts val="0"/>
              </a:spcBef>
              <a:spcAft>
                <a:spcPts val="0"/>
              </a:spcAft>
            </a:pPr>
            <a:r>
              <a:rPr sz="900">
                <a:latin typeface="Consolas"/>
              </a:rPr>
              <a:t> </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After each step run docker/sdk console cache:empty-all, docker/sdk console propel:model:build and</a:t>
            </a:r>
          </a:p>
          <a:p>
            <a:pPr>
              <a:spcBef>
                <a:spcPts val="0"/>
              </a:spcBef>
              <a:spcAft>
                <a:spcPts val="0"/>
              </a:spcAft>
            </a:pPr>
            <a:r>
              <a:rPr sz="900">
                <a:solidFill>
                  <a:srgbClr val="2D2D2D"/>
                </a:solidFill>
                <a:latin typeface="Consolas"/>
              </a:rPr>
              <a:t>docker/sdk cli vendor/bin/codecept run -c tests/SprykerAcademyTest/Zed/ContactRequest/</a:t>
            </a:r>
          </a:p>
          <a:p>
            <a:pPr>
              <a:spcBef>
                <a:spcPts val="0"/>
              </a:spcBef>
              <a:spcAft>
                <a:spcPts val="0"/>
              </a:spcAft>
            </a:pPr>
            <a:r>
              <a:rPr sz="900">
                <a:solidFill>
                  <a:srgbClr val="2D2D2D"/>
                </a:solidFill>
                <a:latin typeface="Consolas"/>
              </a:rPr>
              <a:t>and fix failures before continuing. Finish when every test passes and report what you built.</a:t>
            </a:r>
          </a:p>
          <a:p>
            <a:pPr>
              <a:spcAft>
                <a:spcPts val="800"/>
              </a:spcAft>
              <a:defRPr sz="1600">
                <a:solidFill>
                  <a:srgbClr val="1A1A1A"/>
                </a:solidFill>
              </a:defRPr>
            </a:pPr>
            <a:r>
              <a:t>While the assistant works, watch which rules and skills it picks up (for example propel-schema for step 3) and whether it runs the console commands itself.</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Verify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Automated:</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a:p>
            <a:pPr>
              <a:spcAft>
                <a:spcPts val="800"/>
              </a:spcAft>
              <a:defRPr sz="1600">
                <a:solidFill>
                  <a:srgbClr val="1A1A1A"/>
                </a:solidFill>
              </a:defRPr>
            </a:pPr>
            <a:r>
              <a:t>All tests of Exercises 1 to 6 must pass. Then check the application:</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Bef>
                <a:spcPts val="0"/>
              </a:spcBef>
              <a:spcAft>
                <a:spcPts val="0"/>
              </a:spcAft>
            </a:pPr>
            <a:r>
              <a:rPr sz="900">
                <a:solidFill>
                  <a:srgbClr val="2D2D2D"/>
                </a:solidFill>
                <a:latin typeface="Consolas"/>
              </a:rPr>
              <a:t>docker/sdk</a:t>
            </a:r>
            <a:r>
              <a:rPr sz="900">
                <a:solidFill>
                  <a:srgbClr val="2D2D2D"/>
                </a:solidFill>
                <a:latin typeface="Consolas"/>
              </a:rPr>
              <a:t> console navigation:build-cache</a:t>
            </a:r>
          </a:p>
          <a:p>
            <a:pPr>
              <a:spcAft>
                <a:spcPts val="400"/>
              </a:spcAft>
              <a:defRPr sz="1500">
                <a:solidFill>
                  <a:srgbClr val="1A1A1A"/>
                </a:solidFill>
              </a:defRPr>
            </a:pPr>
            <a:r>
              <a:t>• http://backoffice.eu.spryker.local/contact-request/index/index shows the greeting.</a:t>
            </a:r>
          </a:p>
          <a:p>
            <a:pPr>
              <a:spcAft>
                <a:spcPts val="400"/>
              </a:spcAft>
              <a:defRPr sz="1500">
                <a:solidFill>
                  <a:srgbClr val="1A1A1A"/>
                </a:solidFill>
              </a:defRPr>
            </a:pPr>
            <a:r>
              <a:t>• http://backoffice.eu.spryker.local/contact-request/contact-request/add creates a contact request.</a:t>
            </a:r>
          </a:p>
          <a:p>
            <a:pPr>
              <a:spcAft>
                <a:spcPts val="400"/>
              </a:spcAft>
              <a:defRPr sz="1500">
                <a:solidFill>
                  <a:srgbClr val="1A1A1A"/>
                </a:solidFill>
              </a:defRPr>
            </a:pPr>
            <a:r>
              <a:t>• http://backoffice.eu.spryker.local/contact-request/config/index shows Hello from config! .</a:t>
            </a:r>
          </a:p>
          <a:p>
            <a:pPr>
              <a:spcAft>
                <a:spcPts val="400"/>
              </a:spcAft>
              <a:defRPr sz="1500">
                <a:solidFill>
                  <a:srgbClr val="1A1A1A"/>
                </a:solidFill>
              </a:defRPr>
            </a:pPr>
            <a:r>
              <a:t>• http://yves.eu.spryker.local/en/contact-request/1 shows the first contact request.</a:t>
            </a:r>
          </a:p>
          <a:p>
            <a:pPr>
              <a:spcAft>
                <a:spcPts val="800"/>
              </a:spcAft>
              <a:defRPr sz="1600">
                <a:solidFill>
                  <a:srgbClr val="1A1A1A"/>
                </a:solidFill>
              </a:defRPr>
            </a:pPr>
            <a:r>
              <a:t>Now review the code the way you would review a colleague's pull request. Compare it with what you wrote by hand in Exercises 4 to 6:</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Verify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Are all dependencies provided through the DependencyProvider and created in factories?</a:t>
            </a:r>
          </a:p>
          <a:p>
            <a:pPr>
              <a:spcAft>
                <a:spcPts val="400"/>
              </a:spcAft>
              <a:defRPr sz="1500">
                <a:solidFill>
                  <a:srgbClr val="1A1A1A"/>
                </a:solidFill>
              </a:defRPr>
            </a:pPr>
            <a:r>
              <a:t>• Does any entity leave the Persistence layer?</a:t>
            </a:r>
          </a:p>
          <a:p>
            <a:pPr>
              <a:spcAft>
                <a:spcPts val="400"/>
              </a:spcAft>
              <a:defRPr sz="1500">
                <a:solidFill>
                  <a:srgbClr val="1A1A1A"/>
                </a:solidFill>
              </a:defRPr>
            </a:pPr>
            <a:r>
              <a:t>• Are return types interfaces?</a:t>
            </a:r>
          </a:p>
          <a:p>
            <a:pPr>
              <a:spcAft>
                <a:spcPts val="400"/>
              </a:spcAft>
              <a:defRPr sz="1500">
                <a:solidFill>
                  <a:srgbClr val="1A1A1A"/>
                </a:solidFill>
              </a:defRPr>
            </a:pPr>
            <a:r>
              <a:t>• Did the assistant add anything you did not ask for (extra methods, comments, helper classes)? Would you keep it?</a:t>
            </a:r>
          </a:p>
          <a:p>
            <a:pPr>
              <a:spcAft>
                <a:spcPts val="800"/>
              </a:spcAft>
              <a:defRPr sz="1600">
                <a:solidFill>
                  <a:srgbClr val="1A1A1A"/>
                </a:solidFill>
              </a:defRPr>
            </a:pPr>
            <a:r>
              <a:t>The best result of this exercise is a list of differences, not a perfect module.</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Cleanup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Before Exercise 7, restore the reference module so everyone starts from the same code:</a:t>
            </a:r>
          </a:p>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basics/extending-core-modules/skeleton</a:t>
            </a:r>
          </a:p>
          <a:p>
            <a:pPr>
              <a:spcBef>
                <a:spcPts val="0"/>
              </a:spcBef>
              <a:spcAft>
                <a:spcPts val="0"/>
              </a:spcAft>
            </a:pPr>
            <a:r>
              <a:rPr sz="900">
                <a:solidFill>
                  <a:srgbClr val="2D2D2D"/>
                </a:solidFill>
                <a:latin typeface="Consolas"/>
              </a:rPr>
              <a:t>docker/sdk</a:t>
            </a:r>
            <a:r>
              <a:rPr sz="900">
                <a:solidFill>
                  <a:srgbClr val="2D2D2D"/>
                </a:solidFill>
                <a:latin typeface="Consolas"/>
              </a:rPr>
              <a:t> console c:e</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Going Further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Ask the spryker-code-reviewer agent to review the generated module and compare its findings with yours.</a:t>
            </a:r>
          </a:p>
          <a:p>
            <a:pPr>
              <a:spcAft>
                <a:spcPts val="400"/>
              </a:spcAft>
              <a:defRPr sz="1500">
                <a:solidFill>
                  <a:srgbClr val="1A1A1A"/>
                </a:solidFill>
              </a:defRPr>
            </a:pPr>
            <a:r>
              <a:t>• Give the assistant a smaller prompt: only step 6, and see whether it finds the Client and the gateway path on its own.</a:t>
            </a:r>
          </a:p>
          <a:p>
            <a:pPr>
              <a:spcAft>
                <a:spcPts val="400"/>
              </a:spcAft>
              <a:defRPr sz="1500">
                <a:solidFill>
                  <a:srgbClr val="1A1A1A"/>
                </a:solidFill>
              </a:defRPr>
            </a:pPr>
            <a:r>
              <a:t>• Start the MCP server ( docker/sdk console ai-dev:mcp-server -q ) and connect it to your tool, then ask the assistant which transfers exist for ContactRequest .</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7: Extending Core Modules - Customer Messages</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7: Extending Core Modules - Customer Messages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extend Spryker's out-of-the-box CustomerPage module to show a list of messages belonging to the logged-in customer, allow them to add new messages through a form, and delete existing ones.</a:t>
            </a:r>
          </a:p>
          <a:p>
            <a:pPr>
              <a:spcAft>
                <a:spcPts val="800"/>
              </a:spcAft>
              <a:defRPr sz="1600">
                <a:solidFill>
                  <a:srgbClr val="1A1A1A"/>
                </a:solidFill>
              </a:defRPr>
            </a:pPr>
            <a:r>
              <a:t>You will learn how to:</a:t>
            </a:r>
          </a:p>
          <a:p>
            <a:pPr>
              <a:spcAft>
                <a:spcPts val="400"/>
              </a:spcAft>
              <a:defRPr sz="1500">
                <a:solidFill>
                  <a:srgbClr val="1A1A1A"/>
                </a:solidFill>
              </a:defRPr>
            </a:pPr>
            <a:r>
              <a:t>• Modify an existing database schema (foreign keys, timestampable behavior)</a:t>
            </a:r>
          </a:p>
          <a:p>
            <a:pPr>
              <a:spcAft>
                <a:spcPts val="400"/>
              </a:spcAft>
              <a:defRPr sz="1500">
                <a:solidFill>
                  <a:srgbClr val="1A1A1A"/>
                </a:solidFill>
              </a:defRPr>
            </a:pPr>
            <a:r>
              <a:t>• Update transfer definitions with new properties and collection types</a:t>
            </a:r>
          </a:p>
          <a:p>
            <a:pPr>
              <a:spcAft>
                <a:spcPts val="400"/>
              </a:spcAft>
              <a:defRPr sz="1500">
                <a:solidFill>
                  <a:srgbClr val="1A1A1A"/>
                </a:solidFill>
              </a:defRPr>
            </a:pPr>
            <a:r>
              <a:t>• Apply SOLID principles: separate Reader, Writer, and Deleter classes</a:t>
            </a:r>
          </a:p>
          <a:p>
            <a:pPr>
              <a:spcAft>
                <a:spcPts val="400"/>
              </a:spcAft>
              <a:defRPr sz="1500">
                <a:solidFill>
                  <a:srgbClr val="1A1A1A"/>
                </a:solidFill>
              </a:defRPr>
            </a:pPr>
            <a:r>
              <a:t>• Extend the GatewayController and Client layer for new Yves-Zed communication</a:t>
            </a:r>
          </a:p>
          <a:p>
            <a:pPr>
              <a:spcAft>
                <a:spcPts val="400"/>
              </a:spcAft>
              <a:defRPr sz="1500">
                <a:solidFill>
                  <a:srgbClr val="1A1A1A"/>
                </a:solidFill>
              </a:defRPr>
            </a:pPr>
            <a:r>
              <a:t>• Extend a Spryker core Yves module (CustomerPage) at project level</a:t>
            </a:r>
          </a:p>
          <a:p>
            <a:pPr>
              <a:spcAft>
                <a:spcPts val="400"/>
              </a:spcAft>
              <a:defRPr sz="1500">
                <a:solidFill>
                  <a:srgbClr val="1A1A1A"/>
                </a:solidFill>
              </a:defRPr>
            </a:pPr>
            <a:r>
              <a:t>• Work with Symfony forms backed by Transfer objects in Spryker Yves</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7: Extending Core Modules - Customer Messages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Use Spryker's AJAX component pattern for dynamic page updates (bonus)</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Exercises 1-5 (Module Layers)</a:t>
            </a:r>
          </a:p>
          <a:p>
            <a:pPr>
              <a:spcAft>
                <a:spcPts val="400"/>
              </a:spcAft>
              <a:defRPr sz="1500">
                <a:solidFill>
                  <a:srgbClr val="1A1A1A"/>
                </a:solidFill>
              </a:defRPr>
            </a:pPr>
            <a:r>
              <a:t>• Understanding of the Client/Stub pattern for Yves-Zed communication</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Adjust the Database Schema</a:t>
            </a:r>
          </a:p>
          <a:p>
            <a:pPr>
              <a:spcAft>
                <a:spcPts val="800"/>
              </a:spcAft>
              <a:defRPr sz="1600">
                <a:solidFill>
                  <a:srgbClr val="1A1A1A"/>
                </a:solidFill>
              </a:defRPr>
            </a:pPr>
            <a:r>
              <a:t>Currently the pyz_contact_request table stores messages without any link to who created them. We need to add a foreign key to the spy_customer table so each message can belong to a customer. We also add the timestampable behavior so Propel automatically manages created_at and updated_at columns.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src/SprykerAcademy/Zed/ContactRequest/Persistence/Propel/Schema/pyz_contact_request.schema.xml and:</a:t>
            </a:r>
          </a:p>
          <a:p>
            <a:pPr>
              <a:spcAft>
                <a:spcPts val="400"/>
              </a:spcAft>
              <a:defRPr sz="1500">
                <a:solidFill>
                  <a:srgbClr val="1A1A1A"/>
                </a:solidFill>
              </a:defRPr>
            </a:pPr>
            <a:r>
              <a:t>• Add a new column fk_customer of type INTEGER (not required, since existing messages have no customer)</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a &lt;foreign-key&gt; element that references the spy_customer table, mapping fk_customer to id_customer with onDelete="CASCADE"</a:t>
            </a:r>
          </a:p>
          <a:p>
            <a:pPr>
              <a:spcAft>
                <a:spcPts val="400"/>
              </a:spcAft>
              <a:defRPr sz="1500">
                <a:solidFill>
                  <a:srgbClr val="1A1A1A"/>
                </a:solidFill>
              </a:defRPr>
            </a:pPr>
            <a:r>
              <a:t>• Add &lt;behavior name="timestampable"/&gt; — Propel will auto-add created_at and updated_at TIMESTAMP columns</a:t>
            </a:r>
          </a:p>
          <a:p>
            <a:pPr>
              <a:spcAft>
                <a:spcPts val="800"/>
              </a:spcAft>
              <a:defRPr sz="1600">
                <a:solidFill>
                  <a:srgbClr val="1A1A1A"/>
                </a:solidFill>
              </a:defRPr>
            </a:pPr>
            <a:r>
              <a:t>After modifying the schema, run:</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Aft>
                <a:spcPts val="800"/>
              </a:spcAft>
              <a:defRPr sz="1600">
                <a:solidFill>
                  <a:srgbClr val="1A1A1A"/>
                </a:solidFill>
              </a:defRPr>
            </a:pPr>
            <a:r>
              <a:t>This will generate a migration, update the database, and regenerate the ORM classes.</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Update Transfer Definitions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We need to make the new fkCustomer and createdAt fields available in our DTOs, and also create a new transfer for collections of messages.</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a:t>
            </a:r>
          </a:p>
          <a:p>
            <a:pPr>
              <a:spcAft>
                <a:spcPts val="400"/>
              </a:spcAft>
              <a:defRPr sz="1500">
                <a:solidFill>
                  <a:srgbClr val="1A1A1A"/>
                </a:solidFill>
              </a:defRPr>
            </a:pPr>
            <a:r>
              <a:t>• Add a fkCustomer property of type int to the ContactRequest transfer</a:t>
            </a:r>
          </a:p>
          <a:p>
            <a:pPr>
              <a:spcAft>
                <a:spcPts val="400"/>
              </a:spcAft>
              <a:defRPr sz="1500">
                <a:solidFill>
                  <a:srgbClr val="1A1A1A"/>
                </a:solidFill>
              </a:defRPr>
            </a:pPr>
            <a:r>
              <a:t>• Add a createdAt property of type string to the ContactRequest transfer</a:t>
            </a:r>
          </a:p>
          <a:p>
            <a:pPr>
              <a:spcAft>
                <a:spcPts val="400"/>
              </a:spcAft>
              <a:defRPr sz="1500">
                <a:solidFill>
                  <a:srgbClr val="1A1A1A"/>
                </a:solidFill>
              </a:defRPr>
            </a:pPr>
            <a:r>
              <a:t>• Add a fkCustomer property of type int to the ContactRequestCriteria transfer</a:t>
            </a:r>
          </a:p>
          <a:p>
            <a:pPr>
              <a:spcAft>
                <a:spcPts val="400"/>
              </a:spcAft>
              <a:defRPr sz="1500">
                <a:solidFill>
                  <a:srgbClr val="1A1A1A"/>
                </a:solidFill>
              </a:defRPr>
            </a:pPr>
            <a:r>
              <a:t>• Add a new transfer named ContactRequestCollection with a property contactRequests of type ContactRequest[]</a:t>
            </a:r>
          </a:p>
          <a:p>
            <a:pPr>
              <a:spcAft>
                <a:spcPts val="800"/>
              </a:spcAft>
              <a:defRPr sz="1600">
                <a:solidFill>
                  <a:srgbClr val="1A1A1A"/>
                </a:solidFill>
              </a:defRPr>
            </a:pPr>
            <a:r>
              <a:t>Regenerate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Update Transfer Definitions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Note: The generated ContactRequestCollectionTransfer will have an addContactRequests() method (plural, matching the property name). This is a Spryker convention — the adder method name matches the property name.</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Persistence and Business Layers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Add a Repository Method</a:t>
            </a:r>
          </a:p>
          <a:p>
            <a:pPr>
              <a:spcAft>
                <a:spcPts val="800"/>
              </a:spcAft>
              <a:defRPr sz="1600">
                <a:solidFill>
                  <a:srgbClr val="1A1A1A"/>
                </a:solidFill>
              </a:defRPr>
            </a:pPr>
            <a:r>
              <a:t>We need a way to fetch all messages belonging to a specific customer.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src/SprykerAcademy/Zed/ContactRequest/Persistence/ContactRequestRepository.php . Implement findContactRequestsByCustomer() :</a:t>
            </a:r>
          </a:p>
          <a:p>
            <a:pPr>
              <a:spcAft>
                <a:spcPts val="400"/>
              </a:spcAft>
              <a:defRPr sz="1500">
                <a:solidFill>
                  <a:srgbClr val="1A1A1A"/>
                </a:solidFill>
              </a:defRPr>
            </a:pPr>
            <a:r>
              <a:t>• Get the message query from the factory</a:t>
            </a:r>
          </a:p>
          <a:p>
            <a:pPr>
              <a:spcAft>
                <a:spcPts val="400"/>
              </a:spcAft>
              <a:defRPr sz="1500">
                <a:solidFill>
                  <a:srgbClr val="1A1A1A"/>
                </a:solidFill>
              </a:defRPr>
            </a:pPr>
            <a:r>
              <a:t>• Filter by fk_customer if the criteria has a fkCustomer set</a:t>
            </a:r>
          </a:p>
          <a:p>
            <a:pPr>
              <a:spcAft>
                <a:spcPts val="400"/>
              </a:spcAft>
              <a:defRPr sz="1500">
                <a:solidFill>
                  <a:srgbClr val="1A1A1A"/>
                </a:solidFill>
              </a:defRPr>
            </a:pPr>
            <a:r>
              <a:t>• Execute the query with find() to get all matching entities</a:t>
            </a:r>
          </a:p>
          <a:p>
            <a:pPr>
              <a:spcAft>
                <a:spcPts val="400"/>
              </a:spcAft>
              <a:defRPr sz="1500">
                <a:solidFill>
                  <a:srgbClr val="1A1A1A"/>
                </a:solidFill>
              </a:defRPr>
            </a:pPr>
            <a:r>
              <a:t>• Map each entity to a ContactRequestTransfer using the ContactRequestMapper</a:t>
            </a:r>
          </a:p>
          <a:p>
            <a:pPr>
              <a:spcAft>
                <a:spcPts val="400"/>
              </a:spcAft>
              <a:defRPr sz="1500">
                <a:solidFill>
                  <a:srgbClr val="1A1A1A"/>
                </a:solidFill>
              </a:defRPr>
            </a:pPr>
            <a:r>
              <a:t>• Return the array of ContactRequestTransfer objects</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Persistence and Business Layers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Propel provides magic filterBy&lt;ColumnName&gt;() methods on query objects.</a:t>
            </a:r>
          </a:p>
          <a:p>
            <a:pPr>
              <a:spcBef>
                <a:spcPts val="800"/>
              </a:spcBef>
              <a:spcAft>
                <a:spcPts val="400"/>
              </a:spcAft>
              <a:defRPr sz="1700" b="1">
                <a:solidFill>
                  <a:srgbClr val="1A1A1A"/>
                </a:solidFill>
              </a:defRPr>
            </a:pPr>
            <a:r>
              <a:t>3.2 Update the ContactRequestReader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src/SprykerAcademy/Zed/ContactRequest/Business/Reader/ContactRequestReader.php . Implement findContactRequestsByCustomer() :</a:t>
            </a:r>
          </a:p>
          <a:p>
            <a:pPr>
              <a:spcAft>
                <a:spcPts val="400"/>
              </a:spcAft>
              <a:defRPr sz="1500">
                <a:solidFill>
                  <a:srgbClr val="1A1A1A"/>
                </a:solidFill>
              </a:defRPr>
            </a:pPr>
            <a:r>
              <a:t>• Use the repository to get the messages</a:t>
            </a:r>
          </a:p>
          <a:p>
            <a:pPr>
              <a:spcAft>
                <a:spcPts val="400"/>
              </a:spcAft>
              <a:defRPr sz="1500">
                <a:solidFill>
                  <a:srgbClr val="1A1A1A"/>
                </a:solidFill>
              </a:defRPr>
            </a:pPr>
            <a:r>
              <a:t>• Create a ContactRequestCollectionTransfer and add each message to it using addContactRequests()</a:t>
            </a:r>
          </a:p>
          <a:p>
            <a:pPr>
              <a:spcBef>
                <a:spcPts val="800"/>
              </a:spcBef>
              <a:spcAft>
                <a:spcPts val="400"/>
              </a:spcAft>
              <a:defRPr sz="1700" b="1">
                <a:solidFill>
                  <a:srgbClr val="1A1A1A"/>
                </a:solidFill>
              </a:defRPr>
            </a:pPr>
            <a:r>
              <a:t>3.3 Expose Through the Facade</a:t>
            </a:r>
          </a:p>
          <a:p>
            <a:pPr>
              <a:spcAft>
                <a:spcPts val="800"/>
              </a:spcAft>
              <a:defRPr sz="1600">
                <a:solidFill>
                  <a:srgbClr val="1A1A1A"/>
                </a:solidFill>
              </a:defRPr>
            </a:pPr>
            <a:r>
              <a:t>Coding time:</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Persistence and Business Layers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src/SprykerAcademy/Zed/ContactRequest/Business/ContactRequestFacade.php . Implement findContactRequestsByCustomer() by delegating to the factory's ContactRequestReader.</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Expose via GatewayController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We need three new gateway actions: create, get by customer, and delete.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src/SprykerAcademy/Zed/ContactRequest/Communication/Controller/GatewayController.php :</a:t>
            </a:r>
          </a:p>
          <a:p>
            <a:pPr>
              <a:spcAft>
                <a:spcPts val="400"/>
              </a:spcAft>
              <a:defRPr sz="1500">
                <a:solidFill>
                  <a:srgbClr val="1A1A1A"/>
                </a:solidFill>
              </a:defRPr>
            </a:pPr>
            <a:r>
              <a:t>• In createContactRequestAction() , use the Facade to create and return the message</a:t>
            </a:r>
          </a:p>
          <a:p>
            <a:pPr>
              <a:spcAft>
                <a:spcPts val="400"/>
              </a:spcAft>
              <a:defRPr sz="1500">
                <a:solidFill>
                  <a:srgbClr val="1A1A1A"/>
                </a:solidFill>
              </a:defRPr>
            </a:pPr>
            <a:r>
              <a:t>• In getContactRequestsByCustomerAction() , use the Facade to find messages by customer and return the collection</a:t>
            </a:r>
          </a:p>
          <a:p>
            <a:pPr>
              <a:spcAft>
                <a:spcPts val="400"/>
              </a:spcAft>
              <a:defRPr sz="1500">
                <a:solidFill>
                  <a:srgbClr val="1A1A1A"/>
                </a:solidFill>
              </a:defRPr>
            </a:pPr>
            <a:r>
              <a:t>• In deleteContactRequestAction() , use the Facade to delete by ID and return a ContactRequestResponseTransfer with the isSuccessful flag</a:t>
            </a:r>
          </a:p>
          <a:p>
            <a:pPr>
              <a:spcAft>
                <a:spcPts val="800"/>
              </a:spcAft>
              <a:defRPr sz="1600">
                <a:solidFill>
                  <a:srgbClr val="1A1A1A"/>
                </a:solidFill>
              </a:defRPr>
            </a:pPr>
            <a:r>
              <a:t>Clear cache after adding new controller actions:</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Build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5.1 Update the Stub</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src/SprykerAcademy/Client/ContactRequest/Stub/ContactRequestStub.php :</a:t>
            </a:r>
          </a:p>
          <a:p>
            <a:pPr>
              <a:spcAft>
                <a:spcPts val="400"/>
              </a:spcAft>
              <a:defRPr sz="1500">
                <a:solidFill>
                  <a:srgbClr val="1A1A1A"/>
                </a:solidFill>
              </a:defRPr>
            </a:pPr>
            <a:r>
              <a:t>• In createContactRequest() , use $this-&gt;zedRequestClient-&gt;call() with the path /contact-request/gateway/create-contact-request</a:t>
            </a:r>
          </a:p>
          <a:p>
            <a:pPr>
              <a:spcAft>
                <a:spcPts val="400"/>
              </a:spcAft>
              <a:defRPr sz="1500">
                <a:solidFill>
                  <a:srgbClr val="1A1A1A"/>
                </a:solidFill>
              </a:defRPr>
            </a:pPr>
            <a:r>
              <a:t>• In getContactRequestsByCustomer() , use the path /contact-request/gateway/get-contact-requests-by-customer</a:t>
            </a:r>
          </a:p>
          <a:p>
            <a:pPr>
              <a:spcAft>
                <a:spcPts val="400"/>
              </a:spcAft>
              <a:defRPr sz="1500">
                <a:solidFill>
                  <a:srgbClr val="1A1A1A"/>
                </a:solidFill>
              </a:defRPr>
            </a:pPr>
            <a:r>
              <a:t>• In deleteContactRequest() , use the path /contact-request/gateway/delete-contact-request</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Gateway path convention: /module-name/gateway/action-name where the action name is the controller method without the Action suffix, converted to kebab-case. For example, deleteContactRequestAction() becomes /contact-request/gateway/delete-contact-request .</a:t>
            </a:r>
          </a:p>
          <a:p>
            <a:pPr>
              <a:spcBef>
                <a:spcPts val="800"/>
              </a:spcBef>
              <a:spcAft>
                <a:spcPts val="400"/>
              </a:spcAft>
              <a:defRPr sz="1700" b="1">
                <a:solidFill>
                  <a:srgbClr val="1A1A1A"/>
                </a:solidFill>
              </a:defRPr>
            </a:pPr>
            <a:r>
              <a:t>5.2 Update the Client</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src/SprykerAcademy/Client/ContactRequest/ContactRequestClient.php :</a:t>
            </a:r>
          </a:p>
          <a:p>
            <a:pPr>
              <a:spcAft>
                <a:spcPts val="400"/>
              </a:spcAft>
              <a:defRPr sz="1500">
                <a:solidFill>
                  <a:srgbClr val="1A1A1A"/>
                </a:solidFill>
              </a:defRPr>
            </a:pPr>
            <a:r>
              <a:t>• In createContactRequest() , delegate to the ContactRequestStub via the factory</a:t>
            </a:r>
          </a:p>
          <a:p>
            <a:pPr>
              <a:spcAft>
                <a:spcPts val="400"/>
              </a:spcAft>
              <a:defRPr sz="1500">
                <a:solidFill>
                  <a:srgbClr val="1A1A1A"/>
                </a:solidFill>
              </a:defRPr>
            </a:pPr>
            <a:r>
              <a:t>• In getContactRequestsByCustomer() , delegate to the ContactRequestStub via the factory</a:t>
            </a:r>
          </a:p>
          <a:p>
            <a:pPr>
              <a:spcAft>
                <a:spcPts val="400"/>
              </a:spcAft>
              <a:defRPr sz="1500">
                <a:solidFill>
                  <a:srgbClr val="1A1A1A"/>
                </a:solidFill>
              </a:defRPr>
            </a:pPr>
            <a:r>
              <a:t>• In deleteContactRequest() , delegate to the ContactRequestStub via the factory</a:t>
            </a:r>
          </a:p>
          <a:p>
            <a:pPr>
              <a:spcAft>
                <a:spcPts val="800"/>
              </a:spcAft>
              <a:defRPr sz="1600">
                <a:solidFill>
                  <a:srgbClr val="1A1A1A"/>
                </a:solidFill>
              </a:defRPr>
            </a:pPr>
            <a:r>
              <a:t>Update IDE auto-completion:</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dev:ide-auto-completion:generate</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Now we extend Spryker's core CustomerPage module to add our message functionality. This is the key part of the exercise that demonstrates how to extend core Spryker modules at project level.</a:t>
            </a:r>
          </a:p>
          <a:p>
            <a:pPr>
              <a:spcAft>
                <a:spcPts val="800"/>
              </a:spcAft>
              <a:defRPr sz="1600">
                <a:solidFill>
                  <a:srgbClr val="1A1A1A"/>
                </a:solidFill>
              </a:defRPr>
            </a:pPr>
            <a:r>
              <a:t>The pattern: extend the core class in your project namespace, and override or add the methods you need.</a:t>
            </a:r>
          </a:p>
          <a:p>
            <a:pPr>
              <a:spcBef>
                <a:spcPts val="800"/>
              </a:spcBef>
              <a:spcAft>
                <a:spcPts val="400"/>
              </a:spcAft>
              <a:defRPr sz="1700" b="1">
                <a:solidFill>
                  <a:srgbClr val="1A1A1A"/>
                </a:solidFill>
              </a:defRPr>
            </a:pPr>
            <a:r>
              <a:t>6.1 DependencyProvider</a:t>
            </a:r>
          </a:p>
          <a:p>
            <a:pPr>
              <a:spcAft>
                <a:spcPts val="800"/>
              </a:spcAft>
              <a:defRPr sz="1600">
                <a:solidFill>
                  <a:srgbClr val="1A1A1A"/>
                </a:solidFill>
              </a:defRPr>
            </a:pPr>
            <a:r>
              <a:t>We need to inject our ContactRequestClient into the extended CustomerPage module.</a:t>
            </a:r>
          </a:p>
          <a:p>
            <a:pPr>
              <a:spcAft>
                <a:spcPts val="800"/>
              </a:spcAft>
              <a:defRPr sz="1600">
                <a:solidFill>
                  <a:srgbClr val="1A1A1A"/>
                </a:solidFill>
              </a:defRPr>
            </a:pPr>
            <a:r>
              <a:t>Coding time:</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src/SprykerAcademy/Yves/CustomerPage/CustomerPageDependencyProvider.php . In addContactRequestClient() , use $container-&gt;set() with the CLIENT_CONTACT_REQUEST constant to provide the ContactRequestClient through the locator.</a:t>
            </a:r>
          </a:p>
          <a:p>
            <a:pPr>
              <a:spcAft>
                <a:spcPts val="800"/>
              </a:spcAft>
              <a:defRPr sz="1600">
                <a:solidFill>
                  <a:srgbClr val="1A1A1A"/>
                </a:solidFill>
              </a:defRPr>
            </a:pPr>
            <a:r>
              <a:t>The locator pattern: $container-&gt;getLocator()-&gt;contactRequest()-&gt;client() .</a:t>
            </a:r>
          </a:p>
          <a:p>
            <a:pPr>
              <a:spcBef>
                <a:spcPts val="800"/>
              </a:spcBef>
              <a:spcAft>
                <a:spcPts val="400"/>
              </a:spcAft>
              <a:defRPr sz="1700" b="1">
                <a:solidFill>
                  <a:srgbClr val="1A1A1A"/>
                </a:solidFill>
              </a:defRPr>
            </a:pPr>
            <a:r>
              <a:t>6.2 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src/SprykerAcademy/Yves/CustomerPage/CustomerPageFactory.php :</a:t>
            </a:r>
          </a:p>
          <a:p>
            <a:pPr>
              <a:spcAft>
                <a:spcPts val="400"/>
              </a:spcAft>
              <a:defRPr sz="1500">
                <a:solidFill>
                  <a:srgbClr val="1A1A1A"/>
                </a:solidFill>
              </a:defRPr>
            </a:pPr>
            <a:r>
              <a:t>• In getContactRequestClient() , return the provided dependency using the CLIENT_CONTACT_REQUEST constant</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In createContactRequestForm() , use the Spryker form factory chain to instantiate the form: $this -&gt;createCustomerFormFactory()-&gt;getFormFactory()-&gt;create( C ontactRequestForm:: class , $contactRequestTransfer )</a:t>
            </a:r>
          </a:p>
          <a:p>
            <a:pPr>
              <a:spcAft>
                <a:spcPts val="800"/>
              </a:spcAft>
              <a:defRPr sz="1400" i="1">
                <a:solidFill>
                  <a:srgbClr val="888888"/>
                </a:solidFill>
              </a:defRPr>
            </a:pPr>
            <a:r>
              <a:t>❝ How Spryker forms work: Spryker Yves doesn't expose Symfony's FormFactory directly on the module factory. Instead, each module that uses forms has a proxy FormFactory class (e.g., SprykerShop\Yves\CustomerPage\Form\FormFactory ) that extends AbstractFactory and provides getFormFactory() through the application container. The chain is: CustomerPageFactory::createCustomerFormFactory() -&gt; FormFactory::getFormFactory() -&gt; Symfony's FormFactory::create() .</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Data-mapped forms: Notice we pass $contactRequestTransfer as the second argument to create() . This tells Symfony to bind the form directly to the transfer object. When the form is submitted, $form-&gt;getData() returns the hydrated ContactRequestTransfer directly — no manual field mapping needed.</a:t>
            </a:r>
          </a:p>
          <a:p>
            <a:pPr>
              <a:spcBef>
                <a:spcPts val="800"/>
              </a:spcBef>
              <a:spcAft>
                <a:spcPts val="400"/>
              </a:spcAft>
              <a:defRPr sz="1700" b="1">
                <a:solidFill>
                  <a:srgbClr val="1A1A1A"/>
                </a:solidFill>
              </a:defRPr>
            </a:pPr>
            <a:r>
              <a:t>6.3 ContactRequestForm</a:t>
            </a:r>
          </a:p>
          <a:p>
            <a:pPr>
              <a:spcAft>
                <a:spcPts val="800"/>
              </a:spcAft>
              <a:defRPr sz="1600">
                <a:solidFill>
                  <a:srgbClr val="1A1A1A"/>
                </a:solidFill>
              </a:defRPr>
            </a:pPr>
            <a:r>
              <a:t>This is a standard Symfony form with a text field for the message.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src/SprykerAcademy/Yves/CustomerPage/Form/ContactRequestForm.php . In addMessageField() , add a TextType field using the FIELD_MESSAGE constant, with a label and a NotBlank constraint.</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Symfony form + Spryker transfers: Spryker transfer objects implement ArrayAccess , so Symfony's PropertyAccessor can read/write properties by name. When the form field name matches a transfer property (e.g., message maps to getMessage() / setMessage() ), data binding works automatically. No need for configureOptions() with data_class — though adding it would be more explicit.</a:t>
            </a:r>
          </a:p>
          <a:p>
            <a:pPr>
              <a:spcAft>
                <a:spcPts val="800"/>
              </a:spcAft>
              <a:defRPr sz="1400" i="1">
                <a:solidFill>
                  <a:srgbClr val="888888"/>
                </a:solidFill>
              </a:defRPr>
            </a:pPr>
            <a:r>
              <a:t>❝ No SubmitType in the form class: The submit button is rendered directly in the Twig template with Spryker's button CSS classes. This keeps the form class focused on data fields and validation, and gives the template full control over button styling.</a:t>
            </a:r>
          </a:p>
          <a:p>
            <a:pPr>
              <a:spcBef>
                <a:spcPts val="800"/>
              </a:spcBef>
              <a:spcAft>
                <a:spcPts val="400"/>
              </a:spcAft>
              <a:defRPr sz="1700" b="1">
                <a:solidFill>
                  <a:srgbClr val="1A1A1A"/>
                </a:solidFill>
              </a:defRPr>
            </a:pPr>
            <a:r>
              <a:t>6.4 ContactRequestController</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controller handles listing messages, creating new ones, and deleting. It extends AbstractCustomerController from SprykerShop which provides getLoggedInCustomerTransfer()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src/SprykerAcademy/Yves/CustomerPage/Controller/ContactRequestController.php :</a:t>
            </a:r>
          </a:p>
          <a:p>
            <a:pPr>
              <a:spcAft>
                <a:spcPts val="800"/>
              </a:spcAft>
              <a:defRPr sz="1600">
                <a:solidFill>
                  <a:srgbClr val="1A1A1A"/>
                </a:solidFill>
              </a:defRPr>
            </a:pPr>
            <a:r>
              <a:t>In listAction() :</a:t>
            </a:r>
          </a:p>
          <a:p>
            <a:pPr>
              <a:spcAft>
                <a:spcPts val="400"/>
              </a:spcAft>
              <a:defRPr sz="1500">
                <a:solidFill>
                  <a:srgbClr val="1A1A1A"/>
                </a:solidFill>
              </a:defRPr>
            </a:pPr>
            <a:r>
              <a:t>• Get the logged-in customer using $this-&gt;getLoggedInCustomerTransfer()</a:t>
            </a:r>
          </a:p>
          <a:p>
            <a:pPr>
              <a:spcAft>
                <a:spcPts val="400"/>
              </a:spcAft>
              <a:defRPr sz="1500">
                <a:solidFill>
                  <a:srgbClr val="1A1A1A"/>
                </a:solidFill>
              </a:defRPr>
            </a:pPr>
            <a:r>
              <a:t>• Create a ContactRequestCriteriaTransfer and set the fkCustomer using setFkCustomerOrFail() for strict validation</a:t>
            </a:r>
          </a:p>
          <a:p>
            <a:pPr>
              <a:spcAft>
                <a:spcPts val="400"/>
              </a:spcAft>
              <a:defRPr sz="1500">
                <a:solidFill>
                  <a:srgbClr val="1A1A1A"/>
                </a:solidFill>
              </a:defRPr>
            </a:pPr>
            <a:r>
              <a:t>• Fetch messages using the ContactRequestClient through the factory</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Create the message form with $this-&gt;getFactory()-&gt;createContactRequestForm(new ContactRequestTransfer()) — pass a fresh transfer as the data object</a:t>
            </a:r>
          </a:p>
          <a:p>
            <a:pPr>
              <a:spcAft>
                <a:spcPts val="400"/>
              </a:spcAft>
              <a:defRPr sz="1500">
                <a:solidFill>
                  <a:srgbClr val="1A1A1A"/>
                </a:solidFill>
              </a:defRPr>
            </a:pPr>
            <a:r>
              <a:t>• Handle the request with $messageForm-&gt;handleRequest($request)</a:t>
            </a:r>
          </a:p>
          <a:p>
            <a:pPr>
              <a:spcAft>
                <a:spcPts val="400"/>
              </a:spcAft>
              <a:defRPr sz="1500">
                <a:solidFill>
                  <a:srgbClr val="1A1A1A"/>
                </a:solidFill>
              </a:defRPr>
            </a:pPr>
            <a:r>
              <a:t>• If the form is submitted and valid, get the hydrated transfer with $messageForm-&gt;getData() , set the fkCustomer , and create the message</a:t>
            </a:r>
          </a:p>
          <a:p>
            <a:pPr>
              <a:spcAft>
                <a:spcPts val="400"/>
              </a:spcAft>
              <a:defRPr sz="1500">
                <a:solidFill>
                  <a:srgbClr val="1A1A1A"/>
                </a:solidFill>
              </a:defRPr>
            </a:pPr>
            <a:r>
              <a:t>• Return a view with the messages and messageForm variables, using the template @CustomerPage/views/contact-request/list.twig</a:t>
            </a:r>
          </a:p>
          <a:p>
            <a:pPr>
              <a:spcAft>
                <a:spcPts val="800"/>
              </a:spcAft>
              <a:defRPr sz="1600">
                <a:solidFill>
                  <a:srgbClr val="1A1A1A"/>
                </a:solidFill>
              </a:defRPr>
            </a:pPr>
            <a:r>
              <a:t>In deleteAction() :</a:t>
            </a:r>
          </a:p>
          <a:p>
            <a:pPr>
              <a:spcAft>
                <a:spcPts val="400"/>
              </a:spcAft>
              <a:defRPr sz="1500">
                <a:solidFill>
                  <a:srgbClr val="1A1A1A"/>
                </a:solidFill>
              </a:defRPr>
            </a:pPr>
            <a:r>
              <a:t>• Use $this-&gt;castId($request-&gt;request-&gt;get('idContactRequest')) to safely extract and validate the contact request ID</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Create a ContactRequestCriteriaTransfer , set the idContactRequest , and call deleteContactRequest() on the client</a:t>
            </a:r>
          </a:p>
          <a:p>
            <a:pPr>
              <a:spcAft>
                <a:spcPts val="400"/>
              </a:spcAft>
              <a:defRPr sz="1500">
                <a:solidFill>
                  <a:srgbClr val="1A1A1A"/>
                </a:solidFill>
              </a:defRPr>
            </a:pPr>
            <a:r>
              <a:t>• Redirect back to the messages list</a:t>
            </a:r>
          </a:p>
          <a:p>
            <a:pPr>
              <a:spcAft>
                <a:spcPts val="800"/>
              </a:spcAft>
              <a:defRPr sz="1400" i="1">
                <a:solidFill>
                  <a:srgbClr val="888888"/>
                </a:solidFill>
              </a:defRPr>
            </a:pPr>
            <a:r>
              <a:t>❝ castId() pattern: Spryker's Zed AbstractController provides castId() which validates that an ID is numeric and non-zero, throwing an exception otherwise. Since this method isn't available in Yves controllers, we add a protected castId() method following the same pattern. This prevents silently passing 0 or non-numeric values to the persistence layer.</a:t>
            </a:r>
          </a:p>
          <a:p>
            <a:pPr>
              <a:spcAft>
                <a:spcPts val="800"/>
              </a:spcAft>
              <a:defRPr sz="1400" i="1">
                <a:solidFill>
                  <a:srgbClr val="888888"/>
                </a:solidFill>
              </a:defRPr>
            </a:pPr>
            <a:r>
              <a:t>❝ setFkCustomerOrFail() vs setFkCustomer() : The OrFail variant throws an exception if the value is null. Use it when the value is required for the operation to make sense — it fails fast with a clear error instead of silently proceeding with null.</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6.5 Route Provider Plugin</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src/SprykerAcademy/Yves/CustomerPage/Plugin/Router/CustomerPageRouteProviderPlugin.php :</a:t>
            </a:r>
          </a:p>
          <a:p>
            <a:pPr>
              <a:spcAft>
                <a:spcPts val="400"/>
              </a:spcAft>
              <a:defRPr sz="1500">
                <a:solidFill>
                  <a:srgbClr val="1A1A1A"/>
                </a:solidFill>
              </a:defRPr>
            </a:pPr>
            <a:r>
              <a:t>• In addCustomerContactRequestsRoute() , build a route for /customer/contact-requests pointing to the ContactRequest controller, listAction (GET + POST)</a:t>
            </a:r>
          </a:p>
          <a:p>
            <a:pPr>
              <a:spcAft>
                <a:spcPts val="400"/>
              </a:spcAft>
              <a:defRPr sz="1500">
                <a:solidFill>
                  <a:srgbClr val="1A1A1A"/>
                </a:solidFill>
              </a:defRPr>
            </a:pPr>
            <a:r>
              <a:t>• Add an addCustomerContactRequestsDeleteRoute() for POST /customer/contact-requests/delete pointing to the ContactRequest controller, deleteAction</a:t>
            </a:r>
          </a:p>
          <a:p>
            <a:pPr>
              <a:spcBef>
                <a:spcPts val="800"/>
              </a:spcBef>
              <a:spcAft>
                <a:spcPts val="400"/>
              </a:spcAft>
              <a:defRPr sz="1700" b="1">
                <a:solidFill>
                  <a:srgbClr val="1A1A1A"/>
                </a:solidFill>
              </a:defRPr>
            </a:pPr>
            <a:r>
              <a:t>6.6 Provided Scaffolding (no coding needed)</a:t>
            </a:r>
          </a:p>
          <a:p>
            <a:pPr>
              <a:spcAft>
                <a:spcPts val="800"/>
              </a:spcAft>
              <a:defRPr sz="1600">
                <a:solidFill>
                  <a:srgbClr val="1A1A1A"/>
                </a:solidFill>
              </a:defRPr>
            </a:pPr>
            <a:r>
              <a:t>The following files are already provided by the exercise skeleton:</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src/SprykerAcademy/Yves/Router/RouterDependencyProvider.php — Extends the project's Pyz\Yves\Router\RouterDependencyProvider and swaps the core CustomerPageRouteProviderPlugin for your extended version. Because SprykerAcademy is resolved before Pyz , no project file is edited.</a:t>
            </a:r>
          </a:p>
          <a:p>
            <a:pPr>
              <a:spcAft>
                <a:spcPts val="400"/>
              </a:spcAft>
              <a:defRPr sz="1500">
                <a:solidFill>
                  <a:srgbClr val="1A1A1A"/>
                </a:solidFill>
              </a:defRPr>
            </a:pPr>
            <a:r>
              <a:t>• src/SprykerAcademy/Yves/CustomerPage/Theme/.../views/contact-request/list.twig — The Twig template showing the message table with delete buttons and the add form</a:t>
            </a:r>
          </a:p>
          <a:p>
            <a:pPr>
              <a:spcAft>
                <a:spcPts val="800"/>
              </a:spcAft>
              <a:defRPr sz="1600">
                <a:solidFill>
                  <a:srgbClr val="1A1A1A"/>
                </a:solidFill>
              </a:defRPr>
            </a:pPr>
            <a:r>
              <a:t>Take a moment to review these files to understand:</a:t>
            </a:r>
          </a:p>
          <a:p>
            <a:pPr>
              <a:spcAft>
                <a:spcPts val="400"/>
              </a:spcAft>
              <a:defRPr sz="1500">
                <a:solidFill>
                  <a:srgbClr val="1A1A1A"/>
                </a:solidFill>
              </a:defRPr>
            </a:pPr>
            <a:r>
              <a:t>• How Spryker's template override mechanism works (project-level Twig overrides vendor templates by matching the file path)</a:t>
            </a:r>
          </a:p>
          <a:p>
            <a:pPr>
              <a:spcAft>
                <a:spcPts val="400"/>
              </a:spcAft>
              <a:defRPr sz="1500">
                <a:solidFill>
                  <a:srgbClr val="1A1A1A"/>
                </a:solidFill>
              </a:defRPr>
            </a:pPr>
            <a:r>
              <a:t>• How the form is rendered with form_start / form_widget / form_end (Symfony form rendering helpers)</a:t>
            </a:r>
          </a:p>
          <a:p>
            <a:pPr>
              <a:spcAft>
                <a:spcPts val="400"/>
              </a:spcAft>
              <a:defRPr sz="1500">
                <a:solidFill>
                  <a:srgbClr val="1A1A1A"/>
                </a:solidFill>
              </a:defRPr>
            </a:pPr>
            <a:r>
              <a:t>• How each table row has a mini POST form for the delete button (no link — delete is always POST)</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6.7 Sidebar Menu Item</a:t>
            </a:r>
          </a:p>
          <a:p>
            <a:pPr>
              <a:spcAft>
                <a:spcPts val="800"/>
              </a:spcAft>
              <a:defRPr sz="1600">
                <a:solidFill>
                  <a:srgbClr val="1A1A1A"/>
                </a:solidFill>
              </a:defRPr>
            </a:pPr>
            <a:r>
              <a:t>Once the route exists, add a "My Contact Requests" entry to the customer account sidebar. The project overrides that molecule in src/Pyz/Yves/CustomerPage/Theme/default/components/molecules/navigation-sidebar/navigation-sidebar.twig ; append one more entry to its items 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name: 'contact-requests',</a:t>
            </a:r>
          </a:p>
          <a:p>
            <a:pPr>
              <a:spcBef>
                <a:spcPts val="0"/>
              </a:spcBef>
              <a:spcAft>
                <a:spcPts val="0"/>
              </a:spcAft>
            </a:pPr>
            <a:r>
              <a:rPr sz="900">
                <a:solidFill>
                  <a:srgbClr val="2D2D2D"/>
                </a:solidFill>
                <a:latin typeface="Consolas"/>
              </a:rPr>
              <a:t>            url: path('customer/contact-requests'),</a:t>
            </a:r>
          </a:p>
          <a:p>
            <a:pPr>
              <a:spcBef>
                <a:spcPts val="0"/>
              </a:spcBef>
              <a:spcAft>
                <a:spcPts val="0"/>
              </a:spcAft>
            </a:pPr>
            <a:r>
              <a:rPr sz="900">
                <a:solidFill>
                  <a:srgbClr val="2D2D2D"/>
                </a:solidFill>
                <a:latin typeface="Consolas"/>
              </a:rPr>
              <a:t>            label: 'My Contact Requests',</a:t>
            </a:r>
          </a:p>
          <a:p>
            <a:pPr>
              <a:spcBef>
                <a:spcPts val="0"/>
              </a:spcBef>
              <a:spcAft>
                <a:spcPts val="0"/>
              </a:spcAft>
            </a:pPr>
            <a:r>
              <a:rPr sz="900">
                <a:solidFill>
                  <a:srgbClr val="2D2D2D"/>
                </a:solidFill>
                <a:latin typeface="Consolas"/>
              </a:rPr>
              <a:t>            icon: 'envelopes',</a:t>
            </a:r>
          </a:p>
          <a:p>
            <a:pPr>
              <a:spcBef>
                <a:spcPts val="0"/>
              </a:spcBef>
              <a:spcAft>
                <a:spcPts val="0"/>
              </a:spcAft>
            </a:pPr>
            <a:r>
              <a:rPr sz="900">
                <a:solidFill>
                  <a:srgbClr val="2D2D2D"/>
                </a:solidFill>
                <a:latin typeface="Consolas"/>
              </a:rPr>
              <a:t>        },</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customer/contact-requests is the route name ( ContactRequestController::ROUTE_CUSTOMER_CONTACT_REQUESTS ), not the path. Add the item only after the route is registered, otherwise path() fails on every account page. name is what the sidebar compares against the activePage the list page sets, so it has to read contact-requests for the entry to be highlighted. Do not wrap the entry in a Twig comment: the whole items array lives inside one {% define data = {...} %} tag, and a {# ... #} in there is read as an unclosed { , which kills every account page with a SyntaxError . When you load the complete branch, the loader adds this item for you and removes it again when you load another branch.</a:t>
            </a:r>
          </a:p>
          <a:p>
            <a:pPr>
              <a:spcAft>
                <a:spcPts val="800"/>
              </a:spcAft>
              <a:defRPr sz="1600">
                <a:solidFill>
                  <a:srgbClr val="1A1A1A"/>
                </a:solidFill>
              </a:defRPr>
            </a:pPr>
            <a:r>
              <a:t>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Best Practices Applied in This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SOLID: Single Responsibility for Business Models</a:t>
            </a:r>
          </a:p>
          <a:p>
            <a:pPr>
              <a:spcAft>
                <a:spcPts val="800"/>
              </a:spcAft>
              <a:defRPr sz="1600">
                <a:solidFill>
                  <a:srgbClr val="1A1A1A"/>
                </a:solidFill>
              </a:defRPr>
            </a:pPr>
            <a:r>
              <a:t>The business layer separates concerns into dedicated classes:</a:t>
            </a:r>
          </a:p>
          <a:p>
            <a:pPr>
              <a:spcAft>
                <a:spcPts val="100"/>
              </a:spcAft>
              <a:defRPr sz="1000">
                <a:solidFill>
                  <a:srgbClr val="1A1A1A"/>
                </a:solidFill>
                <a:latin typeface="Consolas"/>
              </a:defRPr>
            </a:pPr>
            <a:r>
              <a:t>Class                  Responsibility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ContactRequestReader   Reading/querying messages (uses Repository)      </a:t>
            </a:r>
          </a:p>
          <a:p>
            <a:pPr>
              <a:spcAft>
                <a:spcPts val="100"/>
              </a:spcAft>
              <a:defRPr sz="1000">
                <a:solidFill>
                  <a:srgbClr val="1A1A1A"/>
                </a:solidFill>
                <a:latin typeface="Consolas"/>
              </a:defRPr>
            </a:pPr>
            <a:r>
              <a:t>ContactRequestWriter   Creating/persisting messages (uses EntityManager)</a:t>
            </a:r>
          </a:p>
          <a:p>
            <a:pPr>
              <a:spcAft>
                <a:spcPts val="100"/>
              </a:spcAft>
              <a:defRPr sz="1000">
                <a:solidFill>
                  <a:srgbClr val="1A1A1A"/>
                </a:solidFill>
                <a:latin typeface="Consolas"/>
              </a:defRPr>
            </a:pPr>
            <a:r>
              <a:t>ContactRequestDeleter  Deleting messages (uses EntityManager)</a:t>
            </a:r>
          </a:p>
          <a:p>
            <a:pPr>
              <a:spcAft>
                <a:spcPts val="800"/>
              </a:spcAft>
              <a:defRPr sz="1600">
                <a:solidFill>
                  <a:srgbClr val="1A1A1A"/>
                </a:solidFill>
              </a:defRPr>
            </a:pPr>
            <a:r>
              <a:t>Each class has one reason to change . The Writer does not know how to delete. The Deleter does not know how to create. The Facade orchestrates all three through the BusinessFactory.</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Form Data Binding with Transfer Objects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Instead of extracting form data from arrays:</a:t>
            </a:r>
          </a:p>
          <a:p>
            <a:pPr>
              <a:spcBef>
                <a:spcPts val="0"/>
              </a:spcBef>
              <a:spcAft>
                <a:spcPts val="0"/>
              </a:spcAft>
            </a:pPr>
            <a:r>
              <a:rPr sz="900" i="1">
                <a:solidFill>
                  <a:srgbClr val="60A0B0"/>
                </a:solidFill>
                <a:latin typeface="Consolas"/>
              </a:rPr>
              <a:t>// Avoid this</a:t>
            </a:r>
          </a:p>
          <a:p>
            <a:pPr>
              <a:spcBef>
                <a:spcPts val="0"/>
              </a:spcBef>
              <a:spcAft>
                <a:spcPts val="0"/>
              </a:spcAft>
            </a:pPr>
            <a:r>
              <a:rPr sz="900">
                <a:solidFill>
                  <a:srgbClr val="19177C"/>
                </a:solidFill>
                <a:latin typeface="Consolas"/>
              </a:rPr>
              <a:t>$formData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$messageForm</a:t>
            </a:r>
            <a:r>
              <a:rPr sz="900">
                <a:solidFill>
                  <a:srgbClr val="2D2D2D"/>
                </a:solidFill>
                <a:latin typeface="Consolas"/>
              </a:rPr>
              <a:t>-&gt;getData()</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-&gt;setMessage(</a:t>
            </a:r>
            <a:r>
              <a:rPr sz="900">
                <a:solidFill>
                  <a:srgbClr val="19177C"/>
                </a:solidFill>
                <a:latin typeface="Consolas"/>
              </a:rPr>
              <a:t>$formData</a:t>
            </a:r>
            <a:r>
              <a:rPr sz="900">
                <a:solidFill>
                  <a:srgbClr val="2D2D2D"/>
                </a:solidFill>
                <a:latin typeface="Consolas"/>
              </a:rPr>
              <a:t>[</a:t>
            </a:r>
            <a:r>
              <a:rPr sz="900">
                <a:solidFill>
                  <a:srgbClr val="4070A0"/>
                </a:solidFill>
                <a:latin typeface="Consolas"/>
              </a:rPr>
              <a:t>'message'</a:t>
            </a: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Bind the form directly to a transfer:</a:t>
            </a:r>
          </a:p>
          <a:p>
            <a:pPr>
              <a:spcBef>
                <a:spcPts val="0"/>
              </a:spcBef>
              <a:spcAft>
                <a:spcPts val="0"/>
              </a:spcAft>
            </a:pPr>
            <a:r>
              <a:rPr sz="900" i="1">
                <a:solidFill>
                  <a:srgbClr val="60A0B0"/>
                </a:solidFill>
                <a:latin typeface="Consolas"/>
              </a:rPr>
              <a:t>// Preferred</a:t>
            </a:r>
          </a:p>
          <a:p>
            <a:pPr>
              <a:spcBef>
                <a:spcPts val="0"/>
              </a:spcBef>
              <a:spcAft>
                <a:spcPts val="0"/>
              </a:spcAft>
            </a:pPr>
            <a:r>
              <a:rPr sz="900">
                <a:solidFill>
                  <a:srgbClr val="19177C"/>
                </a:solidFill>
                <a:latin typeface="Consolas"/>
              </a:rPr>
              <a:t>$messageForm</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$factory</a:t>
            </a:r>
            <a:r>
              <a:rPr sz="900">
                <a:solidFill>
                  <a:srgbClr val="2D2D2D"/>
                </a:solidFill>
                <a:latin typeface="Consolas"/>
              </a:rPr>
              <a:t>-&gt;createContactRequestForm(</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r>
              <a:rPr sz="900">
                <a:solidFill>
                  <a:srgbClr val="007020"/>
                </a:solidFill>
                <a:latin typeface="Consolas"/>
              </a:rPr>
              <a:t>;</a:t>
            </a:r>
          </a:p>
          <a:p>
            <a:pPr>
              <a:spcBef>
                <a:spcPts val="0"/>
              </a:spcBef>
              <a:spcAft>
                <a:spcPts val="0"/>
              </a:spcAft>
            </a:pPr>
            <a:r>
              <a:rPr sz="900">
                <a:solidFill>
                  <a:srgbClr val="19177C"/>
                </a:solidFill>
                <a:latin typeface="Consolas"/>
              </a:rPr>
              <a:t>$messageForm</a:t>
            </a:r>
            <a:r>
              <a:rPr sz="900">
                <a:solidFill>
                  <a:srgbClr val="2D2D2D"/>
                </a:solidFill>
                <a:latin typeface="Consolas"/>
              </a:rPr>
              <a:t>-&gt;handleRequest(</a:t>
            </a:r>
            <a:r>
              <a:rPr sz="900">
                <a:solidFill>
                  <a:srgbClr val="19177C"/>
                </a:solidFill>
                <a:latin typeface="Consolas"/>
              </a:rPr>
              <a: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$messageForm</a:t>
            </a:r>
            <a:r>
              <a:rPr sz="900">
                <a:solidFill>
                  <a:srgbClr val="2D2D2D"/>
                </a:solidFill>
                <a:latin typeface="Consolas"/>
              </a:rPr>
              <a:t>-&gt;getData()</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Already a ContactRequestTransfer</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Safe ID Handling with castId()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Always validate IDs from user input before passing them to the persistence layer:</a:t>
            </a:r>
          </a:p>
          <a:p>
            <a:pPr>
              <a:spcBef>
                <a:spcPts val="0"/>
              </a:spcBef>
              <a:spcAft>
                <a:spcPts val="0"/>
              </a:spcAft>
            </a:pPr>
            <a:r>
              <a:rPr sz="900">
                <a:solidFill>
                  <a:srgbClr val="19177C"/>
                </a:solidFill>
                <a:latin typeface="Consolas"/>
              </a:rPr>
              <a:t>$idContactRequest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-&gt;castId(</a:t>
            </a:r>
            <a:r>
              <a:rPr sz="900">
                <a:solidFill>
                  <a:srgbClr val="19177C"/>
                </a:solidFill>
                <a:latin typeface="Consolas"/>
              </a:rPr>
              <a:t>$request</a:t>
            </a:r>
            <a:r>
              <a:rPr sz="900">
                <a:solidFill>
                  <a:srgbClr val="2D2D2D"/>
                </a:solidFill>
                <a:latin typeface="Consolas"/>
              </a:rPr>
              <a:t>-&gt;request-&gt;get(</a:t>
            </a:r>
            <a:r>
              <a:rPr sz="900">
                <a:solidFill>
                  <a:srgbClr val="4070A0"/>
                </a:solidFill>
                <a:latin typeface="Consolas"/>
              </a:rPr>
              <a:t>'idContactRequest'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Throws InvalidArgumentException if not numeric or zero</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Log in to Yves: http://yves.eu.spryker.local/en/login (use sonia@spryker.com / change123 )</a:t>
            </a:r>
          </a:p>
          <a:p>
            <a:pPr>
              <a:spcAft>
                <a:spcPts val="400"/>
              </a:spcAft>
              <a:defRPr sz="1500">
                <a:solidFill>
                  <a:srgbClr val="1A1A1A"/>
                </a:solidFill>
              </a:defRPr>
            </a:pPr>
            <a:r>
              <a:t>• Visit: http://yves.eu.spryker.local/en/customer/contact-requests</a:t>
            </a:r>
          </a:p>
          <a:p>
            <a:pPr>
              <a:spcAft>
                <a:spcPts val="400"/>
              </a:spcAft>
              <a:defRPr sz="1500">
                <a:solidFill>
                  <a:srgbClr val="1A1A1A"/>
                </a:solidFill>
              </a:defRPr>
            </a:pPr>
            <a:r>
              <a:t>• You should see a message list (empty initially) and a form to add messages</a:t>
            </a:r>
          </a:p>
          <a:p>
            <a:pPr>
              <a:spcAft>
                <a:spcPts val="400"/>
              </a:spcAft>
              <a:defRPr sz="1500">
                <a:solidFill>
                  <a:srgbClr val="1A1A1A"/>
                </a:solidFill>
              </a:defRPr>
            </a:pPr>
            <a:r>
              <a:t>• Add a message and verify it appears in the list with a created timestamp</a:t>
            </a:r>
          </a:p>
          <a:p>
            <a:pPr>
              <a:spcAft>
                <a:spcPts val="400"/>
              </a:spcAft>
              <a:defRPr sz="1500">
                <a:solidFill>
                  <a:srgbClr val="1A1A1A"/>
                </a:solidFill>
              </a:defRPr>
            </a:pPr>
            <a:r>
              <a:t>• Click "Delete" on a message and verify it disappears</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Exercise7</a:t>
            </a:r>
          </a:p>
          <a:p>
            <a:pPr>
              <a:spcAft>
                <a:spcPts val="800"/>
              </a:spcAft>
              <a:defRPr sz="1600">
                <a:solidFill>
                  <a:srgbClr val="1A1A1A"/>
                </a:solidFill>
              </a:defRPr>
            </a:pPr>
            <a:r>
              <a:t>The test suite covers:</a:t>
            </a:r>
          </a:p>
          <a:p>
            <a:pPr>
              <a:spcAft>
                <a:spcPts val="400"/>
              </a:spcAft>
              <a:defRPr sz="1500">
                <a:solidFill>
                  <a:srgbClr val="1A1A1A"/>
                </a:solidFill>
              </a:defRPr>
            </a:pPr>
            <a:r>
              <a:t>• Schema XML: fk_customer column, foreign key, timestampable behavior</a:t>
            </a:r>
          </a:p>
          <a:p>
            <a:pPr>
              <a:spcAft>
                <a:spcPts val="400"/>
              </a:spcAft>
              <a:defRPr sz="1500">
                <a:solidFill>
                  <a:srgbClr val="1A1A1A"/>
                </a:solidFill>
              </a:defRPr>
            </a:pPr>
            <a:r>
              <a:t>• Transfer XML: fkCustomer , createdAt properties, ContactRequestCollection transfer</a:t>
            </a:r>
          </a:p>
          <a:p>
            <a:pPr>
              <a:spcAft>
                <a:spcPts val="400"/>
              </a:spcAft>
              <a:defRPr sz="1500">
                <a:solidFill>
                  <a:srgbClr val="1A1A1A"/>
                </a:solidFill>
              </a:defRPr>
            </a:pPr>
            <a:r>
              <a:t>• Structural: All classes and methods exist across the full stack</a:t>
            </a:r>
          </a:p>
          <a:p>
            <a:pPr>
              <a:spcAft>
                <a:spcPts val="400"/>
              </a:spcAft>
              <a:defRPr sz="1500">
                <a:solidFill>
                  <a:srgbClr val="1A1A1A"/>
                </a:solidFill>
              </a:defRPr>
            </a:pPr>
            <a:r>
              <a:t>• Mock-based: Stub calls the correct gateway paths for create, get, and delete</a:t>
            </a:r>
          </a:p>
          <a:p>
            <a:pPr>
              <a:spcAft>
                <a:spcPts val="400"/>
              </a:spcAft>
              <a:defRPr sz="1500">
                <a:solidFill>
                  <a:srgbClr val="1A1A1A"/>
                </a:solidFill>
              </a:defRPr>
            </a:pPr>
            <a:r>
              <a:t>• Unit: ContactRequestDeleter delegates to EntityManager correctly</a:t>
            </a:r>
          </a:p>
          <a:p>
            <a:pPr>
              <a:spcAft>
                <a:spcPts val="400"/>
              </a:spcAft>
              <a:defRPr sz="1500">
                <a:solidFill>
                  <a:srgbClr val="1A1A1A"/>
                </a:solidFill>
              </a:defRPr>
            </a:pPr>
            <a:r>
              <a:t>• SOLID: ContactRequestWriter does NOT have a delete() method</a:t>
            </a:r>
          </a:p>
          <a:p>
            <a:pPr>
              <a:spcAft>
                <a:spcPts val="800"/>
              </a:spcAft>
              <a:defRPr sz="1600">
                <a:solidFill>
                  <a:srgbClr val="1A1A1A"/>
                </a:solidFill>
              </a:defRPr>
            </a:pPr>
            <a:r>
              <a:t>Or run all exercise tests at once: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basics/extending-core-modules/complete</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Bonus: AJAX Version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An extended solution is available that uses Spryker's built-in AJAX component pattern to add and delete messages without a full page reload. The message table refreshes dynamically.</a:t>
            </a:r>
          </a:p>
          <a:p>
            <a:pPr>
              <a:spcBef>
                <a:spcPts val="1200"/>
              </a:spcBef>
              <a:spcAft>
                <a:spcPts val="600"/>
              </a:spcAft>
              <a:defRPr sz="2000" b="1">
                <a:solidFill>
                  <a:srgbClr val="1A1A1A"/>
                </a:solidFill>
              </a:defRPr>
            </a:pPr>
            <a:r>
              <a:t>How Spryker AJAX Works</a:t>
            </a:r>
          </a:p>
          <a:p>
            <a:pPr>
              <a:spcAft>
                <a:spcPts val="800"/>
              </a:spcAft>
              <a:defRPr sz="1600">
                <a:solidFill>
                  <a:srgbClr val="1A1A1A"/>
                </a:solidFill>
              </a:defRPr>
            </a:pPr>
            <a:r>
              <a:t>Spryker provides a component-based AJAX pattern using four Twig molecules from ShopUi :</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ajax-provider        XMLHttpRequest wrapper — sends requests and dispatches fetching / fetched events                  </a:t>
            </a:r>
          </a:p>
          <a:p>
            <a:pPr>
              <a:spcAft>
                <a:spcPts val="100"/>
              </a:spcAft>
              <a:defRPr sz="1000">
                <a:solidFill>
                  <a:srgbClr val="1A1A1A"/>
                </a:solidFill>
                <a:latin typeface="Consolas"/>
              </a:defRPr>
            </a:pPr>
            <a:r>
              <a:t>ajax-form-submitter  Intercepts form submit (via data-* trigger attribute) and delegates to the provider               </a:t>
            </a:r>
          </a:p>
          <a:p>
            <a:pPr>
              <a:spcAft>
                <a:spcPts val="100"/>
              </a:spcAft>
              <a:defRPr sz="1000">
                <a:solidFill>
                  <a:srgbClr val="1A1A1A"/>
                </a:solidFill>
                <a:latin typeface="Consolas"/>
              </a:defRPr>
            </a:pPr>
            <a:r>
              <a:t>ajax-renderer        Listens for the fetched event, parses JSON response, and inserts content into a target DOM element</a:t>
            </a:r>
          </a:p>
          <a:p>
            <a:pPr>
              <a:spcAft>
                <a:spcPts val="100"/>
              </a:spcAft>
              <a:defRPr sz="1000">
                <a:solidFill>
                  <a:srgbClr val="1A1A1A"/>
                </a:solidFill>
                <a:latin typeface="Consolas"/>
              </a:defRPr>
            </a:pPr>
            <a:r>
              <a:t>ajax-loader          Shows/hides a spinner during the request</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JSON Response Contract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Async controllers return JsonResponse with this structure:</a:t>
            </a:r>
          </a:p>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"messages"</a:t>
            </a:r>
            <a:r>
              <a:rPr sz="900">
                <a:solidFill>
                  <a:srgbClr val="06287E"/>
                </a:solidFill>
                <a:latin typeface="Consolas"/>
              </a:rPr>
              <a:t>:</a:t>
            </a:r>
            <a:r>
              <a:rPr sz="900">
                <a:solidFill>
                  <a:srgbClr val="2D2D2D"/>
                </a:solidFill>
                <a:latin typeface="Consolas"/>
              </a:rPr>
              <a:t> </a:t>
            </a:r>
            <a:r>
              <a:rPr sz="900">
                <a:solidFill>
                  <a:srgbClr val="4070A0"/>
                </a:solidFill>
                <a:latin typeface="Consolas"/>
              </a:rPr>
              <a:t>"&lt;rendered flash message HTML&gt;"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"content"</a:t>
            </a:r>
            <a:r>
              <a:rPr sz="900">
                <a:solidFill>
                  <a:srgbClr val="06287E"/>
                </a:solidFill>
                <a:latin typeface="Consolas"/>
              </a:rPr>
              <a:t>:</a:t>
            </a:r>
            <a:r>
              <a:rPr sz="900">
                <a:solidFill>
                  <a:srgbClr val="2D2D2D"/>
                </a:solidFill>
                <a:latin typeface="Consolas"/>
              </a:rPr>
              <a:t> </a:t>
            </a:r>
            <a:r>
              <a:rPr sz="900">
                <a:solidFill>
                  <a:srgbClr val="4070A0"/>
                </a:solidFill>
                <a:latin typeface="Consolas"/>
              </a:rPr>
              <a:t>"&lt;rendered HTML fragment to replace in the DOM&gt;"</a:t>
            </a:r>
          </a:p>
          <a:p>
            <a:pPr>
              <a:spcBef>
                <a:spcPts val="0"/>
              </a:spcBef>
              <a:spcAft>
                <a:spcPts val="0"/>
              </a:spcAft>
            </a:pPr>
            <a:r>
              <a:rPr sz="900">
                <a:solidFill>
                  <a:srgbClr val="06287E"/>
                </a:solidFill>
                <a:latin typeface="Consolas"/>
              </a:rPr>
              <a:t>}</a:t>
            </a:r>
          </a:p>
          <a:p>
            <a:pPr>
              <a:spcAft>
                <a:spcPts val="400"/>
              </a:spcAft>
              <a:defRPr sz="1500">
                <a:solidFill>
                  <a:srgbClr val="1A1A1A"/>
                </a:solidFill>
              </a:defRPr>
            </a:pPr>
            <a:r>
              <a:t>• messages — Rendered via @ShopUi/components/organisms/flash-message-list/flash-message-list.twig . Dispatched as a DOM event for the flash message component to pick up.</a:t>
            </a:r>
          </a:p>
          <a:p>
            <a:pPr>
              <a:spcAft>
                <a:spcPts val="400"/>
              </a:spcAft>
              <a:defRPr sz="1500">
                <a:solidFill>
                  <a:srgbClr val="1A1A1A"/>
                </a:solidFill>
              </a:defRPr>
            </a:pPr>
            <a:r>
              <a:t>• content — The re-rendered page fragment. The ajax-renderer inserts this into the target element.</a:t>
            </a:r>
          </a:p>
          <a:p>
            <a:pPr>
              <a:spcBef>
                <a:spcPts val="1200"/>
              </a:spcBef>
              <a:spcAft>
                <a:spcPts val="600"/>
              </a:spcAft>
              <a:defRPr sz="2000" b="1">
                <a:solidFill>
                  <a:srgbClr val="1A1A1A"/>
                </a:solidFill>
              </a:defRPr>
            </a:pPr>
            <a:r>
              <a:t>Twig Integration</a:t>
            </a:r>
          </a:p>
          <a:p>
            <a:pPr>
              <a:spcAft>
                <a:spcPts val="800"/>
              </a:spcAft>
              <a:defRPr sz="1600">
                <a:solidFill>
                  <a:srgbClr val="1A1A1A"/>
                </a:solidFill>
              </a:defRPr>
            </a:pPr>
            <a:r>
              <a:t>The template includes the AJAX trio after the content wrapper:</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JSON Response Contract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Content area that gets replaced #}</a:t>
            </a:r>
          </a:p>
          <a:p>
            <a:pPr>
              <a:spcBef>
                <a:spcPts val="0"/>
              </a:spcBef>
              <a:spcAft>
                <a:spcPts val="0"/>
              </a:spcAft>
            </a:pPr>
            <a:r>
              <a:rPr sz="900">
                <a:solidFill>
                  <a:srgbClr val="2D2D2D"/>
                </a:solidFill>
                <a:latin typeface="Consolas"/>
              </a:rPr>
              <a:t>&lt;div class="{{ ajaxContentClass }}"&gt;</a:t>
            </a:r>
          </a:p>
          <a:p>
            <a:pPr>
              <a:spcBef>
                <a:spcPts val="0"/>
              </a:spcBef>
              <a:spcAft>
                <a:spcPts val="0"/>
              </a:spcAft>
            </a:pPr>
            <a:r>
              <a:rPr sz="900">
                <a:solidFill>
                  <a:srgbClr val="2D2D2D"/>
                </a:solidFill>
                <a:latin typeface="Consolas"/>
              </a:rPr>
              <a:t>    {# ... table, form, loader ... #}</a:t>
            </a:r>
          </a:p>
          <a:p>
            <a:pPr>
              <a:spcBef>
                <a:spcPts val="0"/>
              </a:spcBef>
              <a:spcAft>
                <a:spcPts val="0"/>
              </a:spcAft>
            </a:pPr>
            <a:r>
              <a:rPr sz="900">
                <a:solidFill>
                  <a:srgbClr val="2D2D2D"/>
                </a:solidFill>
                <a:latin typeface="Consolas"/>
              </a:rPr>
              <a:t>&lt;/div&gt;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AJAX components #}</a:t>
            </a:r>
          </a:p>
          <a:p>
            <a:pPr>
              <a:spcBef>
                <a:spcPts val="0"/>
              </a:spcBef>
              <a:spcAft>
                <a:spcPts val="0"/>
              </a:spcAft>
            </a:pPr>
            <a:r>
              <a:rPr sz="900">
                <a:solidFill>
                  <a:srgbClr val="2D2D2D"/>
                </a:solidFill>
                <a:latin typeface="Consolas"/>
              </a:rPr>
              <a:t>{% include molecule('ajax-provider') with { class: ajaxProviderClass, attributes: { method: 'POST' } } only %}</a:t>
            </a:r>
          </a:p>
          <a:p>
            <a:pPr>
              <a:spcBef>
                <a:spcPts val="0"/>
              </a:spcBef>
              <a:spcAft>
                <a:spcPts val="0"/>
              </a:spcAft>
            </a:pPr>
            <a:r>
              <a:rPr sz="900">
                <a:solidFill>
                  <a:srgbClr val="2D2D2D"/>
                </a:solidFill>
                <a:latin typeface="Consolas"/>
              </a:rPr>
              <a:t>{% include molecule('ajax-renderer') with { attributes: { 'provider-class-name': ajaxProviderClass, 'target-class-name': ajaxContentClass, 'mount-after-render': true } } only %}</a:t>
            </a:r>
          </a:p>
          <a:p>
            <a:pPr>
              <a:spcBef>
                <a:spcPts val="0"/>
              </a:spcBef>
              <a:spcAft>
                <a:spcPts val="0"/>
              </a:spcAft>
            </a:pPr>
            <a:r>
              <a:rPr sz="900">
                <a:solidFill>
                  <a:srgbClr val="2D2D2D"/>
                </a:solidFill>
                <a:latin typeface="Consolas"/>
              </a:rPr>
              <a:t>{% include molecule('ajax-form-submitter') with { attributes: { 'trigger-attribute': 'data-contact-request-ajax-submit', 'provider-class-name': ajaxProviderClass } } only %}</a:t>
            </a:r>
          </a:p>
          <a:p>
            <a:pPr>
              <a:spcAft>
                <a:spcPts val="800"/>
              </a:spcAft>
              <a:defRPr sz="1600">
                <a:solidFill>
                  <a:srgbClr val="1A1A1A"/>
                </a:solidFill>
              </a:defRPr>
            </a:pPr>
            <a:r>
              <a:t>Form buttons use data-contact-request-ajax-submit and formaction to point to the async endpoint:</a:t>
            </a:r>
          </a:p>
          <a:p>
            <a:pPr>
              <a:spcBef>
                <a:spcPts val="0"/>
              </a:spcBef>
              <a:spcAft>
                <a:spcPts val="0"/>
              </a:spcAft>
            </a:pPr>
            <a:r>
              <a:rPr sz="900" b="1">
                <a:solidFill>
                  <a:srgbClr val="007020"/>
                </a:solidFill>
                <a:latin typeface="Consolas"/>
              </a:rPr>
              <a:t>&lt;button</a:t>
            </a:r>
            <a:r>
              <a:rPr sz="900">
                <a:solidFill>
                  <a:srgbClr val="007020"/>
                </a:solidFill>
                <a:latin typeface="Consolas"/>
              </a:rPr>
              <a:t> data-contact-request-ajax-submit formaction=</a:t>
            </a:r>
            <a:r>
              <a:rPr sz="900">
                <a:solidFill>
                  <a:srgbClr val="4070A0"/>
                </a:solidFill>
                <a:latin typeface="Consolas"/>
              </a:rPr>
              <a:t>"/customer/contact-requests/async/add"</a:t>
            </a:r>
            <a:r>
              <a:rPr sz="900" b="1">
                <a:solidFill>
                  <a:srgbClr val="007020"/>
                </a:solidFill>
                <a:latin typeface="Consolas"/>
              </a:rPr>
              <a:t>&gt;</a:t>
            </a:r>
            <a:r>
              <a:rPr sz="900">
                <a:solidFill>
                  <a:srgbClr val="2D2D2D"/>
                </a:solidFill>
                <a:latin typeface="Consolas"/>
              </a:rPr>
              <a:t>Add Message</a:t>
            </a:r>
            <a:r>
              <a:rPr sz="900" b="1">
                <a:solidFill>
                  <a:srgbClr val="007020"/>
                </a:solidFill>
                <a:latin typeface="Consolas"/>
              </a:rPr>
              <a:t>&lt;/button&gt;</a:t>
            </a:r>
          </a:p>
          <a:p>
            <a:pPr>
              <a:spcBef>
                <a:spcPts val="0"/>
              </a:spcBef>
              <a:spcAft>
                <a:spcPts val="0"/>
              </a:spcAft>
            </a:pPr>
            <a:r>
              <a:rPr sz="900" b="1">
                <a:solidFill>
                  <a:srgbClr val="007020"/>
                </a:solidFill>
                <a:latin typeface="Consolas"/>
              </a:rPr>
              <a:t>&lt;button</a:t>
            </a:r>
            <a:r>
              <a:rPr sz="900">
                <a:solidFill>
                  <a:srgbClr val="007020"/>
                </a:solidFill>
                <a:latin typeface="Consolas"/>
              </a:rPr>
              <a:t> data-contact-request-ajax-submit formaction=</a:t>
            </a:r>
            <a:r>
              <a:rPr sz="900">
                <a:solidFill>
                  <a:srgbClr val="4070A0"/>
                </a:solidFill>
                <a:latin typeface="Consolas"/>
              </a:rPr>
              <a:t>"/customer/contact-requests/async/delete"</a:t>
            </a:r>
            <a:r>
              <a:rPr sz="900" b="1">
                <a:solidFill>
                  <a:srgbClr val="007020"/>
                </a:solidFill>
                <a:latin typeface="Consolas"/>
              </a:rPr>
              <a:t>&gt;</a:t>
            </a:r>
            <a:r>
              <a:rPr sz="900">
                <a:solidFill>
                  <a:srgbClr val="2D2D2D"/>
                </a:solidFill>
                <a:latin typeface="Consolas"/>
              </a:rPr>
              <a:t>Delete</a:t>
            </a:r>
            <a:r>
              <a:rPr sz="900" b="1">
                <a:solidFill>
                  <a:srgbClr val="007020"/>
                </a:solidFill>
                <a:latin typeface="Consolas"/>
              </a:rPr>
              <a:t>&lt;/button&gt;</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Additions in the AJAX Version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ContactRequestAsyncController — addAction() and deleteAction() return JsonResponse instead of redirects</a:t>
            </a:r>
          </a:p>
          <a:p>
            <a:pPr>
              <a:spcAft>
                <a:spcPts val="400"/>
              </a:spcAft>
              <a:defRPr sz="1500">
                <a:solidFill>
                  <a:srgbClr val="1A1A1A"/>
                </a:solidFill>
              </a:defRPr>
            </a:pPr>
            <a:r>
              <a:t>• Async routes: POST /customer/contact-requests/async/add and POST /customer/contact-requests/async/delete</a:t>
            </a:r>
          </a:p>
          <a:p>
            <a:pPr>
              <a:spcAft>
                <a:spcPts val="400"/>
              </a:spcAft>
              <a:defRPr sz="1500">
                <a:solidFill>
                  <a:srgbClr val="1A1A1A"/>
                </a:solidFill>
              </a:defRPr>
            </a:pPr>
            <a:r>
              <a:t>• contact-request-async.twig — Content fragment re-rendered server-side after each operation</a:t>
            </a:r>
          </a:p>
          <a:p>
            <a:pPr>
              <a:spcAft>
                <a:spcPts val="400"/>
              </a:spcAft>
              <a:defRPr sz="1500">
                <a:solidFill>
                  <a:srgbClr val="1A1A1A"/>
                </a:solidFill>
              </a:defRPr>
            </a:pPr>
            <a:r>
              <a:t>• list.twig — Includes the AJAX component trio; uses mount-after-render: true so JS components in new content get re-initialized</a:t>
            </a:r>
          </a:p>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basics/extending-core-modules/complete-ajax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