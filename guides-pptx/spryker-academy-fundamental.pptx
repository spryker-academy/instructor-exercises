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Note the URL pattern: module / controller / action ( contact-request/index/index ). Back Office routing is resolved automatically from these names.</a:t>
            </a:r>
          </a:p>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contactRequest of type ContactRequest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 no Business Factory needed. Spryker’s DI container automatically wires the dependencies of the service class.</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createContactRequest() and findContactRequest() using $this-&gt;getService(ContactRequestWriter::class) and $this-&gt;getService(ContactRequestReader::class)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The facade is injected directly — no need for $this-&gt;getFacade() .</a:t>
            </a:r>
          </a:p>
          <a:p>
            <a:pPr>
              <a:spcAft>
                <a:spcPts val="800"/>
              </a:spcAft>
              <a:defRPr sz="1600">
                <a:solidFill>
                  <a:srgbClr val="1A1A1A"/>
                </a:solidFill>
              </a:defRPr>
            </a:pPr>
            <a:r>
              <a:t>Coding time: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as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a:t>
            </a:r>
          </a:p>
          <a:p>
            <a:pPr>
              <a:spcAft>
                <a:spcPts val="400"/>
              </a:spcAft>
              <a:defRPr sz="1500">
                <a:solidFill>
                  <a:srgbClr val="1A1A1A"/>
                </a:solidFill>
              </a:defRPr>
            </a:pPr>
            <a:r>
              <a:t>• Set up the AI Dev SDK in a project with ai-dev:setup</a:t>
            </a:r>
          </a:p>
          <a:p>
            <a:pPr>
              <a:spcAft>
                <a:spcPts val="400"/>
              </a:spcAft>
              <a:defRPr sz="1500">
                <a:solidFill>
                  <a:srgbClr val="1A1A1A"/>
                </a:solidFill>
              </a:defRPr>
            </a:pPr>
            <a:r>
              <a:t>• Read what the SDK generates: the agents file, the rules, the skills and the agents</a:t>
            </a:r>
          </a:p>
          <a:p>
            <a:pPr>
              <a:spcAft>
                <a:spcPts val="400"/>
              </a:spcAft>
              <a:defRPr sz="1500">
                <a:solidFill>
                  <a:srgbClr val="1A1A1A"/>
                </a:solidFill>
              </a:defRPr>
            </a:pPr>
            <a:r>
              <a:t>• Write a prompt that uses existing tests as the specification</a:t>
            </a:r>
          </a:p>
          <a:p>
            <a:pPr>
              <a:spcAft>
                <a:spcPts val="400"/>
              </a:spcAft>
              <a:defRPr sz="1500">
                <a:solidFill>
                  <a:srgbClr val="1A1A1A"/>
                </a:solidFill>
              </a:defRPr>
            </a:pPr>
            <a:r>
              <a:t>• Review AI-generated Spryker code against the rules you learned in Exercises 1 to 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a:t>
            </a:r>
          </a:p>
          <a:p>
            <a:pPr>
              <a:spcAft>
                <a:spcPts val="400"/>
              </a:spcAft>
              <a:defRPr sz="1500">
                <a:solidFill>
                  <a:srgbClr val="1A1A1A"/>
                </a:solidFill>
              </a:defRPr>
            </a:pPr>
            <a:r>
              <a:t>• AI Dev SDK</a:t>
            </a:r>
          </a:p>
          <a:p>
            <a:pPr>
              <a:spcAft>
                <a:spcPts val="400"/>
              </a:spcAft>
              <a:defRPr sz="1500">
                <a:solidFill>
                  <a:srgbClr val="1A1A1A"/>
                </a:solidFill>
              </a:defRPr>
            </a:pPr>
            <a:r>
              <a:t>• Install AI Dev</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a:p>
            <a:pPr>
              <a:spcBef>
                <a:spcPts val="0"/>
              </a:spcBef>
              <a:spcAft>
                <a:spcPts val="0"/>
              </a:spcAft>
            </a:pPr>
            <a:r>
              <a:rPr sz="900">
                <a:solidFill>
                  <a:srgbClr val="2D2D2D"/>
                </a:solidFill>
                <a:latin typeface="Consolas"/>
              </a:rPr>
              <a:t>   and Communication layer (CommunicationFactory, IndexController, ContactRequestController with an add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a:p>
            <a:pPr>
              <a:spcBef>
                <a:spcPts val="0"/>
              </a:spcBef>
              <a:spcAft>
                <a:spcPts val="0"/>
              </a:spcAft>
            </a:pPr>
            <a:r>
              <a:rPr sz="900">
                <a:latin typeface="Consolas"/>
              </a:rPr>
              <a:t> </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a:t>
            </a:r>
          </a:p>
          <a:p>
            <a:pPr>
              <a:spcAft>
                <a:spcPts val="400"/>
              </a:spcAft>
              <a:defRPr sz="1500">
                <a:solidFill>
                  <a:srgbClr val="1A1A1A"/>
                </a:solidFill>
              </a:defRPr>
            </a:pPr>
            <a:r>
              <a:t>• Modify an existing database schema (foreign keys, timestampable behavior)</a:t>
            </a:r>
          </a:p>
          <a:p>
            <a:pPr>
              <a:spcAft>
                <a:spcPts val="400"/>
              </a:spcAft>
              <a:defRPr sz="1500">
                <a:solidFill>
                  <a:srgbClr val="1A1A1A"/>
                </a:solidFill>
              </a:defRPr>
            </a:pPr>
            <a:r>
              <a:t>• Update transfer definitions with new properties and collection types</a:t>
            </a:r>
          </a:p>
          <a:p>
            <a:pPr>
              <a:spcAft>
                <a:spcPts val="400"/>
              </a:spcAft>
              <a:defRPr sz="1500">
                <a:solidFill>
                  <a:srgbClr val="1A1A1A"/>
                </a:solidFill>
              </a:defRPr>
            </a:pPr>
            <a:r>
              <a:t>• Apply SOLID principles: separate Reader, Writer, and Deleter classes</a:t>
            </a:r>
          </a:p>
          <a:p>
            <a:pPr>
              <a:spcAft>
                <a:spcPts val="400"/>
              </a:spcAft>
              <a:defRPr sz="1500">
                <a:solidFill>
                  <a:srgbClr val="1A1A1A"/>
                </a:solidFill>
              </a:defRPr>
            </a:pPr>
            <a:r>
              <a:t>• Extend the GatewayController and Client layer for new Yves-Zed communication</a:t>
            </a:r>
          </a:p>
          <a:p>
            <a:pPr>
              <a:spcAft>
                <a:spcPts val="400"/>
              </a:spcAft>
              <a:defRPr sz="1500">
                <a:solidFill>
                  <a:srgbClr val="1A1A1A"/>
                </a:solidFill>
              </a:defRPr>
            </a:pPr>
            <a:r>
              <a:t>• Extend a Spryker core Yves module (CustomerPage) at project level</a:t>
            </a:r>
          </a:p>
          <a:p>
            <a:pPr>
              <a:spcAft>
                <a:spcPts val="400"/>
              </a:spcAft>
              <a:defRPr sz="1500">
                <a:solidFill>
                  <a:srgbClr val="1A1A1A"/>
                </a:solidFill>
              </a:defRPr>
            </a:pPr>
            <a:r>
              <a:t>• Work with Symfony forms backed by Transfer objects in Spryker Yves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Spryker's AJAX component pattern for dynamic page updates (bonus)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a:t>
            </a:r>
          </a:p>
          <a:p>
            <a:pPr>
              <a:spcAft>
                <a:spcPts val="400"/>
              </a:spcAft>
              <a:defRPr sz="1500">
                <a:solidFill>
                  <a:srgbClr val="1A1A1A"/>
                </a:solidFill>
              </a:defRPr>
            </a:pPr>
            <a:r>
              <a:t>• Add a new column fk_customer of type INTEGER (not required, since existing messages have no customer)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&lt;foreign-key&gt; element that references the spy_customer table, mapping fk_customer to id_customer with onDelete="CASCADE"</a:t>
            </a:r>
          </a:p>
          <a:p>
            <a:pPr>
              <a:spcAft>
                <a:spcPts val="400"/>
              </a:spcAft>
              <a:defRPr sz="1500">
                <a:solidFill>
                  <a:srgbClr val="1A1A1A"/>
                </a:solidFill>
              </a:defRPr>
            </a:pPr>
            <a:r>
              <a:t>•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a:t>
            </a:r>
          </a:p>
          <a:p>
            <a:pPr>
              <a:spcAft>
                <a:spcPts val="400"/>
              </a:spcAft>
              <a:defRPr sz="1500">
                <a:solidFill>
                  <a:srgbClr val="1A1A1A"/>
                </a:solidFill>
              </a:defRPr>
            </a:pPr>
            <a:r>
              <a:t>• Add a fkCustomer property of type int to the ContactRequest transfer</a:t>
            </a:r>
          </a:p>
          <a:p>
            <a:pPr>
              <a:spcAft>
                <a:spcPts val="400"/>
              </a:spcAft>
              <a:defRPr sz="1500">
                <a:solidFill>
                  <a:srgbClr val="1A1A1A"/>
                </a:solidFill>
              </a:defRPr>
            </a:pPr>
            <a:r>
              <a:t>• Add a createdAt property of type string to the ContactRequest transfer</a:t>
            </a:r>
          </a:p>
          <a:p>
            <a:pPr>
              <a:spcAft>
                <a:spcPts val="400"/>
              </a:spcAft>
              <a:defRPr sz="1500">
                <a:solidFill>
                  <a:srgbClr val="1A1A1A"/>
                </a:solidFill>
              </a:defRPr>
            </a:pPr>
            <a:r>
              <a:t>• Add a fkCustomer property of type int to the ContactRequestCriteria transfer</a:t>
            </a:r>
          </a:p>
          <a:p>
            <a:pPr>
              <a:spcAft>
                <a:spcPts val="400"/>
              </a:spcAft>
              <a:defRPr sz="1500">
                <a:solidFill>
                  <a:srgbClr val="1A1A1A"/>
                </a:solidFill>
              </a:defRPr>
            </a:pPr>
            <a:r>
              <a:t>• Add a new transfer named ContactRequestCollection with a property contactRequests of type ContactRequest[]</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a:t>
            </a:r>
          </a:p>
          <a:p>
            <a:pPr>
              <a:spcAft>
                <a:spcPts val="400"/>
              </a:spcAft>
              <a:defRPr sz="1500">
                <a:solidFill>
                  <a:srgbClr val="1A1A1A"/>
                </a:solidFill>
              </a:defRPr>
            </a:pPr>
            <a:r>
              <a:t>• Get the message query from the factory</a:t>
            </a:r>
          </a:p>
          <a:p>
            <a:pPr>
              <a:spcAft>
                <a:spcPts val="400"/>
              </a:spcAft>
              <a:defRPr sz="1500">
                <a:solidFill>
                  <a:srgbClr val="1A1A1A"/>
                </a:solidFill>
              </a:defRPr>
            </a:pPr>
            <a:r>
              <a:t>• Filter by fk_customer if the criteria has a fkCustomer set</a:t>
            </a:r>
          </a:p>
          <a:p>
            <a:pPr>
              <a:spcAft>
                <a:spcPts val="400"/>
              </a:spcAft>
              <a:defRPr sz="1500">
                <a:solidFill>
                  <a:srgbClr val="1A1A1A"/>
                </a:solidFill>
              </a:defRPr>
            </a:pPr>
            <a:r>
              <a:t>• Execute the query with find() to get all matching entities</a:t>
            </a:r>
          </a:p>
          <a:p>
            <a:pPr>
              <a:spcAft>
                <a:spcPts val="400"/>
              </a:spcAft>
              <a:defRPr sz="1500">
                <a:solidFill>
                  <a:srgbClr val="1A1A1A"/>
                </a:solidFill>
              </a:defRPr>
            </a:pPr>
            <a:r>
              <a:t>• Map each entity to a ContactRequestTransfer using the ContactRequestMapper</a:t>
            </a:r>
          </a:p>
          <a:p>
            <a:pPr>
              <a:spcAft>
                <a:spcPts val="400"/>
              </a:spcAft>
              <a:defRPr sz="1500">
                <a:solidFill>
                  <a:srgbClr val="1A1A1A"/>
                </a:solidFill>
              </a:defRPr>
            </a:pPr>
            <a:r>
              <a:t>• Return the array of ContactRequestTransfer objects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provides magic filterBy&lt;ColumnName&gt;() methods on query objects.</a:t>
            </a:r>
          </a:p>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a:t>
            </a:r>
          </a:p>
          <a:p>
            <a:pPr>
              <a:spcAft>
                <a:spcPts val="400"/>
              </a:spcAft>
              <a:defRPr sz="1500">
                <a:solidFill>
                  <a:srgbClr val="1A1A1A"/>
                </a:solidFill>
              </a:defRPr>
            </a:pPr>
            <a:r>
              <a:t>• Use the repository to get the messages</a:t>
            </a:r>
          </a:p>
          <a:p>
            <a:pPr>
              <a:spcAft>
                <a:spcPts val="400"/>
              </a:spcAft>
              <a:defRPr sz="1500">
                <a:solidFill>
                  <a:srgbClr val="1A1A1A"/>
                </a:solidFill>
              </a:defRPr>
            </a:pPr>
            <a:r>
              <a:t>•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a:t>
            </a:r>
          </a:p>
          <a:p>
            <a:pPr>
              <a:spcAft>
                <a:spcPts val="400"/>
              </a:spcAft>
              <a:defRPr sz="1500">
                <a:solidFill>
                  <a:srgbClr val="1A1A1A"/>
                </a:solidFill>
              </a:defRPr>
            </a:pPr>
            <a:r>
              <a:t>• In createContactRequestAction() , use the Facade to create and return the message</a:t>
            </a:r>
          </a:p>
          <a:p>
            <a:pPr>
              <a:spcAft>
                <a:spcPts val="400"/>
              </a:spcAft>
              <a:defRPr sz="1500">
                <a:solidFill>
                  <a:srgbClr val="1A1A1A"/>
                </a:solidFill>
              </a:defRPr>
            </a:pPr>
            <a:r>
              <a:t>• In getContactRequestsByCustomerAction() , use the Facade to find messages by customer and return the collection</a:t>
            </a:r>
          </a:p>
          <a:p>
            <a:pPr>
              <a:spcAft>
                <a:spcPts val="400"/>
              </a:spcAft>
              <a:defRPr sz="1500">
                <a:solidFill>
                  <a:srgbClr val="1A1A1A"/>
                </a:solidFill>
              </a:defRPr>
            </a:pPr>
            <a:r>
              <a:t>•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a:t>
            </a:r>
          </a:p>
          <a:p>
            <a:pPr>
              <a:spcAft>
                <a:spcPts val="400"/>
              </a:spcAft>
              <a:defRPr sz="1500">
                <a:solidFill>
                  <a:srgbClr val="1A1A1A"/>
                </a:solidFill>
              </a:defRPr>
            </a:pPr>
            <a:r>
              <a:t>• In createContactRequest() , use $this-&gt;zedRequestClient-&gt;call() with the path /contact-request/gateway/create-contact-request</a:t>
            </a:r>
          </a:p>
          <a:p>
            <a:pPr>
              <a:spcAft>
                <a:spcPts val="400"/>
              </a:spcAft>
              <a:defRPr sz="1500">
                <a:solidFill>
                  <a:srgbClr val="1A1A1A"/>
                </a:solidFill>
              </a:defRPr>
            </a:pPr>
            <a:r>
              <a:t>• In getContactRequestsByCustomer() , use the path /contact-request/gateway/get-contact-requests-by-customer</a:t>
            </a:r>
          </a:p>
          <a:p>
            <a:pPr>
              <a:spcAft>
                <a:spcPts val="400"/>
              </a:spcAft>
              <a:defRPr sz="1500">
                <a:solidFill>
                  <a:srgbClr val="1A1A1A"/>
                </a:solidFill>
              </a:defRPr>
            </a:pPr>
            <a:r>
              <a:t>• In deleteContactRequest() , use the path /contact-request/gateway/delete-contact-request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a:t>
            </a:r>
          </a:p>
          <a:p>
            <a:pPr>
              <a:spcAft>
                <a:spcPts val="400"/>
              </a:spcAft>
              <a:defRPr sz="1500">
                <a:solidFill>
                  <a:srgbClr val="1A1A1A"/>
                </a:solidFill>
              </a:defRPr>
            </a:pPr>
            <a:r>
              <a:t>• In createContactRequest() , delegate to the ContactRequestStub via the factory</a:t>
            </a:r>
          </a:p>
          <a:p>
            <a:pPr>
              <a:spcAft>
                <a:spcPts val="400"/>
              </a:spcAft>
              <a:defRPr sz="1500">
                <a:solidFill>
                  <a:srgbClr val="1A1A1A"/>
                </a:solidFill>
              </a:defRPr>
            </a:pPr>
            <a:r>
              <a:t>• In getContactRequestsByCustomer() , delegate to the ContactRequestStub via the factory</a:t>
            </a:r>
          </a:p>
          <a:p>
            <a:pPr>
              <a:spcAft>
                <a:spcPts val="400"/>
              </a:spcAft>
              <a:defRPr sz="1500">
                <a:solidFill>
                  <a:srgbClr val="1A1A1A"/>
                </a:solidFill>
              </a:defRPr>
            </a:pPr>
            <a:r>
              <a:t>• In deleteContactRequest() , delegate to the ContactRequestStub via the factory</a:t>
            </a:r>
          </a:p>
          <a:p>
            <a:pPr>
              <a:spcAft>
                <a:spcPts val="800"/>
              </a:spcAft>
              <a:defRPr sz="1600">
                <a:solidFill>
                  <a:srgbClr val="1A1A1A"/>
                </a:solidFill>
              </a:defRPr>
            </a:pPr>
            <a:r>
              <a:t>Update IDE auto-completion: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src/SprykerAcademy/Yves/CustomerPage/CustomerPageFactory.php :</a:t>
            </a:r>
          </a:p>
          <a:p>
            <a:pPr>
              <a:spcAft>
                <a:spcPts val="400"/>
              </a:spcAft>
              <a:defRPr sz="1500">
                <a:solidFill>
                  <a:srgbClr val="1A1A1A"/>
                </a:solidFill>
              </a:defRPr>
            </a:pPr>
            <a:r>
              <a:t>• In getContactRequestClient() , return the provided dependency using the CLIENT_CONTACT_REQUEST constant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createContactRequestForm() , use the Spryker form factory chain to instantiate the form: $this -&gt;createCustomerFormFactory()-&gt;getFormFactory()-&gt;create( C ontactRequestForm:: class , $contactRequestTransfer )</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a:p>
            <a:pPr>
              <a:spcAft>
                <a:spcPts val="800"/>
              </a:spcAft>
              <a:defRPr sz="1600">
                <a:solidFill>
                  <a:srgbClr val="1A1A1A"/>
                </a:solidFill>
              </a:defRPr>
            </a:pPr>
            <a:r>
              <a:t>In listAction() :</a:t>
            </a:r>
          </a:p>
          <a:p>
            <a:pPr>
              <a:spcAft>
                <a:spcPts val="400"/>
              </a:spcAft>
              <a:defRPr sz="1500">
                <a:solidFill>
                  <a:srgbClr val="1A1A1A"/>
                </a:solidFill>
              </a:defRPr>
            </a:pPr>
            <a:r>
              <a:t>• Get the logged-in customer using $this-&gt;getLoggedInCustomerTransfer()</a:t>
            </a:r>
          </a:p>
          <a:p>
            <a:pPr>
              <a:spcAft>
                <a:spcPts val="400"/>
              </a:spcAft>
              <a:defRPr sz="1500">
                <a:solidFill>
                  <a:srgbClr val="1A1A1A"/>
                </a:solidFill>
              </a:defRPr>
            </a:pPr>
            <a:r>
              <a:t>• Create a ContactRequestCriteriaTransfer and set the fkCustomer using setFkCustomerOrFail() for strict validation</a:t>
            </a:r>
          </a:p>
          <a:p>
            <a:pPr>
              <a:spcAft>
                <a:spcPts val="400"/>
              </a:spcAft>
              <a:defRPr sz="1500">
                <a:solidFill>
                  <a:srgbClr val="1A1A1A"/>
                </a:solidFill>
              </a:defRPr>
            </a:pPr>
            <a:r>
              <a:t>• Fetch messages using the ContactRequestClient through the factory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the message form with $this-&gt;getFactory()-&gt;createContactRequestForm(new ContactRequestTransfer()) — pass a fresh transfer as the data object</a:t>
            </a:r>
          </a:p>
          <a:p>
            <a:pPr>
              <a:spcAft>
                <a:spcPts val="400"/>
              </a:spcAft>
              <a:defRPr sz="1500">
                <a:solidFill>
                  <a:srgbClr val="1A1A1A"/>
                </a:solidFill>
              </a:defRPr>
            </a:pPr>
            <a:r>
              <a:t>• Handle the request with $messageForm-&gt;handleRequest($request)</a:t>
            </a:r>
          </a:p>
          <a:p>
            <a:pPr>
              <a:spcAft>
                <a:spcPts val="400"/>
              </a:spcAft>
              <a:defRPr sz="1500">
                <a:solidFill>
                  <a:srgbClr val="1A1A1A"/>
                </a:solidFill>
              </a:defRPr>
            </a:pPr>
            <a:r>
              <a:t>• If the form is submitted and valid, get the hydrated transfer with $messageForm-&gt;getData() , set the fkCustomer , and create the message</a:t>
            </a:r>
          </a:p>
          <a:p>
            <a:pPr>
              <a:spcAft>
                <a:spcPts val="400"/>
              </a:spcAft>
              <a:defRPr sz="1500">
                <a:solidFill>
                  <a:srgbClr val="1A1A1A"/>
                </a:solidFill>
              </a:defRPr>
            </a:pPr>
            <a:r>
              <a:t>• Return a view with the messages and messageForm variables, using the template @CustomerPage/views/contact-request/list.twig</a:t>
            </a:r>
          </a:p>
          <a:p>
            <a:pPr>
              <a:spcAft>
                <a:spcPts val="800"/>
              </a:spcAft>
              <a:defRPr sz="1600">
                <a:solidFill>
                  <a:srgbClr val="1A1A1A"/>
                </a:solidFill>
              </a:defRPr>
            </a:pPr>
            <a:r>
              <a:t>In deleteAction() :</a:t>
            </a:r>
          </a:p>
          <a:p>
            <a:pPr>
              <a:spcAft>
                <a:spcPts val="400"/>
              </a:spcAft>
              <a:defRPr sz="1500">
                <a:solidFill>
                  <a:srgbClr val="1A1A1A"/>
                </a:solidFill>
              </a:defRPr>
            </a:pPr>
            <a:r>
              <a:t>• Use $this-&gt;castId($request-&gt;request-&gt;get('idContactRequest')) to safely extract and validate the contact request ID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ContactRequestCriteriaTransfer , set the idContactRequest , and call deleteContactRequest() on the client</a:t>
            </a:r>
          </a:p>
          <a:p>
            <a:pPr>
              <a:spcAft>
                <a:spcPts val="400"/>
              </a:spcAft>
              <a:defRPr sz="1500">
                <a:solidFill>
                  <a:srgbClr val="1A1A1A"/>
                </a:solidFill>
              </a:defRPr>
            </a:pPr>
            <a:r>
              <a:t>•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a:t>
            </a:r>
          </a:p>
          <a:p>
            <a:pPr>
              <a:spcAft>
                <a:spcPts val="400"/>
              </a:spcAft>
              <a:defRPr sz="1500">
                <a:solidFill>
                  <a:srgbClr val="1A1A1A"/>
                </a:solidFill>
              </a:defRPr>
            </a:pPr>
            <a:r>
              <a:t>• In addCustomerContactRequestsRoute() , build a route for /customer/contact-requests pointing to the ContactRequest controller, listAction (GET + POST)</a:t>
            </a:r>
          </a:p>
          <a:p>
            <a:pPr>
              <a:spcAft>
                <a:spcPts val="400"/>
              </a:spcAft>
              <a:defRPr sz="1500">
                <a:solidFill>
                  <a:srgbClr val="1A1A1A"/>
                </a:solidFill>
              </a:defRPr>
            </a:pPr>
            <a:r>
              <a:t>•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message table with delete buttons and the add form</a:t>
            </a:r>
          </a:p>
          <a:p>
            <a:pPr>
              <a:spcAft>
                <a:spcPts val="800"/>
              </a:spcAft>
              <a:defRPr sz="1600">
                <a:solidFill>
                  <a:srgbClr val="1A1A1A"/>
                </a:solidFill>
              </a:defRPr>
            </a:pPr>
            <a:r>
              <a:t>Take a moment to review these files to understand:</a:t>
            </a:r>
          </a:p>
          <a:p>
            <a:pPr>
              <a:spcAft>
                <a:spcPts val="400"/>
              </a:spcAft>
              <a:defRPr sz="1500">
                <a:solidFill>
                  <a:srgbClr val="1A1A1A"/>
                </a:solidFill>
              </a:defRPr>
            </a:pPr>
            <a:r>
              <a:t>• How Spryker's template override mechanism works (project-level Twig overrides vendor templates by matching the file path)</a:t>
            </a:r>
          </a:p>
          <a:p>
            <a:pPr>
              <a:spcAft>
                <a:spcPts val="400"/>
              </a:spcAft>
              <a:defRPr sz="1500">
                <a:solidFill>
                  <a:srgbClr val="1A1A1A"/>
                </a:solidFill>
              </a:defRPr>
            </a:pPr>
            <a:r>
              <a:t>• How the form is rendered with form_start / form_widget / form_end (Symfony form rendering helpers)</a:t>
            </a:r>
          </a:p>
          <a:p>
            <a:pPr>
              <a:spcAft>
                <a:spcPts val="400"/>
              </a:spcAft>
              <a:defRPr sz="1500">
                <a:solidFill>
                  <a:srgbClr val="1A1A1A"/>
                </a:solidFill>
              </a:defRPr>
            </a:pPr>
            <a:r>
              <a:t>• How each table row has a mini POST form for the delete button (no link — delete is always POST)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'messages',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When you load the complete branch, the loader adds this item for you (between {# &gt;&gt;&gt; contact-request exercise #} markers)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a:t>
            </a:r>
          </a:p>
          <a:p>
            <a:pPr>
              <a:spcAft>
                <a:spcPts val="400"/>
              </a:spcAft>
              <a:defRPr sz="1500">
                <a:solidFill>
                  <a:srgbClr val="1A1A1A"/>
                </a:solidFill>
              </a:defRPr>
            </a:pPr>
            <a:r>
              <a:t>• Schema XML: fk_customer column, foreign key, timestampable behavior</a:t>
            </a:r>
          </a:p>
          <a:p>
            <a:pPr>
              <a:spcAft>
                <a:spcPts val="400"/>
              </a:spcAft>
              <a:defRPr sz="1500">
                <a:solidFill>
                  <a:srgbClr val="1A1A1A"/>
                </a:solidFill>
              </a:defRPr>
            </a:pPr>
            <a:r>
              <a:t>• Transfer XML: fkCustomer , createdAt properties, ContactRequestCollection transfer</a:t>
            </a:r>
          </a:p>
          <a:p>
            <a:pPr>
              <a:spcAft>
                <a:spcPts val="400"/>
              </a:spcAft>
              <a:defRPr sz="1500">
                <a:solidFill>
                  <a:srgbClr val="1A1A1A"/>
                </a:solidFill>
              </a:defRPr>
            </a:pPr>
            <a:r>
              <a:t>• Structural: All classes and methods exist across the full stack</a:t>
            </a:r>
          </a:p>
          <a:p>
            <a:pPr>
              <a:spcAft>
                <a:spcPts val="400"/>
              </a:spcAft>
              <a:defRPr sz="1500">
                <a:solidFill>
                  <a:srgbClr val="1A1A1A"/>
                </a:solidFill>
              </a:defRPr>
            </a:pPr>
            <a:r>
              <a:t>• Mock-based: Stub calls the correct gateway paths for create, get, and delete</a:t>
            </a:r>
          </a:p>
          <a:p>
            <a:pPr>
              <a:spcAft>
                <a:spcPts val="400"/>
              </a:spcAft>
              <a:defRPr sz="1500">
                <a:solidFill>
                  <a:srgbClr val="1A1A1A"/>
                </a:solidFill>
              </a:defRPr>
            </a:pPr>
            <a:r>
              <a:t>• Unit: ContactRequestDeleter delegates to EntityManager correctly</a:t>
            </a:r>
          </a:p>
          <a:p>
            <a:pPr>
              <a:spcAft>
                <a:spcPts val="400"/>
              </a:spcAft>
              <a:defRPr sz="1500">
                <a:solidFill>
                  <a:srgbClr val="1A1A1A"/>
                </a:solidFill>
              </a:defRPr>
            </a:pPr>
            <a:r>
              <a:t>•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