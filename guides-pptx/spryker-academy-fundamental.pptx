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1371600"/>
          </a:xfrm>
          <a:prstGeom prst="rect">
            <a:avLst/>
          </a:prstGeom>
          <a:noFill/>
        </p:spPr>
        <p:txBody>
          <a:bodyPr wrap="square">
            <a:spAutoFit/>
          </a:bodyPr>
          <a:lstStyle/>
          <a:p>
            <a:pPr algn="ctr">
              <a:defRPr sz="4000" b="1">
                <a:solidFill>
                  <a:srgbClr val="00A89B"/>
                </a:solidFill>
              </a:defRPr>
            </a:pPr>
            <a:r>
              <a:t>Spryker Academy — Fundamental Exercises</a:t>
            </a:r>
          </a:p>
        </p:txBody>
      </p:sp>
      <p:sp>
        <p:nvSpPr>
          <p:cNvPr id="3" name="TextBox 2"/>
          <p:cNvSpPr txBox="1"/>
          <p:nvPr/>
        </p:nvSpPr>
        <p:spPr>
          <a:xfrm>
            <a:off x="914400" y="3474720"/>
            <a:ext cx="10362895" cy="914400"/>
          </a:xfrm>
          <a:prstGeom prst="rect">
            <a:avLst/>
          </a:prstGeom>
          <a:noFill/>
        </p:spPr>
        <p:txBody>
          <a:bodyPr wrap="square">
            <a:spAutoFit/>
          </a:bodyPr>
          <a:lstStyle/>
          <a:p>
            <a:pPr algn="ctr">
              <a:defRPr sz="2000">
                <a:solidFill>
                  <a:srgbClr val="888888"/>
                </a:solidFill>
              </a:defRPr>
            </a:pPr>
            <a:r>
              <a:t>Instructor-Led Training | Backend Development Fundamentals</a:t>
            </a:r>
          </a:p>
        </p:txBody>
      </p:sp>
      <p:sp>
        <p:nvSpPr>
          <p:cNvPr id="4" name="Rectangle 3"/>
          <p:cNvSpPr/>
          <p:nvPr/>
        </p:nvSpPr>
        <p:spPr>
          <a:xfrm>
            <a:off x="3657600" y="475488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822960"/>
          </a:xfrm>
          <a:prstGeom prst="rect">
            <a:avLst/>
          </a:prstGeom>
          <a:noFill/>
        </p:spPr>
        <p:txBody>
          <a:bodyPr wrap="square">
            <a:spAutoFit/>
          </a:bodyPr>
          <a:lstStyle/>
          <a:p>
            <a:pPr>
              <a:defRPr sz="3200" b="1">
                <a:solidFill>
                  <a:srgbClr val="00A89B"/>
                </a:solidFill>
              </a:defRPr>
            </a:pPr>
            <a:r>
              <a:t>What You Will Learn</a:t>
            </a:r>
          </a:p>
        </p:txBody>
      </p:sp>
      <p:sp>
        <p:nvSpPr>
          <p:cNvPr id="3" name="Rectangle 2"/>
          <p:cNvSpPr/>
          <p:nvPr/>
        </p:nvSpPr>
        <p:spPr>
          <a:xfrm>
            <a:off x="640080" y="1143000"/>
            <a:ext cx="27432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Understand Spryker's layered architecture (Yves, Zed, Client, Shared)</a:t>
            </a:r>
          </a:p>
          <a:p>
            <a:pPr>
              <a:spcAft>
                <a:spcPts val="1000"/>
              </a:spcAft>
            </a:pPr>
            <a:r>
              <a:rPr sz="1600" b="1">
                <a:solidFill>
                  <a:srgbClr val="00A89B"/>
                </a:solidFill>
              </a:rPr>
              <a:t>✓  </a:t>
            </a:r>
            <a:r>
              <a:rPr sz="1500">
                <a:solidFill>
                  <a:srgbClr val="1A1A1A"/>
                </a:solidFill>
              </a:rPr>
              <a:t>Build Back Office pages with Controllers, Twig templates, and Navigation</a:t>
            </a:r>
          </a:p>
          <a:p>
            <a:pPr>
              <a:spcAft>
                <a:spcPts val="1000"/>
              </a:spcAft>
            </a:pPr>
            <a:r>
              <a:rPr sz="1600" b="1">
                <a:solidFill>
                  <a:srgbClr val="00A89B"/>
                </a:solidFill>
              </a:rPr>
              <a:t>✓  </a:t>
            </a:r>
            <a:r>
              <a:rPr sz="1500">
                <a:solidFill>
                  <a:srgbClr val="1A1A1A"/>
                </a:solidFill>
              </a:rPr>
              <a:t>Define and generate Data Transfer Objects (DTOs) using Transfer XML</a:t>
            </a:r>
          </a:p>
          <a:p>
            <a:pPr>
              <a:spcAft>
                <a:spcPts val="1000"/>
              </a:spcAft>
            </a:pPr>
            <a:r>
              <a:rPr sz="1600" b="1">
                <a:solidFill>
                  <a:srgbClr val="00A89B"/>
                </a:solidFill>
              </a:rPr>
              <a:t>✓  </a:t>
            </a:r>
            <a:r>
              <a:rPr sz="1500">
                <a:solidFill>
                  <a:srgbClr val="1A1A1A"/>
                </a:solidFill>
              </a:rPr>
              <a:t>Create database schemas with Propel ORM and Schema XML</a:t>
            </a:r>
          </a:p>
        </p:txBody>
      </p:sp>
      <p:sp>
        <p:nvSpPr>
          <p:cNvPr id="5" name="TextBox 4"/>
          <p:cNvSpPr txBox="1"/>
          <p:nvPr/>
        </p:nvSpPr>
        <p:spPr>
          <a:xfrm>
            <a:off x="6217920" y="1554480"/>
            <a:ext cx="5029200" cy="4572000"/>
          </a:xfrm>
          <a:prstGeom prst="rect">
            <a:avLst/>
          </a:prstGeom>
          <a:noFill/>
        </p:spPr>
        <p:txBody>
          <a:bodyPr wrap="square">
            <a:spAutoFit/>
          </a:bodyPr>
          <a:lstStyle/>
          <a:p>
            <a:pPr>
              <a:spcAft>
                <a:spcPts val="1000"/>
              </a:spcAft>
            </a:pPr>
            <a:r>
              <a:rPr sz="1600" b="1">
                <a:solidFill>
                  <a:srgbClr val="00A89B"/>
                </a:solidFill>
              </a:rPr>
              <a:t>✓  </a:t>
            </a:r>
            <a:r>
              <a:rPr sz="1500">
                <a:solidFill>
                  <a:srgbClr val="1A1A1A"/>
                </a:solidFill>
              </a:rPr>
              <a:t>Implement module layers: Persistence, Business, and Communication</a:t>
            </a:r>
          </a:p>
          <a:p>
            <a:pPr>
              <a:spcAft>
                <a:spcPts val="1000"/>
              </a:spcAft>
            </a:pPr>
            <a:r>
              <a:rPr sz="1600" b="1">
                <a:solidFill>
                  <a:srgbClr val="00A89B"/>
                </a:solidFill>
              </a:rPr>
              <a:t>✓  </a:t>
            </a:r>
            <a:r>
              <a:rPr sz="1500">
                <a:solidFill>
                  <a:srgbClr val="1A1A1A"/>
                </a:solidFill>
              </a:rPr>
              <a:t>Connect Storefront to Back Office via Client/Stub and BackendGateway</a:t>
            </a:r>
          </a:p>
          <a:p>
            <a:pPr>
              <a:spcAft>
                <a:spcPts val="1000"/>
              </a:spcAft>
            </a:pPr>
            <a:r>
              <a:rPr sz="1600" b="1">
                <a:solidFill>
                  <a:srgbClr val="00A89B"/>
                </a:solidFill>
              </a:rPr>
              <a:t>✓  </a:t>
            </a:r>
            <a:r>
              <a:rPr sz="1500">
                <a:solidFill>
                  <a:srgbClr val="1A1A1A"/>
                </a:solidFill>
              </a:rPr>
              <a:t>Manage application configuration with Config classes and DI</a:t>
            </a:r>
          </a:p>
          <a:p>
            <a:pPr>
              <a:spcAft>
                <a:spcPts val="1000"/>
              </a:spcAft>
            </a:pPr>
            <a:r>
              <a:rPr sz="1600" b="1">
                <a:solidFill>
                  <a:srgbClr val="00A89B"/>
                </a:solidFill>
              </a:rPr>
              <a:t>✓  </a:t>
            </a:r>
            <a:r>
              <a:rPr sz="1500">
                <a:solidFill>
                  <a:srgbClr val="1A1A1A"/>
                </a:solidFill>
              </a:rPr>
              <a:t>Extend core Spryker modules following SOLID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Spryker Backend Development: Best Practices &amp; Architecture Guide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Spryker Backend Development: Best Practices &amp; Architecture Guide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 comprehensive reference building on the exercises you have completed. Every pattern shown here is drawn from real Spryker modules and the training codebase.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Table of Contents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Module Architecture</a:t>
            </a:r>
          </a:p>
          <a:p>
            <a:pPr>
              <a:spcAft>
                <a:spcPts val="400"/>
              </a:spcAft>
              <a:defRPr sz="1500">
                <a:solidFill>
                  <a:srgbClr val="1A1A1A"/>
                </a:solidFill>
              </a:defRPr>
            </a:pPr>
            <a:r>
              <a:t>• Persistence Layer</a:t>
            </a:r>
          </a:p>
          <a:p>
            <a:pPr>
              <a:spcAft>
                <a:spcPts val="400"/>
              </a:spcAft>
              <a:defRPr sz="1500">
                <a:solidFill>
                  <a:srgbClr val="1A1A1A"/>
                </a:solidFill>
              </a:defRPr>
            </a:pPr>
            <a:r>
              <a:t>• Transfer Objects (DTOs)</a:t>
            </a:r>
          </a:p>
          <a:p>
            <a:pPr>
              <a:spcAft>
                <a:spcPts val="400"/>
              </a:spcAft>
              <a:defRPr sz="1500">
                <a:solidFill>
                  <a:srgbClr val="1A1A1A"/>
                </a:solidFill>
              </a:defRPr>
            </a:pPr>
            <a:r>
              <a:t>• Business Layer</a:t>
            </a:r>
          </a:p>
          <a:p>
            <a:pPr>
              <a:spcAft>
                <a:spcPts val="400"/>
              </a:spcAft>
              <a:defRPr sz="1500">
                <a:solidFill>
                  <a:srgbClr val="1A1A1A"/>
                </a:solidFill>
              </a:defRPr>
            </a:pPr>
            <a:r>
              <a:t>• Communication Between Yves and Zed</a:t>
            </a:r>
          </a:p>
          <a:p>
            <a:pPr>
              <a:spcAft>
                <a:spcPts val="400"/>
              </a:spcAft>
              <a:defRPr sz="1500">
                <a:solidFill>
                  <a:srgbClr val="1A1A1A"/>
                </a:solidFill>
              </a:defRPr>
            </a:pPr>
            <a:r>
              <a:t>• DependencyProvider Patterns</a:t>
            </a:r>
          </a:p>
          <a:p>
            <a:pPr>
              <a:spcAft>
                <a:spcPts val="400"/>
              </a:spcAft>
              <a:defRPr sz="1500">
                <a:solidFill>
                  <a:srgbClr val="1A1A1A"/>
                </a:solidFill>
              </a:defRPr>
            </a:pPr>
            <a:r>
              <a:t>• Plugin Architecture</a:t>
            </a:r>
          </a:p>
          <a:p>
            <a:pPr>
              <a:spcAft>
                <a:spcPts val="400"/>
              </a:spcAft>
              <a:defRPr sz="1500">
                <a:solidFill>
                  <a:srgbClr val="1A1A1A"/>
                </a:solidFill>
              </a:defRPr>
            </a:pPr>
            <a:r>
              <a:t>• Query Best Practices &amp; Avoiding N+1</a:t>
            </a:r>
          </a:p>
          <a:p>
            <a:pPr>
              <a:spcAft>
                <a:spcPts val="400"/>
              </a:spcAft>
              <a:defRPr sz="1500">
                <a:solidFill>
                  <a:srgbClr val="1A1A1A"/>
                </a:solidFill>
              </a:defRPr>
            </a:pPr>
            <a:r>
              <a:t>• Testing</a:t>
            </a:r>
          </a:p>
          <a:p>
            <a:pPr>
              <a:spcAft>
                <a:spcPts val="400"/>
              </a:spcAft>
              <a:defRPr sz="1500">
                <a:solidFill>
                  <a:srgbClr val="1A1A1A"/>
                </a:solidFill>
              </a:defRPr>
            </a:pPr>
            <a:r>
              <a:t>• Common Commands Reference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 Module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Spryker separates concerns across four application layers. Each module lives in a namespace that encodes both the vendor and the layer.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 Module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src/</a:t>
            </a:r>
          </a:p>
          <a:p>
            <a:pPr>
              <a:spcBef>
                <a:spcPts val="0"/>
              </a:spcBef>
              <a:spcAft>
                <a:spcPts val="0"/>
              </a:spcAft>
            </a:pPr>
            <a:r>
              <a:rPr sz="900">
                <a:solidFill>
                  <a:srgbClr val="2D2D2D"/>
                </a:solidFill>
                <a:latin typeface="Consolas"/>
              </a:rPr>
              <a:t>└── SprykerAcademy/</a:t>
            </a:r>
          </a:p>
          <a:p>
            <a:pPr>
              <a:spcBef>
                <a:spcPts val="0"/>
              </a:spcBef>
              <a:spcAft>
                <a:spcPts val="0"/>
              </a:spcAft>
            </a:pPr>
            <a:r>
              <a:rPr sz="900">
                <a:solidFill>
                  <a:srgbClr val="2D2D2D"/>
                </a:solidFill>
                <a:latin typeface="Consolas"/>
              </a:rPr>
              <a:t>    ├── Zed/          # Backend: persistence, business logic, Back Office UI</a:t>
            </a:r>
          </a:p>
          <a:p>
            <a:pPr>
              <a:spcBef>
                <a:spcPts val="0"/>
              </a:spcBef>
              <a:spcAft>
                <a:spcPts val="0"/>
              </a:spcAft>
            </a:pPr>
            <a:r>
              <a:rPr sz="900">
                <a:solidFill>
                  <a:srgbClr val="2D2D2D"/>
                </a:solidFill>
                <a:latin typeface="Consolas"/>
              </a:rPr>
              <a:t>    │   └── ContactRequest/</a:t>
            </a:r>
          </a:p>
          <a:p>
            <a:pPr>
              <a:spcBef>
                <a:spcPts val="0"/>
              </a:spcBef>
              <a:spcAft>
                <a:spcPts val="0"/>
              </a:spcAft>
            </a:pPr>
            <a:r>
              <a:rPr sz="900">
                <a:solidFill>
                  <a:srgbClr val="2D2D2D"/>
                </a:solidFill>
                <a:latin typeface="Consolas"/>
              </a:rPr>
              <a:t>    │       ├── Business/</a:t>
            </a:r>
          </a:p>
          <a:p>
            <a:pPr>
              <a:spcBef>
                <a:spcPts val="0"/>
              </a:spcBef>
              <a:spcAft>
                <a:spcPts val="0"/>
              </a:spcAft>
            </a:pPr>
            <a:r>
              <a:rPr sz="900">
                <a:solidFill>
                  <a:srgbClr val="2D2D2D"/>
                </a:solidFill>
                <a:latin typeface="Consolas"/>
              </a:rPr>
              <a:t>    │       │   ├── ContactRequestFacade.php</a:t>
            </a:r>
          </a:p>
          <a:p>
            <a:pPr>
              <a:spcBef>
                <a:spcPts val="0"/>
              </a:spcBef>
              <a:spcAft>
                <a:spcPts val="0"/>
              </a:spcAft>
            </a:pPr>
            <a:r>
              <a:rPr sz="900">
                <a:solidFill>
                  <a:srgbClr val="2D2D2D"/>
                </a:solidFill>
                <a:latin typeface="Consolas"/>
              </a:rPr>
              <a:t>    │       │   ├── ContactRequestFacadeInterface.php</a:t>
            </a:r>
          </a:p>
          <a:p>
            <a:pPr>
              <a:spcBef>
                <a:spcPts val="0"/>
              </a:spcBef>
              <a:spcAft>
                <a:spcPts val="0"/>
              </a:spcAft>
            </a:pPr>
            <a:r>
              <a:rPr sz="900">
                <a:solidFill>
                  <a:srgbClr val="2D2D2D"/>
                </a:solidFill>
                <a:latin typeface="Consolas"/>
              </a:rPr>
              <a:t>    │       │   ├── ContactRequestBusinessFactory.php</a:t>
            </a:r>
          </a:p>
          <a:p>
            <a:pPr>
              <a:spcBef>
                <a:spcPts val="0"/>
              </a:spcBef>
              <a:spcAft>
                <a:spcPts val="0"/>
              </a:spcAft>
            </a:pPr>
            <a:r>
              <a:rPr sz="900">
                <a:solidFill>
                  <a:srgbClr val="2D2D2D"/>
                </a:solidFill>
                <a:latin typeface="Consolas"/>
              </a:rPr>
              <a:t>    │       │   ├── Reader/</a:t>
            </a:r>
          </a:p>
          <a:p>
            <a:pPr>
              <a:spcBef>
                <a:spcPts val="0"/>
              </a:spcBef>
              <a:spcAft>
                <a:spcPts val="0"/>
              </a:spcAft>
            </a:pPr>
            <a:r>
              <a:rPr sz="900">
                <a:solidFill>
                  <a:srgbClr val="2D2D2D"/>
                </a:solidFill>
                <a:latin typeface="Consolas"/>
              </a:rPr>
              <a:t>    │       │   └── Writer/</a:t>
            </a:r>
          </a:p>
          <a:p>
            <a:pPr>
              <a:spcBef>
                <a:spcPts val="0"/>
              </a:spcBef>
              <a:spcAft>
                <a:spcPts val="0"/>
              </a:spcAft>
            </a:pPr>
            <a:r>
              <a:rPr sz="900">
                <a:solidFill>
                  <a:srgbClr val="2D2D2D"/>
                </a:solidFill>
                <a:latin typeface="Consolas"/>
              </a:rPr>
              <a:t>    │       ├── Communication/</a:t>
            </a:r>
          </a:p>
          <a:p>
            <a:pPr>
              <a:spcBef>
                <a:spcPts val="0"/>
              </a:spcBef>
              <a:spcAft>
                <a:spcPts val="0"/>
              </a:spcAft>
            </a:pPr>
            <a:r>
              <a:rPr sz="900">
                <a:solidFill>
                  <a:srgbClr val="2D2D2D"/>
                </a:solidFill>
                <a:latin typeface="Consolas"/>
              </a:rPr>
              <a:t>    │       │   └── Controller/</a:t>
            </a:r>
          </a:p>
          <a:p>
            <a:pPr>
              <a:spcBef>
                <a:spcPts val="0"/>
              </a:spcBef>
              <a:spcAft>
                <a:spcPts val="0"/>
              </a:spcAft>
            </a:pPr>
            <a:r>
              <a:rPr sz="900">
                <a:solidFill>
                  <a:srgbClr val="2D2D2D"/>
                </a:solidFill>
                <a:latin typeface="Consolas"/>
              </a:rPr>
              <a:t>    │       ├── Persistence/</a:t>
            </a:r>
          </a:p>
          <a:p>
            <a:pPr>
              <a:spcBef>
                <a:spcPts val="0"/>
              </a:spcBef>
              <a:spcAft>
                <a:spcPts val="0"/>
              </a:spcAft>
            </a:pPr>
            <a:r>
              <a:rPr sz="900">
                <a:solidFill>
                  <a:srgbClr val="2D2D2D"/>
                </a:solidFill>
                <a:latin typeface="Consolas"/>
              </a:rPr>
              <a:t>    │       │   ├── ContactRequestRepository.php</a:t>
            </a:r>
          </a:p>
          <a:p>
            <a:pPr>
              <a:spcBef>
                <a:spcPts val="0"/>
              </a:spcBef>
              <a:spcAft>
                <a:spcPts val="0"/>
              </a:spcAft>
            </a:pPr>
            <a:r>
              <a:rPr sz="900">
                <a:solidFill>
                  <a:srgbClr val="2D2D2D"/>
                </a:solidFill>
                <a:latin typeface="Consolas"/>
              </a:rPr>
              <a:t>    │       │   ├── ContactRequestEntityManager.php</a:t>
            </a:r>
          </a:p>
          <a:p>
            <a:pPr>
              <a:spcBef>
                <a:spcPts val="0"/>
              </a:spcBef>
              <a:spcAft>
                <a:spcPts val="0"/>
              </a:spcAft>
            </a:pPr>
            <a:r>
              <a:rPr sz="900">
                <a:solidFill>
                  <a:srgbClr val="2D2D2D"/>
                </a:solidFill>
                <a:latin typeface="Consolas"/>
              </a:rPr>
              <a:t>    │       │   ├── ContactRequestPersistenceFactory.php</a:t>
            </a:r>
          </a:p>
          <a:p>
            <a:pPr>
              <a:spcBef>
                <a:spcPts val="0"/>
              </a:spcBef>
              <a:spcAft>
                <a:spcPts val="0"/>
              </a:spcAft>
            </a:pPr>
            <a:r>
              <a:rPr sz="900">
                <a:solidFill>
                  <a:srgbClr val="2D2D2D"/>
                </a:solidFill>
                <a:latin typeface="Consolas"/>
              </a:rPr>
              <a:t>    │       │   ├── Mapper/</a:t>
            </a:r>
          </a:p>
          <a:p>
            <a:pPr>
              <a:spcBef>
                <a:spcPts val="0"/>
              </a:spcBef>
              <a:spcAft>
                <a:spcPts val="0"/>
              </a:spcAft>
            </a:pPr>
            <a:r>
              <a:rPr sz="900">
                <a:solidFill>
                  <a:srgbClr val="2D2D2D"/>
                </a:solidFill>
                <a:latin typeface="Consolas"/>
              </a:rPr>
              <a:t>    │       │   └── Propel/Schema/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 Module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       └── Presentation/</a:t>
            </a:r>
          </a:p>
          <a:p>
            <a:pPr>
              <a:spcBef>
                <a:spcPts val="0"/>
              </a:spcBef>
              <a:spcAft>
                <a:spcPts val="0"/>
              </a:spcAft>
            </a:pPr>
            <a:r>
              <a:rPr sz="900">
                <a:solidFill>
                  <a:srgbClr val="2D2D2D"/>
                </a:solidFill>
                <a:latin typeface="Consolas"/>
              </a:rPr>
              <a:t>    ├── Yves/         # Storefront: rendering, routing</a:t>
            </a:r>
          </a:p>
          <a:p>
            <a:pPr>
              <a:spcBef>
                <a:spcPts val="0"/>
              </a:spcBef>
              <a:spcAft>
                <a:spcPts val="0"/>
              </a:spcAft>
            </a:pPr>
            <a:r>
              <a:rPr sz="900">
                <a:solidFill>
                  <a:srgbClr val="2D2D2D"/>
                </a:solidFill>
                <a:latin typeface="Consolas"/>
              </a:rPr>
              <a:t>    │   └── ContactRequestPage/</a:t>
            </a:r>
          </a:p>
          <a:p>
            <a:pPr>
              <a:spcBef>
                <a:spcPts val="0"/>
              </a:spcBef>
              <a:spcAft>
                <a:spcPts val="0"/>
              </a:spcAft>
            </a:pPr>
            <a:r>
              <a:rPr sz="900">
                <a:solidFill>
                  <a:srgbClr val="2D2D2D"/>
                </a:solidFill>
                <a:latin typeface="Consolas"/>
              </a:rPr>
              <a:t>    │       ├── Controller/</a:t>
            </a:r>
          </a:p>
          <a:p>
            <a:pPr>
              <a:spcBef>
                <a:spcPts val="0"/>
              </a:spcBef>
              <a:spcAft>
                <a:spcPts val="0"/>
              </a:spcAft>
            </a:pPr>
            <a:r>
              <a:rPr sz="900">
                <a:solidFill>
                  <a:srgbClr val="2D2D2D"/>
                </a:solidFill>
                <a:latin typeface="Consolas"/>
              </a:rPr>
              <a:t>    │       ├── Plugin/Router/</a:t>
            </a:r>
          </a:p>
          <a:p>
            <a:pPr>
              <a:spcBef>
                <a:spcPts val="0"/>
              </a:spcBef>
              <a:spcAft>
                <a:spcPts val="0"/>
              </a:spcAft>
            </a:pPr>
            <a:r>
              <a:rPr sz="900">
                <a:solidFill>
                  <a:srgbClr val="2D2D2D"/>
                </a:solidFill>
                <a:latin typeface="Consolas"/>
              </a:rPr>
              <a:t>    │       └── Theme/</a:t>
            </a:r>
          </a:p>
          <a:p>
            <a:pPr>
              <a:spcBef>
                <a:spcPts val="0"/>
              </a:spcBef>
              <a:spcAft>
                <a:spcPts val="0"/>
              </a:spcAft>
            </a:pPr>
            <a:r>
              <a:rPr sz="900">
                <a:solidFill>
                  <a:srgbClr val="2D2D2D"/>
                </a:solidFill>
                <a:latin typeface="Consolas"/>
              </a:rPr>
              <a:t>    ├── Client/       # Bridge between Yves and Zed</a:t>
            </a:r>
          </a:p>
          <a:p>
            <a:pPr>
              <a:spcBef>
                <a:spcPts val="0"/>
              </a:spcBef>
              <a:spcAft>
                <a:spcPts val="0"/>
              </a:spcAft>
            </a:pPr>
            <a:r>
              <a:rPr sz="900">
                <a:solidFill>
                  <a:srgbClr val="2D2D2D"/>
                </a:solidFill>
                <a:latin typeface="Consolas"/>
              </a:rPr>
              <a:t>    │   └── ContactRequest/</a:t>
            </a:r>
          </a:p>
          <a:p>
            <a:pPr>
              <a:spcBef>
                <a:spcPts val="0"/>
              </a:spcBef>
              <a:spcAft>
                <a:spcPts val="0"/>
              </a:spcAft>
            </a:pPr>
            <a:r>
              <a:rPr sz="900">
                <a:solidFill>
                  <a:srgbClr val="2D2D2D"/>
                </a:solidFill>
                <a:latin typeface="Consolas"/>
              </a:rPr>
              <a:t>    │       └── Stub/</a:t>
            </a:r>
          </a:p>
          <a:p>
            <a:pPr>
              <a:spcBef>
                <a:spcPts val="0"/>
              </a:spcBef>
              <a:spcAft>
                <a:spcPts val="0"/>
              </a:spcAft>
            </a:pPr>
            <a:r>
              <a:rPr sz="900">
                <a:solidFill>
                  <a:srgbClr val="2D2D2D"/>
                </a:solidFill>
                <a:latin typeface="Consolas"/>
              </a:rPr>
              <a:t>    └── Shared/       # Transfer definitions, constants</a:t>
            </a:r>
          </a:p>
          <a:p>
            <a:pPr>
              <a:spcBef>
                <a:spcPts val="0"/>
              </a:spcBef>
              <a:spcAft>
                <a:spcPts val="0"/>
              </a:spcAft>
            </a:pPr>
            <a:r>
              <a:rPr sz="900">
                <a:solidFill>
                  <a:srgbClr val="2D2D2D"/>
                </a:solidFill>
                <a:latin typeface="Consolas"/>
              </a:rPr>
              <a:t>        └── ContactRequest/Transfer/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Layer Responsibilities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Layer   Namespace                   Responsibility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Zed     Namespace\Zed\Module\       Business logic, persistence, Back Office controllers, console commands</a:t>
            </a:r>
          </a:p>
          <a:p>
            <a:pPr>
              <a:spcAft>
                <a:spcPts val="100"/>
              </a:spcAft>
              <a:defRPr sz="1000">
                <a:solidFill>
                  <a:srgbClr val="1A1A1A"/>
                </a:solidFill>
                <a:latin typeface="Consolas"/>
              </a:defRPr>
            </a:pPr>
            <a:r>
              <a:t>Yves    Namespace\Yves\ModulePage\  Storefront controllers, Twig templates, routing                       </a:t>
            </a:r>
          </a:p>
          <a:p>
            <a:pPr>
              <a:spcAft>
                <a:spcPts val="100"/>
              </a:spcAft>
              <a:defRPr sz="1000">
                <a:solidFill>
                  <a:srgbClr val="1A1A1A"/>
                </a:solidFill>
                <a:latin typeface="Consolas"/>
              </a:defRPr>
            </a:pPr>
            <a:r>
              <a:t>Client  Namespace\Client\Module\    HTTP calls to Zed via ZedRequestClient                                </a:t>
            </a:r>
          </a:p>
          <a:p>
            <a:pPr>
              <a:spcAft>
                <a:spcPts val="100"/>
              </a:spcAft>
              <a:defRPr sz="1000">
                <a:solidFill>
                  <a:srgbClr val="1A1A1A"/>
                </a:solidFill>
                <a:latin typeface="Consolas"/>
              </a:defRPr>
            </a:pPr>
            <a:r>
              <a:t>Shared  Namespace\Shared\Module\    Transfer XMLs, constants visible to all layers</a:t>
            </a:r>
          </a:p>
          <a:p>
            <a:pPr>
              <a:spcBef>
                <a:spcPts val="1200"/>
              </a:spcBef>
              <a:spcAft>
                <a:spcPts val="600"/>
              </a:spcAft>
              <a:defRPr sz="2000" b="1">
                <a:solidFill>
                  <a:srgbClr val="1A1A1A"/>
                </a:solidFill>
              </a:defRPr>
            </a:pPr>
            <a:r>
              <a:t>Key Rule: Yves Must Never Access the Database Directly</a:t>
            </a:r>
          </a:p>
          <a:p>
            <a:pPr>
              <a:spcAft>
                <a:spcPts val="800"/>
              </a:spcAft>
              <a:defRPr sz="1600">
                <a:solidFill>
                  <a:srgbClr val="1A1A1A"/>
                </a:solidFill>
              </a:defRPr>
            </a:pPr>
            <a:r>
              <a:t>Yves communicates with Zed exclusively through the Client layer:</a:t>
            </a:r>
          </a:p>
          <a:p>
            <a:pPr>
              <a:spcBef>
                <a:spcPts val="0"/>
              </a:spcBef>
              <a:spcAft>
                <a:spcPts val="0"/>
              </a:spcAft>
            </a:pPr>
            <a:r>
              <a:rPr sz="900">
                <a:solidFill>
                  <a:srgbClr val="2D2D2D"/>
                </a:solidFill>
                <a:latin typeface="Consolas"/>
              </a:rPr>
              <a:t>Yves Controller</a:t>
            </a:r>
          </a:p>
          <a:p>
            <a:pPr>
              <a:spcBef>
                <a:spcPts val="0"/>
              </a:spcBef>
              <a:spcAft>
                <a:spcPts val="0"/>
              </a:spcAft>
            </a:pPr>
            <a:r>
              <a:rPr sz="900">
                <a:solidFill>
                  <a:srgbClr val="2D2D2D"/>
                </a:solidFill>
                <a:latin typeface="Consolas"/>
              </a:rPr>
              <a:t>  -&gt; Client (ContactRequestClient)</a:t>
            </a:r>
          </a:p>
          <a:p>
            <a:pPr>
              <a:spcBef>
                <a:spcPts val="0"/>
              </a:spcBef>
              <a:spcAft>
                <a:spcPts val="0"/>
              </a:spcAft>
            </a:pPr>
            <a:r>
              <a:rPr sz="900">
                <a:solidFill>
                  <a:srgbClr val="2D2D2D"/>
                </a:solidFill>
                <a:latin typeface="Consolas"/>
              </a:rPr>
              <a:t>    -&gt; Stub (ContactRequestStub)</a:t>
            </a:r>
          </a:p>
          <a:p>
            <a:pPr>
              <a:spcBef>
                <a:spcPts val="0"/>
              </a:spcBef>
              <a:spcAft>
                <a:spcPts val="0"/>
              </a:spcAft>
            </a:pPr>
            <a:r>
              <a:rPr sz="900">
                <a:solidFill>
                  <a:srgbClr val="2D2D2D"/>
                </a:solidFill>
                <a:latin typeface="Consolas"/>
              </a:rPr>
              <a:t>      -&gt; ZedRequestClient::call('/contact-request/gateway/find-contact-request', $transfer)</a:t>
            </a:r>
          </a:p>
          <a:p>
            <a:pPr>
              <a:spcBef>
                <a:spcPts val="0"/>
              </a:spcBef>
              <a:spcAft>
                <a:spcPts val="0"/>
              </a:spcAft>
            </a:pPr>
            <a:r>
              <a:rPr sz="900">
                <a:solidFill>
                  <a:srgbClr val="2D2D2D"/>
                </a:solidFill>
                <a:latin typeface="Consolas"/>
              </a:rPr>
              <a:t>        -&gt; Zed GatewayController</a:t>
            </a:r>
          </a:p>
          <a:p>
            <a:pPr>
              <a:spcBef>
                <a:spcPts val="0"/>
              </a:spcBef>
              <a:spcAft>
                <a:spcPts val="0"/>
              </a:spcAft>
            </a:pPr>
            <a:r>
              <a:rPr sz="900">
                <a:solidFill>
                  <a:srgbClr val="2D2D2D"/>
                </a:solidFill>
                <a:latin typeface="Consolas"/>
              </a:rPr>
              <a:t>          -&gt; Facade -&gt; Business Logic -&gt; Repository/EntityManager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Persistence Layer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2.1 Repository vs EntityManager</a:t>
            </a:r>
          </a:p>
          <a:p>
            <a:pPr>
              <a:spcAft>
                <a:spcPts val="800"/>
              </a:spcAft>
              <a:defRPr sz="1600">
                <a:solidFill>
                  <a:srgbClr val="1A1A1A"/>
                </a:solidFill>
              </a:defRPr>
            </a:pPr>
            <a:r>
              <a:t>Repository = reads only. EntityManager = writes only. This separation ensures clean architecture and testability.</a:t>
            </a:r>
          </a:p>
          <a:p>
            <a:pPr>
              <a:spcAft>
                <a:spcPts val="800"/>
              </a:spcAft>
              <a:defRPr sz="1600">
                <a:solidFill>
                  <a:srgbClr val="1A1A1A"/>
                </a:solidFill>
              </a:defRPr>
            </a:pPr>
            <a:r>
              <a:t>Repository (reads):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Persistence Layer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ontactRequestRepository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bstractRepository </a:t>
            </a:r>
            <a:r>
              <a:rPr sz="900" b="1">
                <a:solidFill>
                  <a:srgbClr val="007020"/>
                </a:solidFill>
                <a:latin typeface="Consolas"/>
              </a:rPr>
              <a:t>implements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ontactRequestRepositoryInterface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findContactRequest(</a:t>
            </a:r>
            <a:r>
              <a:rPr sz="900">
                <a:solidFill>
                  <a:srgbClr val="880000"/>
                </a:solidFill>
                <a:latin typeface="Consolas"/>
              </a:rPr>
              <a:t>C</a:t>
            </a:r>
            <a:r>
              <a:rPr sz="900">
                <a:solidFill>
                  <a:srgbClr val="2D2D2D"/>
                </a:solidFill>
                <a:latin typeface="Consolas"/>
              </a:rPr>
              <a:t>ontactRequestCriteriaTransfer </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880000"/>
                </a:solidFill>
                <a:latin typeface="Consolas"/>
              </a:rPr>
              <a:t>C</a:t>
            </a:r>
            <a:r>
              <a:rPr sz="900">
                <a:solidFill>
                  <a:srgbClr val="2D2D2D"/>
                </a:solidFill>
                <a:latin typeface="Consolas"/>
              </a:rPr>
              <a:t>ontactRequestTransfer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-&gt;getFactory()-&gt;createContactRequestQuery()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$contactRequestEntity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19177C"/>
                </a:solidFill>
                <a:latin typeface="Consolas"/>
              </a:rPr>
              <a:t>$contactRequestCriteria</a:t>
            </a:r>
            <a:r>
              <a:rPr sz="900">
                <a:solidFill>
                  <a:srgbClr val="2D2D2D"/>
                </a:solidFill>
                <a:latin typeface="Consolas"/>
              </a:rPr>
              <a:t>-&gt;getIdContactRequest()) {</a:t>
            </a:r>
          </a:p>
          <a:p>
            <a:pPr>
              <a:spcBef>
                <a:spcPts val="0"/>
              </a:spcBef>
              <a:spcAft>
                <a:spcPts val="0"/>
              </a:spcAft>
            </a:pPr>
            <a:r>
              <a:rPr sz="900">
                <a:solidFill>
                  <a:srgbClr val="2D2D2D"/>
                </a:solidFill>
                <a:latin typeface="Consolas"/>
              </a:rPr>
              <a:t>            </a:t>
            </a:r>
            <a:r>
              <a:rPr sz="900">
                <a:solidFill>
                  <a:srgbClr val="19177C"/>
                </a:solidFill>
                <a:latin typeface="Consolas"/>
              </a:rPr>
              <a:t>$contactRequestEntity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-&gt;findOneByIdContactRequest(</a:t>
            </a:r>
            <a:r>
              <a:rPr sz="900">
                <a:solidFill>
                  <a:srgbClr val="19177C"/>
                </a:solidFill>
                <a:latin typeface="Consolas"/>
              </a:rPr>
              <a:t>$contactRequestCriteria</a:t>
            </a:r>
            <a:r>
              <a:rPr sz="900">
                <a:solidFill>
                  <a:srgbClr val="2D2D2D"/>
                </a:solidFill>
                <a:latin typeface="Consolas"/>
              </a:rPr>
              <a:t>-&gt;getIdContactRequest())</a:t>
            </a:r>
            <a:r>
              <a:rPr sz="900">
                <a:solidFill>
                  <a:srgbClr val="007020"/>
                </a:solidFill>
                <a:latin typeface="Consolas"/>
              </a:rPr>
              <a:t>;</a:t>
            </a:r>
          </a:p>
          <a:p>
            <a:pPr>
              <a:spcBef>
                <a:spcPts val="0"/>
              </a:spcBef>
              <a:spcAft>
                <a:spcPts val="0"/>
              </a:spcAft>
            </a:pPr>
            <a:r>
              <a:rPr sz="900">
                <a:solidFill>
                  <a:srgbClr val="2D2D2D"/>
                </a:solidFill>
                <a:latin typeface="Consolas"/>
              </a:rPr>
              <a:t>        } </a:t>
            </a:r>
            <a:r>
              <a:rPr sz="900" b="1">
                <a:solidFill>
                  <a:srgbClr val="007020"/>
                </a:solidFill>
                <a:latin typeface="Consolas"/>
              </a:rPr>
              <a:t>elseif</a:t>
            </a:r>
            <a:r>
              <a:rPr sz="900">
                <a:solidFill>
                  <a:srgbClr val="2D2D2D"/>
                </a:solidFill>
                <a:latin typeface="Consolas"/>
              </a:rPr>
              <a:t> (</a:t>
            </a:r>
            <a:r>
              <a:rPr sz="900">
                <a:solidFill>
                  <a:srgbClr val="19177C"/>
                </a:solidFill>
                <a:latin typeface="Consolas"/>
              </a:rPr>
              <a:t>$contactRequestCriteria</a:t>
            </a:r>
            <a:r>
              <a:rPr sz="900">
                <a:solidFill>
                  <a:srgbClr val="2D2D2D"/>
                </a:solidFill>
                <a:latin typeface="Consolas"/>
              </a:rPr>
              <a:t>-&gt;getMessage()) {</a:t>
            </a:r>
          </a:p>
          <a:p>
            <a:pPr>
              <a:spcBef>
                <a:spcPts val="0"/>
              </a:spcBef>
              <a:spcAft>
                <a:spcPts val="0"/>
              </a:spcAft>
            </a:pPr>
            <a:r>
              <a:rPr sz="900">
                <a:solidFill>
                  <a:srgbClr val="2D2D2D"/>
                </a:solidFill>
                <a:latin typeface="Consolas"/>
              </a:rPr>
              <a:t>            </a:t>
            </a:r>
            <a:r>
              <a:rPr sz="900">
                <a:solidFill>
                  <a:srgbClr val="19177C"/>
                </a:solidFill>
                <a:latin typeface="Consolas"/>
              </a:rPr>
              <a:t>$contactRequestEntity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-&gt;filterByMessage(</a:t>
            </a:r>
          </a:p>
          <a:p>
            <a:pPr>
              <a:spcBef>
                <a:spcPts val="0"/>
              </a:spcBef>
              <a:spcAft>
                <a:spcPts val="0"/>
              </a:spcAft>
            </a:pPr>
            <a:r>
              <a:rPr sz="900">
                <a:solidFill>
                  <a:srgbClr val="2D2D2D"/>
                </a:solidFill>
                <a:latin typeface="Consolas"/>
              </a:rPr>
              <a:t>                </a:t>
            </a:r>
            <a:r>
              <a:rPr sz="900">
                <a:solidFill>
                  <a:srgbClr val="06287E"/>
                </a:solidFill>
                <a:latin typeface="Consolas"/>
              </a:rPr>
              <a:t>sprintf</a:t>
            </a:r>
            <a:r>
              <a:rPr sz="900">
                <a:solidFill>
                  <a:srgbClr val="2D2D2D"/>
                </a:solidFill>
                <a:latin typeface="Consolas"/>
              </a:rPr>
              <a:t>(</a:t>
            </a:r>
            <a:r>
              <a:rPr sz="900">
                <a:solidFill>
                  <a:srgbClr val="4070A0"/>
                </a:solidFill>
                <a:latin typeface="Consolas"/>
              </a:rPr>
              <a:t>'%%%s%%'</a:t>
            </a:r>
            <a:r>
              <a:rPr sz="900">
                <a:solidFill>
                  <a:srgbClr val="007020"/>
                </a:solidFill>
                <a:latin typeface="Consolas"/>
              </a:rPr>
              <a:t>,</a:t>
            </a:r>
            <a:r>
              <a:rPr sz="900">
                <a:solidFill>
                  <a:srgbClr val="2D2D2D"/>
                </a:solidFill>
                <a:latin typeface="Consolas"/>
              </a:rPr>
              <a:t> </a:t>
            </a:r>
            <a:r>
              <a:rPr sz="900">
                <a:solidFill>
                  <a:srgbClr val="19177C"/>
                </a:solidFill>
                <a:latin typeface="Consolas"/>
              </a:rPr>
              <a:t>$contactRequestCriteria</a:t>
            </a:r>
            <a:r>
              <a:rPr sz="900">
                <a:solidFill>
                  <a:srgbClr val="2D2D2D"/>
                </a:solidFill>
                <a:latin typeface="Consolas"/>
              </a:rPr>
              <a:t>-&gt;getMessage())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C</a:t>
            </a:r>
            <a:r>
              <a:rPr sz="900">
                <a:solidFill>
                  <a:srgbClr val="2D2D2D"/>
                </a:solidFill>
                <a:latin typeface="Consolas"/>
              </a:rPr>
              <a:t>riteria::</a:t>
            </a:r>
            <a:r>
              <a:rPr sz="900">
                <a:solidFill>
                  <a:srgbClr val="880000"/>
                </a:solidFill>
                <a:latin typeface="Consolas"/>
              </a:rPr>
              <a:t>LIKE</a:t>
            </a:r>
            <a:r>
              <a:rPr sz="900">
                <a:solidFill>
                  <a:srgbClr val="007020"/>
                </a:solidFill>
                <a:latin typeface="Consolas"/>
              </a:rPr>
              <a:t>,</a:t>
            </a:r>
          </a:p>
          <a:p>
            <a:pPr>
              <a:spcBef>
                <a:spcPts val="0"/>
              </a:spcBef>
              <a:spcAft>
                <a:spcPts val="0"/>
              </a:spcAft>
            </a:pPr>
            <a:r>
              <a:rPr sz="900">
                <a:solidFill>
                  <a:srgbClr val="2D2D2D"/>
                </a:solidFill>
                <a:latin typeface="Consolas"/>
              </a:rPr>
              <a:t>            )-&gt;findOne()</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666666"/>
                </a:solidFill>
                <a:latin typeface="Consolas"/>
              </a:rPr>
              <a:t>!</a:t>
            </a:r>
            <a:r>
              <a:rPr sz="900">
                <a:solidFill>
                  <a:srgbClr val="19177C"/>
                </a:solidFill>
                <a:latin typeface="Consolas"/>
              </a:rPr>
              <a:t>$contactRequestEntity</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b="1">
                <a:solidFill>
                  <a:srgbClr val="007020"/>
                </a:solidFill>
                <a:latin typeface="Consolas"/>
              </a:rPr>
              <a:t>null</a:t>
            </a:r>
            <a:r>
              <a:rPr sz="900">
                <a:solidFill>
                  <a:srgbClr val="007020"/>
                </a:solidFill>
                <a:latin typeface="Consolas"/>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Persistence Layer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-&gt;createContactRequestMapper()</a:t>
            </a:r>
          </a:p>
          <a:p>
            <a:pPr>
              <a:spcBef>
                <a:spcPts val="0"/>
              </a:spcBef>
              <a:spcAft>
                <a:spcPts val="0"/>
              </a:spcAft>
            </a:pPr>
            <a:r>
              <a:rPr sz="900">
                <a:solidFill>
                  <a:srgbClr val="2D2D2D"/>
                </a:solidFill>
                <a:latin typeface="Consolas"/>
              </a:rPr>
              <a:t>            -&gt;mapEntityToContactRequestTransfer(</a:t>
            </a:r>
            <a:r>
              <a:rPr sz="900">
                <a:solidFill>
                  <a:srgbClr val="19177C"/>
                </a:solidFill>
                <a:latin typeface="Consolas"/>
              </a:rPr>
              <a:t>$contactRequestEntity</a:t>
            </a:r>
            <a:r>
              <a:rPr sz="900">
                <a:solidFill>
                  <a:srgbClr val="007020"/>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ontactRequestTransfer())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EntityManager (writes):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Persistence Layer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ontactRequestEntityManager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bstractEntityManager </a:t>
            </a:r>
            <a:r>
              <a:rPr sz="900" b="1">
                <a:solidFill>
                  <a:srgbClr val="007020"/>
                </a:solidFill>
                <a:latin typeface="Consolas"/>
              </a:rPr>
              <a:t>implements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ontactRequestEntityManagerInterface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createContactRequest(</a:t>
            </a:r>
            <a:r>
              <a:rPr sz="900">
                <a:solidFill>
                  <a:srgbClr val="880000"/>
                </a:solidFill>
                <a:latin typeface="Consolas"/>
              </a:rPr>
              <a:t>C</a:t>
            </a:r>
            <a:r>
              <a:rPr sz="900">
                <a:solidFill>
                  <a:srgbClr val="2D2D2D"/>
                </a:solidFill>
                <a:latin typeface="Consolas"/>
              </a:rPr>
              <a:t>ontactRequestTransfer </a:t>
            </a:r>
            <a:r>
              <a:rPr sz="900">
                <a:solidFill>
                  <a:srgbClr val="19177C"/>
                </a:solidFill>
                <a:latin typeface="Consolas"/>
              </a:rPr>
              <a:t>$contactRequestTransfer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$contactRequestEntity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-&gt;createContactRequestMapper()</a:t>
            </a:r>
          </a:p>
          <a:p>
            <a:pPr>
              <a:spcBef>
                <a:spcPts val="0"/>
              </a:spcBef>
              <a:spcAft>
                <a:spcPts val="0"/>
              </a:spcAft>
            </a:pPr>
            <a:r>
              <a:rPr sz="900">
                <a:solidFill>
                  <a:srgbClr val="2D2D2D"/>
                </a:solidFill>
                <a:latin typeface="Consolas"/>
              </a:rPr>
              <a:t>            -&gt;mapContactRequestTransferToEntity(</a:t>
            </a:r>
            <a:r>
              <a:rPr sz="900">
                <a:solidFill>
                  <a:srgbClr val="19177C"/>
                </a:solidFill>
                <a:latin typeface="Consolas"/>
              </a:rPr>
              <a:t>$contactRequestTransfer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$contactRequestEntity</a:t>
            </a:r>
            <a:r>
              <a:rPr sz="900">
                <a:solidFill>
                  <a:srgbClr val="2D2D2D"/>
                </a:solidFill>
                <a:latin typeface="Consolas"/>
              </a:rPr>
              <a:t>-&gt;save()</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-&gt;createContactRequestMapper()</a:t>
            </a:r>
          </a:p>
          <a:p>
            <a:pPr>
              <a:spcBef>
                <a:spcPts val="0"/>
              </a:spcBef>
              <a:spcAft>
                <a:spcPts val="0"/>
              </a:spcAft>
            </a:pPr>
            <a:r>
              <a:rPr sz="900">
                <a:solidFill>
                  <a:srgbClr val="2D2D2D"/>
                </a:solidFill>
                <a:latin typeface="Consolas"/>
              </a:rPr>
              <a:t>            -&gt;mapEntityToContactRequestTransfer(</a:t>
            </a:r>
            <a:r>
              <a:rPr sz="900">
                <a:solidFill>
                  <a:srgbClr val="19177C"/>
                </a:solidFill>
                <a:latin typeface="Consolas"/>
              </a:rPr>
              <a:t>$contactRequestEntity</a:t>
            </a:r>
            <a:r>
              <a:rPr sz="900">
                <a:solidFill>
                  <a:srgbClr val="007020"/>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ontactRequestTransfer())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2.2 PersistenceFactory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All Propel query objects and mappers are created through the PersistenceFactory. Never instantiate them directly.</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ontactRequestPersistenceFactory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bstractPersistenceFactory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createContactRequestQuery()</a:t>
            </a:r>
            <a:r>
              <a:rPr sz="900">
                <a:solidFill>
                  <a:srgbClr val="007020"/>
                </a:solidFill>
                <a:latin typeface="Consolas"/>
              </a:rPr>
              <a:t>:</a:t>
            </a:r>
            <a:r>
              <a:rPr sz="900">
                <a:solidFill>
                  <a:srgbClr val="2D2D2D"/>
                </a:solidFill>
                <a:latin typeface="Consolas"/>
              </a:rPr>
              <a:t> </a:t>
            </a:r>
            <a:r>
              <a:rPr sz="900">
                <a:solidFill>
                  <a:srgbClr val="880000"/>
                </a:solidFill>
                <a:latin typeface="Consolas"/>
              </a:rPr>
              <a:t>P</a:t>
            </a:r>
            <a:r>
              <a:rPr sz="900">
                <a:solidFill>
                  <a:srgbClr val="2D2D2D"/>
                </a:solidFill>
                <a:latin typeface="Consolas"/>
              </a:rPr>
              <a:t>yzContactRequestQuery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880000"/>
                </a:solidFill>
                <a:latin typeface="Consolas"/>
              </a:rPr>
              <a:t>P</a:t>
            </a:r>
            <a:r>
              <a:rPr sz="900">
                <a:solidFill>
                  <a:srgbClr val="2D2D2D"/>
                </a:solidFill>
                <a:latin typeface="Consolas"/>
              </a:rPr>
              <a:t>yzContactRequestQuery::create()</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Always use ::create(), never new</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createContactRequestMapper()</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ontactRequestMapper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ontactRequestMapper()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2.2 PersistenceFactory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When providing queries to the Communication layer (e.g., for GUI tables), use $container-&gt;factory() to get a fresh instance each time:</a:t>
            </a:r>
          </a:p>
          <a:p>
            <a:pPr>
              <a:spcBef>
                <a:spcPts val="0"/>
              </a:spcBef>
              <a:spcAft>
                <a:spcPts val="0"/>
              </a:spcAft>
            </a:pPr>
            <a:r>
              <a:rPr sz="900">
                <a:solidFill>
                  <a:srgbClr val="19177C"/>
                </a:solidFill>
                <a:latin typeface="Consolas"/>
              </a:rPr>
              <a:t>$container</a:t>
            </a:r>
            <a:r>
              <a:rPr sz="900">
                <a:solidFill>
                  <a:srgbClr val="2D2D2D"/>
                </a:solidFill>
                <a:latin typeface="Consolas"/>
              </a:rPr>
              <a:t>-&gt;set(</a:t>
            </a:r>
          </a:p>
          <a:p>
            <a:pPr>
              <a:spcBef>
                <a:spcPts val="0"/>
              </a:spcBef>
              <a:spcAft>
                <a:spcPts val="0"/>
              </a:spcAft>
            </a:pP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PROPEL_QUERY_SUPPLIER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-&gt;factory(</a:t>
            </a:r>
            <a:r>
              <a:rPr sz="900" b="1">
                <a:solidFill>
                  <a:srgbClr val="007020"/>
                </a:solidFill>
                <a:latin typeface="Consolas"/>
              </a:rPr>
              <a:t>fn</a:t>
            </a:r>
            <a:r>
              <a:rPr sz="900">
                <a:solidFill>
                  <a:srgbClr val="2D2D2D"/>
                </a:solidFill>
                <a:latin typeface="Consolas"/>
              </a:rPr>
              <a:t> () =&gt; </a:t>
            </a:r>
            <a:r>
              <a:rPr sz="900">
                <a:solidFill>
                  <a:srgbClr val="880000"/>
                </a:solidFill>
                <a:latin typeface="Consolas"/>
              </a:rPr>
              <a:t>P</a:t>
            </a:r>
            <a:r>
              <a:rPr sz="900">
                <a:solidFill>
                  <a:srgbClr val="2D2D2D"/>
                </a:solidFill>
                <a:latin typeface="Consolas"/>
              </a:rPr>
              <a:t>yzSupplierQuery::create())</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2.3 Mapper Pattern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Mappers are dedicated classes in Persistence/Mapper/ that contain no business logic - only field mapping.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2.3 Mapper Pattern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upplierMapper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 Transfer -&gt; Entity: use modifiedToArray() so only set fields are mapped</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mapSupplierTransferToSupplierEntity(</a:t>
            </a:r>
          </a:p>
          <a:p>
            <a:pPr>
              <a:spcBef>
                <a:spcPts val="0"/>
              </a:spcBef>
              <a:spcAft>
                <a:spcPts val="0"/>
              </a:spcAft>
            </a:pP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 </a:t>
            </a:r>
            <a:r>
              <a:rPr sz="900">
                <a:solidFill>
                  <a:srgbClr val="19177C"/>
                </a:solidFill>
                <a:latin typeface="Consolas"/>
              </a:rPr>
              <a:t>$supplierTransfer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P</a:t>
            </a:r>
            <a:r>
              <a:rPr sz="900">
                <a:solidFill>
                  <a:srgbClr val="2D2D2D"/>
                </a:solidFill>
                <a:latin typeface="Consolas"/>
              </a:rPr>
              <a:t>yzSupplier </a:t>
            </a:r>
            <a:r>
              <a:rPr sz="900">
                <a:solidFill>
                  <a:srgbClr val="19177C"/>
                </a:solidFill>
                <a:latin typeface="Consolas"/>
              </a:rPr>
              <a:t>$supplierEntity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r>
              <a:rPr sz="900">
                <a:solidFill>
                  <a:srgbClr val="2D2D2D"/>
                </a:solidFill>
                <a:latin typeface="Consolas"/>
              </a:rPr>
              <a:t> </a:t>
            </a:r>
            <a:r>
              <a:rPr sz="900">
                <a:solidFill>
                  <a:srgbClr val="880000"/>
                </a:solidFill>
                <a:latin typeface="Consolas"/>
              </a:rPr>
              <a:t>P</a:t>
            </a:r>
            <a:r>
              <a:rPr sz="900">
                <a:solidFill>
                  <a:srgbClr val="2D2D2D"/>
                </a:solidFill>
                <a:latin typeface="Consolas"/>
              </a:rPr>
              <a:t>yzSupplier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$supplierEntity</a:t>
            </a:r>
            <a:r>
              <a:rPr sz="900">
                <a:solidFill>
                  <a:srgbClr val="2D2D2D"/>
                </a:solidFill>
                <a:latin typeface="Consolas"/>
              </a:rPr>
              <a:t>-&gt;fromArray(</a:t>
            </a:r>
            <a:r>
              <a:rPr sz="900">
                <a:solidFill>
                  <a:srgbClr val="19177C"/>
                </a:solidFill>
                <a:latin typeface="Consolas"/>
              </a:rPr>
              <a:t>$supplierTransfer</a:t>
            </a:r>
            <a:r>
              <a:rPr sz="900">
                <a:solidFill>
                  <a:srgbClr val="2D2D2D"/>
                </a:solidFill>
                <a:latin typeface="Consolas"/>
              </a:rPr>
              <a:t>-&gt;modifiedToArray())</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Entity -&gt; Transfer: use toArray() + ignoreMissingProperties=true</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mapSupplierEntityToSupplierTransfer(</a:t>
            </a:r>
          </a:p>
          <a:p>
            <a:pPr>
              <a:spcBef>
                <a:spcPts val="0"/>
              </a:spcBef>
              <a:spcAft>
                <a:spcPts val="0"/>
              </a:spcAft>
            </a:pPr>
            <a:r>
              <a:rPr sz="900">
                <a:solidFill>
                  <a:srgbClr val="2D2D2D"/>
                </a:solidFill>
                <a:latin typeface="Consolas"/>
              </a:rPr>
              <a:t>        </a:t>
            </a:r>
            <a:r>
              <a:rPr sz="900">
                <a:solidFill>
                  <a:srgbClr val="880000"/>
                </a:solidFill>
                <a:latin typeface="Consolas"/>
              </a:rPr>
              <a:t>P</a:t>
            </a:r>
            <a:r>
              <a:rPr sz="900">
                <a:solidFill>
                  <a:srgbClr val="2D2D2D"/>
                </a:solidFill>
                <a:latin typeface="Consolas"/>
              </a:rPr>
              <a:t>yzSupplier </a:t>
            </a:r>
            <a:r>
              <a:rPr sz="900">
                <a:solidFill>
                  <a:srgbClr val="19177C"/>
                </a:solidFill>
                <a:latin typeface="Consolas"/>
              </a:rPr>
              <a:t>$supplierEntity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 </a:t>
            </a:r>
            <a:r>
              <a:rPr sz="900">
                <a:solidFill>
                  <a:srgbClr val="19177C"/>
                </a:solidFill>
                <a:latin typeface="Consolas"/>
              </a:rPr>
              <a:t>$supplierTransfer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$supplierTransfer</a:t>
            </a:r>
            <a:r>
              <a:rPr sz="900">
                <a:solidFill>
                  <a:srgbClr val="2D2D2D"/>
                </a:solidFill>
                <a:latin typeface="Consolas"/>
              </a:rPr>
              <a:t>-&gt;fromArray(</a:t>
            </a:r>
            <a:r>
              <a:rPr sz="900">
                <a:solidFill>
                  <a:srgbClr val="19177C"/>
                </a:solidFill>
                <a:latin typeface="Consolas"/>
              </a:rPr>
              <a:t>$supplierEntity</a:t>
            </a:r>
            <a:r>
              <a:rPr sz="900">
                <a:solidFill>
                  <a:srgbClr val="2D2D2D"/>
                </a:solidFill>
                <a:latin typeface="Consolas"/>
              </a:rPr>
              <a:t>-&gt;toArray()</a:t>
            </a:r>
            <a:r>
              <a:rPr sz="900">
                <a:solidFill>
                  <a:srgbClr val="007020"/>
                </a:solidFill>
                <a:latin typeface="Consolas"/>
              </a:rPr>
              <a:t>,</a:t>
            </a:r>
            <a:r>
              <a:rPr sz="900">
                <a:solidFill>
                  <a:srgbClr val="2D2D2D"/>
                </a:solidFill>
                <a:latin typeface="Consolas"/>
              </a:rPr>
              <a:t> </a:t>
            </a:r>
            <a:r>
              <a:rPr sz="900" b="1">
                <a:solidFill>
                  <a:srgbClr val="007020"/>
                </a:solidFill>
                <a:latin typeface="Consolas"/>
              </a:rPr>
              <a:t>true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2.3 Mapper Pattern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Important: Use modifiedToArray() (not toArray() ) when writing to the database. This ensures only explicitly-set properties are written, preventing accidental overwriting of defaults or existing values.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2.4 Propel Schema Conventions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&lt;database</a:t>
            </a:r>
            <a:r>
              <a:rPr sz="900">
                <a:solidFill>
                  <a:srgbClr val="007020"/>
                </a:solidFill>
                <a:latin typeface="Consolas"/>
              </a:rPr>
              <a:t> name=</a:t>
            </a:r>
            <a:r>
              <a:rPr sz="900">
                <a:solidFill>
                  <a:srgbClr val="4070A0"/>
                </a:solidFill>
                <a:latin typeface="Consolas"/>
              </a:rPr>
              <a:t>"zed"</a:t>
            </a:r>
          </a:p>
          <a:p>
            <a:pPr>
              <a:spcBef>
                <a:spcPts val="0"/>
              </a:spcBef>
              <a:spcAft>
                <a:spcPts val="0"/>
              </a:spcAft>
            </a:pPr>
            <a:r>
              <a:rPr sz="900">
                <a:solidFill>
                  <a:srgbClr val="007020"/>
                </a:solidFill>
                <a:latin typeface="Consolas"/>
              </a:rPr>
              <a:t>          namespace=</a:t>
            </a:r>
            <a:r>
              <a:rPr sz="900">
                <a:solidFill>
                  <a:srgbClr val="4070A0"/>
                </a:solidFill>
                <a:latin typeface="Consolas"/>
              </a:rPr>
              <a:t>"Orm\Zed\ContactRequest\Persistence"</a:t>
            </a:r>
          </a:p>
          <a:p>
            <a:pPr>
              <a:spcBef>
                <a:spcPts val="0"/>
              </a:spcBef>
              <a:spcAft>
                <a:spcPts val="0"/>
              </a:spcAft>
            </a:pPr>
            <a:r>
              <a:rPr sz="900">
                <a:solidFill>
                  <a:srgbClr val="007020"/>
                </a:solidFill>
                <a:latin typeface="Consolas"/>
              </a:rPr>
              <a:t>          package=</a:t>
            </a:r>
            <a:r>
              <a:rPr sz="900">
                <a:solidFill>
                  <a:srgbClr val="4070A0"/>
                </a:solidFill>
                <a:latin typeface="Consolas"/>
              </a:rPr>
              <a:t>"src.Orm.Zed.ContactRequest.Persistence"</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&lt;table</a:t>
            </a:r>
            <a:r>
              <a:rPr sz="900">
                <a:solidFill>
                  <a:srgbClr val="007020"/>
                </a:solidFill>
                <a:latin typeface="Consolas"/>
              </a:rPr>
              <a:t> name=</a:t>
            </a:r>
            <a:r>
              <a:rPr sz="900">
                <a:solidFill>
                  <a:srgbClr val="4070A0"/>
                </a:solidFill>
                <a:latin typeface="Consolas"/>
              </a:rPr>
              <a:t>"pyz_contact_request"</a:t>
            </a:r>
            <a:r>
              <a:rPr sz="900">
                <a:solidFill>
                  <a:srgbClr val="007020"/>
                </a:solidFill>
                <a:latin typeface="Consolas"/>
              </a:rPr>
              <a:t> idMethod=</a:t>
            </a:r>
            <a:r>
              <a:rPr sz="900">
                <a:solidFill>
                  <a:srgbClr val="4070A0"/>
                </a:solidFill>
                <a:latin typeface="Consolas"/>
              </a:rPr>
              <a:t>"native"</a:t>
            </a:r>
            <a:r>
              <a:rPr sz="900">
                <a:solidFill>
                  <a:srgbClr val="007020"/>
                </a:solidFill>
                <a:latin typeface="Consolas"/>
              </a:rPr>
              <a:t> allowPkInsert=</a:t>
            </a:r>
            <a:r>
              <a:rPr sz="900">
                <a:solidFill>
                  <a:srgbClr val="4070A0"/>
                </a:solidFill>
                <a:latin typeface="Consolas"/>
              </a:rPr>
              <a:t>"true"</a:t>
            </a:r>
            <a:r>
              <a:rPr sz="900">
                <a:solidFill>
                  <a:srgbClr val="007020"/>
                </a:solidFill>
                <a:latin typeface="Consolas"/>
              </a:rPr>
              <a:t> phpName=</a:t>
            </a:r>
            <a:r>
              <a:rPr sz="900">
                <a:solidFill>
                  <a:srgbClr val="4070A0"/>
                </a:solidFill>
                <a:latin typeface="Consolas"/>
              </a:rPr>
              <a:t>"PyzContactRequest"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007020"/>
                </a:solidFill>
                <a:latin typeface="Consolas"/>
              </a:rPr>
              <a:t> name=</a:t>
            </a:r>
            <a:r>
              <a:rPr sz="900">
                <a:solidFill>
                  <a:srgbClr val="4070A0"/>
                </a:solidFill>
                <a:latin typeface="Consolas"/>
              </a:rPr>
              <a:t>"id_contact_request"</a:t>
            </a:r>
            <a:r>
              <a:rPr sz="900">
                <a:solidFill>
                  <a:srgbClr val="007020"/>
                </a:solidFill>
                <a:latin typeface="Consolas"/>
              </a:rPr>
              <a:t> required=</a:t>
            </a:r>
            <a:r>
              <a:rPr sz="900">
                <a:solidFill>
                  <a:srgbClr val="4070A0"/>
                </a:solidFill>
                <a:latin typeface="Consolas"/>
              </a:rPr>
              <a:t>"true"</a:t>
            </a:r>
            <a:r>
              <a:rPr sz="900">
                <a:solidFill>
                  <a:srgbClr val="007020"/>
                </a:solidFill>
                <a:latin typeface="Consolas"/>
              </a:rPr>
              <a:t> type=</a:t>
            </a:r>
            <a:r>
              <a:rPr sz="900">
                <a:solidFill>
                  <a:srgbClr val="4070A0"/>
                </a:solidFill>
                <a:latin typeface="Consolas"/>
              </a:rPr>
              <a:t>"INTEGER"</a:t>
            </a:r>
            <a:r>
              <a:rPr sz="900">
                <a:solidFill>
                  <a:srgbClr val="007020"/>
                </a:solidFill>
                <a:latin typeface="Consolas"/>
              </a:rPr>
              <a:t> primaryKey=</a:t>
            </a:r>
            <a:r>
              <a:rPr sz="900">
                <a:solidFill>
                  <a:srgbClr val="4070A0"/>
                </a:solidFill>
                <a:latin typeface="Consolas"/>
              </a:rPr>
              <a:t>"true"</a:t>
            </a:r>
            <a:r>
              <a:rPr sz="900">
                <a:solidFill>
                  <a:srgbClr val="007020"/>
                </a:solidFill>
                <a:latin typeface="Consolas"/>
              </a:rPr>
              <a:t> autoIncrement=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007020"/>
                </a:solidFill>
                <a:latin typeface="Consolas"/>
              </a:rPr>
              <a:t> name=</a:t>
            </a:r>
            <a:r>
              <a:rPr sz="900">
                <a:solidFill>
                  <a:srgbClr val="4070A0"/>
                </a:solidFill>
                <a:latin typeface="Consolas"/>
              </a:rPr>
              <a:t>"message"</a:t>
            </a:r>
            <a:r>
              <a:rPr sz="900">
                <a:solidFill>
                  <a:srgbClr val="007020"/>
                </a:solidFill>
                <a:latin typeface="Consolas"/>
              </a:rPr>
              <a:t> required=</a:t>
            </a:r>
            <a:r>
              <a:rPr sz="900">
                <a:solidFill>
                  <a:srgbClr val="4070A0"/>
                </a:solidFill>
                <a:latin typeface="Consolas"/>
              </a:rPr>
              <a:t>"true"</a:t>
            </a:r>
            <a:r>
              <a:rPr sz="900">
                <a:solidFill>
                  <a:srgbClr val="007020"/>
                </a:solidFill>
                <a:latin typeface="Consolas"/>
              </a:rPr>
              <a:t> type=</a:t>
            </a:r>
            <a:r>
              <a:rPr sz="900">
                <a:solidFill>
                  <a:srgbClr val="4070A0"/>
                </a:solidFill>
                <a:latin typeface="Consolas"/>
              </a:rPr>
              <a:t>"VARCHAR"</a:t>
            </a:r>
            <a:r>
              <a:rPr sz="900">
                <a:solidFill>
                  <a:srgbClr val="007020"/>
                </a:solidFill>
                <a:latin typeface="Consolas"/>
              </a:rPr>
              <a:t> size=</a:t>
            </a:r>
            <a:r>
              <a:rPr sz="900">
                <a:solidFill>
                  <a:srgbClr val="4070A0"/>
                </a:solidFill>
                <a:latin typeface="Consolas"/>
              </a:rPr>
              <a:t>"255"</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&lt;unique</a:t>
            </a:r>
            <a:r>
              <a:rPr sz="900">
                <a:solidFill>
                  <a:srgbClr val="007020"/>
                </a:solidFill>
                <a:latin typeface="Consolas"/>
              </a:rPr>
              <a:t> name=</a:t>
            </a:r>
            <a:r>
              <a:rPr sz="900">
                <a:solidFill>
                  <a:srgbClr val="4070A0"/>
                </a:solidFill>
                <a:latin typeface="Consolas"/>
              </a:rPr>
              <a:t>"pyz_contact_request-message"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&lt;unique-column</a:t>
            </a:r>
            <a:r>
              <a:rPr sz="900">
                <a:solidFill>
                  <a:srgbClr val="007020"/>
                </a:solidFill>
                <a:latin typeface="Consolas"/>
              </a:rPr>
              <a:t> name=</a:t>
            </a:r>
            <a:r>
              <a:rPr sz="900">
                <a:solidFill>
                  <a:srgbClr val="4070A0"/>
                </a:solidFill>
                <a:latin typeface="Consolas"/>
              </a:rPr>
              <a:t>"message"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&lt;/unique&gt;</a:t>
            </a:r>
          </a:p>
          <a:p>
            <a:pPr>
              <a:spcBef>
                <a:spcPts val="0"/>
              </a:spcBef>
              <a:spcAft>
                <a:spcPts val="0"/>
              </a:spcAft>
            </a:pPr>
            <a:r>
              <a:rPr sz="900">
                <a:solidFill>
                  <a:srgbClr val="2D2D2D"/>
                </a:solidFill>
                <a:latin typeface="Consolas"/>
              </a:rPr>
              <a:t>        </a:t>
            </a:r>
            <a:r>
              <a:rPr sz="900" b="1">
                <a:solidFill>
                  <a:srgbClr val="007020"/>
                </a:solidFill>
                <a:latin typeface="Consolas"/>
              </a:rPr>
              <a:t>&lt;id-method-parameter</a:t>
            </a:r>
            <a:r>
              <a:rPr sz="900">
                <a:solidFill>
                  <a:srgbClr val="007020"/>
                </a:solidFill>
                <a:latin typeface="Consolas"/>
              </a:rPr>
              <a:t> value=</a:t>
            </a:r>
            <a:r>
              <a:rPr sz="900">
                <a:solidFill>
                  <a:srgbClr val="4070A0"/>
                </a:solidFill>
                <a:latin typeface="Consolas"/>
              </a:rPr>
              <a:t>"pyz_contact_request_pk_seq"</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&lt;/table&gt;</a:t>
            </a:r>
          </a:p>
          <a:p>
            <a:pPr>
              <a:spcBef>
                <a:spcPts val="0"/>
              </a:spcBef>
              <a:spcAft>
                <a:spcPts val="0"/>
              </a:spcAft>
            </a:pPr>
            <a:r>
              <a:rPr sz="900" b="1">
                <a:solidFill>
                  <a:srgbClr val="007020"/>
                </a:solidFill>
                <a:latin typeface="Consolas"/>
              </a:rPr>
              <a:t>&lt;/database&gt;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2.4 Propel Schema Conventions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Conventions: - Project-level tables use pyz_ prefix (Spryker core uses spy_ ) - PHP class name ( phpName ) uses PascalCase prefixed with Pyz - Generated ORM classes land in Orm\Zed\{Module}\Persistence\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Transfer Objects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3.1 Transfer XML Definition</a:t>
            </a:r>
          </a:p>
          <a:p>
            <a:pPr>
              <a:spcAft>
                <a:spcPts val="800"/>
              </a:spcAft>
              <a:defRPr sz="1600">
                <a:solidFill>
                  <a:srgbClr val="1A1A1A"/>
                </a:solidFill>
              </a:defRPr>
            </a:pPr>
            <a:r>
              <a:t>Transfers live in Shared/{Module}/Transfer/*.transfer.xml and are generated into Generated\Shared\Transfer\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Transfer Objects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&lt;transfers</a:t>
            </a:r>
            <a:r>
              <a:rPr sz="900">
                <a:solidFill>
                  <a:srgbClr val="007020"/>
                </a:solidFill>
                <a:latin typeface="Consolas"/>
              </a:rPr>
              <a:t> xmlns=</a:t>
            </a:r>
            <a:r>
              <a:rPr sz="900">
                <a:solidFill>
                  <a:srgbClr val="4070A0"/>
                </a:solidFill>
                <a:latin typeface="Consolas"/>
              </a:rPr>
              <a:t>"spryker:transfer-01"</a:t>
            </a:r>
          </a:p>
          <a:p>
            <a:pPr>
              <a:spcBef>
                <a:spcPts val="0"/>
              </a:spcBef>
              <a:spcAft>
                <a:spcPts val="0"/>
              </a:spcAft>
            </a:pPr>
            <a:r>
              <a:rPr sz="900">
                <a:solidFill>
                  <a:srgbClr val="007020"/>
                </a:solidFill>
                <a:latin typeface="Consolas"/>
              </a:rPr>
              <a:t>           xmlns:xsi=</a:t>
            </a:r>
            <a:r>
              <a:rPr sz="900">
                <a:solidFill>
                  <a:srgbClr val="4070A0"/>
                </a:solidFill>
                <a:latin typeface="Consolas"/>
              </a:rPr>
              <a:t>"http://www.w3.org/2001/XMLSchema-instance"</a:t>
            </a:r>
          </a:p>
          <a:p>
            <a:pPr>
              <a:spcBef>
                <a:spcPts val="0"/>
              </a:spcBef>
              <a:spcAft>
                <a:spcPts val="0"/>
              </a:spcAft>
            </a:pPr>
            <a:r>
              <a:rPr sz="900">
                <a:solidFill>
                  <a:srgbClr val="007020"/>
                </a:solidFill>
                <a:latin typeface="Consolas"/>
              </a:rPr>
              <a:t>           xsi:schemaLocation=</a:t>
            </a:r>
            <a:r>
              <a:rPr sz="900">
                <a:solidFill>
                  <a:srgbClr val="4070A0"/>
                </a:solidFill>
                <a:latin typeface="Consolas"/>
              </a:rPr>
              <a:t>"spryker:transfer-01 http://static.spryker.com/transfer-01.xsd"</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&lt;!-- Core entity transfer --&gt;</a:t>
            </a:r>
          </a:p>
          <a:p>
            <a:pPr>
              <a:spcBef>
                <a:spcPts val="0"/>
              </a:spcBef>
              <a:spcAft>
                <a:spcPts val="0"/>
              </a:spcAft>
            </a:pPr>
            <a:r>
              <a:rPr sz="900">
                <a:solidFill>
                  <a:srgbClr val="2D2D2D"/>
                </a:solidFill>
                <a:latin typeface="Consolas"/>
              </a:rPr>
              <a:t>    </a:t>
            </a: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"ContactRequest"</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"idContactRequest"</a:t>
            </a:r>
            <a:r>
              <a:rPr sz="900">
                <a:solidFill>
                  <a:srgbClr val="007020"/>
                </a:solidFill>
                <a:latin typeface="Consolas"/>
              </a:rPr>
              <a:t> type=</a:t>
            </a:r>
            <a:r>
              <a:rPr sz="900">
                <a:solidFill>
                  <a:srgbClr val="4070A0"/>
                </a:solidFill>
                <a:latin typeface="Consolas"/>
              </a:rPr>
              <a:t>"int"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"message"</a:t>
            </a:r>
            <a:r>
              <a:rPr sz="900">
                <a:solidFill>
                  <a:srgbClr val="007020"/>
                </a:solidFill>
                <a:latin typeface="Consolas"/>
              </a:rPr>
              <a:t> type=</a:t>
            </a:r>
            <a:r>
              <a:rPr sz="900">
                <a:solidFill>
                  <a:srgbClr val="4070A0"/>
                </a:solidFill>
                <a:latin typeface="Consolas"/>
              </a:rPr>
              <a:t>"string"</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&lt;/transfer&gt;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&lt;!-- Criteria transfer: used for search/filter parameters --&gt;</a:t>
            </a:r>
          </a:p>
          <a:p>
            <a:pPr>
              <a:spcBef>
                <a:spcPts val="0"/>
              </a:spcBef>
              <a:spcAft>
                <a:spcPts val="0"/>
              </a:spcAft>
            </a:pPr>
            <a:r>
              <a:rPr sz="900">
                <a:solidFill>
                  <a:srgbClr val="2D2D2D"/>
                </a:solidFill>
                <a:latin typeface="Consolas"/>
              </a:rPr>
              <a:t>    </a:t>
            </a: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"ContactRequestCriteria"</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"idContactRequest"</a:t>
            </a:r>
            <a:r>
              <a:rPr sz="900">
                <a:solidFill>
                  <a:srgbClr val="007020"/>
                </a:solidFill>
                <a:latin typeface="Consolas"/>
              </a:rPr>
              <a:t> type=</a:t>
            </a:r>
            <a:r>
              <a:rPr sz="900">
                <a:solidFill>
                  <a:srgbClr val="4070A0"/>
                </a:solidFill>
                <a:latin typeface="Consolas"/>
              </a:rPr>
              <a:t>"int"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"message"</a:t>
            </a:r>
            <a:r>
              <a:rPr sz="900">
                <a:solidFill>
                  <a:srgbClr val="007020"/>
                </a:solidFill>
                <a:latin typeface="Consolas"/>
              </a:rPr>
              <a:t> type=</a:t>
            </a:r>
            <a:r>
              <a:rPr sz="900">
                <a:solidFill>
                  <a:srgbClr val="4070A0"/>
                </a:solidFill>
                <a:latin typeface="Consolas"/>
              </a:rPr>
              <a:t>"string"</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&lt;/transfer&gt;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&lt;!-- Response transfer: wraps results with success flag --&gt;</a:t>
            </a:r>
          </a:p>
          <a:p>
            <a:pPr>
              <a:spcBef>
                <a:spcPts val="0"/>
              </a:spcBef>
              <a:spcAft>
                <a:spcPts val="0"/>
              </a:spcAft>
            </a:pPr>
            <a:r>
              <a:rPr sz="900">
                <a:solidFill>
                  <a:srgbClr val="2D2D2D"/>
                </a:solidFill>
                <a:latin typeface="Consolas"/>
              </a:rPr>
              <a:t>    </a:t>
            </a: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"ContactRequestResponse"</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Transfer Objects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"contactRequest"</a:t>
            </a:r>
            <a:r>
              <a:rPr sz="900">
                <a:solidFill>
                  <a:srgbClr val="007020"/>
                </a:solidFill>
                <a:latin typeface="Consolas"/>
              </a:rPr>
              <a:t> type=</a:t>
            </a:r>
            <a:r>
              <a:rPr sz="900">
                <a:solidFill>
                  <a:srgbClr val="4070A0"/>
                </a:solidFill>
                <a:latin typeface="Consolas"/>
              </a:rPr>
              <a:t>"ContactRequest"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"isSuccessful"</a:t>
            </a:r>
            <a:r>
              <a:rPr sz="900">
                <a:solidFill>
                  <a:srgbClr val="007020"/>
                </a:solidFill>
                <a:latin typeface="Consolas"/>
              </a:rPr>
              <a:t> type=</a:t>
            </a:r>
            <a:r>
              <a:rPr sz="900">
                <a:solidFill>
                  <a:srgbClr val="4070A0"/>
                </a:solidFill>
                <a:latin typeface="Consolas"/>
              </a:rPr>
              <a:t>"bool"</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&lt;/transfer&gt;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&lt;!-- Collection transfer: singular names the adder --&gt;</a:t>
            </a:r>
          </a:p>
          <a:p>
            <a:pPr>
              <a:spcBef>
                <a:spcPts val="0"/>
              </a:spcBef>
              <a:spcAft>
                <a:spcPts val="0"/>
              </a:spcAft>
            </a:pPr>
            <a:r>
              <a:rPr sz="900">
                <a:solidFill>
                  <a:srgbClr val="2D2D2D"/>
                </a:solidFill>
                <a:latin typeface="Consolas"/>
              </a:rPr>
              <a:t>    </a:t>
            </a: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"ContactRequestCollection"</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"contactRequests"</a:t>
            </a:r>
            <a:r>
              <a:rPr sz="900">
                <a:solidFill>
                  <a:srgbClr val="007020"/>
                </a:solidFill>
                <a:latin typeface="Consolas"/>
              </a:rPr>
              <a:t> type=</a:t>
            </a:r>
            <a:r>
              <a:rPr sz="900">
                <a:solidFill>
                  <a:srgbClr val="4070A0"/>
                </a:solidFill>
                <a:latin typeface="Consolas"/>
              </a:rPr>
              <a:t>"ContactRequest[]"</a:t>
            </a:r>
            <a:r>
              <a:rPr sz="900">
                <a:solidFill>
                  <a:srgbClr val="007020"/>
                </a:solidFill>
                <a:latin typeface="Consolas"/>
              </a:rPr>
              <a:t> singular=</a:t>
            </a:r>
            <a:r>
              <a:rPr sz="900">
                <a:solidFill>
                  <a:srgbClr val="4070A0"/>
                </a:solidFill>
                <a:latin typeface="Consolas"/>
              </a:rPr>
              <a:t>"contactRequest"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&lt;/transfer&gt;</a:t>
            </a:r>
          </a:p>
          <a:p>
            <a:pPr>
              <a:spcBef>
                <a:spcPts val="0"/>
              </a:spcBef>
              <a:spcAft>
                <a:spcPts val="0"/>
              </a:spcAft>
            </a:pPr>
            <a:r>
              <a:rPr sz="900" b="1">
                <a:solidFill>
                  <a:srgbClr val="007020"/>
                </a:solidFill>
                <a:latin typeface="Consolas"/>
              </a:rPr>
              <a:t>&lt;/transfers&gt;</a:t>
            </a:r>
          </a:p>
          <a:p>
            <a:pPr>
              <a:spcAft>
                <a:spcPts val="800"/>
              </a:spcAft>
              <a:defRPr sz="1600">
                <a:solidFill>
                  <a:srgbClr val="1A1A1A"/>
                </a:solidFill>
              </a:defRPr>
            </a:pPr>
            <a:r>
              <a:t>For collections of IDs, use the singular attribute:</a:t>
            </a:r>
          </a:p>
          <a:p>
            <a:pPr>
              <a:spcBef>
                <a:spcPts val="0"/>
              </a:spcBef>
              <a:spcAft>
                <a:spcPts val="0"/>
              </a:spcAft>
            </a:pP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"SupplierCriteria"</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"idsSupplier"</a:t>
            </a:r>
            <a:r>
              <a:rPr sz="900">
                <a:solidFill>
                  <a:srgbClr val="007020"/>
                </a:solidFill>
                <a:latin typeface="Consolas"/>
              </a:rPr>
              <a:t> singular=</a:t>
            </a:r>
            <a:r>
              <a:rPr sz="900">
                <a:solidFill>
                  <a:srgbClr val="4070A0"/>
                </a:solidFill>
                <a:latin typeface="Consolas"/>
              </a:rPr>
              <a:t>"idSupplier"</a:t>
            </a:r>
            <a:r>
              <a:rPr sz="900">
                <a:solidFill>
                  <a:srgbClr val="007020"/>
                </a:solidFill>
                <a:latin typeface="Consolas"/>
              </a:rPr>
              <a:t> type=</a:t>
            </a:r>
            <a:r>
              <a:rPr sz="900">
                <a:solidFill>
                  <a:srgbClr val="4070A0"/>
                </a:solidFill>
                <a:latin typeface="Consolas"/>
              </a:rPr>
              <a:t>"array"</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"idSupplier"</a:t>
            </a:r>
            <a:r>
              <a:rPr sz="900">
                <a:solidFill>
                  <a:srgbClr val="007020"/>
                </a:solidFill>
                <a:latin typeface="Consolas"/>
              </a:rPr>
              <a:t> type=</a:t>
            </a:r>
            <a:r>
              <a:rPr sz="900">
                <a:solidFill>
                  <a:srgbClr val="4070A0"/>
                </a:solidFill>
                <a:latin typeface="Consolas"/>
              </a:rPr>
              <a:t>"int"</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"name"</a:t>
            </a:r>
            <a:r>
              <a:rPr sz="900">
                <a:solidFill>
                  <a:srgbClr val="007020"/>
                </a:solidFill>
                <a:latin typeface="Consolas"/>
              </a:rPr>
              <a:t> type=</a:t>
            </a:r>
            <a:r>
              <a:rPr sz="900">
                <a:solidFill>
                  <a:srgbClr val="4070A0"/>
                </a:solidFill>
                <a:latin typeface="Consolas"/>
              </a:rPr>
              <a:t>"string"</a:t>
            </a:r>
            <a:r>
              <a:rPr sz="900" b="1">
                <a:solidFill>
                  <a:srgbClr val="007020"/>
                </a:solidFill>
                <a:latin typeface="Consolas"/>
              </a:rPr>
              <a:t>/&gt;</a:t>
            </a:r>
          </a:p>
          <a:p>
            <a:pPr>
              <a:spcBef>
                <a:spcPts val="0"/>
              </a:spcBef>
              <a:spcAft>
                <a:spcPts val="0"/>
              </a:spcAft>
            </a:pPr>
            <a:r>
              <a:rPr sz="900" b="1">
                <a:solidFill>
                  <a:srgbClr val="007020"/>
                </a:solidFill>
                <a:latin typeface="Consolas"/>
              </a:rPr>
              <a:t>&lt;/transfer&gt;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3.1.1 strict="true" : Always Set It on New Transfers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strict controls whether the generator puts native PHP types on the accessors it writes. Compare the same property with strict off and on:</a:t>
            </a:r>
          </a:p>
          <a:p>
            <a:pPr>
              <a:spcAft>
                <a:spcPts val="100"/>
              </a:spcAft>
              <a:defRPr sz="1000">
                <a:solidFill>
                  <a:srgbClr val="1A1A1A"/>
                </a:solidFill>
                <a:latin typeface="Consolas"/>
              </a:defRPr>
            </a:pPr>
            <a:r>
              <a:t>strict off                            strict="true"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Setter             setMessage($message)                  setMessage(?string $message = null)            </a:t>
            </a:r>
          </a:p>
          <a:p>
            <a:pPr>
              <a:spcAft>
                <a:spcPts val="100"/>
              </a:spcAft>
              <a:defRPr sz="1000">
                <a:solidFill>
                  <a:srgbClr val="1A1A1A"/>
                </a:solidFill>
                <a:latin typeface="Consolas"/>
              </a:defRPr>
            </a:pPr>
            <a:r>
              <a:t>Getter             getMessage()                          getMessage(): ?string                          </a:t>
            </a:r>
          </a:p>
          <a:p>
            <a:pPr>
              <a:spcAft>
                <a:spcPts val="100"/>
              </a:spcAft>
              <a:defRPr sz="1000">
                <a:solidFill>
                  <a:srgbClr val="1A1A1A"/>
                </a:solidFill>
                <a:latin typeface="Consolas"/>
              </a:defRPr>
            </a:pPr>
            <a:r>
              <a:t>OrFail getter      getMessageOrFail()                    getMessageOrFail(): string                     </a:t>
            </a:r>
          </a:p>
          <a:p>
            <a:pPr>
              <a:spcAft>
                <a:spcPts val="100"/>
              </a:spcAft>
              <a:defRPr sz="1000">
                <a:solidFill>
                  <a:srgbClr val="1A1A1A"/>
                </a:solidFill>
                <a:latin typeface="Consolas"/>
              </a:defRPr>
            </a:pPr>
            <a:r>
              <a:t>Collection getter  getContactRequests() may return null  getContactRequests(): ArrayObject , never null </a:t>
            </a:r>
          </a:p>
          <a:p>
            <a:pPr>
              <a:spcAft>
                <a:spcPts val="100"/>
              </a:spcAft>
              <a:defRPr sz="1000">
                <a:solidFill>
                  <a:srgbClr val="1A1A1A"/>
                </a:solidFill>
                <a:latin typeface="Consolas"/>
              </a:defRPr>
            </a:pPr>
            <a:r>
              <a:t>Collection adder   addContactRequest($item)              addContactRequest(ContactRequestTransfer $item)</a:t>
            </a:r>
          </a:p>
          <a:p>
            <a:pPr>
              <a:spcAft>
                <a:spcPts val="800"/>
              </a:spcAft>
              <a:defRPr sz="1600">
                <a:solidFill>
                  <a:srgbClr val="1A1A1A"/>
                </a:solidFill>
              </a:defRPr>
            </a:pPr>
            <a:r>
              <a:t>Without types, a wrong value is accepted at the setter and only fails much later - inside a Propel query, in a Twig template, or not at all, because it was silently written to the database. With types PHP throws a TypeError on the exact line that is wrong. The *OrFail() methods also become genuinely non-nullable, which is what lets PHPStan and the IDE drop the ?? '' guards.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3.1.1 strict="true" : Always Set It on New Transfers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Rules of thumb:</a:t>
            </a:r>
          </a:p>
          <a:p>
            <a:pPr>
              <a:spcAft>
                <a:spcPts val="400"/>
              </a:spcAft>
              <a:defRPr sz="1500">
                <a:solidFill>
                  <a:srgbClr val="1A1A1A"/>
                </a:solidFill>
              </a:defRPr>
            </a:pPr>
            <a:r>
              <a:t>• Put strict="true" on the &lt;transfer&gt; element - it applies to every property of that transfer. It also works on a single &lt;property&gt; when migrating an old transfer gradually.</a:t>
            </a:r>
          </a:p>
          <a:p>
            <a:pPr>
              <a:spcAft>
                <a:spcPts val="400"/>
              </a:spcAft>
              <a:defRPr sz="1500">
                <a:solidFill>
                  <a:srgbClr val="1A1A1A"/>
                </a:solidFill>
              </a:defRPr>
            </a:pPr>
            <a:r>
              <a:t>• It is opt-in per transfer because enabling it on an existing transfer can break callers that were passing a loose type. New transfers have no such legacy, so switch it on from the start.</a:t>
            </a:r>
          </a:p>
          <a:p>
            <a:pPr>
              <a:spcAft>
                <a:spcPts val="400"/>
              </a:spcAft>
              <a:defRPr sz="1500">
                <a:solidFill>
                  <a:srgbClr val="1A1A1A"/>
                </a:solidFill>
              </a:defRPr>
            </a:pPr>
            <a:r>
              <a:t>• A strict associative array property requires singular ; without it transfer:generate aborts with InvalidSingularPropertyNameException . For ordinary collections singular is optional but nearly always wanted, otherwise the adder is plural ( addContactRequests()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3.2 Naming Conventions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Purpose                   Convention                  Example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Core entity               {Entity}Transfer            SupplierTransfer              </a:t>
            </a:r>
          </a:p>
          <a:p>
            <a:pPr>
              <a:spcAft>
                <a:spcPts val="100"/>
              </a:spcAft>
              <a:defRPr sz="1000">
                <a:solidFill>
                  <a:srgbClr val="1A1A1A"/>
                </a:solidFill>
                <a:latin typeface="Consolas"/>
              </a:defRPr>
            </a:pPr>
            <a:r>
              <a:t>Search/filter parameters  {Entity}CriteriaTransfer    ContactRequestCriteriaTransfer</a:t>
            </a:r>
          </a:p>
          <a:p>
            <a:pPr>
              <a:spcAft>
                <a:spcPts val="100"/>
              </a:spcAft>
              <a:defRPr sz="1000">
                <a:solidFill>
                  <a:srgbClr val="1A1A1A"/>
                </a:solidFill>
                <a:latin typeface="Consolas"/>
              </a:defRPr>
            </a:pPr>
            <a:r>
              <a:t>Wrapping a result         {Entity}ResponseTransfer    ContactRequestResponseTransfer</a:t>
            </a:r>
          </a:p>
          <a:p>
            <a:pPr>
              <a:spcAft>
                <a:spcPts val="100"/>
              </a:spcAft>
              <a:defRPr sz="1000">
                <a:solidFill>
                  <a:srgbClr val="1A1A1A"/>
                </a:solidFill>
                <a:latin typeface="Consolas"/>
              </a:defRPr>
            </a:pPr>
            <a:r>
              <a:t>Collection container      {Entity}CollectionTransfer  SupplierCollectionTransfer    </a:t>
            </a:r>
          </a:p>
          <a:p>
            <a:pPr>
              <a:spcAft>
                <a:spcPts val="100"/>
              </a:spcAft>
              <a:defRPr sz="1000">
                <a:solidFill>
                  <a:srgbClr val="1A1A1A"/>
                </a:solidFill>
                <a:latin typeface="Consolas"/>
              </a:defRPr>
            </a:pPr>
            <a:r>
              <a:t>Primary key property      id{Entity}                  idSupplier                    </a:t>
            </a:r>
          </a:p>
          <a:p>
            <a:pPr>
              <a:spcAft>
                <a:spcPts val="100"/>
              </a:spcAft>
              <a:defRPr sz="1000">
                <a:solidFill>
                  <a:srgbClr val="1A1A1A"/>
                </a:solidFill>
                <a:latin typeface="Consolas"/>
              </a:defRPr>
            </a:pPr>
            <a:r>
              <a:t>Foreign key property      fk{Entity}                  fkSupplier                    </a:t>
            </a:r>
          </a:p>
          <a:p>
            <a:pPr>
              <a:spcAft>
                <a:spcPts val="100"/>
              </a:spcAft>
              <a:defRPr sz="1000">
                <a:solidFill>
                  <a:srgbClr val="1A1A1A"/>
                </a:solidFill>
                <a:latin typeface="Consolas"/>
              </a:defRPr>
            </a:pPr>
            <a:r>
              <a:t>Array of IDs              ids{Entity} with singular   idsSupplier</a:t>
            </a:r>
          </a:p>
          <a:p>
            <a:pPr>
              <a:spcBef>
                <a:spcPts val="1200"/>
              </a:spcBef>
              <a:spcAft>
                <a:spcPts val="600"/>
              </a:spcAft>
              <a:defRPr sz="2000" b="1">
                <a:solidFill>
                  <a:srgbClr val="1A1A1A"/>
                </a:solidFill>
              </a:defRPr>
            </a:pPr>
            <a:r>
              <a:t>3.3 Key Methods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3.2 Naming Conventions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Method                              Purpose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$transfer-&gt;toArray()                Returns ALL properties, including nulls                             </a:t>
            </a:r>
          </a:p>
          <a:p>
            <a:pPr>
              <a:spcAft>
                <a:spcPts val="100"/>
              </a:spcAft>
              <a:defRPr sz="1000">
                <a:solidFill>
                  <a:srgbClr val="1A1A1A"/>
                </a:solidFill>
                <a:latin typeface="Consolas"/>
              </a:defRPr>
            </a:pPr>
            <a:r>
              <a:t>$transfer-&gt;modifiedToArray()        Returns ONLY explicitly-set properties - use for DB writes          </a:t>
            </a:r>
          </a:p>
          <a:p>
            <a:pPr>
              <a:spcAft>
                <a:spcPts val="100"/>
              </a:spcAft>
              <a:defRPr sz="1000">
                <a:solidFill>
                  <a:srgbClr val="1A1A1A"/>
                </a:solidFill>
                <a:latin typeface="Consolas"/>
              </a:defRPr>
            </a:pPr>
            <a:r>
              <a:t>$transfer-&gt;fromArray($array, true)  Populate from array, ignore missing keys (safe for Entity-&gt;Transfer)</a:t>
            </a:r>
          </a:p>
          <a:p>
            <a:pPr>
              <a:spcAft>
                <a:spcPts val="100"/>
              </a:spcAft>
              <a:defRPr sz="1000">
                <a:solidFill>
                  <a:srgbClr val="1A1A1A"/>
                </a:solidFill>
                <a:latin typeface="Consolas"/>
              </a:defRPr>
            </a:pPr>
            <a:r>
              <a:t>$transfer-&gt;requireField()           Throws exception if the field is null - use for validation          </a:t>
            </a:r>
          </a:p>
          <a:p>
            <a:pPr>
              <a:spcAft>
                <a:spcPts val="100"/>
              </a:spcAft>
              <a:defRPr sz="1000">
                <a:solidFill>
                  <a:srgbClr val="1A1A1A"/>
                </a:solidFill>
                <a:latin typeface="Consolas"/>
              </a:defRPr>
            </a:pPr>
            <a:r>
              <a:t>$transfer-&gt;getFieldOrFail()         Returns value or throws exception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 Business Layer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4.1 Facade: The Module’s Public API</a:t>
            </a:r>
          </a:p>
          <a:p>
            <a:pPr>
              <a:spcAft>
                <a:spcPts val="800"/>
              </a:spcAft>
              <a:defRPr sz="1600">
                <a:solidFill>
                  <a:srgbClr val="1A1A1A"/>
                </a:solidFill>
              </a:defRPr>
            </a:pPr>
            <a:r>
              <a:t>The Facade is the only public entry point to a module. It delegates immediately to business objects created by the Factory.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 Business Layer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@method</a:t>
            </a:r>
            <a:r>
              <a:rPr sz="900" i="1">
                <a:solidFill>
                  <a:srgbClr val="60A0B0"/>
                </a:solidFill>
                <a:latin typeface="Consolas"/>
              </a:rPr>
              <a:t> </a:t>
            </a:r>
            <a:r>
              <a:rPr sz="900" b="1" i="1">
                <a:solidFill>
                  <a:srgbClr val="60A0B0"/>
                </a:solidFill>
                <a:latin typeface="Consolas"/>
              </a:rPr>
              <a:t>\SprykerAcademy\Zed\Supplier\Business\SupplierBusinessFactory</a:t>
            </a:r>
            <a:r>
              <a:rPr sz="900" i="1">
                <a:solidFill>
                  <a:srgbClr val="60A0B0"/>
                </a:solidFill>
                <a:latin typeface="Consolas"/>
              </a:rPr>
              <a:t> getFactory()</a:t>
            </a:r>
          </a:p>
          <a:p>
            <a:pPr>
              <a:spcBef>
                <a:spcPts val="0"/>
              </a:spcBef>
              <a:spcAft>
                <a:spcPts val="0"/>
              </a:spcAft>
            </a:pPr>
            <a:r>
              <a:rPr sz="900" i="1">
                <a:solidFill>
                  <a:srgbClr val="60A0B0"/>
                </a:solidFill>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upplierFacade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bstractFacade </a:t>
            </a:r>
            <a:r>
              <a:rPr sz="900" b="1">
                <a:solidFill>
                  <a:srgbClr val="007020"/>
                </a:solidFill>
                <a:latin typeface="Consolas"/>
              </a:rPr>
              <a:t>implements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upplierFacadeInterface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@api</a:t>
            </a:r>
          </a:p>
          <a:p>
            <a:pPr>
              <a:spcBef>
                <a:spcPts val="0"/>
              </a:spcBef>
              <a:spcAft>
                <a:spcPts val="0"/>
              </a:spcAft>
            </a:pPr>
            <a:r>
              <a:rPr sz="900" i="1">
                <a:solidFill>
                  <a:srgbClr val="60A0B0"/>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createSupplier(</a:t>
            </a:r>
            <a:r>
              <a:rPr sz="900">
                <a:solidFill>
                  <a:srgbClr val="880000"/>
                </a:solidFill>
                <a:latin typeface="Consolas"/>
              </a:rPr>
              <a:t>S</a:t>
            </a:r>
            <a:r>
              <a:rPr sz="900">
                <a:solidFill>
                  <a:srgbClr val="2D2D2D"/>
                </a:solidFill>
                <a:latin typeface="Consolas"/>
              </a:rPr>
              <a:t>upplierTransfer </a:t>
            </a:r>
            <a:r>
              <a:rPr sz="900">
                <a:solidFill>
                  <a:srgbClr val="19177C"/>
                </a:solidFill>
                <a:latin typeface="Consolas"/>
              </a:rPr>
              <a:t>$supplierTransfer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-&gt;createSupplierWriter()</a:t>
            </a:r>
          </a:p>
          <a:p>
            <a:pPr>
              <a:spcBef>
                <a:spcPts val="0"/>
              </a:spcBef>
              <a:spcAft>
                <a:spcPts val="0"/>
              </a:spcAft>
            </a:pPr>
            <a:r>
              <a:rPr sz="900">
                <a:solidFill>
                  <a:srgbClr val="2D2D2D"/>
                </a:solidFill>
                <a:latin typeface="Consolas"/>
              </a:rPr>
              <a:t>            -&gt;create(</a:t>
            </a:r>
            <a:r>
              <a:rPr sz="900">
                <a:solidFill>
                  <a:srgbClr val="19177C"/>
                </a:solidFill>
                <a:latin typeface="Consolas"/>
              </a:rPr>
              <a:t>$supplierTransfer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@api</a:t>
            </a:r>
          </a:p>
          <a:p>
            <a:pPr>
              <a:spcBef>
                <a:spcPts val="0"/>
              </a:spcBef>
              <a:spcAft>
                <a:spcPts val="0"/>
              </a:spcAft>
            </a:pPr>
            <a:r>
              <a:rPr sz="900" i="1">
                <a:solidFill>
                  <a:srgbClr val="60A0B0"/>
                </a:solidFill>
                <a:latin typeface="Consolas"/>
              </a:rPr>
              <a: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 Business Layer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getSuppliers(</a:t>
            </a:r>
            <a:r>
              <a:rPr sz="900">
                <a:solidFill>
                  <a:srgbClr val="880000"/>
                </a:solidFill>
                <a:latin typeface="Consolas"/>
              </a:rPr>
              <a:t>S</a:t>
            </a:r>
            <a:r>
              <a:rPr sz="900">
                <a:solidFill>
                  <a:srgbClr val="2D2D2D"/>
                </a:solidFill>
                <a:latin typeface="Consolas"/>
              </a:rPr>
              <a:t>upplierCriteriaTransfer </a:t>
            </a:r>
            <a:r>
              <a:rPr sz="900">
                <a:solidFill>
                  <a:srgbClr val="19177C"/>
                </a:solidFill>
                <a:latin typeface="Consolas"/>
              </a:rPr>
              <a:t>$supplierCriteriaTransfer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-&gt;createSupplierReader()</a:t>
            </a:r>
          </a:p>
          <a:p>
            <a:pPr>
              <a:spcBef>
                <a:spcPts val="0"/>
              </a:spcBef>
              <a:spcAft>
                <a:spcPts val="0"/>
              </a:spcAft>
            </a:pPr>
            <a:r>
              <a:rPr sz="900">
                <a:solidFill>
                  <a:srgbClr val="2D2D2D"/>
                </a:solidFill>
                <a:latin typeface="Consolas"/>
              </a:rPr>
              <a:t>            -&gt;getSuppliers(</a:t>
            </a:r>
            <a:r>
              <a:rPr sz="900">
                <a:solidFill>
                  <a:srgbClr val="19177C"/>
                </a:solidFill>
                <a:latin typeface="Consolas"/>
              </a:rPr>
              <a:t>$supplierCriteriaTransfer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Rules: - Every public method is tagged @api - The Facade contains no logic - only delegation - @method docblocks on the class provide IDE autocomplete for getFactory() , getRepository() , etc.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4.2 BusinessFactory: Wiring Dependencies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Factory creates business objects and injects dependencies. Naming convention: create*() for new instances, get*() for provided dependencies.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4.2 BusinessFactory: Wiring Dependencies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@method</a:t>
            </a:r>
            <a:r>
              <a:rPr sz="900" i="1">
                <a:solidFill>
                  <a:srgbClr val="60A0B0"/>
                </a:solidFill>
                <a:latin typeface="Consolas"/>
              </a:rPr>
              <a:t> </a:t>
            </a:r>
            <a:r>
              <a:rPr sz="900" b="1" i="1">
                <a:solidFill>
                  <a:srgbClr val="60A0B0"/>
                </a:solidFill>
                <a:latin typeface="Consolas"/>
              </a:rPr>
              <a:t>\SprykerAcademy\Zed\Supplier\Persistence\SupplierEntityManagerInterface</a:t>
            </a:r>
            <a:r>
              <a:rPr sz="900" i="1">
                <a:solidFill>
                  <a:srgbClr val="60A0B0"/>
                </a:solidFill>
                <a:latin typeface="Consolas"/>
              </a:rPr>
              <a:t> getEntityManager()</a:t>
            </a:r>
          </a:p>
          <a:p>
            <a:pPr>
              <a:spcBef>
                <a:spcPts val="0"/>
              </a:spcBef>
              <a:spcAft>
                <a:spcPts val="0"/>
              </a:spcAft>
            </a:pPr>
            <a:r>
              <a:rPr sz="900" i="1">
                <a:solidFill>
                  <a:srgbClr val="60A0B0"/>
                </a:solidFill>
                <a:latin typeface="Consolas"/>
              </a:rPr>
              <a:t> * </a:t>
            </a:r>
            <a:r>
              <a:rPr sz="900" b="1" i="1">
                <a:solidFill>
                  <a:srgbClr val="60A0B0"/>
                </a:solidFill>
                <a:latin typeface="Consolas"/>
              </a:rPr>
              <a:t>@method</a:t>
            </a:r>
            <a:r>
              <a:rPr sz="900" i="1">
                <a:solidFill>
                  <a:srgbClr val="60A0B0"/>
                </a:solidFill>
                <a:latin typeface="Consolas"/>
              </a:rPr>
              <a:t> </a:t>
            </a:r>
            <a:r>
              <a:rPr sz="900" b="1" i="1">
                <a:solidFill>
                  <a:srgbClr val="60A0B0"/>
                </a:solidFill>
                <a:latin typeface="Consolas"/>
              </a:rPr>
              <a:t>\SprykerAcademy\Zed\Supplier\Persistence\SupplierRepositoryInterface</a:t>
            </a:r>
            <a:r>
              <a:rPr sz="900" i="1">
                <a:solidFill>
                  <a:srgbClr val="60A0B0"/>
                </a:solidFill>
                <a:latin typeface="Consolas"/>
              </a:rPr>
              <a:t> getRepository()</a:t>
            </a:r>
          </a:p>
          <a:p>
            <a:pPr>
              <a:spcBef>
                <a:spcPts val="0"/>
              </a:spcBef>
              <a:spcAft>
                <a:spcPts val="0"/>
              </a:spcAft>
            </a:pPr>
            <a:r>
              <a:rPr sz="900" i="1">
                <a:solidFill>
                  <a:srgbClr val="60A0B0"/>
                </a:solidFill>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upplierBusinessFactory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bstractBusinessFactory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createSupplierWriter()</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upplierWriter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upplierWriter(</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-&gt;getEntityManager()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createSupplierReader()</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upplierReader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upplierReader(</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-&gt;getRepository()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4.2 BusinessFactory: Wiring Dependencies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4.3 Reader/Writer Separation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Reader classes only call the Repository. Writer classes only call the EntityManager. This makes testing trivial and prevents mutations in read paths.</a:t>
            </a:r>
          </a:p>
          <a:p>
            <a:pPr>
              <a:spcBef>
                <a:spcPts val="0"/>
              </a:spcBef>
              <a:spcAft>
                <a:spcPts val="0"/>
              </a:spcAft>
            </a:pPr>
            <a:r>
              <a:rPr sz="900">
                <a:solidFill>
                  <a:srgbClr val="2D2D2D"/>
                </a:solidFill>
                <a:latin typeface="Consolas"/>
              </a:rPr>
              <a:t>readonly </a:t>
            </a: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upplierReader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2D2D2D"/>
                </a:solidFill>
                <a:latin typeface="Consolas"/>
              </a:rPr>
              <a:t>__construct</a:t>
            </a:r>
            <a:r>
              <a:rPr sz="900">
                <a:solidFill>
                  <a:srgbClr val="2D2D2D"/>
                </a:solidFill>
                <a:latin typeface="Consolas"/>
              </a:rPr>
              <a:t>(</a:t>
            </a:r>
            <a:r>
              <a:rPr sz="900" b="1">
                <a:solidFill>
                  <a:srgbClr val="007020"/>
                </a:solidFill>
                <a:latin typeface="Consolas"/>
              </a:rPr>
              <a:t>protected</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upplierRepositoryInterface </a:t>
            </a:r>
            <a:r>
              <a:rPr sz="900">
                <a:solidFill>
                  <a:srgbClr val="19177C"/>
                </a:solidFill>
                <a:latin typeface="Consolas"/>
              </a:rPr>
              <a:t>$supplierRepository</a:t>
            </a:r>
            <a:r>
              <a:rPr sz="900">
                <a:solidFill>
                  <a:srgbClr val="2D2D2D"/>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getSuppliers(</a:t>
            </a:r>
            <a:r>
              <a:rPr sz="900">
                <a:solidFill>
                  <a:srgbClr val="880000"/>
                </a:solidFill>
                <a:latin typeface="Consolas"/>
              </a:rPr>
              <a:t>S</a:t>
            </a:r>
            <a:r>
              <a:rPr sz="900">
                <a:solidFill>
                  <a:srgbClr val="2D2D2D"/>
                </a:solidFill>
                <a:latin typeface="Consolas"/>
              </a:rPr>
              <a:t>upplierCriteriaTransfer </a:t>
            </a:r>
            <a:r>
              <a:rPr sz="900">
                <a:solidFill>
                  <a:srgbClr val="19177C"/>
                </a:solidFill>
                <a:latin typeface="Consolas"/>
              </a:rPr>
              <a:t>$supplierCriteriaTransfer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-&gt;supplierRepository-&gt;getSuppliers(</a:t>
            </a:r>
            <a:r>
              <a:rPr sz="900">
                <a:solidFill>
                  <a:srgbClr val="19177C"/>
                </a:solidFill>
                <a:latin typeface="Consolas"/>
              </a:rPr>
              <a:t>$supplierCriteriaTransfer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4.3 Reader/Writer Separation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readonly </a:t>
            </a: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upplierWriter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2D2D2D"/>
                </a:solidFill>
                <a:latin typeface="Consolas"/>
              </a:rPr>
              <a:t>__construct</a:t>
            </a:r>
            <a:r>
              <a:rPr sz="900">
                <a:solidFill>
                  <a:srgbClr val="2D2D2D"/>
                </a:solidFill>
                <a:latin typeface="Consolas"/>
              </a:rPr>
              <a:t>(</a:t>
            </a:r>
            <a:r>
              <a:rPr sz="900" b="1">
                <a:solidFill>
                  <a:srgbClr val="007020"/>
                </a:solidFill>
                <a:latin typeface="Consolas"/>
              </a:rPr>
              <a:t>protected</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upplierEntityManagerInterface </a:t>
            </a:r>
            <a:r>
              <a:rPr sz="900">
                <a:solidFill>
                  <a:srgbClr val="19177C"/>
                </a:solidFill>
                <a:latin typeface="Consolas"/>
              </a:rPr>
              <a:t>$supplierEntityManager</a:t>
            </a:r>
            <a:r>
              <a:rPr sz="900">
                <a:solidFill>
                  <a:srgbClr val="2D2D2D"/>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create(</a:t>
            </a:r>
            <a:r>
              <a:rPr sz="900">
                <a:solidFill>
                  <a:srgbClr val="880000"/>
                </a:solidFill>
                <a:latin typeface="Consolas"/>
              </a:rPr>
              <a:t>S</a:t>
            </a:r>
            <a:r>
              <a:rPr sz="900">
                <a:solidFill>
                  <a:srgbClr val="2D2D2D"/>
                </a:solidFill>
                <a:latin typeface="Consolas"/>
              </a:rPr>
              <a:t>upplierTransfer </a:t>
            </a:r>
            <a:r>
              <a:rPr sz="900">
                <a:solidFill>
                  <a:srgbClr val="19177C"/>
                </a:solidFill>
                <a:latin typeface="Consolas"/>
              </a:rPr>
              <a:t>$supplierTransfer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-&gt;supplierEntityManager-&gt;createSupplier(</a:t>
            </a:r>
            <a:r>
              <a:rPr sz="900">
                <a:solidFill>
                  <a:srgbClr val="19177C"/>
                </a:solidFill>
                <a:latin typeface="Consolas"/>
              </a:rPr>
              <a:t>$supplierTransfer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Communication Between Yves and Zed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Step 1: Yves Controller calls the Client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Communication Between Yves and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getAction(</a:t>
            </a:r>
            <a:r>
              <a:rPr sz="900">
                <a:solidFill>
                  <a:srgbClr val="902000"/>
                </a:solidFill>
                <a:latin typeface="Consolas"/>
              </a:rPr>
              <a:t>int</a:t>
            </a:r>
            <a:r>
              <a:rPr sz="900">
                <a:solidFill>
                  <a:srgbClr val="2D2D2D"/>
                </a:solidFill>
                <a:latin typeface="Consolas"/>
              </a:rPr>
              <a:t> </a:t>
            </a:r>
            <a:r>
              <a:rPr sz="900">
                <a:solidFill>
                  <a:srgbClr val="19177C"/>
                </a:solidFill>
                <a:latin typeface="Consolas"/>
              </a:rPr>
              <a:t>$idContactRequest</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V</a:t>
            </a:r>
            <a:r>
              <a:rPr sz="900">
                <a:solidFill>
                  <a:srgbClr val="2D2D2D"/>
                </a:solidFill>
                <a:latin typeface="Consolas"/>
              </a:rPr>
              <a:t>iew</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$contactRequestCriteriaTransfer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ontactRequestCriteriaTransfer()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$contactRequestCriteriaTransfer</a:t>
            </a:r>
            <a:r>
              <a:rPr sz="900">
                <a:solidFill>
                  <a:srgbClr val="2D2D2D"/>
                </a:solidFill>
                <a:latin typeface="Consolas"/>
              </a:rPr>
              <a:t>-&gt;setIdContactRequest(</a:t>
            </a:r>
            <a:r>
              <a:rPr sz="900">
                <a:solidFill>
                  <a:srgbClr val="19177C"/>
                </a:solidFill>
                <a:latin typeface="Consolas"/>
              </a:rPr>
              <a:t>$idContactRequest</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$contactRequestResponseTransfer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-&gt;getContactRequestClient()</a:t>
            </a:r>
          </a:p>
          <a:p>
            <a:pPr>
              <a:spcBef>
                <a:spcPts val="0"/>
              </a:spcBef>
              <a:spcAft>
                <a:spcPts val="0"/>
              </a:spcAft>
            </a:pPr>
            <a:r>
              <a:rPr sz="900">
                <a:solidFill>
                  <a:srgbClr val="2D2D2D"/>
                </a:solidFill>
                <a:latin typeface="Consolas"/>
              </a:rPr>
              <a:t>            -&gt;findContactRequest(</a:t>
            </a:r>
            <a:r>
              <a:rPr sz="900">
                <a:solidFill>
                  <a:srgbClr val="19177C"/>
                </a:solidFill>
                <a:latin typeface="Consolas"/>
              </a:rPr>
              <a:t>$contactRequestCriteriaTransfer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a:t>
            </a:r>
          </a:p>
          <a:p>
            <a:pPr>
              <a:spcBef>
                <a:spcPts val="0"/>
              </a:spcBef>
              <a:spcAft>
                <a:spcPts val="0"/>
              </a:spcAft>
            </a:pPr>
            <a:r>
              <a:rPr sz="900">
                <a:solidFill>
                  <a:srgbClr val="2D2D2D"/>
                </a:solidFill>
                <a:latin typeface="Consolas"/>
              </a:rPr>
              <a:t>            [</a:t>
            </a:r>
            <a:r>
              <a:rPr sz="900">
                <a:solidFill>
                  <a:srgbClr val="4070A0"/>
                </a:solidFill>
                <a:latin typeface="Consolas"/>
              </a:rPr>
              <a:t>'contactRequest'</a:t>
            </a:r>
            <a:r>
              <a:rPr sz="900">
                <a:solidFill>
                  <a:srgbClr val="2D2D2D"/>
                </a:solidFill>
                <a:latin typeface="Consolas"/>
              </a:rPr>
              <a:t> =&gt; </a:t>
            </a:r>
            <a:r>
              <a:rPr sz="900">
                <a:solidFill>
                  <a:srgbClr val="19177C"/>
                </a:solidFill>
                <a:latin typeface="Consolas"/>
              </a:rPr>
              <a:t>$contactRequestResponseTransfer</a:t>
            </a:r>
            <a:r>
              <a:rPr sz="900">
                <a:solidFill>
                  <a:srgbClr val="2D2D2D"/>
                </a:solidFill>
                <a:latin typeface="Consolas"/>
              </a:rPr>
              <a:t>-&gt;getContactRequest()]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'@ContactRequestPage/views/contact-request/get.twig'</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2: Client delegates to the Stub</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ontactRequestClient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bstractClient </a:t>
            </a:r>
            <a:r>
              <a:rPr sz="900" b="1">
                <a:solidFill>
                  <a:srgbClr val="007020"/>
                </a:solidFill>
                <a:latin typeface="Consolas"/>
              </a:rPr>
              <a:t>implements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ontactRequestClientInterface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findContactRequest(</a:t>
            </a:r>
            <a:r>
              <a:rPr sz="900">
                <a:solidFill>
                  <a:srgbClr val="880000"/>
                </a:solidFill>
                <a:latin typeface="Consolas"/>
              </a:rPr>
              <a:t>C</a:t>
            </a:r>
            <a:r>
              <a:rPr sz="900">
                <a:solidFill>
                  <a:srgbClr val="2D2D2D"/>
                </a:solidFill>
                <a:latin typeface="Consolas"/>
              </a:rPr>
              <a:t>ontactRequestCriteriaTransfer </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ontactRequestResponseTransfer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-&gt;getFactory()-&gt;createContactRequestStub()-&gt;findContactRequest(</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Bef>
                <a:spcPts val="1200"/>
              </a:spcBef>
              <a:spcAft>
                <a:spcPts val="600"/>
              </a:spcAft>
              <a:defRPr sz="2000" b="1">
                <a:solidFill>
                  <a:srgbClr val="1A1A1A"/>
                </a:solidFill>
              </a:defRPr>
            </a:pPr>
            <a:r>
              <a:t>Step 3: Stub makes the HTTP call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2: Client delegates to the Stub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ontactRequestStub</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2D2D2D"/>
                </a:solidFill>
                <a:latin typeface="Consolas"/>
              </a:rPr>
              <a:t>__construct</a:t>
            </a:r>
            <a:r>
              <a:rPr sz="900">
                <a:solidFill>
                  <a:srgbClr val="2D2D2D"/>
                </a:solidFill>
                <a:latin typeface="Consolas"/>
              </a:rPr>
              <a:t>(</a:t>
            </a:r>
            <a:r>
              <a:rPr sz="900" b="1">
                <a:solidFill>
                  <a:srgbClr val="007020"/>
                </a:solidFill>
                <a:latin typeface="Consolas"/>
              </a:rPr>
              <a:t>protected</a:t>
            </a:r>
            <a:r>
              <a:rPr sz="900">
                <a:solidFill>
                  <a:srgbClr val="2D2D2D"/>
                </a:solidFill>
                <a:latin typeface="Consolas"/>
              </a:rPr>
              <a:t> </a:t>
            </a:r>
            <a:r>
              <a:rPr sz="900">
                <a:solidFill>
                  <a:srgbClr val="880000"/>
                </a:solidFill>
                <a:latin typeface="Consolas"/>
              </a:rPr>
              <a:t>Z</a:t>
            </a:r>
            <a:r>
              <a:rPr sz="900">
                <a:solidFill>
                  <a:srgbClr val="2D2D2D"/>
                </a:solidFill>
                <a:latin typeface="Consolas"/>
              </a:rPr>
              <a:t>edRequestClientInterface </a:t>
            </a:r>
            <a:r>
              <a:rPr sz="900">
                <a:solidFill>
                  <a:srgbClr val="19177C"/>
                </a:solidFill>
                <a:latin typeface="Consolas"/>
              </a:rPr>
              <a:t>$zedRequestClient</a:t>
            </a:r>
            <a:r>
              <a:rPr sz="900">
                <a:solidFill>
                  <a:srgbClr val="2D2D2D"/>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findContactRequest(</a:t>
            </a:r>
            <a:r>
              <a:rPr sz="900">
                <a:solidFill>
                  <a:srgbClr val="880000"/>
                </a:solidFill>
                <a:latin typeface="Consolas"/>
              </a:rPr>
              <a:t>C</a:t>
            </a:r>
            <a:r>
              <a:rPr sz="900">
                <a:solidFill>
                  <a:srgbClr val="2D2D2D"/>
                </a:solidFill>
                <a:latin typeface="Consolas"/>
              </a:rPr>
              <a:t>ontactRequestCriteriaTransfer </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ontactRequestResponseTransfer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URL convention: /{module-name}/gateway/{action-name}</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-&gt;zedRequestClient-&gt;call(</a:t>
            </a:r>
          </a:p>
          <a:p>
            <a:pPr>
              <a:spcBef>
                <a:spcPts val="0"/>
              </a:spcBef>
              <a:spcAft>
                <a:spcPts val="0"/>
              </a:spcAft>
            </a:pPr>
            <a:r>
              <a:rPr sz="900">
                <a:solidFill>
                  <a:srgbClr val="2D2D2D"/>
                </a:solidFill>
                <a:latin typeface="Consolas"/>
              </a:rPr>
              <a:t>            </a:t>
            </a:r>
            <a:r>
              <a:rPr sz="900">
                <a:solidFill>
                  <a:srgbClr val="4070A0"/>
                </a:solidFill>
                <a:latin typeface="Consolas"/>
              </a:rPr>
              <a:t>'/contact-request/gateway/find-contact-request'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$contactRequestCriteria</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Step 4: GatewayController receives the call in Zed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G</a:t>
            </a:r>
            <a:r>
              <a:rPr sz="900">
                <a:solidFill>
                  <a:srgbClr val="2D2D2D"/>
                </a:solidFill>
                <a:latin typeface="Consolas"/>
              </a:rPr>
              <a:t>atewayController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bstractGatewayController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findContactRequestAction(</a:t>
            </a:r>
            <a:r>
              <a:rPr sz="900">
                <a:solidFill>
                  <a:srgbClr val="880000"/>
                </a:solidFill>
                <a:latin typeface="Consolas"/>
              </a:rPr>
              <a:t>C</a:t>
            </a:r>
            <a:r>
              <a:rPr sz="900">
                <a:solidFill>
                  <a:srgbClr val="2D2D2D"/>
                </a:solidFill>
                <a:latin typeface="Consolas"/>
              </a:rPr>
              <a:t>ontactRequestCriteriaTransfer </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ontactRequestResponseTransfer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-&gt;getFacade()-&gt;findContactRequest(</a:t>
            </a:r>
            <a:r>
              <a:rPr sz="900">
                <a:solidFill>
                  <a:srgbClr val="19177C"/>
                </a:solidFill>
                <a:latin typeface="Consolas"/>
              </a:rPr>
              <a:t>$contactRequestCriteria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Gateway URL convention: /contact-request/gateway/find-contact-request maps to ContactRequest module -&gt; GatewayController -&gt; findContactRequestAction() . Transfers are serialized/deserialized automatically.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6. DependencyProvider Patterns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DependencyProviders wire external dependencies (facades, clients, services) into a module’s container.</a:t>
            </a:r>
          </a:p>
          <a:p>
            <a:pPr>
              <a:spcBef>
                <a:spcPts val="1200"/>
              </a:spcBef>
              <a:spcAft>
                <a:spcPts val="600"/>
              </a:spcAft>
              <a:defRPr sz="2000" b="1">
                <a:solidFill>
                  <a:srgbClr val="1A1A1A"/>
                </a:solidFill>
              </a:defRPr>
            </a:pPr>
            <a:r>
              <a:t>Client Layer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6. DependencyProvider Patterns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ontactRequestDependencyProvider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bstractDependencyProvider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CLIENT_ZED_REQUEST</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'CLIENT_ZED_REQUEST'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provideServiceLayerDependencies(</a:t>
            </a:r>
            <a:r>
              <a:rPr sz="900">
                <a:solidFill>
                  <a:srgbClr val="880000"/>
                </a:solidFill>
                <a:latin typeface="Consolas"/>
              </a:rPr>
              <a:t>C</a:t>
            </a:r>
            <a:r>
              <a:rPr sz="900">
                <a:solidFill>
                  <a:srgbClr val="2D2D2D"/>
                </a:solidFill>
                <a:latin typeface="Consolas"/>
              </a:rPr>
              <a:t>ontainer </a:t>
            </a:r>
            <a:r>
              <a:rPr sz="900">
                <a:solidFill>
                  <a:srgbClr val="19177C"/>
                </a:solidFill>
                <a:latin typeface="Consolas"/>
              </a:rPr>
              <a:t>$container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ontainer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-&gt;addZedRequestClient(</a:t>
            </a:r>
            <a:r>
              <a:rPr sz="900">
                <a:solidFill>
                  <a:srgbClr val="19177C"/>
                </a:solidFill>
                <a:latin typeface="Consolas"/>
              </a:rPr>
              <a:t>$container</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$container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addZedRequestClient(</a:t>
            </a:r>
            <a:r>
              <a:rPr sz="900">
                <a:solidFill>
                  <a:srgbClr val="880000"/>
                </a:solidFill>
                <a:latin typeface="Consolas"/>
              </a:rPr>
              <a:t>C</a:t>
            </a:r>
            <a:r>
              <a:rPr sz="900">
                <a:solidFill>
                  <a:srgbClr val="2D2D2D"/>
                </a:solidFill>
                <a:latin typeface="Consolas"/>
              </a:rPr>
              <a:t>ontainer </a:t>
            </a:r>
            <a:r>
              <a:rPr sz="900">
                <a:solidFill>
                  <a:srgbClr val="19177C"/>
                </a:solidFill>
                <a:latin typeface="Consolas"/>
              </a:rPr>
              <a:t>$container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ontainer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-&gt;set(</a:t>
            </a:r>
          </a:p>
          <a:p>
            <a:pPr>
              <a:spcBef>
                <a:spcPts val="0"/>
              </a:spcBef>
              <a:spcAft>
                <a:spcPts val="0"/>
              </a:spcAft>
            </a:pP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CLIENT_ZED_REQUEST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fn</a:t>
            </a:r>
            <a:r>
              <a:rPr sz="900">
                <a:solidFill>
                  <a:srgbClr val="2D2D2D"/>
                </a:solidFill>
                <a:latin typeface="Consolas"/>
              </a:rPr>
              <a:t> () =&gt; </a:t>
            </a:r>
            <a:r>
              <a:rPr sz="900">
                <a:solidFill>
                  <a:srgbClr val="19177C"/>
                </a:solidFill>
                <a:latin typeface="Consolas"/>
              </a:rPr>
              <a:t>$container</a:t>
            </a:r>
            <a:r>
              <a:rPr sz="900">
                <a:solidFill>
                  <a:srgbClr val="2D2D2D"/>
                </a:solidFill>
                <a:latin typeface="Consolas"/>
              </a:rPr>
              <a:t>-&gt;getLocator()-&gt;zedRequest()-&gt;client()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$container</a:t>
            </a:r>
            <a:r>
              <a:rPr sz="900">
                <a:solidFill>
                  <a:srgbClr val="007020"/>
                </a:solidFill>
                <a:latin typeface="Consolas"/>
              </a:rPr>
              <a:t>;</a:t>
            </a:r>
          </a:p>
          <a:p>
            <a:pPr>
              <a:spcBef>
                <a:spcPts val="0"/>
              </a:spcBef>
              <a:spcAft>
                <a:spcPts val="0"/>
              </a:spcAft>
            </a:pPr>
            <a:r>
              <a:rPr sz="900">
                <a:solidFill>
                  <a:srgbClr val="2D2D2D"/>
                </a:solidFill>
                <a:latin typeface="Consolas"/>
              </a:rPr>
              <a:t>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6. DependencyProvider Patterns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Yves Layer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ontactRequestPageDependencyProvider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bstractBundleDependencyProvider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CLIENT_CONTACT_REQUEST</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'CLIENT_CONTACT_REQUEST'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provideDependencies(</a:t>
            </a:r>
            <a:r>
              <a:rPr sz="900">
                <a:solidFill>
                  <a:srgbClr val="880000"/>
                </a:solidFill>
                <a:latin typeface="Consolas"/>
              </a:rPr>
              <a:t>C</a:t>
            </a:r>
            <a:r>
              <a:rPr sz="900">
                <a:solidFill>
                  <a:srgbClr val="2D2D2D"/>
                </a:solidFill>
                <a:latin typeface="Consolas"/>
              </a:rPr>
              <a:t>ontainer </a:t>
            </a:r>
            <a:r>
              <a:rPr sz="900">
                <a:solidFill>
                  <a:srgbClr val="19177C"/>
                </a:solidFill>
                <a:latin typeface="Consolas"/>
              </a:rPr>
              <a:t>$container</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ontainer</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-&gt;set(</a:t>
            </a:r>
          </a:p>
          <a:p>
            <a:pPr>
              <a:spcBef>
                <a:spcPts val="0"/>
              </a:spcBef>
              <a:spcAft>
                <a:spcPts val="0"/>
              </a:spcAft>
            </a:pPr>
            <a:r>
              <a:rPr sz="900">
                <a:solidFill>
                  <a:srgbClr val="2D2D2D"/>
                </a:solidFill>
                <a:latin typeface="Consolas"/>
              </a:rPr>
              <a:t>            </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CLIENT_CONTACT_REQUEST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fn</a:t>
            </a:r>
            <a:r>
              <a:rPr sz="900">
                <a:solidFill>
                  <a:srgbClr val="2D2D2D"/>
                </a:solidFill>
                <a:latin typeface="Consolas"/>
              </a:rPr>
              <a:t> () =&gt; </a:t>
            </a:r>
            <a:r>
              <a:rPr sz="900">
                <a:solidFill>
                  <a:srgbClr val="19177C"/>
                </a:solidFill>
                <a:latin typeface="Consolas"/>
              </a:rPr>
              <a:t>$container</a:t>
            </a:r>
            <a:r>
              <a:rPr sz="900">
                <a:solidFill>
                  <a:srgbClr val="2D2D2D"/>
                </a:solidFill>
                <a:latin typeface="Consolas"/>
              </a:rPr>
              <a:t>-&gt;getLocator()-&gt;contactRequest()-&gt;client()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$container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Container Methods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Method                    Behavior                          Use For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$container-&gt;set(key, fn)  Singleton: resolved once, cached  Facades, clients, services     </a:t>
            </a:r>
          </a:p>
          <a:p>
            <a:pPr>
              <a:spcAft>
                <a:spcPts val="100"/>
              </a:spcAft>
              <a:defRPr sz="1000">
                <a:solidFill>
                  <a:srgbClr val="1A1A1A"/>
                </a:solidFill>
                <a:latin typeface="Consolas"/>
              </a:defRPr>
            </a:pPr>
            <a:r>
              <a:t>$container-&gt;factory(fn)   New instance every resolution     Propel Query objects (stateful)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7. Plugin Architecture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Plugins are Spryker’s extension mechanism. They implement a defined interface and are registered in a DependencyProvider.</a:t>
            </a:r>
          </a:p>
          <a:p>
            <a:pPr>
              <a:spcBef>
                <a:spcPts val="1200"/>
              </a:spcBef>
              <a:spcAft>
                <a:spcPts val="600"/>
              </a:spcAft>
              <a:defRPr sz="2000" b="1">
                <a:solidFill>
                  <a:srgbClr val="1A1A1A"/>
                </a:solidFill>
              </a:defRPr>
            </a:pPr>
            <a:r>
              <a:t>Publisher Plugin (Publish &amp; Synchronize)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7. Plugin Architecture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upplierSearchWritePublisherPlugin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bstractPlugin </a:t>
            </a:r>
            <a:r>
              <a:rPr sz="900" b="1">
                <a:solidFill>
                  <a:srgbClr val="007020"/>
                </a:solidFill>
                <a:latin typeface="Consolas"/>
              </a:rPr>
              <a:t>implements</a:t>
            </a:r>
            <a:r>
              <a:rPr sz="900">
                <a:solidFill>
                  <a:srgbClr val="2D2D2D"/>
                </a:solidFill>
                <a:latin typeface="Consolas"/>
              </a:rPr>
              <a:t> </a:t>
            </a:r>
            <a:r>
              <a:rPr sz="900">
                <a:solidFill>
                  <a:srgbClr val="880000"/>
                </a:solidFill>
                <a:latin typeface="Consolas"/>
              </a:rPr>
              <a:t>P</a:t>
            </a:r>
            <a:r>
              <a:rPr sz="900">
                <a:solidFill>
                  <a:srgbClr val="2D2D2D"/>
                </a:solidFill>
                <a:latin typeface="Consolas"/>
              </a:rPr>
              <a:t>ublisherPluginInterface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handleBulk(</a:t>
            </a:r>
            <a:r>
              <a:rPr sz="900">
                <a:solidFill>
                  <a:srgbClr val="902000"/>
                </a:solidFill>
                <a:latin typeface="Consolas"/>
              </a:rPr>
              <a:t>array</a:t>
            </a:r>
            <a:r>
              <a:rPr sz="900">
                <a:solidFill>
                  <a:srgbClr val="2D2D2D"/>
                </a:solidFill>
                <a:latin typeface="Consolas"/>
              </a:rPr>
              <a:t> </a:t>
            </a:r>
            <a:r>
              <a:rPr sz="900">
                <a:solidFill>
                  <a:srgbClr val="19177C"/>
                </a:solidFill>
                <a:latin typeface="Consolas"/>
              </a:rPr>
              <a:t>$eventEntityTransfers</a:t>
            </a:r>
            <a:r>
              <a:rPr sz="900">
                <a:solidFill>
                  <a:srgbClr val="007020"/>
                </a:solidFill>
                <a:latin typeface="Consolas"/>
              </a:rPr>
              <a:t>,</a:t>
            </a:r>
            <a:r>
              <a:rPr sz="900">
                <a:solidFill>
                  <a:srgbClr val="2D2D2D"/>
                </a:solidFill>
                <a:latin typeface="Consolas"/>
              </a:rPr>
              <a:t> </a:t>
            </a:r>
            <a:r>
              <a:rPr sz="900">
                <a:solidFill>
                  <a:srgbClr val="19177C"/>
                </a:solidFill>
                <a:latin typeface="Consolas"/>
              </a:rPr>
              <a:t>$eventName</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-&gt;getFacade()-&gt;writeCollectionBySupplierEvents(</a:t>
            </a:r>
            <a:r>
              <a:rPr sz="900">
                <a:solidFill>
                  <a:srgbClr val="19177C"/>
                </a:solidFill>
                <a:latin typeface="Consolas"/>
              </a:rPr>
              <a:t>$eventEntityTransfers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getSubscribedEvents()</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upplierSearchConfig::</a:t>
            </a:r>
            <a:r>
              <a:rPr sz="900">
                <a:solidFill>
                  <a:srgbClr val="880000"/>
                </a:solidFill>
                <a:latin typeface="Consolas"/>
              </a:rPr>
              <a:t>SUPPLIER_PUBLISH</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upplierSearchConfig::</a:t>
            </a:r>
            <a:r>
              <a:rPr sz="900">
                <a:solidFill>
                  <a:srgbClr val="880000"/>
                </a:solidFill>
                <a:latin typeface="Consolas"/>
              </a:rPr>
              <a:t>ENTITY_PYZ_SUPPLIER_CREATE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upplierSearchConfig::</a:t>
            </a:r>
            <a:r>
              <a:rPr sz="900">
                <a:solidFill>
                  <a:srgbClr val="880000"/>
                </a:solidFill>
                <a:latin typeface="Consolas"/>
              </a:rPr>
              <a:t>ENTITY_PYZ_SUPPLIER_UPDATE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Router Plugin (Yves Routing)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ontactRequestPageRouteProviderPlugin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bstractRouteProviderPlugin</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addRoutes(</a:t>
            </a:r>
            <a:r>
              <a:rPr sz="900">
                <a:solidFill>
                  <a:srgbClr val="880000"/>
                </a:solidFill>
                <a:latin typeface="Consolas"/>
              </a:rPr>
              <a:t>R</a:t>
            </a:r>
            <a:r>
              <a:rPr sz="900">
                <a:solidFill>
                  <a:srgbClr val="2D2D2D"/>
                </a:solidFill>
                <a:latin typeface="Consolas"/>
              </a:rPr>
              <a:t>outeCollection </a:t>
            </a:r>
            <a:r>
              <a:rPr sz="900">
                <a:solidFill>
                  <a:srgbClr val="19177C"/>
                </a:solidFill>
                <a:latin typeface="Consolas"/>
              </a:rPr>
              <a:t>$routeCollection</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880000"/>
                </a:solidFill>
                <a:latin typeface="Consolas"/>
              </a:rPr>
              <a:t>R</a:t>
            </a:r>
            <a:r>
              <a:rPr sz="900">
                <a:solidFill>
                  <a:srgbClr val="2D2D2D"/>
                </a:solidFill>
                <a:latin typeface="Consolas"/>
              </a:rPr>
              <a:t>outeCollection</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$route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-&gt;buildRoute(</a:t>
            </a:r>
          </a:p>
          <a:p>
            <a:pPr>
              <a:spcBef>
                <a:spcPts val="0"/>
              </a:spcBef>
              <a:spcAft>
                <a:spcPts val="0"/>
              </a:spcAft>
            </a:pPr>
            <a:r>
              <a:rPr sz="900">
                <a:solidFill>
                  <a:srgbClr val="2D2D2D"/>
                </a:solidFill>
                <a:latin typeface="Consolas"/>
              </a:rPr>
              <a:t>            </a:t>
            </a:r>
            <a:r>
              <a:rPr sz="900">
                <a:solidFill>
                  <a:srgbClr val="4070A0"/>
                </a:solidFill>
                <a:latin typeface="Consolas"/>
              </a:rPr>
              <a:t>'contact-request/message/{idContactRequest}'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'ContactRequestPage'</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Module</a:t>
            </a:r>
          </a:p>
          <a:p>
            <a:pPr>
              <a:spcBef>
                <a:spcPts val="0"/>
              </a:spcBef>
              <a:spcAft>
                <a:spcPts val="0"/>
              </a:spcAft>
            </a:pPr>
            <a:r>
              <a:rPr sz="900">
                <a:solidFill>
                  <a:srgbClr val="2D2D2D"/>
                </a:solidFill>
                <a:latin typeface="Consolas"/>
              </a:rPr>
              <a:t>            </a:t>
            </a:r>
            <a:r>
              <a:rPr sz="900">
                <a:solidFill>
                  <a:srgbClr val="4070A0"/>
                </a:solidFill>
                <a:latin typeface="Consolas"/>
              </a:rPr>
              <a:t>'Message'</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Controller</a:t>
            </a:r>
          </a:p>
          <a:p>
            <a:pPr>
              <a:spcBef>
                <a:spcPts val="0"/>
              </a:spcBef>
              <a:spcAft>
                <a:spcPts val="0"/>
              </a:spcAft>
            </a:pPr>
            <a:r>
              <a:rPr sz="900">
                <a:solidFill>
                  <a:srgbClr val="2D2D2D"/>
                </a:solidFill>
                <a:latin typeface="Consolas"/>
              </a:rPr>
              <a:t>            </a:t>
            </a:r>
            <a:r>
              <a:rPr sz="900">
                <a:solidFill>
                  <a:srgbClr val="4070A0"/>
                </a:solidFill>
                <a:latin typeface="Consolas"/>
              </a:rPr>
              <a:t>'getAction'</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Action</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$route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$route</a:t>
            </a:r>
            <a:r>
              <a:rPr sz="900">
                <a:solidFill>
                  <a:srgbClr val="2D2D2D"/>
                </a:solidFill>
                <a:latin typeface="Consolas"/>
              </a:rPr>
              <a:t>-&gt;setMethods([</a:t>
            </a:r>
            <a:r>
              <a:rPr sz="900">
                <a:solidFill>
                  <a:srgbClr val="4070A0"/>
                </a:solidFill>
                <a:latin typeface="Consolas"/>
              </a:rPr>
              <a:t>'GET'</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$routeCollection</a:t>
            </a:r>
            <a:r>
              <a:rPr sz="900">
                <a:solidFill>
                  <a:srgbClr val="2D2D2D"/>
                </a:solidFill>
                <a:latin typeface="Consolas"/>
              </a:rPr>
              <a:t>-&gt;add(</a:t>
            </a:r>
            <a:r>
              <a:rPr sz="900">
                <a:solidFill>
                  <a:srgbClr val="4070A0"/>
                </a:solidFill>
                <a:latin typeface="Consolas"/>
              </a:rPr>
              <a:t>'contact-request-message'</a:t>
            </a:r>
            <a:r>
              <a:rPr sz="900">
                <a:solidFill>
                  <a:srgbClr val="007020"/>
                </a:solidFill>
                <a:latin typeface="Consolas"/>
              </a:rPr>
              <a:t>,</a:t>
            </a:r>
            <a:r>
              <a:rPr sz="900">
                <a:solidFill>
                  <a:srgbClr val="2D2D2D"/>
                </a:solidFill>
                <a:latin typeface="Consolas"/>
              </a:rPr>
              <a:t> </a:t>
            </a:r>
            <a:r>
              <a:rPr sz="900">
                <a:solidFill>
                  <a:srgbClr val="19177C"/>
                </a:solidFill>
                <a:latin typeface="Consolas"/>
              </a:rPr>
              <a:t>$route</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$routeCollection</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Router Plugin (Yves Routing)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Plugin rules: - Plugins are thin - they delegate to the Facade, no logic inside - Registered in project-level DependencyProviders - @method docblock links the Plugin to its Facade for IDE support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 Query Best Practices &amp; Avoiding N+1</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8.1 The N+1 Problem</a:t>
            </a:r>
          </a:p>
          <a:p>
            <a:pPr>
              <a:spcAft>
                <a:spcPts val="800"/>
              </a:spcAft>
              <a:defRPr sz="1600">
                <a:solidFill>
                  <a:srgbClr val="1A1A1A"/>
                </a:solidFill>
              </a:defRPr>
            </a:pPr>
            <a:r>
              <a:t>The N+1 problem occurs when you fetch a list of entities, then make a separate database query for each entity’s related data. If you have 100 suppliers, this means 1 query to get the list + 100 queries for related data = 101 queries.</a:t>
            </a:r>
          </a:p>
          <a:p>
            <a:pPr>
              <a:spcAft>
                <a:spcPts val="800"/>
              </a:spcAft>
              <a:defRPr sz="1600">
                <a:solidFill>
                  <a:srgbClr val="1A1A1A"/>
                </a:solidFill>
              </a:defRPr>
            </a:pPr>
            <a:r>
              <a:t>Bad - N+1 pattern (DO NOT DO THIS):</a:t>
            </a:r>
          </a:p>
          <a:p>
            <a:pPr>
              <a:spcBef>
                <a:spcPts val="0"/>
              </a:spcBef>
              <a:spcAft>
                <a:spcPts val="0"/>
              </a:spcAft>
            </a:pPr>
            <a:r>
              <a:rPr sz="900" i="1">
                <a:solidFill>
                  <a:srgbClr val="60A0B0"/>
                </a:solidFill>
                <a:latin typeface="Consolas"/>
              </a:rPr>
              <a:t>// 1 query to fetch all suppliers</a:t>
            </a:r>
          </a:p>
          <a:p>
            <a:pPr>
              <a:spcBef>
                <a:spcPts val="0"/>
              </a:spcBef>
              <a:spcAft>
                <a:spcPts val="0"/>
              </a:spcAft>
            </a:pPr>
            <a:r>
              <a:rPr sz="900">
                <a:solidFill>
                  <a:srgbClr val="19177C"/>
                </a:solidFill>
                <a:latin typeface="Consolas"/>
              </a:rPr>
              <a:t>$suppliers</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-&gt;supplierRepository-&gt;getSuppliers(</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foreach</a:t>
            </a:r>
            <a:r>
              <a:rPr sz="900">
                <a:solidFill>
                  <a:srgbClr val="2D2D2D"/>
                </a:solidFill>
                <a:latin typeface="Consolas"/>
              </a:rPr>
              <a:t> (</a:t>
            </a:r>
            <a:r>
              <a:rPr sz="900">
                <a:solidFill>
                  <a:srgbClr val="19177C"/>
                </a:solidFill>
                <a:latin typeface="Consolas"/>
              </a:rPr>
              <a:t>$suppliers</a:t>
            </a:r>
            <a:r>
              <a:rPr sz="900">
                <a:solidFill>
                  <a:srgbClr val="2D2D2D"/>
                </a:solidFill>
                <a:latin typeface="Consolas"/>
              </a:rPr>
              <a:t> </a:t>
            </a:r>
            <a:r>
              <a:rPr sz="900" b="1">
                <a:solidFill>
                  <a:srgbClr val="007020"/>
                </a:solidFill>
                <a:latin typeface="Consolas"/>
              </a:rPr>
              <a:t>as</a:t>
            </a:r>
            <a:r>
              <a:rPr sz="900">
                <a:solidFill>
                  <a:srgbClr val="2D2D2D"/>
                </a:solidFill>
                <a:latin typeface="Consolas"/>
              </a:rPr>
              <a:t> </a:t>
            </a:r>
            <a:r>
              <a:rPr sz="900">
                <a:solidFill>
                  <a:srgbClr val="19177C"/>
                </a:solidFill>
                <a:latin typeface="Consolas"/>
              </a:rPr>
              <a:t>$supplier</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N queries - one per supplier!</a:t>
            </a:r>
          </a:p>
          <a:p>
            <a:pPr>
              <a:spcBef>
                <a:spcPts val="0"/>
              </a:spcBef>
              <a:spcAft>
                <a:spcPts val="0"/>
              </a:spcAft>
            </a:pPr>
            <a:r>
              <a:rPr sz="900">
                <a:solidFill>
                  <a:srgbClr val="2D2D2D"/>
                </a:solidFill>
                <a:latin typeface="Consolas"/>
              </a:rPr>
              <a:t>    </a:t>
            </a:r>
            <a:r>
              <a:rPr sz="900">
                <a:solidFill>
                  <a:srgbClr val="19177C"/>
                </a:solidFill>
                <a:latin typeface="Consolas"/>
              </a:rPr>
              <a:t>$storageData</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-&gt;storageRepository-&gt;findByFkSupplier(</a:t>
            </a:r>
            <a:r>
              <a:rPr sz="900">
                <a:solidFill>
                  <a:srgbClr val="19177C"/>
                </a:solidFill>
                <a:latin typeface="Consolas"/>
              </a:rPr>
              <a:t>$supplier</a:t>
            </a:r>
            <a:r>
              <a:rPr sz="900">
                <a:solidFill>
                  <a:srgbClr val="2D2D2D"/>
                </a:solidFill>
                <a:latin typeface="Consolas"/>
              </a:rPr>
              <a:t>-&gt;getIdSupplier())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 ... process</a:t>
            </a:r>
          </a:p>
          <a:p>
            <a:pPr>
              <a:spcBef>
                <a:spcPts val="0"/>
              </a:spcBef>
              <a:spcAft>
                <a:spcPts val="0"/>
              </a:spcAft>
            </a:pPr>
            <a:r>
              <a:rPr sz="900">
                <a:solidFill>
                  <a:srgbClr val="2D2D2D"/>
                </a:solidFill>
                <a:latin typeface="Consolas"/>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8.2 The Indexed Collection Pattern (Solution)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Fetch ALL related data in one query using filterBy*_In() , then index by ID for O(1) lookups: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8.2 The Indexed Collection Pattern (Solution)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writeCollectionBySupplierIds(</a:t>
            </a:r>
            <a:r>
              <a:rPr sz="900">
                <a:solidFill>
                  <a:srgbClr val="902000"/>
                </a:solidFill>
                <a:latin typeface="Consolas"/>
              </a:rPr>
              <a:t>array</a:t>
            </a:r>
            <a:r>
              <a:rPr sz="900">
                <a:solidFill>
                  <a:srgbClr val="2D2D2D"/>
                </a:solidFill>
                <a:latin typeface="Consolas"/>
              </a:rPr>
              <a:t> </a:t>
            </a:r>
            <a:r>
              <a:rPr sz="900">
                <a:solidFill>
                  <a:srgbClr val="19177C"/>
                </a:solidFill>
                <a:latin typeface="Consolas"/>
              </a:rPr>
              <a:t>$supplierIds</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 Step 1: Fetch ALL suppliers in ONE query, index by ID</a:t>
            </a:r>
          </a:p>
          <a:p>
            <a:pPr>
              <a:spcBef>
                <a:spcPts val="0"/>
              </a:spcBef>
              <a:spcAft>
                <a:spcPts val="0"/>
              </a:spcAft>
            </a:pPr>
            <a:r>
              <a:rPr sz="900">
                <a:solidFill>
                  <a:srgbClr val="2D2D2D"/>
                </a:solidFill>
                <a:latin typeface="Consolas"/>
              </a:rPr>
              <a:t>    </a:t>
            </a:r>
            <a:r>
              <a:rPr sz="900">
                <a:solidFill>
                  <a:srgbClr val="19177C"/>
                </a:solidFill>
                <a:latin typeface="Consolas"/>
              </a:rPr>
              <a:t>$supplierTransfersIndexed</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-&gt;getSupplierTransfersIndexed(</a:t>
            </a:r>
            <a:r>
              <a:rPr sz="900">
                <a:solidFill>
                  <a:srgbClr val="19177C"/>
                </a:solidFill>
                <a:latin typeface="Consolas"/>
              </a:rPr>
              <a:t>$supplierIds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Step 2: Fetch ALL storage data in ONE query, index by FK</a:t>
            </a:r>
          </a:p>
          <a:p>
            <a:pPr>
              <a:spcBef>
                <a:spcPts val="0"/>
              </a:spcBef>
              <a:spcAft>
                <a:spcPts val="0"/>
              </a:spcAft>
            </a:pPr>
            <a:r>
              <a:rPr sz="900">
                <a:solidFill>
                  <a:srgbClr val="2D2D2D"/>
                </a:solidFill>
                <a:latin typeface="Consolas"/>
              </a:rPr>
              <a:t>    </a:t>
            </a:r>
            <a:r>
              <a:rPr sz="900">
                <a:solidFill>
                  <a:srgbClr val="19177C"/>
                </a:solidFill>
                <a:latin typeface="Consolas"/>
              </a:rPr>
              <a:t>$supplierStorageTransfersIndexed</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-&gt;getSupplierStorageTransfersIndexed(</a:t>
            </a:r>
          </a:p>
          <a:p>
            <a:pPr>
              <a:spcBef>
                <a:spcPts val="0"/>
              </a:spcBef>
              <a:spcAft>
                <a:spcPts val="0"/>
              </a:spcAft>
            </a:pPr>
            <a:r>
              <a:rPr sz="900">
                <a:solidFill>
                  <a:srgbClr val="2D2D2D"/>
                </a:solidFill>
                <a:latin typeface="Consolas"/>
              </a:rPr>
              <a:t>        </a:t>
            </a:r>
            <a:r>
              <a:rPr sz="900">
                <a:solidFill>
                  <a:srgbClr val="06287E"/>
                </a:solidFill>
                <a:latin typeface="Consolas"/>
              </a:rPr>
              <a:t>array_keys</a:t>
            </a:r>
            <a:r>
              <a:rPr sz="900">
                <a:solidFill>
                  <a:srgbClr val="2D2D2D"/>
                </a:solidFill>
                <a:latin typeface="Consolas"/>
              </a:rPr>
              <a:t>(</a:t>
            </a:r>
            <a:r>
              <a:rPr sz="900">
                <a:solidFill>
                  <a:srgbClr val="19177C"/>
                </a:solidFill>
                <a:latin typeface="Consolas"/>
              </a:rPr>
              <a:t>$supplierTransfersIndexed</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Step 3: Iterate with array lookups - NO database calls inside the loop</a:t>
            </a:r>
          </a:p>
          <a:p>
            <a:pPr>
              <a:spcBef>
                <a:spcPts val="0"/>
              </a:spcBef>
              <a:spcAft>
                <a:spcPts val="0"/>
              </a:spcAft>
            </a:pPr>
            <a:r>
              <a:rPr sz="900">
                <a:solidFill>
                  <a:srgbClr val="2D2D2D"/>
                </a:solidFill>
                <a:latin typeface="Consolas"/>
              </a:rPr>
              <a:t>    </a:t>
            </a:r>
            <a:r>
              <a:rPr sz="900" b="1">
                <a:solidFill>
                  <a:srgbClr val="007020"/>
                </a:solidFill>
                <a:latin typeface="Consolas"/>
              </a:rPr>
              <a:t>foreach</a:t>
            </a:r>
            <a:r>
              <a:rPr sz="900">
                <a:solidFill>
                  <a:srgbClr val="2D2D2D"/>
                </a:solidFill>
                <a:latin typeface="Consolas"/>
              </a:rPr>
              <a:t> (</a:t>
            </a:r>
            <a:r>
              <a:rPr sz="900">
                <a:solidFill>
                  <a:srgbClr val="19177C"/>
                </a:solidFill>
                <a:latin typeface="Consolas"/>
              </a:rPr>
              <a:t>$supplierTransfersIndexed</a:t>
            </a:r>
            <a:r>
              <a:rPr sz="900">
                <a:solidFill>
                  <a:srgbClr val="2D2D2D"/>
                </a:solidFill>
                <a:latin typeface="Consolas"/>
              </a:rPr>
              <a:t> </a:t>
            </a:r>
            <a:r>
              <a:rPr sz="900" b="1">
                <a:solidFill>
                  <a:srgbClr val="007020"/>
                </a:solidFill>
                <a:latin typeface="Consolas"/>
              </a:rPr>
              <a:t>as</a:t>
            </a:r>
            <a:r>
              <a:rPr sz="900">
                <a:solidFill>
                  <a:srgbClr val="2D2D2D"/>
                </a:solidFill>
                <a:latin typeface="Consolas"/>
              </a:rPr>
              <a:t> </a:t>
            </a:r>
            <a:r>
              <a:rPr sz="900">
                <a:solidFill>
                  <a:srgbClr val="19177C"/>
                </a:solidFill>
                <a:latin typeface="Consolas"/>
              </a:rPr>
              <a:t>$supplierId</a:t>
            </a:r>
            <a:r>
              <a:rPr sz="900">
                <a:solidFill>
                  <a:srgbClr val="2D2D2D"/>
                </a:solidFill>
                <a:latin typeface="Consolas"/>
              </a:rPr>
              <a:t> =&gt; </a:t>
            </a:r>
            <a:r>
              <a:rPr sz="900">
                <a:solidFill>
                  <a:srgbClr val="19177C"/>
                </a:solidFill>
                <a:latin typeface="Consolas"/>
              </a:rPr>
              <a:t>$supplierTransfer</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$storageTransfer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$supplierStorageTransfersIndexed</a:t>
            </a:r>
            <a:r>
              <a:rPr sz="900">
                <a:solidFill>
                  <a:srgbClr val="2D2D2D"/>
                </a:solidFill>
                <a:latin typeface="Consolas"/>
              </a:rPr>
              <a:t>[</a:t>
            </a:r>
            <a:r>
              <a:rPr sz="900">
                <a:solidFill>
                  <a:srgbClr val="19177C"/>
                </a:solidFill>
                <a:latin typeface="Consolas"/>
              </a:rPr>
              <a:t>$supplierId</a:t>
            </a: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upplierStorageTransfer()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i="1">
                <a:solidFill>
                  <a:srgbClr val="60A0B0"/>
                </a:solidFill>
                <a:latin typeface="Consolas"/>
              </a:rPr>
              <a:t>// ... process</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Bef>
                <a:spcPts val="0"/>
              </a:spcBef>
              <a:spcAft>
                <a:spcPts val="0"/>
              </a:spcAft>
            </a:pPr>
            <a:r>
              <a:rPr sz="900">
                <a:latin typeface="Consolas"/>
              </a:rPr>
              <a:t>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8.2 The Indexed Collection Pattern (Solution)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getSupplierTransfersIndexed(</a:t>
            </a:r>
            <a:r>
              <a:rPr sz="900">
                <a:solidFill>
                  <a:srgbClr val="902000"/>
                </a:solidFill>
                <a:latin typeface="Consolas"/>
              </a:rPr>
              <a:t>array</a:t>
            </a:r>
            <a:r>
              <a:rPr sz="900">
                <a:solidFill>
                  <a:srgbClr val="2D2D2D"/>
                </a:solidFill>
                <a:latin typeface="Consolas"/>
              </a:rPr>
              <a:t> </a:t>
            </a:r>
            <a:r>
              <a:rPr sz="900">
                <a:solidFill>
                  <a:srgbClr val="19177C"/>
                </a:solidFill>
                <a:latin typeface="Consolas"/>
              </a:rPr>
              <a:t>$supplierIds</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upplierCriteriaTransfer())-&gt;setIdsSupplier(</a:t>
            </a:r>
            <a:r>
              <a:rPr sz="900">
                <a:solidFill>
                  <a:srgbClr val="19177C"/>
                </a:solidFill>
                <a:latin typeface="Consolas"/>
              </a:rPr>
              <a:t>$supplierIds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$suppliers</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-&gt;supplierFacade-&gt;getSupplierCollection(</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$indexed</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foreach</a:t>
            </a:r>
            <a:r>
              <a:rPr sz="900">
                <a:solidFill>
                  <a:srgbClr val="2D2D2D"/>
                </a:solidFill>
                <a:latin typeface="Consolas"/>
              </a:rPr>
              <a:t> (</a:t>
            </a:r>
            <a:r>
              <a:rPr sz="900">
                <a:solidFill>
                  <a:srgbClr val="19177C"/>
                </a:solidFill>
                <a:latin typeface="Consolas"/>
              </a:rPr>
              <a:t>$suppliers</a:t>
            </a:r>
            <a:r>
              <a:rPr sz="900">
                <a:solidFill>
                  <a:srgbClr val="2D2D2D"/>
                </a:solidFill>
                <a:latin typeface="Consolas"/>
              </a:rPr>
              <a:t> </a:t>
            </a:r>
            <a:r>
              <a:rPr sz="900" b="1">
                <a:solidFill>
                  <a:srgbClr val="007020"/>
                </a:solidFill>
                <a:latin typeface="Consolas"/>
              </a:rPr>
              <a:t>as</a:t>
            </a:r>
            <a:r>
              <a:rPr sz="900">
                <a:solidFill>
                  <a:srgbClr val="2D2D2D"/>
                </a:solidFill>
                <a:latin typeface="Consolas"/>
              </a:rPr>
              <a:t> </a:t>
            </a:r>
            <a:r>
              <a:rPr sz="900">
                <a:solidFill>
                  <a:srgbClr val="19177C"/>
                </a:solidFill>
                <a:latin typeface="Consolas"/>
              </a:rPr>
              <a:t>$supplier</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$indexed</a:t>
            </a:r>
            <a:r>
              <a:rPr sz="900">
                <a:solidFill>
                  <a:srgbClr val="2D2D2D"/>
                </a:solidFill>
                <a:latin typeface="Consolas"/>
              </a:rPr>
              <a:t>[</a:t>
            </a:r>
            <a:r>
              <a:rPr sz="900">
                <a:solidFill>
                  <a:srgbClr val="19177C"/>
                </a:solidFill>
                <a:latin typeface="Consolas"/>
              </a:rPr>
              <a:t>$supplier</a:t>
            </a:r>
            <a:r>
              <a:rPr sz="900">
                <a:solidFill>
                  <a:srgbClr val="2D2D2D"/>
                </a:solidFill>
                <a:latin typeface="Consolas"/>
              </a:rPr>
              <a:t>-&gt;getIdSupplier()] </a:t>
            </a:r>
            <a:r>
              <a:rPr sz="900">
                <a:solidFill>
                  <a:srgbClr val="666666"/>
                </a:solidFill>
                <a:latin typeface="Consolas"/>
              </a:rPr>
              <a:t>=</a:t>
            </a:r>
            <a:r>
              <a:rPr sz="900">
                <a:solidFill>
                  <a:srgbClr val="2D2D2D"/>
                </a:solidFill>
                <a:latin typeface="Consolas"/>
              </a:rPr>
              <a:t> </a:t>
            </a:r>
            <a:r>
              <a:rPr sz="900">
                <a:solidFill>
                  <a:srgbClr val="19177C"/>
                </a:solidFill>
                <a:latin typeface="Consolas"/>
              </a:rPr>
              <a:t>$supplier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$indexed</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8.3 Bulk Fetching with filterBy*_In()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Propel generates filterBy*_In() methods that produce SQL WHERE column IN (...) clauses:</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getSuppliers(</a:t>
            </a:r>
            <a:r>
              <a:rPr sz="900">
                <a:solidFill>
                  <a:srgbClr val="880000"/>
                </a:solidFill>
                <a:latin typeface="Consolas"/>
              </a:rPr>
              <a:t>S</a:t>
            </a:r>
            <a:r>
              <a:rPr sz="900">
                <a:solidFill>
                  <a:srgbClr val="2D2D2D"/>
                </a:solidFill>
                <a:latin typeface="Consolas"/>
              </a:rPr>
              <a:t>upplierCriteriaTransfer </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-&gt;getFactory()-&gt;createSupplierQuery()</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-&gt;getIdsSupplier()) {</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-&gt;filterByIdSupplier_In(</a:t>
            </a:r>
            <a:r>
              <a:rPr sz="900">
                <a:solidFill>
                  <a:srgbClr val="19177C"/>
                </a:solidFill>
                <a:latin typeface="Consolas"/>
              </a:rPr>
              <a:t>$criteria</a:t>
            </a:r>
            <a:r>
              <a:rPr sz="900">
                <a:solidFill>
                  <a:srgbClr val="2D2D2D"/>
                </a:solidFill>
                <a:latin typeface="Consolas"/>
              </a:rPr>
              <a:t>-&gt;getIdsSupplier())</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-&gt;getName()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-&gt;filterByName(</a:t>
            </a:r>
            <a:r>
              <a:rPr sz="900">
                <a:solidFill>
                  <a:srgbClr val="19177C"/>
                </a:solidFill>
                <a:latin typeface="Consolas"/>
              </a:rPr>
              <a:t>$criteria</a:t>
            </a:r>
            <a:r>
              <a:rPr sz="900">
                <a:solidFill>
                  <a:srgbClr val="2D2D2D"/>
                </a:solidFill>
                <a:latin typeface="Consolas"/>
              </a:rPr>
              <a:t>-&gt;getName())</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-&gt;mapEntitiesToTransfers(</a:t>
            </a:r>
            <a:r>
              <a:rPr sz="900">
                <a:solidFill>
                  <a:srgbClr val="19177C"/>
                </a:solidFill>
                <a:latin typeface="Consolas"/>
              </a:rPr>
              <a:t>$query</a:t>
            </a:r>
            <a:r>
              <a:rPr sz="900">
                <a:solidFill>
                  <a:srgbClr val="2D2D2D"/>
                </a:solidFill>
                <a:latin typeface="Consolas"/>
              </a:rPr>
              <a:t>-&gt;find())</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8.4 Guard Against Empty IN Clauses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An empty IN () clause causes a SQL error. Always check before querying:</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getSupplierSearches(</a:t>
            </a:r>
            <a:r>
              <a:rPr sz="900">
                <a:solidFill>
                  <a:srgbClr val="880000"/>
                </a:solidFill>
                <a:latin typeface="Consolas"/>
              </a:rPr>
              <a:t>S</a:t>
            </a:r>
            <a:r>
              <a:rPr sz="900">
                <a:solidFill>
                  <a:srgbClr val="2D2D2D"/>
                </a:solidFill>
                <a:latin typeface="Consolas"/>
              </a:rPr>
              <a:t>upplierSearchCriteriaTransfer </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-&gt;getFksSupplier() </a:t>
            </a:r>
            <a:r>
              <a:rPr sz="900">
                <a:solidFill>
                  <a:srgbClr val="666666"/>
                </a:solidFill>
                <a:latin typeface="Consolas"/>
              </a:rPr>
              <a:t>===</a:t>
            </a:r>
            <a:r>
              <a:rPr sz="900">
                <a:solidFill>
                  <a:srgbClr val="2D2D2D"/>
                </a:solidFill>
                <a:latin typeface="Consolas"/>
              </a:rPr>
              <a:t> [])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Guard: never execute IN with empty array</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$entities</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a:t>
            </a:r>
          </a:p>
          <a:p>
            <a:pPr>
              <a:spcBef>
                <a:spcPts val="0"/>
              </a:spcBef>
              <a:spcAft>
                <a:spcPts val="0"/>
              </a:spcAft>
            </a:pPr>
            <a:r>
              <a:rPr sz="900">
                <a:solidFill>
                  <a:srgbClr val="2D2D2D"/>
                </a:solidFill>
                <a:latin typeface="Consolas"/>
              </a:rPr>
              <a:t>        -&gt;createSupplierSearchQuery()</a:t>
            </a:r>
          </a:p>
          <a:p>
            <a:pPr>
              <a:spcBef>
                <a:spcPts val="0"/>
              </a:spcBef>
              <a:spcAft>
                <a:spcPts val="0"/>
              </a:spcAft>
            </a:pPr>
            <a:r>
              <a:rPr sz="900">
                <a:solidFill>
                  <a:srgbClr val="2D2D2D"/>
                </a:solidFill>
                <a:latin typeface="Consolas"/>
              </a:rPr>
              <a:t>        -&gt;filterByFkSupplier_In(</a:t>
            </a:r>
            <a:r>
              <a:rPr sz="900">
                <a:solidFill>
                  <a:srgbClr val="19177C"/>
                </a:solidFill>
                <a:latin typeface="Consolas"/>
              </a:rPr>
              <a:t>$criteria</a:t>
            </a:r>
            <a:r>
              <a:rPr sz="900">
                <a:solidFill>
                  <a:srgbClr val="2D2D2D"/>
                </a:solidFill>
                <a:latin typeface="Consolas"/>
              </a:rPr>
              <a:t>-&gt;getFksSupplier())</a:t>
            </a:r>
          </a:p>
          <a:p>
            <a:pPr>
              <a:spcBef>
                <a:spcPts val="0"/>
              </a:spcBef>
              <a:spcAft>
                <a:spcPts val="0"/>
              </a:spcAft>
            </a:pPr>
            <a:r>
              <a:rPr sz="900">
                <a:solidFill>
                  <a:srgbClr val="2D2D2D"/>
                </a:solidFill>
                <a:latin typeface="Consolas"/>
              </a:rPr>
              <a:t>        -&gt;find()</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-&gt;mapEntitiesToTransfers(</a:t>
            </a:r>
            <a:r>
              <a:rPr sz="900">
                <a:solidFill>
                  <a:srgbClr val="19177C"/>
                </a:solidFill>
                <a:latin typeface="Consolas"/>
              </a:rPr>
              <a:t>$entities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8.5 Propel Query Method Reference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Method                                  SQL                          Use Case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filterByColumn($value)                  WHERE column = ?             Exact match                    </a:t>
            </a:r>
          </a:p>
          <a:p>
            <a:pPr>
              <a:spcAft>
                <a:spcPts val="100"/>
              </a:spcAft>
              <a:defRPr sz="1000">
                <a:solidFill>
                  <a:srgbClr val="1A1A1A"/>
                </a:solidFill>
                <a:latin typeface="Consolas"/>
              </a:defRPr>
            </a:pPr>
            <a:r>
              <a:t>filterByColumn($value, Criteria::LIKE)  WHERE column LIKE ?          Partial match (use % wildcards)</a:t>
            </a:r>
          </a:p>
          <a:p>
            <a:pPr>
              <a:spcAft>
                <a:spcPts val="100"/>
              </a:spcAft>
              <a:defRPr sz="1000">
                <a:solidFill>
                  <a:srgbClr val="1A1A1A"/>
                </a:solidFill>
                <a:latin typeface="Consolas"/>
              </a:defRPr>
            </a:pPr>
            <a:r>
              <a:t>filterByColumn_In($array)               WHERE column IN (?, ?, ...)  Bulk fetch by multiple values  </a:t>
            </a:r>
          </a:p>
          <a:p>
            <a:pPr>
              <a:spcAft>
                <a:spcPts val="100"/>
              </a:spcAft>
              <a:defRPr sz="1000">
                <a:solidFill>
                  <a:srgbClr val="1A1A1A"/>
                </a:solidFill>
                <a:latin typeface="Consolas"/>
              </a:defRPr>
            </a:pPr>
            <a:r>
              <a:t>findOne()                               LIMIT 1                      Get single result              </a:t>
            </a:r>
          </a:p>
          <a:p>
            <a:pPr>
              <a:spcAft>
                <a:spcPts val="100"/>
              </a:spcAft>
              <a:defRPr sz="1000">
                <a:solidFill>
                  <a:srgbClr val="1A1A1A"/>
                </a:solidFill>
                <a:latin typeface="Consolas"/>
              </a:defRPr>
            </a:pPr>
            <a:r>
              <a:t>find()                                  No limit                     Get collection                 </a:t>
            </a:r>
          </a:p>
          <a:p>
            <a:pPr>
              <a:spcAft>
                <a:spcPts val="100"/>
              </a:spcAft>
              <a:defRPr sz="1000">
                <a:solidFill>
                  <a:srgbClr val="1A1A1A"/>
                </a:solidFill>
                <a:latin typeface="Consolas"/>
              </a:defRPr>
            </a:pPr>
            <a:r>
              <a:t>findOneByColumnName($value)             WHERE column = ? LIMIT 1     Shorthand for filter + findOne </a:t>
            </a:r>
          </a:p>
          <a:p>
            <a:pPr>
              <a:spcAft>
                <a:spcPts val="100"/>
              </a:spcAft>
              <a:defRPr sz="1000">
                <a:solidFill>
                  <a:srgbClr val="1A1A1A"/>
                </a:solidFill>
                <a:latin typeface="Consolas"/>
              </a:defRPr>
            </a:pPr>
            <a:r>
              <a:t>findOneOrCreate()                       Finds or creates entity      Upsert patterns (data import)  </a:t>
            </a:r>
          </a:p>
          <a:p>
            <a:pPr>
              <a:spcAft>
                <a:spcPts val="100"/>
              </a:spcAft>
              <a:defRPr sz="1000">
                <a:solidFill>
                  <a:srgbClr val="1A1A1A"/>
                </a:solidFill>
                <a:latin typeface="Consolas"/>
              </a:defRPr>
            </a:pPr>
            <a:r>
              <a:t>count()                                 SELECT COUNT(*)              Count results without fetching</a:t>
            </a:r>
          </a:p>
          <a:p>
            <a:pPr>
              <a:spcBef>
                <a:spcPts val="1200"/>
              </a:spcBef>
              <a:spcAft>
                <a:spcPts val="600"/>
              </a:spcAft>
              <a:defRPr sz="2000" b="1">
                <a:solidFill>
                  <a:srgbClr val="1A1A1A"/>
                </a:solidFill>
              </a:defRPr>
            </a:pPr>
            <a:r>
              <a:t>8.6 Criteria Pattern for Complex Queries</a:t>
            </a:r>
          </a:p>
          <a:p>
            <a:pPr>
              <a:spcAft>
                <a:spcPts val="800"/>
              </a:spcAft>
              <a:defRPr sz="1600">
                <a:solidFill>
                  <a:srgbClr val="1A1A1A"/>
                </a:solidFill>
              </a:defRPr>
            </a:pPr>
            <a:r>
              <a:t>Instead of adding many method parameters, use a CriteriaTransfer to encapsulate search conditions: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8.5 Propel Query Method Reference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 Repository applies conditions based on what's set in criteria</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findContactRequest(</a:t>
            </a:r>
            <a:r>
              <a:rPr sz="900">
                <a:solidFill>
                  <a:srgbClr val="880000"/>
                </a:solidFill>
                <a:latin typeface="Consolas"/>
              </a:rPr>
              <a:t>C</a:t>
            </a:r>
            <a:r>
              <a:rPr sz="900">
                <a:solidFill>
                  <a:srgbClr val="2D2D2D"/>
                </a:solidFill>
                <a:latin typeface="Consolas"/>
              </a:rPr>
              <a:t>ontactRequestCriteriaTransfer </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880000"/>
                </a:solidFill>
                <a:latin typeface="Consolas"/>
              </a:rPr>
              <a:t>C</a:t>
            </a:r>
            <a:r>
              <a:rPr sz="900">
                <a:solidFill>
                  <a:srgbClr val="2D2D2D"/>
                </a:solidFill>
                <a:latin typeface="Consolas"/>
              </a:rPr>
              <a:t>ontactRequestTransfer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-&gt;getFactory()-&gt;createContactRequestQuery()</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if</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-&gt;getIdContactRequest()) {</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-&gt;findOneByIdContactRequest(</a:t>
            </a:r>
            <a:r>
              <a:rPr sz="900">
                <a:solidFill>
                  <a:srgbClr val="19177C"/>
                </a:solidFill>
                <a:latin typeface="Consolas"/>
              </a:rPr>
              <a:t>$criteria</a:t>
            </a:r>
            <a:r>
              <a:rPr sz="900">
                <a:solidFill>
                  <a:srgbClr val="2D2D2D"/>
                </a:solidFill>
                <a:latin typeface="Consolas"/>
              </a:rPr>
              <a:t>-&gt;getIdContactRequest())</a:t>
            </a:r>
            <a:r>
              <a:rPr sz="900">
                <a:solidFill>
                  <a:srgbClr val="007020"/>
                </a:solidFill>
                <a:latin typeface="Consolas"/>
              </a:rPr>
              <a:t>;</a:t>
            </a:r>
          </a:p>
          <a:p>
            <a:pPr>
              <a:spcBef>
                <a:spcPts val="0"/>
              </a:spcBef>
              <a:spcAft>
                <a:spcPts val="0"/>
              </a:spcAft>
            </a:pPr>
            <a:r>
              <a:rPr sz="900">
                <a:solidFill>
                  <a:srgbClr val="2D2D2D"/>
                </a:solidFill>
                <a:latin typeface="Consolas"/>
              </a:rPr>
              <a:t>    } </a:t>
            </a:r>
            <a:r>
              <a:rPr sz="900" b="1">
                <a:solidFill>
                  <a:srgbClr val="007020"/>
                </a:solidFill>
                <a:latin typeface="Consolas"/>
              </a:rPr>
              <a:t>elseif</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-&gt;getMessage()) {</a:t>
            </a:r>
          </a:p>
          <a:p>
            <a:pPr>
              <a:spcBef>
                <a:spcPts val="0"/>
              </a:spcBef>
              <a:spcAft>
                <a:spcPts val="0"/>
              </a:spcAft>
            </a:pPr>
            <a:r>
              <a:rPr sz="900">
                <a:solidFill>
                  <a:srgbClr val="2D2D2D"/>
                </a:solidFill>
                <a:latin typeface="Consolas"/>
              </a:rPr>
              <a:t>        </a:t>
            </a:r>
            <a:r>
              <a:rPr sz="900">
                <a:solidFill>
                  <a:srgbClr val="19177C"/>
                </a:solidFill>
                <a:latin typeface="Consolas"/>
              </a:rPr>
              <a:t>$query</a:t>
            </a:r>
            <a:r>
              <a:rPr sz="900">
                <a:solidFill>
                  <a:srgbClr val="2D2D2D"/>
                </a:solidFill>
                <a:latin typeface="Consolas"/>
              </a:rPr>
              <a:t>-&gt;filterByMessage(</a:t>
            </a:r>
          </a:p>
          <a:p>
            <a:pPr>
              <a:spcBef>
                <a:spcPts val="0"/>
              </a:spcBef>
              <a:spcAft>
                <a:spcPts val="0"/>
              </a:spcAft>
            </a:pPr>
            <a:r>
              <a:rPr sz="900">
                <a:solidFill>
                  <a:srgbClr val="2D2D2D"/>
                </a:solidFill>
                <a:latin typeface="Consolas"/>
              </a:rPr>
              <a:t>            </a:t>
            </a:r>
            <a:r>
              <a:rPr sz="900">
                <a:solidFill>
                  <a:srgbClr val="06287E"/>
                </a:solidFill>
                <a:latin typeface="Consolas"/>
              </a:rPr>
              <a:t>sprintf</a:t>
            </a:r>
            <a:r>
              <a:rPr sz="900">
                <a:solidFill>
                  <a:srgbClr val="2D2D2D"/>
                </a:solidFill>
                <a:latin typeface="Consolas"/>
              </a:rPr>
              <a:t>(</a:t>
            </a:r>
            <a:r>
              <a:rPr sz="900">
                <a:solidFill>
                  <a:srgbClr val="4070A0"/>
                </a:solidFill>
                <a:latin typeface="Consolas"/>
              </a:rPr>
              <a:t>'%%%s%%'</a:t>
            </a:r>
            <a:r>
              <a:rPr sz="900">
                <a:solidFill>
                  <a:srgbClr val="007020"/>
                </a:solidFill>
                <a:latin typeface="Consolas"/>
              </a:rPr>
              <a:t>,</a:t>
            </a: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-&gt;getMessage())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880000"/>
                </a:solidFill>
                <a:latin typeface="Consolas"/>
              </a:rPr>
              <a:t>C</a:t>
            </a:r>
            <a:r>
              <a:rPr sz="900">
                <a:solidFill>
                  <a:srgbClr val="2D2D2D"/>
                </a:solidFill>
                <a:latin typeface="Consolas"/>
              </a:rPr>
              <a:t>riteria::</a:t>
            </a:r>
            <a:r>
              <a:rPr sz="900">
                <a:solidFill>
                  <a:srgbClr val="880000"/>
                </a:solidFill>
                <a:latin typeface="Consolas"/>
              </a:rPr>
              <a:t>LIKE</a:t>
            </a:r>
            <a:r>
              <a:rPr sz="900">
                <a:solidFill>
                  <a:srgbClr val="007020"/>
                </a:solidFill>
                <a:latin typeface="Consolas"/>
              </a:rPr>
              <a:t>,</a:t>
            </a:r>
          </a:p>
          <a:p>
            <a:pPr>
              <a:spcBef>
                <a:spcPts val="0"/>
              </a:spcBef>
              <a:spcAft>
                <a:spcPts val="0"/>
              </a:spcAft>
            </a:pPr>
            <a:r>
              <a:rPr sz="900">
                <a:solidFill>
                  <a:srgbClr val="2D2D2D"/>
                </a:solidFill>
                <a:latin typeface="Consolas"/>
              </a:rPr>
              <a:t>        )-&gt;findOne()</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 map and return</a:t>
            </a:r>
          </a:p>
          <a:p>
            <a:pPr>
              <a:spcBef>
                <a:spcPts val="0"/>
              </a:spcBef>
              <a:spcAft>
                <a:spcPts val="0"/>
              </a:spcAft>
            </a:pPr>
            <a:r>
              <a:rPr sz="900">
                <a:solidFill>
                  <a:srgbClr val="2D2D2D"/>
                </a:solidFill>
                <a:latin typeface="Consolas"/>
              </a:rP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8.5 Propel Query Method Reference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This pattern scales cleanly as you add more filter options - just add properties to the CriteriaTransfer and conditions in the Repository.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 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9.1 Unit Tests: Mock the Interface</a:t>
            </a:r>
          </a:p>
          <a:p>
            <a:pPr>
              <a:spcAft>
                <a:spcPts val="800"/>
              </a:spcAft>
              <a:defRPr sz="1600">
                <a:solidFill>
                  <a:srgbClr val="1A1A1A"/>
                </a:solidFill>
              </a:defRPr>
            </a:pPr>
            <a:r>
              <a:t>Test a single class in isolation. Mock ALL collaborators via their interfaces: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 Testing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SprykerAcademyTest</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Zed</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Supplier</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Business</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SupplierReaderTest</a:t>
            </a:r>
          </a:p>
          <a:p>
            <a:pPr>
              <a:spcBef>
                <a:spcPts val="0"/>
              </a:spcBef>
              <a:spcAft>
                <a:spcPts val="0"/>
              </a:spcAft>
            </a:pPr>
            <a:r>
              <a:rPr sz="900" i="1">
                <a:solidFill>
                  <a:srgbClr val="60A0B0"/>
                </a:solidFill>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upplierReaderTest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U</a:t>
            </a:r>
            <a:r>
              <a:rPr sz="900">
                <a:solidFill>
                  <a:srgbClr val="2D2D2D"/>
                </a:solidFill>
                <a:latin typeface="Consolas"/>
              </a:rPr>
              <a:t>nit</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testGetSuppliersReturnsRepositoryResult()</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$criteria</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upplierCriteriaTransfer()</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$expected</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upplierTransfer())-&gt;setIdSupplier(</a:t>
            </a:r>
            <a:r>
              <a:rPr sz="900">
                <a:solidFill>
                  <a:srgbClr val="40A070"/>
                </a:solidFill>
                <a:latin typeface="Consolas"/>
              </a:rPr>
              <a:t>1</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Mock the interface, not the concrete class</a:t>
            </a:r>
          </a:p>
          <a:p>
            <a:pPr>
              <a:spcBef>
                <a:spcPts val="0"/>
              </a:spcBef>
              <a:spcAft>
                <a:spcPts val="0"/>
              </a:spcAft>
            </a:pPr>
            <a:r>
              <a:rPr sz="900">
                <a:solidFill>
                  <a:srgbClr val="2D2D2D"/>
                </a:solidFill>
                <a:latin typeface="Consolas"/>
              </a:rPr>
              <a:t>        </a:t>
            </a:r>
            <a:r>
              <a:rPr sz="900">
                <a:solidFill>
                  <a:srgbClr val="19177C"/>
                </a:solidFill>
                <a:latin typeface="Consolas"/>
              </a:rPr>
              <a:t>$repositoryMock</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-&gt;createMock(</a:t>
            </a:r>
            <a:r>
              <a:rPr sz="900">
                <a:solidFill>
                  <a:srgbClr val="880000"/>
                </a:solidFill>
                <a:latin typeface="Consolas"/>
              </a:rPr>
              <a:t>S</a:t>
            </a:r>
            <a:r>
              <a:rPr sz="900">
                <a:solidFill>
                  <a:srgbClr val="2D2D2D"/>
                </a:solidFill>
                <a:latin typeface="Consolas"/>
              </a:rPr>
              <a:t>upplierRepositoryInterface::</a:t>
            </a:r>
            <a:r>
              <a:rPr sz="900" b="1">
                <a:solidFill>
                  <a:srgbClr val="007020"/>
                </a:solidFill>
                <a:latin typeface="Consolas"/>
              </a:rPr>
              <a:t>class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$repositoryMock</a:t>
            </a:r>
            <a:r>
              <a:rPr sz="900">
                <a:solidFill>
                  <a:srgbClr val="2D2D2D"/>
                </a:solidFill>
                <a:latin typeface="Consolas"/>
              </a:rPr>
              <a:t>-&gt;expects(</a:t>
            </a:r>
            <a:r>
              <a:rPr sz="900">
                <a:solidFill>
                  <a:srgbClr val="19177C"/>
                </a:solidFill>
                <a:latin typeface="Consolas"/>
              </a:rPr>
              <a:t>$this</a:t>
            </a:r>
            <a:r>
              <a:rPr sz="900">
                <a:solidFill>
                  <a:srgbClr val="2D2D2D"/>
                </a:solidFill>
                <a:latin typeface="Consolas"/>
              </a:rPr>
              <a:t>-&gt;once())</a:t>
            </a:r>
          </a:p>
          <a:p>
            <a:pPr>
              <a:spcBef>
                <a:spcPts val="0"/>
              </a:spcBef>
              <a:spcAft>
                <a:spcPts val="0"/>
              </a:spcAft>
            </a:pPr>
            <a:r>
              <a:rPr sz="900">
                <a:solidFill>
                  <a:srgbClr val="2D2D2D"/>
                </a:solidFill>
                <a:latin typeface="Consolas"/>
              </a:rPr>
              <a:t>            -&gt;method(</a:t>
            </a:r>
            <a:r>
              <a:rPr sz="900">
                <a:solidFill>
                  <a:srgbClr val="4070A0"/>
                </a:solidFill>
                <a:latin typeface="Consolas"/>
              </a:rPr>
              <a:t>'getSuppliers'</a:t>
            </a:r>
            <a:r>
              <a:rPr sz="900">
                <a:solidFill>
                  <a:srgbClr val="2D2D2D"/>
                </a:solidFill>
                <a:latin typeface="Consolas"/>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 Testing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-&gt;with(</a:t>
            </a:r>
            <a:r>
              <a:rPr sz="900">
                <a:solidFill>
                  <a:srgbClr val="19177C"/>
                </a:solidFill>
                <a:latin typeface="Consolas"/>
              </a:rPr>
              <a:t>$criteria</a:t>
            </a:r>
            <a:r>
              <a:rPr sz="900">
                <a:solidFill>
                  <a:srgbClr val="2D2D2D"/>
                </a:solidFill>
                <a:latin typeface="Consolas"/>
              </a:rPr>
              <a:t>)</a:t>
            </a:r>
          </a:p>
          <a:p>
            <a:pPr>
              <a:spcBef>
                <a:spcPts val="0"/>
              </a:spcBef>
              <a:spcAft>
                <a:spcPts val="0"/>
              </a:spcAft>
            </a:pPr>
            <a:r>
              <a:rPr sz="900">
                <a:solidFill>
                  <a:srgbClr val="2D2D2D"/>
                </a:solidFill>
                <a:latin typeface="Consolas"/>
              </a:rPr>
              <a:t>            -&gt;willReturn(</a:t>
            </a:r>
            <a:r>
              <a:rPr sz="900">
                <a:solidFill>
                  <a:srgbClr val="19177C"/>
                </a:solidFill>
                <a:latin typeface="Consolas"/>
              </a:rPr>
              <a:t>$expected</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$reader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upplierReader(</a:t>
            </a:r>
            <a:r>
              <a:rPr sz="900">
                <a:solidFill>
                  <a:srgbClr val="19177C"/>
                </a:solidFill>
                <a:latin typeface="Consolas"/>
              </a:rPr>
              <a:t>$repositoryMock</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$actual</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$reader</a:t>
            </a:r>
            <a:r>
              <a:rPr sz="900">
                <a:solidFill>
                  <a:srgbClr val="2D2D2D"/>
                </a:solidFill>
                <a:latin typeface="Consolas"/>
              </a:rPr>
              <a:t>-&gt;getSuppliers(</a:t>
            </a:r>
            <a:r>
              <a:rPr sz="900">
                <a:solidFill>
                  <a:srgbClr val="19177C"/>
                </a:solidFill>
                <a:latin typeface="Consolas"/>
              </a:rPr>
              <a:t>$criteria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-&gt;assertSame(</a:t>
            </a:r>
            <a:r>
              <a:rPr sz="900">
                <a:solidFill>
                  <a:srgbClr val="19177C"/>
                </a:solidFill>
                <a:latin typeface="Consolas"/>
              </a:rPr>
              <a:t>$expected</a:t>
            </a:r>
            <a:r>
              <a:rPr sz="900">
                <a:solidFill>
                  <a:srgbClr val="007020"/>
                </a:solidFill>
                <a:latin typeface="Consolas"/>
              </a:rPr>
              <a:t>,</a:t>
            </a:r>
            <a:r>
              <a:rPr sz="900">
                <a:solidFill>
                  <a:srgbClr val="2D2D2D"/>
                </a:solidFill>
                <a:latin typeface="Consolas"/>
              </a:rPr>
              <a:t> </a:t>
            </a:r>
            <a:r>
              <a:rPr sz="900">
                <a:solidFill>
                  <a:srgbClr val="19177C"/>
                </a:solidFill>
                <a:latin typeface="Consolas"/>
              </a:rPr>
              <a:t>$actual</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9.2 Testing Write Operations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testCreateDelegatesToEntityManager()</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$input</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upplierTransfer())-&gt;setName(</a:t>
            </a:r>
            <a:r>
              <a:rPr sz="900">
                <a:solidFill>
                  <a:srgbClr val="4070A0"/>
                </a:solidFill>
                <a:latin typeface="Consolas"/>
              </a:rPr>
              <a:t>'Supplier 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$expected</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upplierTransfer())-&gt;setIdSupplier(</a:t>
            </a:r>
            <a:r>
              <a:rPr sz="900">
                <a:solidFill>
                  <a:srgbClr val="40A070"/>
                </a:solidFill>
                <a:latin typeface="Consolas"/>
              </a:rPr>
              <a:t>1</a:t>
            </a:r>
            <a:r>
              <a:rPr sz="900">
                <a:solidFill>
                  <a:srgbClr val="2D2D2D"/>
                </a:solidFill>
                <a:latin typeface="Consolas"/>
              </a:rPr>
              <a:t>)-&gt;setName(</a:t>
            </a:r>
            <a:r>
              <a:rPr sz="900">
                <a:solidFill>
                  <a:srgbClr val="4070A0"/>
                </a:solidFill>
                <a:latin typeface="Consolas"/>
              </a:rPr>
              <a:t>'Supplier A'</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$entityManagerMock</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-&gt;createMock(</a:t>
            </a:r>
            <a:r>
              <a:rPr sz="900">
                <a:solidFill>
                  <a:srgbClr val="880000"/>
                </a:solidFill>
                <a:latin typeface="Consolas"/>
              </a:rPr>
              <a:t>S</a:t>
            </a:r>
            <a:r>
              <a:rPr sz="900">
                <a:solidFill>
                  <a:srgbClr val="2D2D2D"/>
                </a:solidFill>
                <a:latin typeface="Consolas"/>
              </a:rPr>
              <a:t>upplierEntityManagerInterface::</a:t>
            </a:r>
            <a:r>
              <a:rPr sz="900" b="1">
                <a:solidFill>
                  <a:srgbClr val="007020"/>
                </a:solidFill>
                <a:latin typeface="Consolas"/>
              </a:rPr>
              <a:t>class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$entityManagerMock</a:t>
            </a:r>
            <a:r>
              <a:rPr sz="900">
                <a:solidFill>
                  <a:srgbClr val="2D2D2D"/>
                </a:solidFill>
                <a:latin typeface="Consolas"/>
              </a:rPr>
              <a:t>-&gt;expects(</a:t>
            </a:r>
            <a:r>
              <a:rPr sz="900">
                <a:solidFill>
                  <a:srgbClr val="19177C"/>
                </a:solidFill>
                <a:latin typeface="Consolas"/>
              </a:rPr>
              <a:t>$this</a:t>
            </a:r>
            <a:r>
              <a:rPr sz="900">
                <a:solidFill>
                  <a:srgbClr val="2D2D2D"/>
                </a:solidFill>
                <a:latin typeface="Consolas"/>
              </a:rPr>
              <a:t>-&gt;once())</a:t>
            </a:r>
          </a:p>
          <a:p>
            <a:pPr>
              <a:spcBef>
                <a:spcPts val="0"/>
              </a:spcBef>
              <a:spcAft>
                <a:spcPts val="0"/>
              </a:spcAft>
            </a:pPr>
            <a:r>
              <a:rPr sz="900">
                <a:solidFill>
                  <a:srgbClr val="2D2D2D"/>
                </a:solidFill>
                <a:latin typeface="Consolas"/>
              </a:rPr>
              <a:t>        -&gt;method(</a:t>
            </a:r>
            <a:r>
              <a:rPr sz="900">
                <a:solidFill>
                  <a:srgbClr val="4070A0"/>
                </a:solidFill>
                <a:latin typeface="Consolas"/>
              </a:rPr>
              <a:t>'createSupplier'</a:t>
            </a:r>
            <a:r>
              <a:rPr sz="900">
                <a:solidFill>
                  <a:srgbClr val="2D2D2D"/>
                </a:solidFill>
                <a:latin typeface="Consolas"/>
              </a:rPr>
              <a:t>)</a:t>
            </a:r>
          </a:p>
          <a:p>
            <a:pPr>
              <a:spcBef>
                <a:spcPts val="0"/>
              </a:spcBef>
              <a:spcAft>
                <a:spcPts val="0"/>
              </a:spcAft>
            </a:pPr>
            <a:r>
              <a:rPr sz="900">
                <a:solidFill>
                  <a:srgbClr val="2D2D2D"/>
                </a:solidFill>
                <a:latin typeface="Consolas"/>
              </a:rPr>
              <a:t>        -&gt;with(</a:t>
            </a:r>
            <a:r>
              <a:rPr sz="900">
                <a:solidFill>
                  <a:srgbClr val="19177C"/>
                </a:solidFill>
                <a:latin typeface="Consolas"/>
              </a:rPr>
              <a:t>$input</a:t>
            </a:r>
            <a:r>
              <a:rPr sz="900">
                <a:solidFill>
                  <a:srgbClr val="2D2D2D"/>
                </a:solidFill>
                <a:latin typeface="Consolas"/>
              </a:rPr>
              <a:t>)</a:t>
            </a:r>
          </a:p>
          <a:p>
            <a:pPr>
              <a:spcBef>
                <a:spcPts val="0"/>
              </a:spcBef>
              <a:spcAft>
                <a:spcPts val="0"/>
              </a:spcAft>
            </a:pPr>
            <a:r>
              <a:rPr sz="900">
                <a:solidFill>
                  <a:srgbClr val="2D2D2D"/>
                </a:solidFill>
                <a:latin typeface="Consolas"/>
              </a:rPr>
              <a:t>        -&gt;willReturn(</a:t>
            </a:r>
            <a:r>
              <a:rPr sz="900">
                <a:solidFill>
                  <a:srgbClr val="19177C"/>
                </a:solidFill>
                <a:latin typeface="Consolas"/>
              </a:rPr>
              <a:t>$expected</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$writer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upplierWriter(</a:t>
            </a:r>
            <a:r>
              <a:rPr sz="900">
                <a:solidFill>
                  <a:srgbClr val="19177C"/>
                </a:solidFill>
                <a:latin typeface="Consolas"/>
              </a:rPr>
              <a:t>$entityManagerMock</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$actual</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$writer</a:t>
            </a:r>
            <a:r>
              <a:rPr sz="900">
                <a:solidFill>
                  <a:srgbClr val="2D2D2D"/>
                </a:solidFill>
                <a:latin typeface="Consolas"/>
              </a:rPr>
              <a:t>-&gt;create(</a:t>
            </a:r>
            <a:r>
              <a:rPr sz="900">
                <a:solidFill>
                  <a:srgbClr val="19177C"/>
                </a:solidFill>
                <a:latin typeface="Consolas"/>
              </a:rPr>
              <a:t>$input</a:t>
            </a:r>
            <a:r>
              <a:rPr sz="900">
                <a:solidFill>
                  <a:srgbClr val="2D2D2D"/>
                </a:solidFill>
                <a:latin typeface="Consolas"/>
              </a:rPr>
              <a: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-&gt;assertSame(</a:t>
            </a:r>
            <a:r>
              <a:rPr sz="900">
                <a:solidFill>
                  <a:srgbClr val="19177C"/>
                </a:solidFill>
                <a:latin typeface="Consolas"/>
              </a:rPr>
              <a:t>$expected</a:t>
            </a:r>
            <a:r>
              <a:rPr sz="900">
                <a:solidFill>
                  <a:srgbClr val="007020"/>
                </a:solidFill>
                <a:latin typeface="Consolas"/>
              </a:rPr>
              <a:t>,</a:t>
            </a:r>
            <a:r>
              <a:rPr sz="900">
                <a:solidFill>
                  <a:srgbClr val="2D2D2D"/>
                </a:solidFill>
                <a:latin typeface="Consolas"/>
              </a:rPr>
              <a:t> </a:t>
            </a:r>
            <a:r>
              <a:rPr sz="900">
                <a:solidFill>
                  <a:srgbClr val="19177C"/>
                </a:solidFill>
                <a:latin typeface="Consolas"/>
              </a:rPr>
              <a:t>$actual</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9.3 Integration Tests: Clean State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Use setUp() and tearDown() to ensure database isolation:</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S</a:t>
            </a:r>
            <a:r>
              <a:rPr sz="900">
                <a:solidFill>
                  <a:srgbClr val="2D2D2D"/>
                </a:solidFill>
                <a:latin typeface="Consolas"/>
              </a:rPr>
              <a:t>upplierDataImportTest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U</a:t>
            </a:r>
            <a:r>
              <a:rPr sz="900">
                <a:solidFill>
                  <a:srgbClr val="2D2D2D"/>
                </a:solidFill>
                <a:latin typeface="Consolas"/>
              </a:rPr>
              <a:t>nit</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setUp()</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parent</a:t>
            </a:r>
            <a:r>
              <a:rPr sz="900">
                <a:solidFill>
                  <a:srgbClr val="2D2D2D"/>
                </a:solidFill>
                <a:latin typeface="Consolas"/>
              </a:rPr>
              <a:t>::setUp()</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-&gt;cleanTestData()</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tearDown()</a:t>
            </a:r>
            <a:r>
              <a:rPr sz="900">
                <a:solidFill>
                  <a:srgbClr val="007020"/>
                </a:solidFill>
                <a:latin typeface="Consolas"/>
              </a:rPr>
              <a:t>:</a:t>
            </a:r>
            <a:r>
              <a:rPr sz="900">
                <a:solidFill>
                  <a:srgbClr val="2D2D2D"/>
                </a:solidFill>
                <a:latin typeface="Consolas"/>
              </a:rPr>
              <a:t> </a:t>
            </a:r>
            <a:r>
              <a:rPr sz="900">
                <a:solidFill>
                  <a:srgbClr val="902000"/>
                </a:solidFill>
                <a:latin typeface="Consolas"/>
              </a:rPr>
              <a:t>void</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-&gt;cleanTestData()</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parent</a:t>
            </a:r>
            <a:r>
              <a:rPr sz="900">
                <a:solidFill>
                  <a:srgbClr val="2D2D2D"/>
                </a:solidFill>
                <a:latin typeface="Consolas"/>
              </a:rPr>
              <a:t>::tearDown()</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9.4 Group Annotations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Every test class must carry @group annotations mirroring the namespace hierarchy:</a:t>
            </a:r>
          </a:p>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SprykerAcademyTest</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Zed</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Supplier</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Business</a:t>
            </a:r>
          </a:p>
          <a:p>
            <a:pPr>
              <a:spcBef>
                <a:spcPts val="0"/>
              </a:spcBef>
              <a:spcAft>
                <a:spcPts val="0"/>
              </a:spcAft>
            </a:pPr>
            <a:r>
              <a:rPr sz="900" i="1">
                <a:solidFill>
                  <a:srgbClr val="60A0B0"/>
                </a:solidFill>
                <a:latin typeface="Consolas"/>
              </a:rPr>
              <a:t> * </a:t>
            </a:r>
            <a:r>
              <a:rPr sz="900" b="1" i="1">
                <a:solidFill>
                  <a:srgbClr val="60A0B0"/>
                </a:solidFill>
                <a:latin typeface="Consolas"/>
              </a:rPr>
              <a:t>@group</a:t>
            </a:r>
            <a:r>
              <a:rPr sz="900" i="1">
                <a:solidFill>
                  <a:srgbClr val="60A0B0"/>
                </a:solidFill>
                <a:latin typeface="Consolas"/>
              </a:rPr>
              <a:t> SupplierReaderTest</a:t>
            </a:r>
          </a:p>
          <a:p>
            <a:pPr>
              <a:spcBef>
                <a:spcPts val="0"/>
              </a:spcBef>
              <a:spcAft>
                <a:spcPts val="0"/>
              </a:spcAft>
            </a:pPr>
            <a:r>
              <a:rPr sz="900" i="1">
                <a:solidFill>
                  <a:srgbClr val="60A0B0"/>
                </a:solidFill>
                <a:latin typeface="Consolas"/>
              </a:rPr>
              <a:t> */</a:t>
            </a:r>
          </a:p>
          <a:p>
            <a:pPr>
              <a:spcAft>
                <a:spcPts val="800"/>
              </a:spcAft>
              <a:defRPr sz="1600">
                <a:solidFill>
                  <a:srgbClr val="1A1A1A"/>
                </a:solidFill>
              </a:defRPr>
            </a:pPr>
            <a:r>
              <a:t>This enables running subsets of tests: docker/sdk cli vendor/bin/codecept run -c tests/SprykerAcademyTest/Zed/Supplier/ --group Supplier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10. Common Commands Reference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Command                                                            When to Use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docker/sdk cli composer dump-autoload                              After adding a class in a namespace PHP does not know yet (the loader runs it for you)                                                                                             </a:t>
            </a:r>
          </a:p>
          <a:p>
            <a:pPr>
              <a:spcAft>
                <a:spcPts val="100"/>
              </a:spcAft>
              <a:defRPr sz="1000">
                <a:solidFill>
                  <a:srgbClr val="1A1A1A"/>
                </a:solidFill>
                <a:latin typeface="Consolas"/>
              </a:defRPr>
            </a:pPr>
            <a:r>
              <a:t>docker/sdk console transfer:generate                               After modifying .transfer.xml files                                                                                                                                                </a:t>
            </a:r>
          </a:p>
          <a:p>
            <a:pPr>
              <a:spcAft>
                <a:spcPts val="100"/>
              </a:spcAft>
              <a:defRPr sz="1000">
                <a:solidFill>
                  <a:srgbClr val="1A1A1A"/>
                </a:solidFill>
                <a:latin typeface="Consolas"/>
              </a:defRPr>
            </a:pPr>
            <a:r>
              <a:t>docker/sdk console propel:install                                  After modifying .schema.xml files                                                                                                                                                  </a:t>
            </a:r>
          </a:p>
          <a:p>
            <a:pPr>
              <a:spcAft>
                <a:spcPts val="100"/>
              </a:spcAft>
              <a:defRPr sz="1000">
                <a:solidFill>
                  <a:srgbClr val="1A1A1A"/>
                </a:solidFill>
                <a:latin typeface="Consolas"/>
              </a:defRPr>
            </a:pPr>
            <a:r>
              <a:t>docker/sdk console data:import --config=&lt;file&gt;.yml                 After implementing data importers; without --config only the entries of data/import/local/full_EU.yml run (the supplier exercises: --config=data/import/local/supplier_import.yml )</a:t>
            </a:r>
          </a:p>
          <a:p>
            <a:pPr>
              <a:spcAft>
                <a:spcPts val="100"/>
              </a:spcAft>
              <a:defRPr sz="1000">
                <a:solidFill>
                  <a:srgbClr val="1A1A1A"/>
                </a:solidFill>
                <a:latin typeface="Consolas"/>
              </a:defRPr>
            </a:pPr>
            <a:r>
              <a:t>docker/sdk console publish:trigger-events -r &lt;resource&gt;            To publish existing rows again (e.g. -r supplier ); then run the queue workers                                                                                                     </a:t>
            </a:r>
          </a:p>
          <a:p>
            <a:pPr>
              <a:spcAft>
                <a:spcPts val="100"/>
              </a:spcAft>
              <a:defRPr sz="1000">
                <a:solidFill>
                  <a:srgbClr val="1A1A1A"/>
                </a:solidFill>
                <a:latin typeface="Consolas"/>
              </a:defRPr>
            </a:pPr>
            <a:r>
              <a:t>docker/sdk console queue:worker:start                              To process queued messages                                                                                                                                                         </a:t>
            </a:r>
          </a:p>
          <a:p>
            <a:pPr>
              <a:spcAft>
                <a:spcPts val="100"/>
              </a:spcAft>
              <a:defRPr sz="1000">
                <a:solidFill>
                  <a:srgbClr val="1A1A1A"/>
                </a:solidFill>
                <a:latin typeface="Consolas"/>
              </a:defRPr>
            </a:pPr>
            <a:r>
              <a:t>docker/sdk console search:setup:sources                            After modifying search schemas                                                                                                                                                     </a:t>
            </a:r>
          </a:p>
          <a:p>
            <a:pPr>
              <a:spcAft>
                <a:spcPts val="100"/>
              </a:spcAft>
              <a:defRPr sz="1000">
                <a:solidFill>
                  <a:srgbClr val="1A1A1A"/>
                </a:solidFill>
                <a:latin typeface="Consolas"/>
              </a:defRPr>
            </a:pPr>
            <a:r>
              <a:t>docker/sdk cli GLUE_APPLICATION=GLUE glue api:generate storefront  After adding or changing API Platform resources ( *.resource.yml ); follow it with glue cache:clear                                                                                </a:t>
            </a:r>
          </a:p>
          <a:p>
            <a:pPr>
              <a:spcAft>
                <a:spcPts val="100"/>
              </a:spcAft>
              <a:defRPr sz="1000">
                <a:solidFill>
                  <a:srgbClr val="1A1A1A"/>
                </a:solidFill>
                <a:latin typeface="Consolas"/>
              </a:defRPr>
            </a:pPr>
            <a:r>
              <a:t>docker/sdk console router:cache:warm-up                            After adding new route providers                                                                                                                                                   </a:t>
            </a:r>
          </a:p>
          <a:p>
            <a:pPr>
              <a:spcAft>
                <a:spcPts val="100"/>
              </a:spcAft>
              <a:defRPr sz="1000">
                <a:solidFill>
                  <a:srgbClr val="1A1A1A"/>
                </a:solidFill>
                <a:latin typeface="Consolas"/>
              </a:defRPr>
            </a:pPr>
            <a:r>
              <a:t>docker/sdk console navigation:build-cache                          After modifying navigation XML                                                                                                                                                     </a:t>
            </a:r>
          </a:p>
          <a:p>
            <a:pPr>
              <a:spcAft>
                <a:spcPts val="100"/>
              </a:spcAft>
              <a:defRPr sz="1000">
                <a:solidFill>
                  <a:srgbClr val="1A1A1A"/>
                </a:solidFill>
                <a:latin typeface="Consolas"/>
              </a:defRPr>
            </a:pPr>
            <a:r>
              <a:t>docker/sdk console cache:empty-all                                 When experiencing cache issues. It also deletes the Propel table map, so follow it with propel:model:build                                                                         </a:t>
            </a:r>
          </a:p>
          <a:p>
            <a:pPr>
              <a:spcAft>
                <a:spcPts val="100"/>
              </a:spcAft>
              <a:defRPr sz="1000">
                <a:solidFill>
                  <a:srgbClr val="1A1A1A"/>
                </a:solidFill>
                <a:latin typeface="Consolas"/>
              </a:defRPr>
            </a:pPr>
            <a:r>
              <a:t>docker/sdk console c:e                                             Shortcut for cache:empty-all                                                                                                                                                       </a:t>
            </a:r>
          </a:p>
          <a:p>
            <a:pPr>
              <a:spcAft>
                <a:spcPts val="100"/>
              </a:spcAft>
              <a:defRPr sz="1000">
                <a:solidFill>
                  <a:srgbClr val="1A1A1A"/>
                </a:solidFill>
                <a:latin typeface="Consolas"/>
              </a:defRPr>
            </a:pPr>
            <a:r>
              <a:t>docker/sdk console propel:model:build                              After cache:empty-all : rebuilds the ORM classes and the table map in data/cache/propel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Quick Reference: File Naming and Location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What                    Path Pattern                                                   Example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Facade                  Zed/{Module}/Business/{Module}Facade.php                       ContactRequestFacade.php                 </a:t>
            </a:r>
          </a:p>
          <a:p>
            <a:pPr>
              <a:spcAft>
                <a:spcPts val="100"/>
              </a:spcAft>
              <a:defRPr sz="1000">
                <a:solidFill>
                  <a:srgbClr val="1A1A1A"/>
                </a:solidFill>
                <a:latin typeface="Consolas"/>
              </a:defRPr>
            </a:pPr>
            <a:r>
              <a:t>Facade Interface        Zed/{Module}/Business/{Module}FacadeInterface.php              ContactRequestFacadeInterface.php        </a:t>
            </a:r>
          </a:p>
          <a:p>
            <a:pPr>
              <a:spcAft>
                <a:spcPts val="100"/>
              </a:spcAft>
              <a:defRPr sz="1000">
                <a:solidFill>
                  <a:srgbClr val="1A1A1A"/>
                </a:solidFill>
                <a:latin typeface="Consolas"/>
              </a:defRPr>
            </a:pPr>
            <a:r>
              <a:t>Business Factory        Zed/{Module}/Business/{Module}BusinessFactory.php              ContactRequestBusinessFactory.php        </a:t>
            </a:r>
          </a:p>
          <a:p>
            <a:pPr>
              <a:spcAft>
                <a:spcPts val="100"/>
              </a:spcAft>
              <a:defRPr sz="1000">
                <a:solidFill>
                  <a:srgbClr val="1A1A1A"/>
                </a:solidFill>
                <a:latin typeface="Consolas"/>
              </a:defRPr>
            </a:pPr>
            <a:r>
              <a:t>Reader                  Zed/{Module}/Business/Reader/{Entity}Reader.php                ContactRequestReader.php                 </a:t>
            </a:r>
          </a:p>
          <a:p>
            <a:pPr>
              <a:spcAft>
                <a:spcPts val="100"/>
              </a:spcAft>
              <a:defRPr sz="1000">
                <a:solidFill>
                  <a:srgbClr val="1A1A1A"/>
                </a:solidFill>
                <a:latin typeface="Consolas"/>
              </a:defRPr>
            </a:pPr>
            <a:r>
              <a:t>Writer                  Zed/{Module}/Business/Writer/{Entity}Writer.php                ContactRequestWriter.php                 </a:t>
            </a:r>
          </a:p>
          <a:p>
            <a:pPr>
              <a:spcAft>
                <a:spcPts val="100"/>
              </a:spcAft>
              <a:defRPr sz="1000">
                <a:solidFill>
                  <a:srgbClr val="1A1A1A"/>
                </a:solidFill>
                <a:latin typeface="Consolas"/>
              </a:defRPr>
            </a:pPr>
            <a:r>
              <a:t>Repository              Zed/{Module}/Persistence/{Module}Repository.php                ContactRequestRepository.php             </a:t>
            </a:r>
          </a:p>
          <a:p>
            <a:pPr>
              <a:spcAft>
                <a:spcPts val="100"/>
              </a:spcAft>
              <a:defRPr sz="1000">
                <a:solidFill>
                  <a:srgbClr val="1A1A1A"/>
                </a:solidFill>
                <a:latin typeface="Consolas"/>
              </a:defRPr>
            </a:pPr>
            <a:r>
              <a:t>Repository Interface    Zed/{Module}/Persistence/{Module}RepositoryInterface.php       ContactRequestRepositoryInterface.php    </a:t>
            </a:r>
          </a:p>
          <a:p>
            <a:pPr>
              <a:spcAft>
                <a:spcPts val="100"/>
              </a:spcAft>
              <a:defRPr sz="1000">
                <a:solidFill>
                  <a:srgbClr val="1A1A1A"/>
                </a:solidFill>
                <a:latin typeface="Consolas"/>
              </a:defRPr>
            </a:pPr>
            <a:r>
              <a:t>EntityManager           Zed/{Module}/Persistence/{Module}EntityManager.php             ContactRequestEntityManager.php          </a:t>
            </a:r>
          </a:p>
          <a:p>
            <a:pPr>
              <a:spcAft>
                <a:spcPts val="100"/>
              </a:spcAft>
              <a:defRPr sz="1000">
                <a:solidFill>
                  <a:srgbClr val="1A1A1A"/>
                </a:solidFill>
                <a:latin typeface="Consolas"/>
              </a:defRPr>
            </a:pPr>
            <a:r>
              <a:t>PersistenceFactory      Zed/{Module}/Persistence/{Module}PersistenceFactory.php        ContactRequestPersistenceFactory.php     </a:t>
            </a:r>
          </a:p>
          <a:p>
            <a:pPr>
              <a:spcAft>
                <a:spcPts val="100"/>
              </a:spcAft>
              <a:defRPr sz="1000">
                <a:solidFill>
                  <a:srgbClr val="1A1A1A"/>
                </a:solidFill>
                <a:latin typeface="Consolas"/>
              </a:defRPr>
            </a:pPr>
            <a:r>
              <a:t>Mapper                  Zed/{Module}/Persistence/Mapper/{Entity}Mapper.php             ContactRequestMapper.php                 </a:t>
            </a:r>
          </a:p>
          <a:p>
            <a:pPr>
              <a:spcAft>
                <a:spcPts val="100"/>
              </a:spcAft>
              <a:defRPr sz="1000">
                <a:solidFill>
                  <a:srgbClr val="1A1A1A"/>
                </a:solidFill>
                <a:latin typeface="Consolas"/>
              </a:defRPr>
            </a:pPr>
            <a:r>
              <a:t>Propel Schema           Zed/{Module}/Persistence/Propel/Schema/pyz_{table}.schema.xml  pyz_contact_request.schema.xml           </a:t>
            </a:r>
          </a:p>
          <a:p>
            <a:pPr>
              <a:spcAft>
                <a:spcPts val="100"/>
              </a:spcAft>
              <a:defRPr sz="1000">
                <a:solidFill>
                  <a:srgbClr val="1A1A1A"/>
                </a:solidFill>
                <a:latin typeface="Consolas"/>
              </a:defRPr>
            </a:pPr>
            <a:r>
              <a:t>GatewayController       Zed/{Module}/Communication/Controller/GatewayController.php    GatewayController.php                    </a:t>
            </a:r>
          </a:p>
          <a:p>
            <a:pPr>
              <a:spcAft>
                <a:spcPts val="100"/>
              </a:spcAft>
              <a:defRPr sz="1000">
                <a:solidFill>
                  <a:srgbClr val="1A1A1A"/>
                </a:solidFill>
                <a:latin typeface="Consolas"/>
              </a:defRPr>
            </a:pPr>
            <a:r>
              <a:t>Back Office Controller  Zed/{Module}/Communication/Controller/{Name}Controller.php     ContactRequestController.php             </a:t>
            </a:r>
          </a:p>
          <a:p>
            <a:pPr>
              <a:spcAft>
                <a:spcPts val="100"/>
              </a:spcAft>
              <a:defRPr sz="1000">
                <a:solidFill>
                  <a:srgbClr val="1A1A1A"/>
                </a:solidFill>
                <a:latin typeface="Consolas"/>
              </a:defRPr>
            </a:pPr>
            <a:r>
              <a:t>Twig Template           Zed/{Module}/Presentation/{Controller}/{action}.twig           Message/add.twig                         </a:t>
            </a:r>
          </a:p>
          <a:p>
            <a:pPr>
              <a:spcAft>
                <a:spcPts val="100"/>
              </a:spcAft>
              <a:defRPr sz="1000">
                <a:solidFill>
                  <a:srgbClr val="1A1A1A"/>
                </a:solidFill>
                <a:latin typeface="Consolas"/>
              </a:defRPr>
            </a:pPr>
            <a:r>
              <a:t>Client                  Client/{Module}/{Module}Client.php                             ContactRequestClient.php                 </a:t>
            </a:r>
          </a:p>
          <a:p>
            <a:pPr>
              <a:spcAft>
                <a:spcPts val="100"/>
              </a:spcAft>
              <a:defRPr sz="1000">
                <a:solidFill>
                  <a:srgbClr val="1A1A1A"/>
                </a:solidFill>
                <a:latin typeface="Consolas"/>
              </a:defRPr>
            </a:pPr>
            <a:r>
              <a:t>Stub                    Client/{Module}/Stub/{Module}Stub.php                          ContactRequestStub.php</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Quick Reference: File Naming and Location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Transfer XML            Shared/{Module}/Transfer/{module}.transfer.xml                 contact_request.transfer.xml             </a:t>
            </a:r>
          </a:p>
          <a:p>
            <a:pPr>
              <a:spcAft>
                <a:spcPts val="100"/>
              </a:spcAft>
              <a:defRPr sz="1000">
                <a:solidFill>
                  <a:srgbClr val="1A1A1A"/>
                </a:solidFill>
                <a:latin typeface="Consolas"/>
              </a:defRPr>
            </a:pPr>
            <a:r>
              <a:t>DependencyProvider      {Layer}/{Module}/{Module}DependencyProvider.php                ContactRequestDependencyProvider.php     </a:t>
            </a:r>
          </a:p>
          <a:p>
            <a:pPr>
              <a:spcAft>
                <a:spcPts val="100"/>
              </a:spcAft>
              <a:defRPr sz="1000">
                <a:solidFill>
                  <a:srgbClr val="1A1A1A"/>
                </a:solidFill>
                <a:latin typeface="Consolas"/>
              </a:defRPr>
            </a:pPr>
            <a:r>
              <a:t>Route Plugin            Yves/{Module}/Plugin/Router/{Module}RouteProviderPlugin.php    ContactRequestPageRouteProviderPlugin.php</a:t>
            </a:r>
          </a:p>
          <a:p>
            <a:pPr>
              <a:spcAft>
                <a:spcPts val="100"/>
              </a:spcAft>
              <a:defRPr sz="1000">
                <a:solidFill>
                  <a:srgbClr val="1A1A1A"/>
                </a:solidFill>
                <a:latin typeface="Consolas"/>
              </a:defRPr>
            </a:pPr>
            <a:r>
              <a:t>Unit Test               tests/{Ns}Test/Zed/{Module}/Business/{Class}Test.php           SupplierReaderTest.php</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1: Contact Request Page in Back Office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1: Contact Request Page in Back Office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create a simple Spryker Back Office page and add an entry for it in the main navigation.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Demo shop started on your local machine</a:t>
            </a:r>
          </a:p>
          <a:p>
            <a:pPr>
              <a:spcAft>
                <a:spcPts val="400"/>
              </a:spcAft>
              <a:defRPr sz="1500">
                <a:solidFill>
                  <a:srgbClr val="1A1A1A"/>
                </a:solidFill>
              </a:defRPr>
            </a:pPr>
            <a:r>
              <a:t>• Exercises repository cloned (see Student Setup Guide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basics/contact-request-back-office/skeleton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a:p>
            <a:pPr>
              <a:spcAft>
                <a:spcPts val="800"/>
              </a:spcAft>
              <a:defRPr sz="1600">
                <a:solidFill>
                  <a:srgbClr val="1A1A1A"/>
                </a:solidFill>
              </a:defRPr>
            </a:pPr>
            <a:r>
              <a:t>The loader registers the SprykerAcademy namespace in two places - autoload.psr-4 in composer.json and PROJECT_NAMESPACES in config/Shared/config_default.php - and then runs composer dump-autoload itself. If it cannot reach the container it says so and prints the command for you to run.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If the page fails with Expected class "SprykerAcademy\Zed\ContactRequest\Communication\Controller\IndexController" not found! The file is there and the namespace line is correct. PHP simply has no rule for loading it. The Zed router scans the project namespace folders for *Controller.php , builds the class name from the file path and calls class_exists() on it. That lookup goes through the generated map in vendor/composer/autoload_psr4.php , not through composer.json . Adding "SprykerAcademy\\": "src/SprykerAcademy/" to composer.json changes nothing until the map is rebuilt: docker/sdk cli composer dump-autoload docker/sdk console cache:empty-all One-line diagnosis: grep SprykerAcademy vendor/composer/autoload_psr4.php - no output means the autoloader is stale, whatever composer.json says.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Back Office is the product name for the administration interface. From the code perspective, we refer to the Zed namespace. Code related to the Back Office is placed inside src/Pyz/Zed/* or src/SprykerAcademy/Zed/ .</a:t>
            </a:r>
          </a:p>
          <a:p>
            <a:pPr>
              <a:spcAft>
                <a:spcPts val="800"/>
              </a:spcAft>
              <a:defRPr sz="1600">
                <a:solidFill>
                  <a:srgbClr val="1A1A1A"/>
                </a:solidFill>
              </a:defRPr>
            </a:pPr>
            <a:r>
              <a:t>We will work in a module named ContactRequest located at src/SprykerAcademy/Zed/ContactRequest/ .</a:t>
            </a:r>
          </a:p>
          <a:p>
            <a:pPr>
              <a:spcBef>
                <a:spcPts val="1200"/>
              </a:spcBef>
              <a:spcAft>
                <a:spcPts val="600"/>
              </a:spcAft>
              <a:defRPr sz="2000" b="1">
                <a:solidFill>
                  <a:srgbClr val="1A1A1A"/>
                </a:solidFill>
              </a:defRPr>
            </a:pPr>
            <a:r>
              <a:t>1. The Controller</a:t>
            </a:r>
          </a:p>
          <a:p>
            <a:pPr>
              <a:spcAft>
                <a:spcPts val="800"/>
              </a:spcAft>
              <a:defRPr sz="1600">
                <a:solidFill>
                  <a:srgbClr val="1A1A1A"/>
                </a:solidFill>
              </a:defRPr>
            </a:pPr>
            <a:r>
              <a:t>The Controller class is in the Communication layer inside the Controller subdirectory:</a:t>
            </a:r>
          </a:p>
          <a:p>
            <a:pPr>
              <a:spcAft>
                <a:spcPts val="800"/>
              </a:spcAft>
              <a:defRPr sz="1600">
                <a:solidFill>
                  <a:srgbClr val="1A1A1A"/>
                </a:solidFill>
              </a:defRPr>
            </a:pPr>
            <a:r>
              <a:t>src/SprykerAcademy/Zed/ContactRequest/Communication/Controller/IndexController.php</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&lt;?php</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namespace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C</a:t>
            </a:r>
            <a:r>
              <a:rPr sz="900">
                <a:solidFill>
                  <a:srgbClr val="2D2D2D"/>
                </a:solidFill>
                <a:latin typeface="Consolas"/>
              </a:rPr>
              <a:t>ontroller</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K</a:t>
            </a:r>
            <a:r>
              <a:rPr sz="900">
                <a:solidFill>
                  <a:srgbClr val="2D2D2D"/>
                </a:solidFill>
                <a:latin typeface="Consolas"/>
              </a:rPr>
              <a:t>ernel\</a:t>
            </a:r>
            <a:r>
              <a:rPr sz="900">
                <a:solidFill>
                  <a:srgbClr val="880000"/>
                </a:solidFill>
                <a:latin typeface="Consolas"/>
              </a:rPr>
              <a:t>C</a:t>
            </a:r>
            <a:r>
              <a:rPr sz="900">
                <a:solidFill>
                  <a:srgbClr val="2D2D2D"/>
                </a:solidFill>
                <a:latin typeface="Consolas"/>
              </a:rPr>
              <a:t>ommunication\</a:t>
            </a:r>
            <a:r>
              <a:rPr sz="900">
                <a:solidFill>
                  <a:srgbClr val="880000"/>
                </a:solidFill>
                <a:latin typeface="Consolas"/>
              </a:rPr>
              <a:t>C</a:t>
            </a:r>
            <a:r>
              <a:rPr sz="900">
                <a:solidFill>
                  <a:srgbClr val="2D2D2D"/>
                </a:solidFill>
                <a:latin typeface="Consolas"/>
              </a:rPr>
              <a:t>ontroller\</a:t>
            </a:r>
            <a:r>
              <a:rPr sz="900">
                <a:solidFill>
                  <a:srgbClr val="880000"/>
                </a:solidFill>
                <a:latin typeface="Consolas"/>
              </a:rPr>
              <a:t>A</a:t>
            </a:r>
            <a:r>
              <a:rPr sz="900">
                <a:solidFill>
                  <a:srgbClr val="2D2D2D"/>
                </a:solidFill>
                <a:latin typeface="Consolas"/>
              </a:rPr>
              <a:t>bstractController</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I</a:t>
            </a:r>
            <a:r>
              <a:rPr sz="900">
                <a:solidFill>
                  <a:srgbClr val="2D2D2D"/>
                </a:solidFill>
                <a:latin typeface="Consolas"/>
              </a:rPr>
              <a:t>ndexController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indexAction()</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i="1">
                <a:solidFill>
                  <a:srgbClr val="60A0B0"/>
                </a:solidFill>
                <a:latin typeface="Consolas"/>
              </a:rPr>
              <a:t>// </a:t>
            </a:r>
            <a:r>
              <a:rPr sz="900" b="1">
                <a:solidFill>
                  <a:srgbClr val="FF0000"/>
                </a:solidFill>
                <a:latin typeface="Consolas"/>
              </a:rPr>
              <a:t>TODO</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We extend from Spryker’s AbstractController which provides helper methods, and implement a basic indexAction() that returns an array passed to the template.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Use $this-&gt;viewResponse() and return the result. Pass a key-value array where the key will be the variable name accessible in the template. The value should be the string 'Contact Request!'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The Template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the module folder ContactRequest , the Presentation layer follows the same naming as the Controller prefix. Create a folder called Index and inside it a twig file named index.twig (matching the action name without the Action suffix).</a:t>
            </a:r>
          </a:p>
          <a:p>
            <a:pPr>
              <a:spcAft>
                <a:spcPts val="800"/>
              </a:spcAft>
              <a:defRPr sz="1600">
                <a:solidFill>
                  <a:srgbClr val="1A1A1A"/>
                </a:solidFill>
              </a:defRPr>
            </a:pPr>
            <a:r>
              <a:t>src/SprykerAcademy/Zed/ContactRequest/Presentation/Index/index.twig</a:t>
            </a:r>
          </a:p>
          <a:p>
            <a:pPr>
              <a:spcBef>
                <a:spcPts val="0"/>
              </a:spcBef>
              <a:spcAft>
                <a:spcPts val="0"/>
              </a:spcAft>
            </a:pPr>
            <a:r>
              <a:rPr sz="900">
                <a:solidFill>
                  <a:srgbClr val="2D2D2D"/>
                </a:solidFill>
                <a:latin typeface="Consolas"/>
              </a:rPr>
              <a:t>{% extends '@Gui/Layout/layout.twig'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block content %}</a:t>
            </a:r>
          </a:p>
          <a:p>
            <a:pPr>
              <a:spcBef>
                <a:spcPts val="0"/>
              </a:spcBef>
              <a:spcAft>
                <a:spcPts val="0"/>
              </a:spcAft>
            </a:pPr>
            <a:r>
              <a:rPr sz="900">
                <a:solidFill>
                  <a:srgbClr val="2D2D2D"/>
                </a:solidFill>
                <a:latin typeface="Consolas"/>
              </a:rPr>
              <a:t>    {# TODO #}</a:t>
            </a:r>
          </a:p>
          <a:p>
            <a:pPr>
              <a:spcBef>
                <a:spcPts val="0"/>
              </a:spcBef>
              <a:spcAft>
                <a:spcPts val="0"/>
              </a:spcAft>
            </a:pPr>
            <a:r>
              <a:rPr sz="900">
                <a:solidFill>
                  <a:srgbClr val="2D2D2D"/>
                </a:solidFill>
                <a:latin typeface="Consolas"/>
              </a:rPr>
              <a:t>{% endblock %}</a:t>
            </a:r>
          </a:p>
          <a:p>
            <a:pPr>
              <a:spcAft>
                <a:spcPts val="800"/>
              </a:spcAft>
              <a:defRPr sz="1600">
                <a:solidFill>
                  <a:srgbClr val="1A1A1A"/>
                </a:solidFill>
              </a:defRPr>
            </a:pPr>
            <a:r>
              <a:t>Coding time:</a:t>
            </a:r>
          </a:p>
          <a:p>
            <a:pPr>
              <a:spcAft>
                <a:spcPts val="800"/>
              </a:spcAft>
              <a:defRPr sz="1600">
                <a:solidFill>
                  <a:srgbClr val="1A1A1A"/>
                </a:solidFill>
              </a:defRPr>
            </a:pPr>
            <a:r>
              <a:t>Use the string you returned in the Controller action inside the template. The syntax is {{ yourKeyFromTheArray }}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After editing, run:</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800"/>
              </a:spcAft>
              <a:defRPr sz="1600">
                <a:solidFill>
                  <a:srgbClr val="1A1A1A"/>
                </a:solidFill>
              </a:defRPr>
            </a:pPr>
            <a:r>
              <a:t>Visit: http://backoffice.eu.spryker.local/contact-request/index/index (Credentials: admin@spryker.com / change123 )</a:t>
            </a:r>
          </a:p>
          <a:p>
            <a:pPr>
              <a:spcAft>
                <a:spcPts val="800"/>
              </a:spcAft>
              <a:defRPr sz="1600">
                <a:solidFill>
                  <a:srgbClr val="1A1A1A"/>
                </a:solidFill>
              </a:defRPr>
            </a:pPr>
            <a:r>
              <a:t>If the page answers with Expected class … not found! , see the note in Loading the Exercise - the class is fine, the composer autoloader is stale.</a:t>
            </a:r>
          </a:p>
          <a:p>
            <a:pPr>
              <a:spcAft>
                <a:spcPts val="800"/>
              </a:spcAft>
              <a:defRPr sz="1600">
                <a:solidFill>
                  <a:srgbClr val="1A1A1A"/>
                </a:solidFill>
              </a:defRPr>
            </a:pPr>
            <a:r>
              <a:t>Note the URL pattern: module / controller / action ( contact-request/index/index ). Back Office routing is resolved automatically from these names.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Tip: When both the controller and action are named index , Spryker allows you to omit them from the URL. So http://backoffice.eu.spryker.local/contact-request resolves to the same page.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The Navigation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Make your new page accessible through the Back Office navigation.</a:t>
            </a:r>
          </a:p>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src/SprykerAcademy/Zed/ContactRequest/Communication/navigation.xml . A module ships its menu entries in its own Communication/navigation.xml , the same way the core modules in vendor/spryker do; Spryker merges all of them with the project’s config/Zed/navigation.xml . Look at an entry in config/Zed/navigation.xml for the format and adjust it to point to your Contact Request page. The keyword bundle refers to the module name: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The Navigation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&lt;?xml</a:t>
            </a:r>
            <a:r>
              <a:rPr sz="900">
                <a:solidFill>
                  <a:srgbClr val="2D2D2D"/>
                </a:solidFill>
                <a:latin typeface="Consolas"/>
              </a:rPr>
              <a:t> version="1.0"</a:t>
            </a:r>
            <a:r>
              <a:rPr sz="900" b="1">
                <a:solidFill>
                  <a:srgbClr val="007020"/>
                </a:solidFill>
                <a:latin typeface="Consolas"/>
              </a:rPr>
              <a:t>?&gt;</a:t>
            </a:r>
          </a:p>
          <a:p>
            <a:pPr>
              <a:spcBef>
                <a:spcPts val="0"/>
              </a:spcBef>
              <a:spcAft>
                <a:spcPts val="0"/>
              </a:spcAft>
            </a:pPr>
            <a:r>
              <a:rPr sz="900" b="1">
                <a:solidFill>
                  <a:srgbClr val="007020"/>
                </a:solidFill>
                <a:latin typeface="Consolas"/>
              </a:rPr>
              <a:t>&lt;config&gt;</a:t>
            </a:r>
          </a:p>
          <a:p>
            <a:pPr>
              <a:spcBef>
                <a:spcPts val="0"/>
              </a:spcBef>
              <a:spcAft>
                <a:spcPts val="0"/>
              </a:spcAft>
            </a:pPr>
            <a:r>
              <a:rPr sz="900">
                <a:solidFill>
                  <a:srgbClr val="2D2D2D"/>
                </a:solidFill>
                <a:latin typeface="Consolas"/>
              </a:rPr>
              <a:t>    </a:t>
            </a:r>
            <a:r>
              <a:rPr sz="900" b="1">
                <a:solidFill>
                  <a:srgbClr val="007020"/>
                </a:solidFill>
                <a:latin typeface="Consolas"/>
              </a:rPr>
              <a:t>&lt;contact-request&gt;</a:t>
            </a:r>
          </a:p>
          <a:p>
            <a:pPr>
              <a:spcBef>
                <a:spcPts val="0"/>
              </a:spcBef>
              <a:spcAft>
                <a:spcPts val="0"/>
              </a:spcAft>
            </a:pPr>
            <a:r>
              <a:rPr sz="900">
                <a:solidFill>
                  <a:srgbClr val="2D2D2D"/>
                </a:solidFill>
                <a:latin typeface="Consolas"/>
              </a:rPr>
              <a:t>        </a:t>
            </a:r>
            <a:r>
              <a:rPr sz="900" b="1">
                <a:solidFill>
                  <a:srgbClr val="007020"/>
                </a:solidFill>
                <a:latin typeface="Consolas"/>
              </a:rPr>
              <a:t>&lt;label&gt;</a:t>
            </a:r>
            <a:r>
              <a:rPr sz="900">
                <a:solidFill>
                  <a:srgbClr val="2D2D2D"/>
                </a:solidFill>
                <a:latin typeface="Consolas"/>
              </a:rPr>
              <a:t>Contact Request</a:t>
            </a:r>
            <a:r>
              <a:rPr sz="900" b="1">
                <a:solidFill>
                  <a:srgbClr val="007020"/>
                </a:solidFill>
                <a:latin typeface="Consolas"/>
              </a:rPr>
              <a:t>&lt;/label&gt;</a:t>
            </a:r>
          </a:p>
          <a:p>
            <a:pPr>
              <a:spcBef>
                <a:spcPts val="0"/>
              </a:spcBef>
              <a:spcAft>
                <a:spcPts val="0"/>
              </a:spcAft>
            </a:pPr>
            <a:r>
              <a:rPr sz="900">
                <a:solidFill>
                  <a:srgbClr val="2D2D2D"/>
                </a:solidFill>
                <a:latin typeface="Consolas"/>
              </a:rPr>
              <a:t>        </a:t>
            </a:r>
            <a:r>
              <a:rPr sz="900" b="1">
                <a:solidFill>
                  <a:srgbClr val="007020"/>
                </a:solidFill>
                <a:latin typeface="Consolas"/>
              </a:rPr>
              <a:t>&lt;title&gt;</a:t>
            </a:r>
            <a:r>
              <a:rPr sz="900">
                <a:solidFill>
                  <a:srgbClr val="2D2D2D"/>
                </a:solidFill>
                <a:latin typeface="Consolas"/>
              </a:rPr>
              <a:t>Contact Request</a:t>
            </a:r>
            <a:r>
              <a:rPr sz="900" b="1">
                <a:solidFill>
                  <a:srgbClr val="007020"/>
                </a:solidFill>
                <a:latin typeface="Consolas"/>
              </a:rPr>
              <a:t>&lt;/title&gt;</a:t>
            </a:r>
          </a:p>
          <a:p>
            <a:pPr>
              <a:spcBef>
                <a:spcPts val="0"/>
              </a:spcBef>
              <a:spcAft>
                <a:spcPts val="0"/>
              </a:spcAft>
            </a:pPr>
            <a:r>
              <a:rPr sz="900">
                <a:solidFill>
                  <a:srgbClr val="2D2D2D"/>
                </a:solidFill>
                <a:latin typeface="Consolas"/>
              </a:rPr>
              <a:t>        </a:t>
            </a:r>
            <a:r>
              <a:rPr sz="900" b="1">
                <a:solidFill>
                  <a:srgbClr val="007020"/>
                </a:solidFill>
                <a:latin typeface="Consolas"/>
              </a:rPr>
              <a:t>&lt;icon&gt;</a:t>
            </a:r>
            <a:r>
              <a:rPr sz="900">
                <a:solidFill>
                  <a:srgbClr val="2D2D2D"/>
                </a:solidFill>
                <a:latin typeface="Consolas"/>
              </a:rPr>
              <a:t>mail</a:t>
            </a:r>
            <a:r>
              <a:rPr sz="900" b="1">
                <a:solidFill>
                  <a:srgbClr val="007020"/>
                </a:solidFill>
                <a:latin typeface="Consolas"/>
              </a:rPr>
              <a:t>&lt;/icon&gt;</a:t>
            </a:r>
          </a:p>
          <a:p>
            <a:pPr>
              <a:spcBef>
                <a:spcPts val="0"/>
              </a:spcBef>
              <a:spcAft>
                <a:spcPts val="0"/>
              </a:spcAft>
            </a:pPr>
            <a:r>
              <a:rPr sz="900">
                <a:solidFill>
                  <a:srgbClr val="2D2D2D"/>
                </a:solidFill>
                <a:latin typeface="Consolas"/>
              </a:rPr>
              <a:t>        </a:t>
            </a:r>
            <a:r>
              <a:rPr sz="900" b="1">
                <a:solidFill>
                  <a:srgbClr val="007020"/>
                </a:solidFill>
                <a:latin typeface="Consolas"/>
              </a:rPr>
              <a:t>&lt;bundle&gt;</a:t>
            </a:r>
            <a:r>
              <a:rPr sz="900">
                <a:solidFill>
                  <a:srgbClr val="2D2D2D"/>
                </a:solidFill>
                <a:latin typeface="Consolas"/>
              </a:rPr>
              <a:t>contact-request</a:t>
            </a:r>
            <a:r>
              <a:rPr sz="900" b="1">
                <a:solidFill>
                  <a:srgbClr val="007020"/>
                </a:solidFill>
                <a:latin typeface="Consolas"/>
              </a:rPr>
              <a:t>&lt;/bundle&gt;</a:t>
            </a:r>
          </a:p>
          <a:p>
            <a:pPr>
              <a:spcBef>
                <a:spcPts val="0"/>
              </a:spcBef>
              <a:spcAft>
                <a:spcPts val="0"/>
              </a:spcAft>
            </a:pPr>
            <a:r>
              <a:rPr sz="900">
                <a:solidFill>
                  <a:srgbClr val="2D2D2D"/>
                </a:solidFill>
                <a:latin typeface="Consolas"/>
              </a:rPr>
              <a:t>        </a:t>
            </a:r>
            <a:r>
              <a:rPr sz="900" b="1">
                <a:solidFill>
                  <a:srgbClr val="007020"/>
                </a:solidFill>
                <a:latin typeface="Consolas"/>
              </a:rPr>
              <a:t>&lt;controller&gt;</a:t>
            </a:r>
            <a:r>
              <a:rPr sz="900">
                <a:solidFill>
                  <a:srgbClr val="2D2D2D"/>
                </a:solidFill>
                <a:latin typeface="Consolas"/>
              </a:rPr>
              <a:t>index</a:t>
            </a:r>
            <a:r>
              <a:rPr sz="900" b="1">
                <a:solidFill>
                  <a:srgbClr val="007020"/>
                </a:solidFill>
                <a:latin typeface="Consolas"/>
              </a:rPr>
              <a:t>&lt;/controller&gt;</a:t>
            </a:r>
          </a:p>
          <a:p>
            <a:pPr>
              <a:spcBef>
                <a:spcPts val="0"/>
              </a:spcBef>
              <a:spcAft>
                <a:spcPts val="0"/>
              </a:spcAft>
            </a:pPr>
            <a:r>
              <a:rPr sz="900">
                <a:solidFill>
                  <a:srgbClr val="2D2D2D"/>
                </a:solidFill>
                <a:latin typeface="Consolas"/>
              </a:rPr>
              <a:t>        </a:t>
            </a:r>
            <a:r>
              <a:rPr sz="900" b="1">
                <a:solidFill>
                  <a:srgbClr val="007020"/>
                </a:solidFill>
                <a:latin typeface="Consolas"/>
              </a:rPr>
              <a:t>&lt;action&gt;</a:t>
            </a:r>
            <a:r>
              <a:rPr sz="900">
                <a:solidFill>
                  <a:srgbClr val="2D2D2D"/>
                </a:solidFill>
                <a:latin typeface="Consolas"/>
              </a:rPr>
              <a:t>index</a:t>
            </a:r>
            <a:r>
              <a:rPr sz="900" b="1">
                <a:solidFill>
                  <a:srgbClr val="007020"/>
                </a:solidFill>
                <a:latin typeface="Consolas"/>
              </a:rPr>
              <a:t>&lt;/action&gt;</a:t>
            </a:r>
          </a:p>
          <a:p>
            <a:pPr>
              <a:spcBef>
                <a:spcPts val="0"/>
              </a:spcBef>
              <a:spcAft>
                <a:spcPts val="0"/>
              </a:spcAft>
            </a:pPr>
            <a:r>
              <a:rPr sz="900">
                <a:solidFill>
                  <a:srgbClr val="2D2D2D"/>
                </a:solidFill>
                <a:latin typeface="Consolas"/>
              </a:rPr>
              <a:t>    </a:t>
            </a:r>
            <a:r>
              <a:rPr sz="900" b="1">
                <a:solidFill>
                  <a:srgbClr val="007020"/>
                </a:solidFill>
                <a:latin typeface="Consolas"/>
              </a:rPr>
              <a:t>&lt;/contact-request&gt;</a:t>
            </a:r>
          </a:p>
          <a:p>
            <a:pPr>
              <a:spcBef>
                <a:spcPts val="0"/>
              </a:spcBef>
              <a:spcAft>
                <a:spcPts val="0"/>
              </a:spcAft>
            </a:pPr>
            <a:r>
              <a:rPr sz="900" b="1">
                <a:solidFill>
                  <a:srgbClr val="007020"/>
                </a:solidFill>
                <a:latin typeface="Consolas"/>
              </a:rPr>
              <a:t>&lt;/config&gt;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The Navigation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Why not edit config/Zed/navigation.xml ? You could, and in a real project you often would. The exercise branches keep everything in src/SprykerAcademy so that loading a solution never has to change your project files. The demo shop merges module navigation with the breadcrumb strategy, which normally only adds pages below entries the project file already has; src/SprykerAcademy/Zed/ZedNavigation (training infrastructure, not part of the exercise) lets SprykerAcademy modules add their own top-level entry.</a:t>
            </a:r>
          </a:p>
          <a:p>
            <a:pPr>
              <a:spcAft>
                <a:spcPts val="800"/>
              </a:spcAft>
              <a:defRPr sz="1600">
                <a:solidFill>
                  <a:srgbClr val="1A1A1A"/>
                </a:solidFill>
              </a:defRPr>
            </a:pPr>
            <a:r>
              <a:t>Rebuild the navigation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navigation:build-cache</a:t>
            </a:r>
          </a:p>
          <a:p>
            <a:pPr>
              <a:spcAft>
                <a:spcPts val="800"/>
              </a:spcAft>
              <a:defRPr sz="1600">
                <a:solidFill>
                  <a:srgbClr val="1A1A1A"/>
                </a:solidFill>
              </a:defRPr>
            </a:pPr>
            <a:r>
              <a:t>Validate the result in the Back Office.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Exercise1</a:t>
            </a:r>
          </a:p>
          <a:p>
            <a:pPr>
              <a:spcAft>
                <a:spcPts val="800"/>
              </a:spcAft>
              <a:defRPr sz="1600">
                <a:solidFill>
                  <a:srgbClr val="1A1A1A"/>
                </a:solidFill>
              </a:defRPr>
            </a:pPr>
            <a:r>
              <a:t>All tests should pass if your implementation is correct.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basics/contact-request-back-office/complete </a:t>
            </a:r>
            <a:r>
              <a:rPr sz="900">
                <a:solidFill>
                  <a:srgbClr val="2D2D2D"/>
                </a:solidFill>
                <a:latin typeface="Consolas"/>
              </a:rPr>
              <a:t>--run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2: Create a Data Transfer Object</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2: Create a Data Transfer Object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Spryker, data transfer objects (DTOs) are used to pass data across layers and services. In this exercise you will create a message DTO from scratch and use it in the Contact Request page.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basics/data-transfer-object/skeleton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DTOs are defined in XML files in the Shared namespace: src/SprykerAcademy/Shared/&lt;Module&gt;/Transfer/&lt;module&gt;.transfer.xml</a:t>
            </a:r>
          </a:p>
          <a:p>
            <a:pPr>
              <a:spcAft>
                <a:spcPts val="800"/>
              </a:spcAft>
              <a:defRPr sz="1600">
                <a:solidFill>
                  <a:srgbClr val="1A1A1A"/>
                </a:solidFill>
              </a:defRPr>
            </a:pPr>
            <a:r>
              <a:t>Spryker’s DTO generator finds all transfer files, merges them, and auto-generates PHP classes.</a:t>
            </a:r>
          </a:p>
          <a:p>
            <a:pPr>
              <a:spcBef>
                <a:spcPts val="1200"/>
              </a:spcBef>
              <a:spcAft>
                <a:spcPts val="600"/>
              </a:spcAft>
              <a:defRPr sz="2000" b="1">
                <a:solidFill>
                  <a:srgbClr val="1A1A1A"/>
                </a:solidFill>
              </a:defRPr>
            </a:pPr>
            <a:r>
              <a:t>1. The Transfer Definition</a:t>
            </a:r>
          </a:p>
          <a:p>
            <a:pPr>
              <a:spcAft>
                <a:spcPts val="800"/>
              </a:spcAft>
              <a:defRPr sz="1600">
                <a:solidFill>
                  <a:srgbClr val="1A1A1A"/>
                </a:solidFill>
              </a:defRPr>
            </a:pPr>
            <a:r>
              <a:t>A DTO is defined by the &lt;transfer&gt; element with a name attribute. For example: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&lt;?xml</a:t>
            </a:r>
            <a:r>
              <a:rPr sz="900">
                <a:solidFill>
                  <a:srgbClr val="2D2D2D"/>
                </a:solidFill>
                <a:latin typeface="Consolas"/>
              </a:rPr>
              <a:t> version="1.0"</a:t>
            </a:r>
            <a:r>
              <a:rPr sz="900" b="1">
                <a:solidFill>
                  <a:srgbClr val="007020"/>
                </a:solidFill>
                <a:latin typeface="Consolas"/>
              </a:rPr>
              <a:t>?&gt;</a:t>
            </a:r>
          </a:p>
          <a:p>
            <a:pPr>
              <a:spcBef>
                <a:spcPts val="0"/>
              </a:spcBef>
              <a:spcAft>
                <a:spcPts val="0"/>
              </a:spcAft>
            </a:pPr>
            <a:r>
              <a:rPr sz="900" b="1">
                <a:solidFill>
                  <a:srgbClr val="007020"/>
                </a:solidFill>
                <a:latin typeface="Consolas"/>
              </a:rPr>
              <a:t>&lt;transfers</a:t>
            </a:r>
            <a:r>
              <a:rPr sz="900">
                <a:solidFill>
                  <a:srgbClr val="007020"/>
                </a:solidFill>
                <a:latin typeface="Consolas"/>
              </a:rPr>
              <a:t> xmlns=</a:t>
            </a:r>
            <a:r>
              <a:rPr sz="900">
                <a:solidFill>
                  <a:srgbClr val="4070A0"/>
                </a:solidFill>
                <a:latin typeface="Consolas"/>
              </a:rPr>
              <a:t>"spryker:transfer-01"</a:t>
            </a:r>
          </a:p>
          <a:p>
            <a:pPr>
              <a:spcBef>
                <a:spcPts val="0"/>
              </a:spcBef>
              <a:spcAft>
                <a:spcPts val="0"/>
              </a:spcAft>
            </a:pPr>
            <a:r>
              <a:rPr sz="900">
                <a:solidFill>
                  <a:srgbClr val="007020"/>
                </a:solidFill>
                <a:latin typeface="Consolas"/>
              </a:rPr>
              <a:t>    xmlns:xsi=</a:t>
            </a:r>
            <a:r>
              <a:rPr sz="900">
                <a:solidFill>
                  <a:srgbClr val="4070A0"/>
                </a:solidFill>
                <a:latin typeface="Consolas"/>
              </a:rPr>
              <a:t>"http://www.w3.org/2001/XMLSchema-instance"</a:t>
            </a:r>
          </a:p>
          <a:p>
            <a:pPr>
              <a:spcBef>
                <a:spcPts val="0"/>
              </a:spcBef>
              <a:spcAft>
                <a:spcPts val="0"/>
              </a:spcAft>
            </a:pPr>
            <a:r>
              <a:rPr sz="900">
                <a:solidFill>
                  <a:srgbClr val="007020"/>
                </a:solidFill>
                <a:latin typeface="Consolas"/>
              </a:rPr>
              <a:t>    xsi:schemaLocation=</a:t>
            </a:r>
            <a:r>
              <a:rPr sz="900">
                <a:solidFill>
                  <a:srgbClr val="4070A0"/>
                </a:solidFill>
                <a:latin typeface="Consolas"/>
              </a:rPr>
              <a:t>"spryker:transfer-01 http://static.spryker.com/transfer-01.xsd"</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"Human"</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"height"</a:t>
            </a:r>
            <a:r>
              <a:rPr sz="900">
                <a:solidFill>
                  <a:srgbClr val="007020"/>
                </a:solidFill>
                <a:latin typeface="Consolas"/>
              </a:rPr>
              <a:t> type=</a:t>
            </a:r>
            <a:r>
              <a:rPr sz="900">
                <a:solidFill>
                  <a:srgbClr val="4070A0"/>
                </a:solidFill>
                <a:latin typeface="Consolas"/>
              </a:rPr>
              <a:t>"int"</a:t>
            </a:r>
            <a:r>
              <a:rPr sz="900">
                <a:solidFill>
                  <a:srgbClr val="2D2D2D"/>
                </a:solidFill>
                <a:latin typeface="Consolas"/>
              </a:rPr>
              <a:t> </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&lt;/transfer&gt;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&lt;/transfers&gt;</a:t>
            </a:r>
          </a:p>
          <a:p>
            <a:pPr>
              <a:spcAft>
                <a:spcPts val="800"/>
              </a:spcAft>
              <a:defRPr sz="1600">
                <a:solidFill>
                  <a:srgbClr val="1A1A1A"/>
                </a:solidFill>
              </a:defRPr>
            </a:pPr>
            <a:r>
              <a:t>This generates a HumanTransfer class with a height property of type int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1.1 Always Add strict="true"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strict attribute decides whether the generated accessors carry native PHP types . Without it the generator emits methods that accept and return anything:</a:t>
            </a:r>
          </a:p>
          <a:p>
            <a:pPr>
              <a:spcBef>
                <a:spcPts val="0"/>
              </a:spcBef>
              <a:spcAft>
                <a:spcPts val="0"/>
              </a:spcAft>
            </a:pPr>
            <a:r>
              <a:rPr sz="900" i="1">
                <a:solidFill>
                  <a:srgbClr val="60A0B0"/>
                </a:solidFill>
                <a:latin typeface="Consolas"/>
              </a:rPr>
              <a:t>// strict is off - the type only lives in a docblock</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setMessage(</a:t>
            </a:r>
            <a:r>
              <a:rPr sz="900">
                <a:solidFill>
                  <a:srgbClr val="19177C"/>
                </a:solidFill>
                <a:latin typeface="Consolas"/>
              </a:rPr>
              <a:t>$message</a:t>
            </a:r>
            <a:r>
              <a:rPr sz="900">
                <a:solidFill>
                  <a:srgbClr val="2D2D2D"/>
                </a:solidFill>
                <a:latin typeface="Consolas"/>
              </a:rPr>
              <a:t>) { ... }</a:t>
            </a:r>
          </a:p>
          <a:p>
            <a:pPr>
              <a:spcBef>
                <a:spcPts val="0"/>
              </a:spcBef>
              <a:spcAft>
                <a:spcPts val="0"/>
              </a:spcAft>
            </a:pPr>
            <a:r>
              <a:rPr sz="900">
                <a:latin typeface="Consolas"/>
              </a:rPr>
              <a:t> </a:t>
            </a:r>
          </a:p>
          <a:p>
            <a:pPr>
              <a:spcBef>
                <a:spcPts val="0"/>
              </a:spcBef>
              <a:spcAft>
                <a:spcPts val="0"/>
              </a:spcAft>
            </a:pPr>
            <a:r>
              <a:rPr sz="900" i="1">
                <a:solidFill>
                  <a:srgbClr val="60A0B0"/>
                </a:solidFill>
                <a:latin typeface="Consolas"/>
              </a:rPr>
              <a:t>/** </a:t>
            </a:r>
            <a:r>
              <a:rPr sz="900" b="1" i="1">
                <a:solidFill>
                  <a:srgbClr val="60A0B0"/>
                </a:solidFill>
                <a:latin typeface="Consolas"/>
              </a:rPr>
              <a:t>@return</a:t>
            </a:r>
            <a:r>
              <a:rPr sz="900" i="1">
                <a:solidFill>
                  <a:srgbClr val="60A0B0"/>
                </a:solidFill>
                <a:latin typeface="Consolas"/>
              </a:rPr>
              <a:t> string|null */</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getMessage() { ... }</a:t>
            </a:r>
          </a:p>
          <a:p>
            <a:pPr>
              <a:spcAft>
                <a:spcPts val="800"/>
              </a:spcAft>
              <a:defRPr sz="1600">
                <a:solidFill>
                  <a:srgbClr val="1A1A1A"/>
                </a:solidFill>
              </a:defRPr>
            </a:pPr>
            <a:r>
              <a:t>With strict="true" on the &lt;transfer&gt; element, every property of that transfer gets typed accessors:</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setMessage(</a:t>
            </a:r>
            <a:r>
              <a:rPr sz="900">
                <a:solidFill>
                  <a:srgbClr val="007020"/>
                </a:solidFill>
                <a:latin typeface="Consolas"/>
              </a:rPr>
              <a:t>?</a:t>
            </a:r>
            <a:r>
              <a:rPr sz="900">
                <a:solidFill>
                  <a:srgbClr val="902000"/>
                </a:solidFill>
                <a:latin typeface="Consolas"/>
              </a:rPr>
              <a:t>string</a:t>
            </a:r>
            <a:r>
              <a:rPr sz="900">
                <a:solidFill>
                  <a:srgbClr val="2D2D2D"/>
                </a:solidFill>
                <a:latin typeface="Consolas"/>
              </a:rPr>
              <a:t> </a:t>
            </a:r>
            <a:r>
              <a:rPr sz="900">
                <a:solidFill>
                  <a:srgbClr val="19177C"/>
                </a:solidFill>
                <a:latin typeface="Consolas"/>
              </a:rPr>
              <a:t>$message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null</a:t>
            </a:r>
            <a:r>
              <a:rPr sz="900">
                <a:solidFill>
                  <a:srgbClr val="2D2D2D"/>
                </a:solidFill>
                <a:latin typeface="Consolas"/>
              </a:rPr>
              <a:t>) { ... }</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getMessage()</a:t>
            </a:r>
            <a:r>
              <a:rPr sz="900">
                <a:solidFill>
                  <a:srgbClr val="007020"/>
                </a:solidFill>
                <a:latin typeface="Consolas"/>
              </a:rPr>
              <a:t>:</a:t>
            </a:r>
            <a:r>
              <a:rPr sz="900">
                <a:solidFill>
                  <a:srgbClr val="2D2D2D"/>
                </a:solidFill>
                <a:latin typeface="Consolas"/>
              </a:rPr>
              <a:t> </a:t>
            </a:r>
            <a:r>
              <a:rPr sz="900">
                <a:solidFill>
                  <a:srgbClr val="007020"/>
                </a:solidFill>
                <a:latin typeface="Consolas"/>
              </a:rPr>
              <a:t>?</a:t>
            </a:r>
            <a:r>
              <a:rPr sz="900">
                <a:solidFill>
                  <a:srgbClr val="902000"/>
                </a:solidFill>
                <a:latin typeface="Consolas"/>
              </a:rPr>
              <a:t>string</a:t>
            </a:r>
            <a:r>
              <a:rPr sz="900">
                <a:solidFill>
                  <a:srgbClr val="2D2D2D"/>
                </a:solidFill>
                <a:latin typeface="Consolas"/>
              </a:rPr>
              <a:t> { ... }</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setMessageOrFail(</a:t>
            </a:r>
            <a:r>
              <a:rPr sz="900">
                <a:solidFill>
                  <a:srgbClr val="902000"/>
                </a:solidFill>
                <a:latin typeface="Consolas"/>
              </a:rPr>
              <a:t>string</a:t>
            </a:r>
            <a:r>
              <a:rPr sz="900">
                <a:solidFill>
                  <a:srgbClr val="2D2D2D"/>
                </a:solidFill>
                <a:latin typeface="Consolas"/>
              </a:rPr>
              <a:t> </a:t>
            </a:r>
            <a:r>
              <a:rPr sz="900">
                <a:solidFill>
                  <a:srgbClr val="19177C"/>
                </a:solidFill>
                <a:latin typeface="Consolas"/>
              </a:rPr>
              <a:t>$message</a:t>
            </a:r>
            <a:r>
              <a:rPr sz="900">
                <a:solidFill>
                  <a:srgbClr val="2D2D2D"/>
                </a:solidFill>
                <a:latin typeface="Consolas"/>
              </a:rPr>
              <a:t>) { ... }</a:t>
            </a:r>
          </a:p>
          <a:p>
            <a:pPr>
              <a:spcBef>
                <a:spcPts val="0"/>
              </a:spcBef>
              <a:spcAft>
                <a:spcPts val="0"/>
              </a:spcAft>
            </a:pP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getMessageOrFail()</a:t>
            </a:r>
            <a:r>
              <a:rPr sz="900">
                <a:solidFill>
                  <a:srgbClr val="007020"/>
                </a:solidFill>
                <a:latin typeface="Consolas"/>
              </a:rPr>
              <a: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 ... }</a:t>
            </a:r>
          </a:p>
          <a:p>
            <a:pPr>
              <a:spcAft>
                <a:spcPts val="800"/>
              </a:spcAft>
              <a:defRPr sz="1600">
                <a:solidFill>
                  <a:srgbClr val="1A1A1A"/>
                </a:solidFill>
              </a:defRPr>
            </a:pPr>
            <a:r>
              <a:t>Why this matters: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1.1 Always Add strict="true"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Errors surface where they are caused. A transfer travels from a controller through the Client, over the BackendGateway, into a Repository and finally into Propel. Without types, setMessage($someArray) is accepted silently and blows up five layers later - or worse, gets written to the database. With types, PHP throws a TypeError on the line that is actually wrong.</a:t>
            </a:r>
          </a:p>
          <a:p>
            <a:pPr>
              <a:spcAft>
                <a:spcPts val="400"/>
              </a:spcAft>
              <a:defRPr sz="1500">
                <a:solidFill>
                  <a:srgbClr val="1A1A1A"/>
                </a:solidFill>
              </a:defRPr>
            </a:pPr>
            <a:r>
              <a:t>• *OrFail() becomes genuinely non-nullable. getMessageOrFail(): string tells PHPStan and your IDE that the value is there, so the ?? '' fallbacks disappear from your code.</a:t>
            </a:r>
          </a:p>
          <a:p>
            <a:pPr>
              <a:spcAft>
                <a:spcPts val="400"/>
              </a:spcAft>
              <a:defRPr sz="1500">
                <a:solidFill>
                  <a:srgbClr val="1A1A1A"/>
                </a:solidFill>
              </a:defRPr>
            </a:pPr>
            <a:r>
              <a:t>• Collections are never null. A strict collection property returns ArrayObject instead of ArrayObject|null , so you can foreach it without a null check, and its adder only accepts the right transfer type.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1.1 Always Add strict="true"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It is what Spryker core does. Look at any recent core transfer definition, for example vendor/spryker/acl-entity/src/Spryker/Shared/AclEntity/Transfer/acl_entity.transfer.xml - the newer transfers all carry strict="true" .</a:t>
            </a:r>
          </a:p>
          <a:p>
            <a:pPr>
              <a:spcAft>
                <a:spcPts val="800"/>
              </a:spcAft>
              <a:defRPr sz="1600">
                <a:solidFill>
                  <a:srgbClr val="1A1A1A"/>
                </a:solidFill>
              </a:defRPr>
            </a:pPr>
            <a:r>
              <a:t>Strict mode is opt-in per transfer, not a global switch, because turning it on can break existing callers that were passing a loose type. On a new transfer there is no such legacy, so turn it on from the start.</a:t>
            </a:r>
          </a:p>
          <a:p>
            <a:pPr>
              <a:spcAft>
                <a:spcPts val="800"/>
              </a:spcAft>
              <a:defRPr sz="1400" i="1">
                <a:solidFill>
                  <a:srgbClr val="888888"/>
                </a:solidFill>
              </a:defRPr>
            </a:pPr>
            <a:r>
              <a:t>❝ strict="true" also works on a single &lt;property&gt; if you ever need to migrate an old transfer one property at a time.</a:t>
            </a:r>
          </a:p>
          <a:p>
            <a:pPr>
              <a:spcAft>
                <a:spcPts val="800"/>
              </a:spcAft>
              <a:defRPr sz="1600">
                <a:solidFill>
                  <a:srgbClr val="1A1A1A"/>
                </a:solidFill>
              </a:defRPr>
            </a:pPr>
            <a:r>
              <a:t>Coding time: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1.1 Always Add strict="true"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src/SprykerAcademy/Shared/ContactRequest/Transfer/contact_request.transfer.xml and add a DTO named ContactRequest with strict="true" and: - Property idContactRequest of type int - Property message of type string</a:t>
            </a:r>
          </a:p>
          <a:p>
            <a:pPr>
              <a:spcAft>
                <a:spcPts val="800"/>
              </a:spcAft>
              <a:defRPr sz="1600">
                <a:solidFill>
                  <a:srgbClr val="1A1A1A"/>
                </a:solidFill>
              </a:defRPr>
            </a:pPr>
            <a:r>
              <a:t>Then generate the transfers:</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Aft>
                <a:spcPts val="800"/>
              </a:spcAft>
              <a:defRPr sz="1600">
                <a:solidFill>
                  <a:srgbClr val="1A1A1A"/>
                </a:solidFill>
              </a:defRPr>
            </a:pPr>
            <a:r>
              <a:t>Check the auto-generated file at src/Generated/Shared/Transfer/ContactRequestTransfer.php and review the helper methods. Note the native types on setMessage() and getMessage() - remove strict="true" , regenerate and compare if you want to see the difference.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The Controller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 instantiate DTOs like normal objects:</a:t>
            </a:r>
          </a:p>
          <a:p>
            <a:pPr>
              <a:spcBef>
                <a:spcPts val="0"/>
              </a:spcBef>
              <a:spcAft>
                <a:spcPts val="0"/>
              </a:spcAft>
            </a:pPr>
            <a:r>
              <a:rPr sz="900">
                <a:solidFill>
                  <a:srgbClr val="19177C"/>
                </a:solidFill>
                <a:latin typeface="Consolas"/>
              </a:rPr>
              <a:t>$myTransfer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M</a:t>
            </a:r>
            <a:r>
              <a:rPr sz="900">
                <a:solidFill>
                  <a:srgbClr val="2D2D2D"/>
                </a:solidFill>
                <a:latin typeface="Consolas"/>
              </a:rPr>
              <a:t>yTransfer()</a:t>
            </a:r>
            <a:r>
              <a:rPr sz="900">
                <a:solidFill>
                  <a:srgbClr val="007020"/>
                </a:solidFill>
                <a:latin typeface="Consolas"/>
              </a:rPr>
              <a:t>;</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src/SprykerAcademy/Zed/ContactRequest/Communication/Controller/IndexController.php . Initialize a Generated\Shared\Transfer\ContactRequestTransfer object, set idContactRequest to 1 and message to 'Contact Request!' , and pass the object to the template under the key contactRequest .</a:t>
            </a:r>
          </a:p>
          <a:p>
            <a:pPr>
              <a:spcBef>
                <a:spcPts val="1200"/>
              </a:spcBef>
              <a:spcAft>
                <a:spcPts val="600"/>
              </a:spcAft>
              <a:defRPr sz="2000" b="1">
                <a:solidFill>
                  <a:srgbClr val="1A1A1A"/>
                </a:solidFill>
              </a:defRPr>
            </a:pPr>
            <a:r>
              <a:t>3. The Template</a:t>
            </a:r>
          </a:p>
          <a:p>
            <a:pPr>
              <a:spcAft>
                <a:spcPts val="800"/>
              </a:spcAft>
              <a:defRPr sz="1600">
                <a:solidFill>
                  <a:srgbClr val="1A1A1A"/>
                </a:solidFill>
              </a:defRPr>
            </a:pPr>
            <a:r>
              <a:t>Access object properties in Twig using dot notation:</a:t>
            </a:r>
          </a:p>
          <a:p>
            <a:pPr>
              <a:spcBef>
                <a:spcPts val="0"/>
              </a:spcBef>
              <a:spcAft>
                <a:spcPts val="0"/>
              </a:spcAft>
            </a:pPr>
            <a:r>
              <a:rPr sz="900">
                <a:solidFill>
                  <a:srgbClr val="2D2D2D"/>
                </a:solidFill>
                <a:latin typeface="Consolas"/>
              </a:rPr>
              <a:t>{{ myVar.property }}</a:t>
            </a:r>
          </a:p>
          <a:p>
            <a:pPr>
              <a:spcAft>
                <a:spcPts val="800"/>
              </a:spcAft>
              <a:defRPr sz="1600">
                <a:solidFill>
                  <a:srgbClr val="1A1A1A"/>
                </a:solidFill>
              </a:defRPr>
            </a:pPr>
            <a:r>
              <a:t>Coding time: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The Controller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src/SprykerAcademy/Zed/ContactRequest/Presentation/Index/index.twig and display the transfer’s message property using dot notation.</a:t>
            </a:r>
          </a:p>
          <a:p>
            <a:pPr>
              <a:spcAft>
                <a:spcPts val="800"/>
              </a:spcAft>
              <a:defRPr sz="1600">
                <a:solidFill>
                  <a:srgbClr val="1A1A1A"/>
                </a:solidFill>
              </a:defRPr>
            </a:pPr>
            <a:r>
              <a:t>Visit: http://backoffice.eu.spryker.local/contact-request/index/index (Credentials: admin@spryker.com / change123 )</a:t>
            </a:r>
          </a:p>
          <a:p>
            <a:pPr>
              <a:spcAft>
                <a:spcPts val="800"/>
              </a:spcAft>
              <a:defRPr sz="1400" i="1">
                <a:solidFill>
                  <a:srgbClr val="888888"/>
                </a:solidFill>
              </a:defRPr>
            </a:pPr>
            <a:r>
              <a:t>❝ Tip: http://backoffice.eu.spryker.local/contact-request resolves to the same page.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Exercise2</a:t>
            </a:r>
          </a:p>
          <a:p>
            <a:pPr>
              <a:spcAft>
                <a:spcPts val="800"/>
              </a:spcAft>
              <a:defRPr sz="1600">
                <a:solidFill>
                  <a:srgbClr val="1A1A1A"/>
                </a:solidFill>
              </a:defRPr>
            </a:pPr>
            <a:r>
              <a:t>All tests should pass if your transfer definition is correct.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basics/data-transfer-object/complete </a:t>
            </a:r>
            <a:r>
              <a:rPr sz="900">
                <a:solidFill>
                  <a:srgbClr val="2D2D2D"/>
                </a:solidFill>
                <a:latin typeface="Consolas"/>
              </a:rPr>
              <a:t>--run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3: Create a Table and Entity Representation</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3: Create a Table and Entity Representation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create a database table to store messages and an entity representation for a message using Propel ORM.</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basics/contact-request-table-schema/skeleton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1. The Propel Schema File</a:t>
            </a:r>
          </a:p>
          <a:p>
            <a:pPr>
              <a:spcAft>
                <a:spcPts val="800"/>
              </a:spcAft>
              <a:defRPr sz="1600">
                <a:solidFill>
                  <a:srgbClr val="1A1A1A"/>
                </a:solidFill>
              </a:defRPr>
            </a:pPr>
            <a:r>
              <a:t>Here is an example Propel schema definition for a pyz_human table: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&lt;?xml</a:t>
            </a:r>
            <a:r>
              <a:rPr sz="900">
                <a:solidFill>
                  <a:srgbClr val="2D2D2D"/>
                </a:solidFill>
                <a:latin typeface="Consolas"/>
              </a:rPr>
              <a:t> version="1.0"</a:t>
            </a:r>
            <a:r>
              <a:rPr sz="900" b="1">
                <a:solidFill>
                  <a:srgbClr val="007020"/>
                </a:solidFill>
                <a:latin typeface="Consolas"/>
              </a:rPr>
              <a:t>?&gt;</a:t>
            </a:r>
          </a:p>
          <a:p>
            <a:pPr>
              <a:spcBef>
                <a:spcPts val="0"/>
              </a:spcBef>
              <a:spcAft>
                <a:spcPts val="0"/>
              </a:spcAft>
            </a:pPr>
            <a:r>
              <a:rPr sz="900" b="1">
                <a:solidFill>
                  <a:srgbClr val="007020"/>
                </a:solidFill>
                <a:latin typeface="Consolas"/>
              </a:rPr>
              <a:t>&lt;database</a:t>
            </a:r>
            <a:r>
              <a:rPr sz="900">
                <a:solidFill>
                  <a:srgbClr val="007020"/>
                </a:solidFill>
                <a:latin typeface="Consolas"/>
              </a:rPr>
              <a:t> xmlns:xsi=</a:t>
            </a:r>
            <a:r>
              <a:rPr sz="900">
                <a:solidFill>
                  <a:srgbClr val="4070A0"/>
                </a:solidFill>
                <a:latin typeface="Consolas"/>
              </a:rPr>
              <a:t>"http://www.w3.org/2001/XMLSchema-instance"</a:t>
            </a:r>
          </a:p>
          <a:p>
            <a:pPr>
              <a:spcBef>
                <a:spcPts val="0"/>
              </a:spcBef>
              <a:spcAft>
                <a:spcPts val="0"/>
              </a:spcAft>
            </a:pPr>
            <a:r>
              <a:rPr sz="900">
                <a:solidFill>
                  <a:srgbClr val="007020"/>
                </a:solidFill>
                <a:latin typeface="Consolas"/>
              </a:rPr>
              <a:t>    name=</a:t>
            </a:r>
            <a:r>
              <a:rPr sz="900">
                <a:solidFill>
                  <a:srgbClr val="4070A0"/>
                </a:solidFill>
                <a:latin typeface="Consolas"/>
              </a:rPr>
              <a:t>"zed"</a:t>
            </a:r>
          </a:p>
          <a:p>
            <a:pPr>
              <a:spcBef>
                <a:spcPts val="0"/>
              </a:spcBef>
              <a:spcAft>
                <a:spcPts val="0"/>
              </a:spcAft>
            </a:pPr>
            <a:r>
              <a:rPr sz="900">
                <a:solidFill>
                  <a:srgbClr val="007020"/>
                </a:solidFill>
                <a:latin typeface="Consolas"/>
              </a:rPr>
              <a:t>    xsi:noNamespaceSchemaLocation=</a:t>
            </a:r>
            <a:r>
              <a:rPr sz="900">
                <a:solidFill>
                  <a:srgbClr val="4070A0"/>
                </a:solidFill>
                <a:latin typeface="Consolas"/>
              </a:rPr>
              <a:t>"http://static.spryker.com/schema-01.xsd"</a:t>
            </a:r>
          </a:p>
          <a:p>
            <a:pPr>
              <a:spcBef>
                <a:spcPts val="0"/>
              </a:spcBef>
              <a:spcAft>
                <a:spcPts val="0"/>
              </a:spcAft>
            </a:pPr>
            <a:r>
              <a:rPr sz="900">
                <a:solidFill>
                  <a:srgbClr val="007020"/>
                </a:solidFill>
                <a:latin typeface="Consolas"/>
              </a:rPr>
              <a:t>    namespace=</a:t>
            </a:r>
            <a:r>
              <a:rPr sz="900">
                <a:solidFill>
                  <a:srgbClr val="4070A0"/>
                </a:solidFill>
                <a:latin typeface="Consolas"/>
              </a:rPr>
              <a:t>"Orm\Zed\Human\Persistence"</a:t>
            </a:r>
          </a:p>
          <a:p>
            <a:pPr>
              <a:spcBef>
                <a:spcPts val="0"/>
              </a:spcBef>
              <a:spcAft>
                <a:spcPts val="0"/>
              </a:spcAft>
            </a:pPr>
            <a:r>
              <a:rPr sz="900">
                <a:solidFill>
                  <a:srgbClr val="007020"/>
                </a:solidFill>
                <a:latin typeface="Consolas"/>
              </a:rPr>
              <a:t>    package=</a:t>
            </a:r>
            <a:r>
              <a:rPr sz="900">
                <a:solidFill>
                  <a:srgbClr val="4070A0"/>
                </a:solidFill>
                <a:latin typeface="Consolas"/>
              </a:rPr>
              <a:t>"src.Orm.Zed.Human.Persistence"</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&lt;table</a:t>
            </a:r>
            <a:r>
              <a:rPr sz="900">
                <a:solidFill>
                  <a:srgbClr val="007020"/>
                </a:solidFill>
                <a:latin typeface="Consolas"/>
              </a:rPr>
              <a:t> name=</a:t>
            </a:r>
            <a:r>
              <a:rPr sz="900">
                <a:solidFill>
                  <a:srgbClr val="4070A0"/>
                </a:solidFill>
                <a:latin typeface="Consolas"/>
              </a:rPr>
              <a:t>"pyz_human"</a:t>
            </a:r>
            <a:r>
              <a:rPr sz="900">
                <a:solidFill>
                  <a:srgbClr val="007020"/>
                </a:solidFill>
                <a:latin typeface="Consolas"/>
              </a:rPr>
              <a:t> idMethod=</a:t>
            </a:r>
            <a:r>
              <a:rPr sz="900">
                <a:solidFill>
                  <a:srgbClr val="4070A0"/>
                </a:solidFill>
                <a:latin typeface="Consolas"/>
              </a:rPr>
              <a:t>"native"</a:t>
            </a:r>
            <a:r>
              <a:rPr sz="900">
                <a:solidFill>
                  <a:srgbClr val="007020"/>
                </a:solidFill>
                <a:latin typeface="Consolas"/>
              </a:rPr>
              <a:t> allowPkInsert=</a:t>
            </a:r>
            <a:r>
              <a:rPr sz="900">
                <a:solidFill>
                  <a:srgbClr val="4070A0"/>
                </a:solidFill>
                <a:latin typeface="Consolas"/>
              </a:rPr>
              <a:t>"true"</a:t>
            </a:r>
            <a:r>
              <a:rPr sz="900">
                <a:solidFill>
                  <a:srgbClr val="007020"/>
                </a:solidFill>
                <a:latin typeface="Consolas"/>
              </a:rPr>
              <a:t> phpName=</a:t>
            </a:r>
            <a:r>
              <a:rPr sz="900">
                <a:solidFill>
                  <a:srgbClr val="4070A0"/>
                </a:solidFill>
                <a:latin typeface="Consolas"/>
              </a:rPr>
              <a:t>"PyzHuman"</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007020"/>
                </a:solidFill>
                <a:latin typeface="Consolas"/>
              </a:rPr>
              <a:t> name=</a:t>
            </a:r>
            <a:r>
              <a:rPr sz="900">
                <a:solidFill>
                  <a:srgbClr val="4070A0"/>
                </a:solidFill>
                <a:latin typeface="Consolas"/>
              </a:rPr>
              <a:t>"id_human"</a:t>
            </a:r>
            <a:r>
              <a:rPr sz="900">
                <a:solidFill>
                  <a:srgbClr val="007020"/>
                </a:solidFill>
                <a:latin typeface="Consolas"/>
              </a:rPr>
              <a:t> required=</a:t>
            </a:r>
            <a:r>
              <a:rPr sz="900">
                <a:solidFill>
                  <a:srgbClr val="4070A0"/>
                </a:solidFill>
                <a:latin typeface="Consolas"/>
              </a:rPr>
              <a:t>"true"</a:t>
            </a:r>
            <a:r>
              <a:rPr sz="900">
                <a:solidFill>
                  <a:srgbClr val="007020"/>
                </a:solidFill>
                <a:latin typeface="Consolas"/>
              </a:rPr>
              <a:t> type=</a:t>
            </a:r>
            <a:r>
              <a:rPr sz="900">
                <a:solidFill>
                  <a:srgbClr val="4070A0"/>
                </a:solidFill>
                <a:latin typeface="Consolas"/>
              </a:rPr>
              <a:t>"INTEGER"</a:t>
            </a:r>
            <a:r>
              <a:rPr sz="900">
                <a:solidFill>
                  <a:srgbClr val="007020"/>
                </a:solidFill>
                <a:latin typeface="Consolas"/>
              </a:rPr>
              <a:t> primaryKey=</a:t>
            </a:r>
            <a:r>
              <a:rPr sz="900">
                <a:solidFill>
                  <a:srgbClr val="4070A0"/>
                </a:solidFill>
                <a:latin typeface="Consolas"/>
              </a:rPr>
              <a:t>"true"</a:t>
            </a:r>
            <a:r>
              <a:rPr sz="900">
                <a:solidFill>
                  <a:srgbClr val="007020"/>
                </a:solidFill>
                <a:latin typeface="Consolas"/>
              </a:rPr>
              <a:t> autoIncrement=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007020"/>
                </a:solidFill>
                <a:latin typeface="Consolas"/>
              </a:rPr>
              <a:t> name=</a:t>
            </a:r>
            <a:r>
              <a:rPr sz="900">
                <a:solidFill>
                  <a:srgbClr val="4070A0"/>
                </a:solidFill>
                <a:latin typeface="Consolas"/>
              </a:rPr>
              <a:t>"genetic_code"</a:t>
            </a:r>
            <a:r>
              <a:rPr sz="900">
                <a:solidFill>
                  <a:srgbClr val="007020"/>
                </a:solidFill>
                <a:latin typeface="Consolas"/>
              </a:rPr>
              <a:t> required=</a:t>
            </a:r>
            <a:r>
              <a:rPr sz="900">
                <a:solidFill>
                  <a:srgbClr val="4070A0"/>
                </a:solidFill>
                <a:latin typeface="Consolas"/>
              </a:rPr>
              <a:t>"true"</a:t>
            </a:r>
            <a:r>
              <a:rPr sz="900">
                <a:solidFill>
                  <a:srgbClr val="007020"/>
                </a:solidFill>
                <a:latin typeface="Consolas"/>
              </a:rPr>
              <a:t> type=</a:t>
            </a:r>
            <a:r>
              <a:rPr sz="900">
                <a:solidFill>
                  <a:srgbClr val="4070A0"/>
                </a:solidFill>
                <a:latin typeface="Consolas"/>
              </a:rPr>
              <a:t>"VARCHAR"</a:t>
            </a:r>
            <a:r>
              <a:rPr sz="900">
                <a:solidFill>
                  <a:srgbClr val="007020"/>
                </a:solidFill>
                <a:latin typeface="Consolas"/>
              </a:rPr>
              <a:t> size=</a:t>
            </a:r>
            <a:r>
              <a:rPr sz="900">
                <a:solidFill>
                  <a:srgbClr val="4070A0"/>
                </a:solidFill>
                <a:latin typeface="Consolas"/>
              </a:rPr>
              <a:t>"255"</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&lt;column</a:t>
            </a:r>
            <a:r>
              <a:rPr sz="900">
                <a:solidFill>
                  <a:srgbClr val="007020"/>
                </a:solidFill>
                <a:latin typeface="Consolas"/>
              </a:rPr>
              <a:t> name=</a:t>
            </a:r>
            <a:r>
              <a:rPr sz="900">
                <a:solidFill>
                  <a:srgbClr val="4070A0"/>
                </a:solidFill>
                <a:latin typeface="Consolas"/>
              </a:rPr>
              <a:t>"height"</a:t>
            </a:r>
            <a:r>
              <a:rPr sz="900">
                <a:solidFill>
                  <a:srgbClr val="007020"/>
                </a:solidFill>
                <a:latin typeface="Consolas"/>
              </a:rPr>
              <a:t> required=</a:t>
            </a:r>
            <a:r>
              <a:rPr sz="900">
                <a:solidFill>
                  <a:srgbClr val="4070A0"/>
                </a:solidFill>
                <a:latin typeface="Consolas"/>
              </a:rPr>
              <a:t>"true"</a:t>
            </a:r>
            <a:r>
              <a:rPr sz="900">
                <a:solidFill>
                  <a:srgbClr val="007020"/>
                </a:solidFill>
                <a:latin typeface="Consolas"/>
              </a:rPr>
              <a:t> type=</a:t>
            </a:r>
            <a:r>
              <a:rPr sz="900">
                <a:solidFill>
                  <a:srgbClr val="4070A0"/>
                </a:solidFill>
                <a:latin typeface="Consolas"/>
              </a:rPr>
              <a:t>"INTEGER"</a:t>
            </a:r>
            <a:r>
              <a:rPr sz="900" b="1">
                <a:solidFill>
                  <a:srgbClr val="007020"/>
                </a:solidFill>
                <a:latin typeface="Consolas"/>
              </a:rPr>
              <a:t>/&gt;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&lt;unique</a:t>
            </a:r>
            <a:r>
              <a:rPr sz="900">
                <a:solidFill>
                  <a:srgbClr val="007020"/>
                </a:solidFill>
                <a:latin typeface="Consolas"/>
              </a:rPr>
              <a:t> name=</a:t>
            </a:r>
            <a:r>
              <a:rPr sz="900">
                <a:solidFill>
                  <a:srgbClr val="4070A0"/>
                </a:solidFill>
                <a:latin typeface="Consolas"/>
              </a:rPr>
              <a:t>"pyz_human-genetic_code"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&lt;unique-column</a:t>
            </a:r>
            <a:r>
              <a:rPr sz="900">
                <a:solidFill>
                  <a:srgbClr val="007020"/>
                </a:solidFill>
                <a:latin typeface="Consolas"/>
              </a:rPr>
              <a:t> name=</a:t>
            </a:r>
            <a:r>
              <a:rPr sz="900">
                <a:solidFill>
                  <a:srgbClr val="4070A0"/>
                </a:solidFill>
                <a:latin typeface="Consolas"/>
              </a:rPr>
              <a:t>"genetic_code"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&lt;/unique&gt;</a:t>
            </a:r>
          </a:p>
          <a:p>
            <a:pPr>
              <a:spcBef>
                <a:spcPts val="0"/>
              </a:spcBef>
              <a:spcAft>
                <a:spcPts val="0"/>
              </a:spcAft>
            </a:pPr>
            <a:r>
              <a:rPr sz="900">
                <a:solidFill>
                  <a:srgbClr val="2D2D2D"/>
                </a:solidFill>
                <a:latin typeface="Consolas"/>
              </a:rPr>
              <a:t>    </a:t>
            </a:r>
            <a:r>
              <a:rPr sz="900" b="1">
                <a:solidFill>
                  <a:srgbClr val="007020"/>
                </a:solidFill>
                <a:latin typeface="Consolas"/>
              </a:rPr>
              <a:t>&lt;/table&gt;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&lt;/database&gt;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src/SprykerAcademy/Zed/ContactRequest/Persistence/Propel/Schema/pyz_contact_request.schema.xml , with the &lt;database&gt; element of the example above (namespace Orm\Zed\ContactRequest\Persistence , package src.Orm.Zed.ContactRequest.Persistence ), and add the definition for the PyzContactRequest table:</a:t>
            </a:r>
          </a:p>
          <a:p>
            <a:pPr>
              <a:spcAft>
                <a:spcPts val="400"/>
              </a:spcAft>
              <a:defRPr sz="1500">
                <a:solidFill>
                  <a:srgbClr val="1A1A1A"/>
                </a:solidFill>
              </a:defRPr>
            </a:pPr>
            <a:r>
              <a:t>• Column id_contact_request : type INTEGER , primary key, auto-increment, required</a:t>
            </a:r>
          </a:p>
          <a:p>
            <a:pPr>
              <a:spcAft>
                <a:spcPts val="400"/>
              </a:spcAft>
              <a:defRPr sz="1500">
                <a:solidFill>
                  <a:srgbClr val="1A1A1A"/>
                </a:solidFill>
              </a:defRPr>
            </a:pPr>
            <a:r>
              <a:t>• Column message : type VARCHAR , size 255 , required, unique</a:t>
            </a:r>
          </a:p>
          <a:p>
            <a:pPr>
              <a:spcAft>
                <a:spcPts val="800"/>
              </a:spcAft>
              <a:defRPr sz="1600">
                <a:solidFill>
                  <a:srgbClr val="1A1A1A"/>
                </a:solidFill>
              </a:defRPr>
            </a:pPr>
            <a:r>
              <a:t>Then generate the entity and run migrations:</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If propel:install stops with Uncommitted migrations have been found ; you should either execute or delete them before rerunning the 'diff' task. &lt;timestamp&gt; A previous run generated a migration that was never executed, and Propel refuses to build a new diff while one is pending. The message names the timestamp; the file is in src/Orm/Propel/Migration_mysql/ . Look inside it before you delete it - the CREATE TABLE it contains tells you what went wrong: cat src/Orm/Propel/Migration_mysql/PropelMigration_ &lt; timestamp &gt; .php rm src/Orm/Propel/Migration_mysql/PropelMigration_ &lt; timestamp &gt; .php The usual cause in this exercise: id_contact_request BIGINT AUTO_INCREMENT with no key - MySQL rejects AUTO_INCREMENT on a column that is not a key, so the migration aborts while executing and stays pending. That is the real error, and from the next run on it is hidden behind the “uncommitted migrations” message. Add primaryKey="true" to the column. Delete the file, correct your table definition against the list above, and run propel:install again. src/Orm/Propel/Migration_mysql/ should be empty before the run; a successful run creates exactly one migration and executes it.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Verify the pyz_contact_request table was created in the database (using a tool of your choice). Locate the generated entity in src/Orm/Zed/ContactRequest/Persistence/ and its subfolders.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Exercise3</a:t>
            </a:r>
          </a:p>
          <a:p>
            <a:pPr>
              <a:spcAft>
                <a:spcPts val="800"/>
              </a:spcAft>
              <a:defRPr sz="1600">
                <a:solidFill>
                  <a:srgbClr val="1A1A1A"/>
                </a:solidFill>
              </a:defRPr>
            </a:pPr>
            <a:r>
              <a:t>All tests should pass if your schema definition is correct.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basics/contact-request-table-schema/complete </a:t>
            </a:r>
            <a:r>
              <a:rPr sz="900">
                <a:solidFill>
                  <a:srgbClr val="2D2D2D"/>
                </a:solidFill>
                <a:latin typeface="Consolas"/>
              </a:rPr>
              <a:t>--run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4: Module Layers - Back Office Step</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4: Module Layers - Back Office Step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create a contact request through a Back Office controller and persist it in the database. You will learn how to work with the Persistence, Business, and Communication layers in Zed.</a:t>
            </a:r>
          </a:p>
          <a:p>
            <a:pPr>
              <a:spcAft>
                <a:spcPts val="800"/>
              </a:spcAft>
              <a:defRPr sz="1600">
                <a:solidFill>
                  <a:srgbClr val="1A1A1A"/>
                </a:solidFill>
              </a:defRPr>
            </a:pPr>
            <a:r>
              <a:t>Part 1 of 2 - This guide focuses on the Zed layer.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basics/module-layers/skeleton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1. Create the Persistence Layer</a:t>
            </a:r>
          </a:p>
          <a:p>
            <a:pPr>
              <a:spcBef>
                <a:spcPts val="800"/>
              </a:spcBef>
              <a:spcAft>
                <a:spcPts val="400"/>
              </a:spcAft>
              <a:defRPr sz="1700" b="1">
                <a:solidFill>
                  <a:srgbClr val="1A1A1A"/>
                </a:solidFill>
              </a:defRPr>
            </a:pPr>
            <a:r>
              <a:t>1.1 Add a ContactRequestCriteriaTransfer Definition</a:t>
            </a:r>
          </a:p>
          <a:p>
            <a:pPr>
              <a:spcAft>
                <a:spcPts val="800"/>
              </a:spcAft>
              <a:defRPr sz="1600">
                <a:solidFill>
                  <a:srgbClr val="1A1A1A"/>
                </a:solidFill>
              </a:defRPr>
            </a:pPr>
            <a:r>
              <a:t>It is good practice to not use simple types directly for requesting data from the Persistence Layer. Instead, create a *CriteriaTransfer .</a:t>
            </a:r>
          </a:p>
          <a:p>
            <a:pPr>
              <a:spcAft>
                <a:spcPts val="800"/>
              </a:spcAft>
              <a:defRPr sz="1600">
                <a:solidFill>
                  <a:srgbClr val="1A1A1A"/>
                </a:solidFill>
              </a:defRPr>
            </a:pPr>
            <a:r>
              <a:t>Coding time:</a:t>
            </a:r>
          </a:p>
          <a:p>
            <a:pPr>
              <a:spcAft>
                <a:spcPts val="800"/>
              </a:spcAft>
              <a:defRPr sz="1600">
                <a:solidFill>
                  <a:srgbClr val="1A1A1A"/>
                </a:solidFill>
              </a:defRPr>
            </a:pPr>
            <a:r>
              <a:t>Open src/SprykerAcademy/Shared/ContactRequest/Transfer/contact_request.transfer.xml and add a DTO named ContactRequestCriteria with strict="true" and: - Property idContactRequest of type int - Property message of type string</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Every transfer in this module carries strict="true" so the generated accessors are natively typed - see Exercise 2 . It pays off right here: getIdContactRequest(): ?int means the Repository can branch on the criteria without wondering whether it holds an int , a numeric string or something else entirely.</a:t>
            </a:r>
          </a:p>
          <a:p>
            <a:pPr>
              <a:spcAft>
                <a:spcPts val="800"/>
              </a:spcAft>
              <a:defRPr sz="1600">
                <a:solidFill>
                  <a:srgbClr val="1A1A1A"/>
                </a:solidFill>
              </a:defRPr>
            </a:pPr>
            <a:r>
              <a:t>Regenerate transfers:</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Bef>
                <a:spcPts val="800"/>
              </a:spcBef>
              <a:spcAft>
                <a:spcPts val="400"/>
              </a:spcAft>
              <a:defRPr sz="1700" b="1">
                <a:solidFill>
                  <a:srgbClr val="1A1A1A"/>
                </a:solidFill>
              </a:defRPr>
            </a:pPr>
            <a:r>
              <a:t>1.2 Create the Persistence Layer Factory</a:t>
            </a:r>
          </a:p>
          <a:p>
            <a:pPr>
              <a:spcAft>
                <a:spcPts val="800"/>
              </a:spcAft>
              <a:defRPr sz="1600">
                <a:solidFill>
                  <a:srgbClr val="1A1A1A"/>
                </a:solidFill>
              </a:defRPr>
            </a:pPr>
            <a:r>
              <a:t>Query classes are auto-generated from Propel schema files. All ORM generated query classes have a static create() method.</a:t>
            </a:r>
          </a:p>
          <a:p>
            <a:pPr>
              <a:spcAft>
                <a:spcPts val="800"/>
              </a:spcAft>
              <a:defRPr sz="1600">
                <a:solidFill>
                  <a:srgbClr val="1A1A1A"/>
                </a:solidFill>
              </a:defRPr>
            </a:pPr>
            <a:r>
              <a:t>Coding time: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src/SprykerAcademy/Zed/ContactRequest/Persistence/ContactRequestPersistenceFactory.php . In the createContactRequestQuery() method, return an instance of PyzContactRequestQuery .</a:t>
            </a:r>
          </a:p>
          <a:p>
            <a:pPr>
              <a:spcBef>
                <a:spcPts val="800"/>
              </a:spcBef>
              <a:spcAft>
                <a:spcPts val="400"/>
              </a:spcAft>
              <a:defRPr sz="1700" b="1">
                <a:solidFill>
                  <a:srgbClr val="1A1A1A"/>
                </a:solidFill>
              </a:defRPr>
            </a:pPr>
            <a:r>
              <a:t>1.3 Create the Repository</a:t>
            </a:r>
          </a:p>
          <a:p>
            <a:pPr>
              <a:spcAft>
                <a:spcPts val="800"/>
              </a:spcAft>
              <a:defRPr sz="1600">
                <a:solidFill>
                  <a:srgbClr val="1A1A1A"/>
                </a:solidFill>
              </a:defRPr>
            </a:pPr>
            <a:r>
              <a:t>The Repository reads data. Use getFactory() to access the Persistence Factory (provided by AbstractRepository ).</a:t>
            </a:r>
          </a:p>
          <a:p>
            <a:pPr>
              <a:spcAft>
                <a:spcPts val="800"/>
              </a:spcAft>
              <a:defRPr sz="1600">
                <a:solidFill>
                  <a:srgbClr val="1A1A1A"/>
                </a:solidFill>
              </a:defRPr>
            </a:pPr>
            <a:r>
              <a:t>Key patterns: - Propel query objects provide magic findOneBy&lt;ColumnName&gt;() methods for exact lookups - For partial matching, use filterBy&lt;ColumnName&gt;() with Criteria::LIKE as the second parameter, then call findOne() . You will need to import Propel\Runtime\ActiveQuery\Criteria - Convert entities to DTOs using the Mapper (available via the factory)</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src/SprykerAcademy/Zed/ContactRequest/Persistence/ContactRequestRepository.php . In the findContactRequest() method: 1. Get the ContactRequest query from the factory 2. If the criteria has an idContactRequest , find by ID and return the result 3. If the criteria has a message string, use LIKE filtering to find a partial match and return only one result 4. Return null if no entity was found 5. Map the entity to a DTO using the ContactRequestMapper and return it</a:t>
            </a:r>
          </a:p>
          <a:p>
            <a:pPr>
              <a:spcBef>
                <a:spcPts val="800"/>
              </a:spcBef>
              <a:spcAft>
                <a:spcPts val="400"/>
              </a:spcAft>
              <a:defRPr sz="1700" b="1">
                <a:solidFill>
                  <a:srgbClr val="1A1A1A"/>
                </a:solidFill>
              </a:defRPr>
            </a:pPr>
            <a:r>
              <a:t>1.4 Create the EntityManager</a:t>
            </a:r>
          </a:p>
          <a:p>
            <a:pPr>
              <a:spcAft>
                <a:spcPts val="800"/>
              </a:spcAft>
              <a:defRPr sz="1600">
                <a:solidFill>
                  <a:srgbClr val="1A1A1A"/>
                </a:solidFill>
              </a:defRPr>
            </a:pPr>
            <a:r>
              <a:t>The EntityManager handles writes. Transform the DTO to an entity, save it, and transform it back.</a:t>
            </a:r>
          </a:p>
          <a:p>
            <a:pPr>
              <a:spcAft>
                <a:spcPts val="800"/>
              </a:spcAft>
              <a:defRPr sz="1600">
                <a:solidFill>
                  <a:srgbClr val="1A1A1A"/>
                </a:solidFill>
              </a:defRPr>
            </a:pPr>
            <a:r>
              <a:t>Coding time: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src/SprykerAcademy/Zed/ContactRequest/Persistence/ContactRequestEntityManager.php . In the createContactRequest() method: 1. Map the DTO to an entity using the ContactRequestMapper 2. Call $contactRequestEntity-&gt;save() 3. Map the entity back to a DTO and return it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2.1 Add ContactRequestResponseTransfer Definition</a:t>
            </a:r>
          </a:p>
          <a:p>
            <a:pPr>
              <a:spcAft>
                <a:spcPts val="800"/>
              </a:spcAft>
              <a:defRPr sz="1600">
                <a:solidFill>
                  <a:srgbClr val="1A1A1A"/>
                </a:solidFill>
              </a:defRPr>
            </a:pPr>
            <a:r>
              <a:t>Wrap the DTO in a *ResponseTransfer to include success/error information.</a:t>
            </a:r>
          </a:p>
          <a:p>
            <a:pPr>
              <a:spcAft>
                <a:spcPts val="800"/>
              </a:spcAft>
              <a:defRPr sz="1600">
                <a:solidFill>
                  <a:srgbClr val="1A1A1A"/>
                </a:solidFill>
              </a:defRPr>
            </a:pPr>
            <a:r>
              <a:t>Coding time:</a:t>
            </a:r>
          </a:p>
          <a:p>
            <a:pPr>
              <a:spcAft>
                <a:spcPts val="800"/>
              </a:spcAft>
              <a:defRPr sz="1600">
                <a:solidFill>
                  <a:srgbClr val="1A1A1A"/>
                </a:solidFill>
              </a:defRPr>
            </a:pPr>
            <a:r>
              <a:t>Open src/SprykerAcademy/Shared/ContactRequest/Transfer/contact_request.transfer.xml and add a DTO named ContactRequestResponse with strict="true" and: - Property contactRequest of type ContactRequest - Property isSuccessful of type bool</a:t>
            </a:r>
          </a:p>
          <a:p>
            <a:pPr>
              <a:spcAft>
                <a:spcPts val="800"/>
              </a:spcAft>
              <a:defRPr sz="1600">
                <a:solidFill>
                  <a:srgbClr val="1A1A1A"/>
                </a:solidFill>
              </a:defRPr>
            </a:pPr>
            <a:r>
              <a:t>Strict mode gives you getContactRequest(): ?ContactRequestTransfer and getContactRequestOrFail(): ContactRequestTransfer . Use the second one once isSuccessful told you the request was found - it throws a clear NullValueException instead of handing you a null that fails somewhere in a template.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Regenerate:</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Bef>
                <a:spcPts val="800"/>
              </a:spcBef>
              <a:spcAft>
                <a:spcPts val="400"/>
              </a:spcAft>
              <a:defRPr sz="1700" b="1">
                <a:solidFill>
                  <a:srgbClr val="1A1A1A"/>
                </a:solidFill>
              </a:defRPr>
            </a:pPr>
            <a:r>
              <a:t>2.2 The Writer</a:t>
            </a:r>
          </a:p>
          <a:p>
            <a:pPr>
              <a:spcAft>
                <a:spcPts val="800"/>
              </a:spcAft>
              <a:defRPr sz="1600">
                <a:solidFill>
                  <a:srgbClr val="1A1A1A"/>
                </a:solidFill>
              </a:defRPr>
            </a:pPr>
            <a:r>
              <a:t>Separate reading from writing. The Writer uses the EntityManager.</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src/SprykerAcademy/Zed/ContactRequest/Business/Writer/ContactRequestWriter.php : - Inject ContactRequestEntityManagerInterface through the constructor - In the create() method, use the EntityManager to create and return the contact request</a:t>
            </a:r>
          </a:p>
          <a:p>
            <a:pPr>
              <a:spcBef>
                <a:spcPts val="800"/>
              </a:spcBef>
              <a:spcAft>
                <a:spcPts val="400"/>
              </a:spcAft>
              <a:defRPr sz="1700" b="1">
                <a:solidFill>
                  <a:srgbClr val="1A1A1A"/>
                </a:solidFill>
              </a:defRPr>
            </a:pPr>
            <a:r>
              <a:t>2.3 The Reader</a:t>
            </a:r>
          </a:p>
          <a:p>
            <a:pPr>
              <a:spcAft>
                <a:spcPts val="800"/>
              </a:spcAft>
              <a:defRPr sz="1600">
                <a:solidFill>
                  <a:srgbClr val="1A1A1A"/>
                </a:solidFill>
              </a:defRPr>
            </a:pPr>
            <a:r>
              <a:t>The Reader uses the Repository and prepares the response.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src/SprykerAcademy/Zed/ContactRequest/Business/Reader/ContactRequestReader.php : - Inject ContactRequestRepositoryInterface through the constructor - In the findContactRequest() method, use the Repository to find a contact request by criteria - Create a ContactRequestResponseTransfer and set contactRequest and isSuccessful based on the result - Return the response</a:t>
            </a:r>
          </a:p>
          <a:p>
            <a:pPr>
              <a:spcBef>
                <a:spcPts val="800"/>
              </a:spcBef>
              <a:spcAft>
                <a:spcPts val="400"/>
              </a:spcAft>
              <a:defRPr sz="1700" b="1">
                <a:solidFill>
                  <a:srgbClr val="1A1A1A"/>
                </a:solidFill>
              </a:defRPr>
            </a:pPr>
            <a:r>
              <a:t>2.4 Expose Functionality through the Facade</a:t>
            </a:r>
          </a:p>
          <a:p>
            <a:pPr>
              <a:spcAft>
                <a:spcPts val="800"/>
              </a:spcAft>
              <a:defRPr sz="1600">
                <a:solidFill>
                  <a:srgbClr val="1A1A1A"/>
                </a:solidFill>
              </a:defRPr>
            </a:pPr>
            <a:r>
              <a:t>The Facade is the module’s public API. Since Spryker 202602.0, you can use $this-&gt;getService(ClassName::class) directly in the Facade instead of going through a Business Factory. Spryker’s DI container automatically wires the dependencies of the service class.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src/SprykerAcademy/Zed/ContactRequest/Business/ContactRequestFacade.php . Implement createContactRequest() and findContactRequest() by delegating to the ContactRequestWriter and ContactRequestReader services through $this-&gt;getService(ClassName::class) .</a:t>
            </a:r>
          </a:p>
          <a:p>
            <a:pPr>
              <a:spcAft>
                <a:spcPts val="800"/>
              </a:spcAft>
              <a:defRPr sz="1600">
                <a:solidFill>
                  <a:srgbClr val="1A1A1A"/>
                </a:solidFill>
              </a:defRPr>
            </a:pPr>
            <a:r>
              <a:t>Hint: The Writer returns a ContactRequestTransfer ; the Reader returns a ContactRequestResponseTransfer . No Business Factory is needed — the container injects ContactRequestEntityManagerInterface into the Writer and ContactRequestRepositoryInterface into the Reader automatically.</a:t>
            </a:r>
          </a:p>
          <a:p>
            <a:pPr>
              <a:spcAft>
                <a:spcPts val="800"/>
              </a:spcAft>
              <a:defRPr sz="1600">
                <a:solidFill>
                  <a:srgbClr val="1A1A1A"/>
                </a:solidFill>
              </a:defRPr>
            </a:pPr>
            <a:r>
              <a:t>ContactRequestFacadeTest checks this step: it mocks the Writer and the Reader and asserts the Facade hands their result back, so leaving either method empty fails the suite.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2.5 Register the Interface Bindings</a:t>
            </a:r>
          </a:p>
          <a:p>
            <a:pPr>
              <a:spcAft>
                <a:spcPts val="800"/>
              </a:spcAft>
              <a:defRPr sz="1600">
                <a:solidFill>
                  <a:srgbClr val="1A1A1A"/>
                </a:solidFill>
              </a:defRPr>
            </a:pPr>
            <a:r>
              <a:t>config/Zed/ApplicationServices.php loads every class of every project module into Symfony’s DI container with autowiring switched on. That is what fills the Writer and the Reader without a Business Factory. Ask the container what it decided:</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ContactRequestReader </a:t>
            </a:r>
            <a:r>
              <a:rPr sz="900">
                <a:solidFill>
                  <a:srgbClr val="2D2D2D"/>
                </a:solidFill>
                <a:latin typeface="Consolas"/>
              </a:rPr>
              <a:t>--show-arguments</a:t>
            </a:r>
          </a:p>
          <a:p>
            <a:pPr>
              <a:spcBef>
                <a:spcPts val="0"/>
              </a:spcBef>
              <a:spcAft>
                <a:spcPts val="0"/>
              </a:spcAft>
            </a:pPr>
            <a:r>
              <a:rPr sz="900">
                <a:solidFill>
                  <a:srgbClr val="2D2D2D"/>
                </a:solidFill>
                <a:latin typeface="Consolas"/>
              </a:rPr>
              <a:t>Service ID   SprykerAcademy\Zed\ContactRequest\Business\Reader\ContactRequestReader</a:t>
            </a:r>
          </a:p>
          <a:p>
            <a:pPr>
              <a:spcBef>
                <a:spcPts val="0"/>
              </a:spcBef>
              <a:spcAft>
                <a:spcPts val="0"/>
              </a:spcAft>
            </a:pPr>
            <a:r>
              <a:rPr sz="900">
                <a:solidFill>
                  <a:srgbClr val="2D2D2D"/>
                </a:solidFill>
                <a:latin typeface="Consolas"/>
              </a:rPr>
              <a:t>Arguments    Service(SprykerAcademy\Zed\ContactRequest\Persistence\ContactRequestRepository)</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Your constructor asked for ContactRequestRepositoryInterface and the container answered with ContactRequestRepository . It can do that only while exactly one class implements the interface: autowiring matches a service by its class and by the interfaces that class implements. Add a second implementation - a caching repository, an archive repository, whatever - and there are two candidates and no rule for choosing.</a:t>
            </a:r>
          </a:p>
          <a:p>
            <a:pPr>
              <a:spcAft>
                <a:spcPts val="800"/>
              </a:spcAft>
              <a:defRPr sz="1600">
                <a:solidFill>
                  <a:srgbClr val="1A1A1A"/>
                </a:solidFill>
              </a:defRPr>
            </a:pPr>
            <a:r>
              <a:t>State the binding instead of relying on there being only one. Open config/Zed/ApplicationServices.php and add the imports at the top, next to the existing use statements:</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P</a:t>
            </a:r>
            <a:r>
              <a:rPr sz="900">
                <a:solidFill>
                  <a:srgbClr val="2D2D2D"/>
                </a:solidFill>
                <a:latin typeface="Consolas"/>
              </a:rPr>
              <a:t>ersistence\</a:t>
            </a:r>
            <a:r>
              <a:rPr sz="900">
                <a:solidFill>
                  <a:srgbClr val="880000"/>
                </a:solidFill>
                <a:latin typeface="Consolas"/>
              </a:rPr>
              <a:t>C</a:t>
            </a:r>
            <a:r>
              <a:rPr sz="900">
                <a:solidFill>
                  <a:srgbClr val="2D2D2D"/>
                </a:solidFill>
                <a:latin typeface="Consolas"/>
              </a:rPr>
              <a:t>ontactRequestEntityManager</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P</a:t>
            </a:r>
            <a:r>
              <a:rPr sz="900">
                <a:solidFill>
                  <a:srgbClr val="2D2D2D"/>
                </a:solidFill>
                <a:latin typeface="Consolas"/>
              </a:rPr>
              <a:t>ersistence\</a:t>
            </a:r>
            <a:r>
              <a:rPr sz="900">
                <a:solidFill>
                  <a:srgbClr val="880000"/>
                </a:solidFill>
                <a:latin typeface="Consolas"/>
              </a:rPr>
              <a:t>C</a:t>
            </a:r>
            <a:r>
              <a:rPr sz="900">
                <a:solidFill>
                  <a:srgbClr val="2D2D2D"/>
                </a:solidFill>
                <a:latin typeface="Consolas"/>
              </a:rPr>
              <a:t>ontactRequestEntityManagerInterface</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P</a:t>
            </a:r>
            <a:r>
              <a:rPr sz="900">
                <a:solidFill>
                  <a:srgbClr val="2D2D2D"/>
                </a:solidFill>
                <a:latin typeface="Consolas"/>
              </a:rPr>
              <a:t>ersistence\</a:t>
            </a:r>
            <a:r>
              <a:rPr sz="900">
                <a:solidFill>
                  <a:srgbClr val="880000"/>
                </a:solidFill>
                <a:latin typeface="Consolas"/>
              </a:rPr>
              <a:t>C</a:t>
            </a:r>
            <a:r>
              <a:rPr sz="900">
                <a:solidFill>
                  <a:srgbClr val="2D2D2D"/>
                </a:solidFill>
                <a:latin typeface="Consolas"/>
              </a:rPr>
              <a:t>ontactRequestRepository</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P</a:t>
            </a:r>
            <a:r>
              <a:rPr sz="900">
                <a:solidFill>
                  <a:srgbClr val="2D2D2D"/>
                </a:solidFill>
                <a:latin typeface="Consolas"/>
              </a:rPr>
              <a:t>ersistence\</a:t>
            </a:r>
            <a:r>
              <a:rPr sz="900">
                <a:solidFill>
                  <a:srgbClr val="880000"/>
                </a:solidFill>
                <a:latin typeface="Consolas"/>
              </a:rPr>
              <a:t>C</a:t>
            </a:r>
            <a:r>
              <a:rPr sz="900">
                <a:solidFill>
                  <a:srgbClr val="2D2D2D"/>
                </a:solidFill>
                <a:latin typeface="Consolas"/>
              </a:rPr>
              <a:t>ontactRequestRepositoryInterface</a:t>
            </a:r>
            <a:r>
              <a:rPr sz="900">
                <a:solidFill>
                  <a:srgbClr val="007020"/>
                </a:solidFill>
                <a:latin typeface="Consolas"/>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and the two bindings at the end of the returned closure, after the loop that loads the project modules:</a:t>
            </a:r>
          </a:p>
          <a:p>
            <a:pPr>
              <a:spcBef>
                <a:spcPts val="0"/>
              </a:spcBef>
              <a:spcAft>
                <a:spcPts val="0"/>
              </a:spcAft>
            </a:pPr>
            <a:r>
              <a:rPr sz="900">
                <a:solidFill>
                  <a:srgbClr val="2D2D2D"/>
                </a:solidFill>
                <a:latin typeface="Consolas"/>
              </a:rPr>
              <a:t>    </a:t>
            </a:r>
            <a:r>
              <a:rPr sz="900">
                <a:solidFill>
                  <a:srgbClr val="19177C"/>
                </a:solidFill>
                <a:latin typeface="Consolas"/>
              </a:rPr>
              <a:t>$services</a:t>
            </a:r>
            <a:r>
              <a:rPr sz="900">
                <a:solidFill>
                  <a:srgbClr val="2D2D2D"/>
                </a:solidFill>
                <a:latin typeface="Consolas"/>
              </a:rPr>
              <a:t>-&gt;set(</a:t>
            </a:r>
            <a:r>
              <a:rPr sz="900">
                <a:solidFill>
                  <a:srgbClr val="880000"/>
                </a:solidFill>
                <a:latin typeface="Consolas"/>
              </a:rPr>
              <a:t>C</a:t>
            </a:r>
            <a:r>
              <a:rPr sz="900">
                <a:solidFill>
                  <a:srgbClr val="2D2D2D"/>
                </a:solidFill>
                <a:latin typeface="Consolas"/>
              </a:rPr>
              <a:t>ontactRequestRepositoryInterface::</a:t>
            </a:r>
            <a:r>
              <a:rPr sz="900" b="1">
                <a:solidFill>
                  <a:srgbClr val="007020"/>
                </a:solidFill>
                <a:latin typeface="Consolas"/>
              </a:rPr>
              <a:t>class</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ontactRequestRepository::</a:t>
            </a:r>
            <a:r>
              <a:rPr sz="900" b="1">
                <a:solidFill>
                  <a:srgbClr val="007020"/>
                </a:solidFill>
                <a:latin typeface="Consolas"/>
              </a:rPr>
              <a:t>class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$services</a:t>
            </a:r>
            <a:r>
              <a:rPr sz="900">
                <a:solidFill>
                  <a:srgbClr val="2D2D2D"/>
                </a:solidFill>
                <a:latin typeface="Consolas"/>
              </a:rPr>
              <a:t>-&gt;set(</a:t>
            </a:r>
            <a:r>
              <a:rPr sz="900">
                <a:solidFill>
                  <a:srgbClr val="880000"/>
                </a:solidFill>
                <a:latin typeface="Consolas"/>
              </a:rPr>
              <a:t>C</a:t>
            </a:r>
            <a:r>
              <a:rPr sz="900">
                <a:solidFill>
                  <a:srgbClr val="2D2D2D"/>
                </a:solidFill>
                <a:latin typeface="Consolas"/>
              </a:rPr>
              <a:t>ontactRequestEntityManagerInterface::</a:t>
            </a:r>
            <a:r>
              <a:rPr sz="900" b="1">
                <a:solidFill>
                  <a:srgbClr val="007020"/>
                </a:solidFill>
                <a:latin typeface="Consolas"/>
              </a:rPr>
              <a:t>class</a:t>
            </a:r>
            <a:r>
              <a:rPr sz="900">
                <a:solidFill>
                  <a:srgbClr val="007020"/>
                </a:solidFill>
                <a:latin typeface="Consolas"/>
              </a:rPr>
              <a:t>,</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ontactRequestEntityManager::</a:t>
            </a:r>
            <a:r>
              <a:rPr sz="900" b="1">
                <a:solidFill>
                  <a:srgbClr val="007020"/>
                </a:solidFill>
                <a:latin typeface="Consolas"/>
              </a:rPr>
              <a:t>class</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$services already carries -&gt;autowire()-&gt;public()-&gt;autoconfigure() from the defaults() block at the top of the file, so each class you bind still gets its own constructor arguments injected.</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Aft>
                <a:spcPts val="800"/>
              </a:spcAft>
              <a:defRPr sz="1600">
                <a:solidFill>
                  <a:srgbClr val="1A1A1A"/>
                </a:solidFill>
              </a:defRPr>
            </a:pPr>
            <a:r>
              <a:t>Ask the container again. The interface is a service of its own now, and it resolves to the class you picked: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 cli vendor/bin/console debug:container ContactRequestRepositoryInterface</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Service ID   SprykerAcademy\Zed\ContactRequest\Persistence\ContactRequestRepositoryInterface</a:t>
            </a:r>
          </a:p>
          <a:p>
            <a:pPr>
              <a:spcBef>
                <a:spcPts val="0"/>
              </a:spcBef>
              <a:spcAft>
                <a:spcPts val="0"/>
              </a:spcAft>
            </a:pPr>
            <a:r>
              <a:rPr sz="900">
                <a:solidFill>
                  <a:srgbClr val="2D2D2D"/>
                </a:solidFill>
                <a:latin typeface="Consolas"/>
              </a:rPr>
              <a:t>Class        SprykerAcademy\Zed\ContactRequest\Persistence\ContactRequestRepository</a:t>
            </a:r>
          </a:p>
          <a:p>
            <a:pPr>
              <a:spcAft>
                <a:spcPts val="800"/>
              </a:spcAft>
              <a:defRPr sz="1600">
                <a:solidFill>
                  <a:srgbClr val="1A1A1A"/>
                </a:solidFill>
              </a:defRPr>
            </a:pPr>
            <a:r>
              <a:t>docker/sdk cli vendor/bin/console lint:container answers The container was linted successfully when every argument still resolves. Do the same for every interface you inject through a constructor from now on.</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These two lines are yours, not the exercise’s. config/Zed/ApplicationServices.php belongs to the project, and the exercise loader never edits it - the solution branches work without the bindings, because each interface still has one implementation. When you load a branch that has no ContactRequest persistence layer (exercises 1-3, or another package), remove the two $services-&gt;set() lines again: a binding to a class that is gone breaks the whole Zed container. The loader warns about leftover references like these.</a:t>
            </a:r>
          </a:p>
          <a:p>
            <a:pPr>
              <a:spcAft>
                <a:spcPts val="800"/>
              </a:spcAft>
              <a:defRPr sz="1400" i="1">
                <a:solidFill>
                  <a:srgbClr val="888888"/>
                </a:solidFill>
              </a:defRPr>
            </a:pPr>
            <a:r>
              <a:t>❝ Zed only. config/Yves/ApplicationServices.php is an empty stub in the demo shop, so nothing of yours is in the Yves container - Yves keeps using the Factory and the DependencyProvider, which is what Exercise 5 builds.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When the container cannot find your class at all. Expected to find class "SprykerAcademy\..." in file "..." while importing services from resource "...", but it was not found! Check the namespace prefix used with the resource in config/Zed/ApplicationServices.php is not a namespace-prefix problem, whatever it says. It means PHP cannot autoload the class: SprykerAcademy is missing from vendor/composer/autoload_psr4.php . Run docker/sdk cli composer dump-autoload and check with grep SprykerAcademy vendor/composer/autoload_psr4.php .</a:t>
            </a:r>
          </a:p>
          <a:p>
            <a:pPr>
              <a:spcBef>
                <a:spcPts val="800"/>
              </a:spcBef>
              <a:spcAft>
                <a:spcPts val="400"/>
              </a:spcAft>
              <a:defRPr sz="1700" b="1">
                <a:solidFill>
                  <a:srgbClr val="1A1A1A"/>
                </a:solidFill>
              </a:defRPr>
            </a:pPr>
            <a:r>
              <a:t>2.6 What You Can Type-Hint, and What You Cannot</a:t>
            </a:r>
          </a:p>
          <a:p>
            <a:pPr>
              <a:spcAft>
                <a:spcPts val="800"/>
              </a:spcAft>
              <a:defRPr sz="1600">
                <a:solidFill>
                  <a:srgbClr val="1A1A1A"/>
                </a:solidFill>
              </a:defRPr>
            </a:pPr>
            <a:r>
              <a:t>Two different mechanisms fill the Zed container, and they cover different things.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config/Zed/ApplicationServices.php loads project modules only - every class under src/SprykerAcademy/&lt;App&gt;/&lt;Module&gt;/ becomes a service. That is why your Reader, Writer, Repository and EntityManager are injectable at all.</a:t>
            </a:r>
          </a:p>
          <a:p>
            <a:pPr>
              <a:spcAft>
                <a:spcPts val="800"/>
              </a:spcAft>
              <a:defRPr sz="1600">
                <a:solidFill>
                  <a:srgbClr val="1A1A1A"/>
                </a:solidFill>
              </a:defRPr>
            </a:pPr>
            <a:r>
              <a:t>Core modules are never scanned by that file. Instead a Symfony compiler pass ( Spryker\Service\Container\Pass\SprykerDefaultsPass , added in Spryker\Shared\Application\Kernel::build() ) walks every module the module finder sees, core included, and registers each module’s conventional entry points:</a:t>
            </a:r>
          </a:p>
          <a:p>
            <a:pPr>
              <a:spcAft>
                <a:spcPts val="100"/>
              </a:spcAft>
              <a:defRPr sz="1000">
                <a:solidFill>
                  <a:srgbClr val="1A1A1A"/>
                </a:solidFill>
                <a:latin typeface="Consolas"/>
              </a:defRPr>
            </a:pPr>
            <a:r>
              <a:t>You can type-hint               Example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 Zed facade, by its interface  Spryker\Zed\Configuration\Business\ConfigurationFacadeInterface</a:t>
            </a:r>
          </a:p>
          <a:p>
            <a:pPr>
              <a:spcAft>
                <a:spcPts val="100"/>
              </a:spcAft>
              <a:defRPr sz="1000">
                <a:solidFill>
                  <a:srgbClr val="1A1A1A"/>
                </a:solidFill>
                <a:latin typeface="Consolas"/>
              </a:defRPr>
            </a:pPr>
            <a:r>
              <a:t>a client, by its interface      Spryker\Client\Storage\StorageClientInterface                  </a:t>
            </a:r>
          </a:p>
          <a:p>
            <a:pPr>
              <a:spcAft>
                <a:spcPts val="100"/>
              </a:spcAft>
              <a:defRPr sz="1000">
                <a:solidFill>
                  <a:srgbClr val="1A1A1A"/>
                </a:solidFill>
                <a:latin typeface="Consolas"/>
              </a:defRPr>
            </a:pPr>
            <a:r>
              <a:t>a service, by its interface     Spryker\Service\UtilEncoding\UtilEncodingServiceInterface      </a:t>
            </a:r>
          </a:p>
          <a:p>
            <a:pPr>
              <a:spcAft>
                <a:spcPts val="100"/>
              </a:spcAft>
              <a:defRPr sz="1000">
                <a:solidFill>
                  <a:srgbClr val="1A1A1A"/>
                </a:solidFill>
                <a:latin typeface="Consolas"/>
              </a:defRPr>
            </a:pPr>
            <a:r>
              <a:t>a module config, by its class   Spryker\Zed\Customer\CustomerConfig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You cannot type-hint                                        Why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 core factory, repository, entity manager, reader, mapper  not a conventional entry point - debug:container Business\CustomerBusinessFactory answers No services found</a:t>
            </a:r>
          </a:p>
          <a:p>
            <a:pPr>
              <a:spcAft>
                <a:spcPts val="100"/>
              </a:spcAft>
              <a:defRPr sz="1000">
                <a:solidFill>
                  <a:srgbClr val="1A1A1A"/>
                </a:solidFill>
                <a:latin typeface="Consolas"/>
              </a:defRPr>
            </a:pPr>
            <a:r>
              <a:t>a facade by its concrete class                              the registered id is the interface; ConfigurationFacade is not a service</a:t>
            </a:r>
          </a:p>
          <a:p>
            <a:pPr>
              <a:spcAft>
                <a:spcPts val="800"/>
              </a:spcAft>
              <a:defRPr sz="1600">
                <a:solidFill>
                  <a:srgbClr val="1A1A1A"/>
                </a:solidFill>
              </a:defRPr>
            </a:pPr>
            <a:r>
              <a:t>Check any of it yourself: list the container and filter it.</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grep</a:t>
            </a:r>
            <a:r>
              <a:rPr sz="900">
                <a:solidFill>
                  <a:srgbClr val="2D2D2D"/>
                </a:solidFill>
                <a:latin typeface="Consolas"/>
              </a:rPr>
              <a:t> </a:t>
            </a:r>
            <a:r>
              <a:rPr sz="900">
                <a:solidFill>
                  <a:srgbClr val="4070A0"/>
                </a:solidFill>
                <a:latin typeface="Consolas"/>
              </a:rPr>
              <a:t>'Spryker\\Zed\\Configuration\\'</a:t>
            </a:r>
          </a:p>
          <a:p>
            <a:pPr>
              <a:spcAft>
                <a:spcPts val="800"/>
              </a:spcAft>
              <a:defRPr sz="1400" i="1">
                <a:solidFill>
                  <a:srgbClr val="888888"/>
                </a:solidFill>
              </a:defRPr>
            </a:pPr>
            <a:r>
              <a:t>❝ debug:container &lt;fragment&gt; also searches, but when the fragment matches more than one service it stops and asks you to pick one. And docker/sdk cli hands the command to a shell inside the container, which eats single backslashes: write a full service id with doubled ones, debug:container 'Spryker\\Zed\\Configuration\\ConfigurationConfig' .</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whole core Configuration module contributes exactly two services, the facade interface and the module config. Nothing behind the front door is reachable, which is the point: a module’s internals stay its own business.</a:t>
            </a:r>
          </a:p>
          <a:p>
            <a:pPr>
              <a:spcAft>
                <a:spcPts val="800"/>
              </a:spcAft>
              <a:defRPr sz="1400" i="1">
                <a:solidFill>
                  <a:srgbClr val="888888"/>
                </a:solidFill>
              </a:defRPr>
            </a:pPr>
            <a:r>
              <a:t>❝ You never bypass the class resolver. The pass looks for a project override before the core class, so type-hinting the core name gives you the project class when one exists. On this shop Spryker\Zed\Customer\CustomerConfig resolves to Class Pyz\Zed\Customer\CustomerConfig .</a:t>
            </a:r>
          </a:p>
          <a:p>
            <a:pPr>
              <a:spcAft>
                <a:spcPts val="800"/>
              </a:spcAft>
              <a:defRPr sz="1600">
                <a:solidFill>
                  <a:srgbClr val="1A1A1A"/>
                </a:solidFill>
              </a:defRPr>
            </a:pPr>
            <a:r>
              <a:t>Your own modules are the generous case: because ApplicationServices.php loads the whole directory, even ContactRequestPersistenceFactory is a service. Injecting a factory still goes around Spryker’s pattern - the kernel creates factories and you reach dependencies through them - so do not, just because you can.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2.7 Clearing the Container Cache</a:t>
            </a:r>
          </a:p>
          <a:p>
            <a:pPr>
              <a:spcAft>
                <a:spcPts val="800"/>
              </a:spcAft>
              <a:defRPr sz="1600">
                <a:solidFill>
                  <a:srgbClr val="1A1A1A"/>
                </a:solidFill>
              </a:defRPr>
            </a:pPr>
            <a:r>
              <a:t>The compiled container is generated PHP under data/cache/&lt;Application&gt;/&lt;environment&gt;/Container*/ . When a constructor change, a new service or a new $services-&gt;set() line seems to have no effect, that directory is the first suspect.</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cache:clear</a:t>
            </a:r>
          </a:p>
          <a:p>
            <a:pPr>
              <a:spcAft>
                <a:spcPts val="800"/>
              </a:spcAft>
              <a:defRPr sz="1600">
                <a:solidFill>
                  <a:srgbClr val="1A1A1A"/>
                </a:solidFill>
              </a:defRPr>
            </a:pPr>
            <a:r>
              <a:t>That is Symfony’s own command, and it is the one that rebuilds the container.</a:t>
            </a:r>
          </a:p>
          <a:p>
            <a:pPr>
              <a:spcAft>
                <a:spcPts val="800"/>
              </a:spcAft>
              <a:defRPr sz="1400" i="1">
                <a:solidFill>
                  <a:srgbClr val="888888"/>
                </a:solidFill>
              </a:defRPr>
            </a:pPr>
            <a:r>
              <a:t>❝ cache:empty-all is not the command for this. It clears data/cache broadly - the Propel table map, the configuration schema, generated Twig and navigation - but leaves the compiled container in place. Running it and seeing no change is what sends people looking for a bug in their code that is not there. It also means you have to run propel:install afterwards to get the table map back.</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Business Logic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If the container is broken badly enough that the console itself will not boot, no command can help you. Delete the directory and rebuild it:</a:t>
            </a:r>
          </a:p>
          <a:p>
            <a:pPr>
              <a:spcBef>
                <a:spcPts val="0"/>
              </a:spcBef>
              <a:spcAft>
                <a:spcPts val="0"/>
              </a:spcAft>
            </a:pPr>
            <a:r>
              <a:rPr sz="900">
                <a:solidFill>
                  <a:srgbClr val="06287E"/>
                </a:solidFill>
                <a:latin typeface="Consolas"/>
              </a:rPr>
              <a:t>rm</a:t>
            </a:r>
            <a:r>
              <a:rPr sz="900">
                <a:solidFill>
                  <a:srgbClr val="2D2D2D"/>
                </a:solidFill>
                <a:latin typeface="Consolas"/>
              </a:rPr>
              <a:t> </a:t>
            </a:r>
            <a:r>
              <a:rPr sz="900">
                <a:solidFill>
                  <a:srgbClr val="2D2D2D"/>
                </a:solidFill>
                <a:latin typeface="Consolas"/>
              </a:rPr>
              <a:t>-rf</a:t>
            </a:r>
            <a:r>
              <a:rPr sz="900">
                <a:solidFill>
                  <a:srgbClr val="2D2D2D"/>
                </a:solidFill>
                <a:latin typeface="Consolas"/>
              </a:rPr>
              <a:t> data/cache/Zed</a:t>
            </a:r>
          </a:p>
          <a:p>
            <a:pPr>
              <a:spcBef>
                <a:spcPts val="0"/>
              </a:spcBef>
              <a:spcAft>
                <a:spcPts val="0"/>
              </a:spcAft>
            </a:pPr>
            <a:r>
              <a:rPr sz="900">
                <a:solidFill>
                  <a:srgbClr val="2D2D2D"/>
                </a:solidFill>
                <a:latin typeface="Consolas"/>
              </a:rPr>
              <a:t>docker/sdk</a:t>
            </a:r>
            <a:r>
              <a:rPr sz="900">
                <a:solidFill>
                  <a:srgbClr val="2D2D2D"/>
                </a:solidFill>
                <a:latin typeface="Consolas"/>
              </a:rPr>
              <a:t> console container:build</a:t>
            </a:r>
          </a:p>
          <a:p>
            <a:pPr>
              <a:spcAft>
                <a:spcPts val="800"/>
              </a:spcAft>
              <a:defRPr sz="1600">
                <a:solidFill>
                  <a:srgbClr val="1A1A1A"/>
                </a:solidFill>
              </a:defRPr>
            </a:pPr>
            <a:r>
              <a:t>container:build compiles the container explicitly and answers Container built successfully . Use data/cache/Yves , data/cache/GlueStorefront and so on for the other applications.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3.1 Controller for the Back Office</a:t>
            </a:r>
          </a:p>
          <a:p>
            <a:pPr>
              <a:spcAft>
                <a:spcPts val="800"/>
              </a:spcAft>
              <a:defRPr sz="1600">
                <a:solidFill>
                  <a:srgbClr val="1A1A1A"/>
                </a:solidFill>
              </a:defRPr>
            </a:pPr>
            <a:r>
              <a:t>Since Spryker 202602.0, controllers support constructor dependency injection . You can inject the Facade directly instead of using $this-&gt;getFacade() .</a:t>
            </a:r>
          </a:p>
          <a:p>
            <a:pPr>
              <a:spcAft>
                <a:spcPts val="800"/>
              </a:spcAft>
              <a:defRPr sz="1600">
                <a:solidFill>
                  <a:srgbClr val="1A1A1A"/>
                </a:solidFill>
              </a:defRPr>
            </a:pPr>
            <a:r>
              <a:t>Coding time: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src/SprykerAcademy/Zed/ContactRequest/Communication/Controller/IndexController.php . The facade is already injected via the constructor — use $this-&gt;contactRequestFacade . Complete addAction() : 1. Instantiate ContactRequestCriteriaTransfer and set the message from the query parameter 2. Call $this-&gt;contactRequestFacade-&gt;findContactRequest() to look it up 3. If not found, create a new ContactRequestTransfer with the message and persist it via $this-&gt;contactRequestFacade-&gt;createContactRequest()</a:t>
            </a:r>
          </a:p>
          <a:p>
            <a:pPr>
              <a:spcBef>
                <a:spcPts val="0"/>
              </a:spcBef>
              <a:spcAft>
                <a:spcPts val="0"/>
              </a:spcAft>
            </a:pPr>
            <a:r>
              <a:rPr sz="900">
                <a:solidFill>
                  <a:srgbClr val="2D2D2D"/>
                </a:solidFill>
                <a:latin typeface="Consolas"/>
              </a:rPr>
              <a:t>ArgumentCountError: Too few arguments to function</a:t>
            </a:r>
          </a:p>
          <a:p>
            <a:pPr>
              <a:spcBef>
                <a:spcPts val="0"/>
              </a:spcBef>
              <a:spcAft>
                <a:spcPts val="0"/>
              </a:spcAft>
            </a:pPr>
            <a:r>
              <a:rPr sz="900">
                <a:solidFill>
                  <a:srgbClr val="2D2D2D"/>
                </a:solidFill>
                <a:latin typeface="Consolas"/>
              </a:rPr>
              <a:t>SprykerAcademy\Zed\ContactRequest\Communication\Controller\IndexController::__construct(),</a:t>
            </a:r>
          </a:p>
          <a:p>
            <a:pPr>
              <a:spcBef>
                <a:spcPts val="0"/>
              </a:spcBef>
              <a:spcAft>
                <a:spcPts val="0"/>
              </a:spcAft>
            </a:pPr>
            <a:r>
              <a:rPr sz="900">
                <a:solidFill>
                  <a:srgbClr val="2D2D2D"/>
                </a:solidFill>
                <a:latin typeface="Consolas"/>
              </a:rPr>
              <a:t>0 passed and exactly 1 expected</a:t>
            </a:r>
          </a:p>
          <a:p>
            <a:pPr>
              <a:spcAft>
                <a:spcPts val="800"/>
              </a:spcAft>
              <a:defRPr sz="1600">
                <a:solidFill>
                  <a:srgbClr val="1A1A1A"/>
                </a:solidFill>
              </a:defRPr>
            </a:pPr>
            <a:r>
              <a:t>Your constructor is fine. Read what Spryker does with a Zed route, in Spryker\Shared\Router\Resolver\ControllerResolver::getControllerFromArray() :</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if</a:t>
            </a: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 </a:t>
            </a:r>
            <a:r>
              <a:rPr sz="900">
                <a:solidFill>
                  <a:srgbClr val="666666"/>
                </a:solidFill>
                <a:latin typeface="Consolas"/>
              </a:rPr>
              <a:t>&amp;&amp;</a:t>
            </a:r>
            <a:r>
              <a:rPr sz="900">
                <a:solidFill>
                  <a:srgbClr val="2D2D2D"/>
                </a:solidFill>
                <a:latin typeface="Consolas"/>
              </a:rPr>
              <a:t> </a:t>
            </a:r>
            <a:r>
              <a:rPr sz="900">
                <a:solidFill>
                  <a:srgbClr val="06287E"/>
                </a:solidFill>
                <a:latin typeface="Consolas"/>
              </a:rPr>
              <a:t>is_string</a:t>
            </a:r>
            <a:r>
              <a:rPr sz="900">
                <a:solidFill>
                  <a:srgbClr val="2D2D2D"/>
                </a:solidFill>
                <a:latin typeface="Consolas"/>
              </a:rPr>
              <a:t>(</a:t>
            </a:r>
            <a:r>
              <a:rPr sz="900">
                <a:solidFill>
                  <a:srgbClr val="19177C"/>
                </a:solidFill>
                <a:latin typeface="Consolas"/>
              </a:rPr>
              <a:t>$controller</a:t>
            </a:r>
            <a:r>
              <a:rPr sz="900">
                <a:solidFill>
                  <a:srgbClr val="2D2D2D"/>
                </a:solidFill>
                <a:latin typeface="Consolas"/>
              </a:rPr>
              <a:t>[</a:t>
            </a:r>
            <a:r>
              <a:rPr sz="900">
                <a:solidFill>
                  <a:srgbClr val="40A070"/>
                </a:solidFill>
                <a:latin typeface="Consolas"/>
              </a:rPr>
              <a:t>0</a:t>
            </a:r>
            <a:r>
              <a:rPr sz="900">
                <a:solidFill>
                  <a:srgbClr val="2D2D2D"/>
                </a:solidFill>
                <a:latin typeface="Consolas"/>
              </a:rPr>
              <a:t>]) </a:t>
            </a:r>
            <a:r>
              <a:rPr sz="900">
                <a:solidFill>
                  <a:srgbClr val="666666"/>
                </a:solidFill>
                <a:latin typeface="Consolas"/>
              </a:rPr>
              <a:t>&amp;&amp;</a:t>
            </a: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-&gt;has(</a:t>
            </a:r>
            <a:r>
              <a:rPr sz="900">
                <a:solidFill>
                  <a:srgbClr val="19177C"/>
                </a:solidFill>
                <a:latin typeface="Consolas"/>
              </a:rPr>
              <a:t>$controller</a:t>
            </a:r>
            <a:r>
              <a:rPr sz="900">
                <a:solidFill>
                  <a:srgbClr val="2D2D2D"/>
                </a:solidFill>
                <a:latin typeface="Consolas"/>
              </a:rPr>
              <a:t>[</a:t>
            </a:r>
            <a:r>
              <a:rPr sz="900">
                <a:solidFill>
                  <a:srgbClr val="40A070"/>
                </a:solidFill>
                <a:latin typeface="Consolas"/>
              </a:rPr>
              <a:t>0</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$controllerInstance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-&gt;get(</a:t>
            </a:r>
            <a:r>
              <a:rPr sz="900">
                <a:solidFill>
                  <a:srgbClr val="19177C"/>
                </a:solidFill>
                <a:latin typeface="Consolas"/>
              </a:rPr>
              <a:t>$controller</a:t>
            </a:r>
            <a:r>
              <a:rPr sz="900">
                <a:solidFill>
                  <a:srgbClr val="2D2D2D"/>
                </a:solidFill>
                <a:latin typeface="Consolas"/>
              </a:rPr>
              <a:t>[</a:t>
            </a:r>
            <a:r>
              <a:rPr sz="900">
                <a:solidFill>
                  <a:srgbClr val="40A070"/>
                </a:solidFill>
                <a:latin typeface="Consolas"/>
              </a:rPr>
              <a:t>0</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your constructor runs here</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19177C"/>
                </a:solidFill>
                <a:latin typeface="Consolas"/>
              </a:rPr>
              <a:t>$controllerInstance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19177C"/>
                </a:solidFill>
                <a:latin typeface="Consolas"/>
              </a:rPr>
              <a:t>$controller</a:t>
            </a:r>
            <a:r>
              <a:rPr sz="900">
                <a:solidFill>
                  <a:srgbClr val="2D2D2D"/>
                </a:solidFill>
                <a:latin typeface="Consolas"/>
              </a:rPr>
              <a:t>[</a:t>
            </a:r>
            <a:r>
              <a:rPr sz="900">
                <a:solidFill>
                  <a:srgbClr val="40A070"/>
                </a:solidFill>
                <a:latin typeface="Consolas"/>
              </a:rPr>
              <a:t>0</a:t>
            </a:r>
            <a:r>
              <a:rPr sz="900">
                <a:solidFill>
                  <a:srgbClr val="2D2D2D"/>
                </a:solidFill>
                <a:latin typeface="Consolas"/>
              </a:rPr>
              <a:t>]()</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fallback: no arguments</a:t>
            </a:r>
          </a:p>
          <a:p>
            <a:pPr>
              <a:spcAft>
                <a:spcPts val="800"/>
              </a:spcAft>
              <a:defRPr sz="1600">
                <a:solidFill>
                  <a:srgbClr val="1A1A1A"/>
                </a:solidFill>
              </a:defRPr>
            </a:pPr>
            <a:r>
              <a:t>A Zed route carries _controller =&gt; [IndexController::class, 'indexAction'] . The resolver asks the container for that class; if the container does not have it, it falls back to new with no arguments, and a constructor that expects a facade gets nothing. The message is always about the container, never about your constructor. Ask the container whether it knows your controller:</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grep</a:t>
            </a:r>
            <a:r>
              <a:rPr sz="900">
                <a:solidFill>
                  <a:srgbClr val="2D2D2D"/>
                </a:solidFill>
                <a:latin typeface="Consolas"/>
              </a:rPr>
              <a:t> ContactRequest</a:t>
            </a:r>
          </a:p>
          <a:p>
            <a:pPr>
              <a:spcAft>
                <a:spcPts val="800"/>
              </a:spcAft>
              <a:defRPr sz="1600">
                <a:solidFill>
                  <a:srgbClr val="1A1A1A"/>
                </a:solidFill>
              </a:defRPr>
            </a:pPr>
            <a:r>
              <a:t>If the controller is missing from that list, it is one of these, in order of likelihood: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autoloader is stale. $services-&gt;load() cannot register a class PHP cannot autoload. docker/sdk cli composer dump-autoload , then grep SprykerAcademy vendor/composer/autoload_psr4.php .</a:t>
            </a:r>
          </a:p>
          <a:p>
            <a:pPr>
              <a:spcAft>
                <a:spcPts val="400"/>
              </a:spcAft>
              <a:defRPr sz="1500">
                <a:solidFill>
                  <a:srgbClr val="1A1A1A"/>
                </a:solidFill>
              </a:defRPr>
            </a:pPr>
            <a:r>
              <a:t>• The compiled container is stale - you added the constructor after it was built. docker/sdk console cache:clear , and see Clearing the container cache below. Note that cache:empty-all does not help here; it leaves the compiled container untouched.</a:t>
            </a:r>
          </a:p>
          <a:p>
            <a:pPr>
              <a:spcAft>
                <a:spcPts val="400"/>
              </a:spcAft>
              <a:defRPr sz="1500">
                <a:solidFill>
                  <a:srgbClr val="1A1A1A"/>
                </a:solidFill>
              </a:defRPr>
            </a:pPr>
            <a:r>
              <a:t>• The class is not where the module finder looks. It has to be src/SprykerAcademy/Zed/&lt;Module&gt;/Communication/Controller/&lt;Name&gt;Controller.php - the container is built by walking that structure, so a controller one directory off is invisible to it.</a:t>
            </a:r>
          </a:p>
          <a:p>
            <a:pPr>
              <a:spcAft>
                <a:spcPts val="400"/>
              </a:spcAft>
              <a:defRPr sz="1500">
                <a:solidFill>
                  <a:srgbClr val="1A1A1A"/>
                </a:solidFill>
              </a:defRPr>
            </a:pPr>
            <a:r>
              <a:t>• The module is excluded in $excludedModuleConfiguration at the top of config/Zed/ApplicationServices.php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If you are stuck and want to keep moving, $this-&gt;getFacade() still works in any Zed controller: it goes through Spryker’s class resolver instead of the container, so it does not care whether the controller is a service. Constructor injection is the newer, nicer way, not the only way.</a:t>
            </a:r>
          </a:p>
          <a:p>
            <a:pPr>
              <a:spcAft>
                <a:spcPts val="800"/>
              </a:spcAft>
              <a:defRPr sz="1400" i="1">
                <a:solidFill>
                  <a:srgbClr val="888888"/>
                </a:solidFill>
              </a:defRPr>
            </a:pPr>
            <a:r>
              <a:t>❝ In Yves there is no fix for this. config/Yves/ApplicationServices.php is an empty stub, so no project class is ever in the Yves container and a Yves controller is never a service - a constructor with arguments there throws this error every time, no matter what you clear. Yves uses the Factory and the DependencyProvider, which is what Exercise 5 builds.</a:t>
            </a:r>
          </a:p>
          <a:p>
            <a:pPr>
              <a:spcBef>
                <a:spcPts val="800"/>
              </a:spcBef>
              <a:spcAft>
                <a:spcPts val="400"/>
              </a:spcAft>
              <a:defRPr sz="1700" b="1">
                <a:solidFill>
                  <a:srgbClr val="1A1A1A"/>
                </a:solidFill>
              </a:defRPr>
            </a:pPr>
            <a:r>
              <a:t>3.2 Template for the Back Office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controller passes contactRequest (a ContactRequestTransfer ) to the template. Access object properties with dot notation: objectName.objectProperty .</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src/SprykerAcademy/Zed/ContactRequest/Presentation/Index/add.twig . Replace the placeholder 'show-contact-request-message-here' with the message of the contact request using dot notation ( contactRequest.message ).</a:t>
            </a:r>
          </a:p>
          <a:p>
            <a:pPr>
              <a:spcAft>
                <a:spcPts val="800"/>
              </a:spcAft>
              <a:defRPr sz="1600">
                <a:solidFill>
                  <a:srgbClr val="1A1A1A"/>
                </a:solidFill>
              </a:defRPr>
            </a:pPr>
            <a:r>
              <a:t>AddTemplateTest checks this step, and IndexControllerAddActionTest checks the controller above it.</a:t>
            </a:r>
          </a:p>
          <a:p>
            <a:pPr>
              <a:spcAft>
                <a:spcPts val="800"/>
              </a:spcAft>
              <a:defRPr sz="1600">
                <a:solidFill>
                  <a:srgbClr val="1A1A1A"/>
                </a:solidFill>
              </a:defRPr>
            </a:pPr>
            <a:r>
              <a:t>Clear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Visual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Visit: http://backoffice.eu.spryker.local/contact-request/index/add Use query parameter ?message=YourName to create a contact request with a custom message.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Exercise4</a:t>
            </a:r>
          </a:p>
          <a:p>
            <a:pPr>
              <a:spcAft>
                <a:spcPts val="800"/>
              </a:spcAft>
              <a:defRPr sz="1600">
                <a:solidFill>
                  <a:srgbClr val="1A1A1A"/>
                </a:solidFill>
              </a:defRPr>
            </a:pPr>
            <a:r>
              <a:t>Every step of this exercise is covered: the two transfer definitions, the Persistence Factory, the Repository (including the Criteria::LIKE partial match), the EntityManager, the Writer, the Reader, the Facade, addAction() and add.twig . All tests should pass if your implementation is correct.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basics/module-layers/complete </a:t>
            </a:r>
            <a:r>
              <a:rPr sz="900">
                <a:solidFill>
                  <a:srgbClr val="2D2D2D"/>
                </a:solidFill>
                <a:latin typeface="Consolas"/>
              </a:rPr>
              <a:t>--run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5: Module Layers - Storefront Step</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5: Module Layers - Storefront Step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display a persisted contact request in Yves (the Storefront). You will learn how to communicate between Yves and Zed using the Client layer and the BackendGateway.</a:t>
            </a:r>
          </a:p>
          <a:p>
            <a:pPr>
              <a:spcAft>
                <a:spcPts val="800"/>
              </a:spcAft>
              <a:defRPr sz="1600">
                <a:solidFill>
                  <a:srgbClr val="1A1A1A"/>
                </a:solidFill>
              </a:defRPr>
            </a:pPr>
            <a:r>
              <a:t>Part 2 of 2 - This guide focuses on showing the contact request in Yves.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must have completed Exercise 4: Module Layers - Back Office Step</a:t>
            </a:r>
          </a:p>
          <a:p>
            <a:pPr>
              <a:spcAft>
                <a:spcPts val="800"/>
              </a:spcAft>
              <a:defRPr sz="1600">
                <a:solidFill>
                  <a:srgbClr val="1A1A1A"/>
                </a:solidFill>
              </a:defRPr>
            </a:pPr>
            <a:r>
              <a:t>We continue on the code from Part 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1. Expose Contact Requests to Storefronts</a:t>
            </a:r>
          </a:p>
          <a:p>
            <a:pPr>
              <a:spcBef>
                <a:spcPts val="800"/>
              </a:spcBef>
              <a:spcAft>
                <a:spcPts val="400"/>
              </a:spcAft>
              <a:defRPr sz="1700" b="1">
                <a:solidFill>
                  <a:srgbClr val="1A1A1A"/>
                </a:solidFill>
              </a:defRPr>
            </a:pPr>
            <a:r>
              <a:t>1.1 GatewayController for Communication with Yves</a:t>
            </a:r>
          </a:p>
          <a:p>
            <a:pPr>
              <a:spcAft>
                <a:spcPts val="800"/>
              </a:spcAft>
              <a:defRPr sz="1600">
                <a:solidFill>
                  <a:srgbClr val="1A1A1A"/>
                </a:solidFill>
              </a:defRPr>
            </a:pPr>
            <a:r>
              <a:t>The GatewayController exposes an endpoint from Zed to Yves via the BackendGateway.</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src/SprykerAcademy/Zed/ContactRequest/Communication/Controller/GatewayController.php . Complete findContactRequestAction() by finding a contact request through the Facade using the ContactRequestCriteriaTransfer .</a:t>
            </a:r>
          </a:p>
          <a:p>
            <a:pPr>
              <a:spcAft>
                <a:spcPts val="800"/>
              </a:spcAft>
              <a:defRPr sz="1600">
                <a:solidFill>
                  <a:srgbClr val="1A1A1A"/>
                </a:solidFill>
              </a:defRPr>
            </a:pPr>
            <a:r>
              <a:t>Clear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Client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2.1 Create a Stub for Calling BackendGateway</a:t>
            </a:r>
          </a:p>
          <a:p>
            <a:pPr>
              <a:spcAft>
                <a:spcPts val="800"/>
              </a:spcAft>
              <a:defRPr sz="1600">
                <a:solidFill>
                  <a:srgbClr val="1A1A1A"/>
                </a:solidFill>
              </a:defRPr>
            </a:pPr>
            <a:r>
              <a:t>The Stub uses ZedRequestClient to call Zed from the Storefront.</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src/SprykerAcademy/Client/ContactRequest/Stub/ContactRequestStub.php . In the findContactRequest() method, fill in the correct path to the GatewayController action.</a:t>
            </a:r>
          </a:p>
          <a:p>
            <a:pPr>
              <a:spcAft>
                <a:spcPts val="800"/>
              </a:spcAft>
              <a:defRPr sz="1600">
                <a:solidFill>
                  <a:srgbClr val="1A1A1A"/>
                </a:solidFill>
              </a:defRPr>
            </a:pPr>
            <a:r>
              <a:t>The DTO is serialized on one side and deserialized on the other side of the request.</a:t>
            </a:r>
          </a:p>
          <a:p>
            <a:pPr>
              <a:spcBef>
                <a:spcPts val="800"/>
              </a:spcBef>
              <a:spcAft>
                <a:spcPts val="400"/>
              </a:spcAft>
              <a:defRPr sz="1700" b="1">
                <a:solidFill>
                  <a:srgbClr val="1A1A1A"/>
                </a:solidFill>
              </a:defRPr>
            </a:pPr>
            <a:r>
              <a:t>2.2 Provide ZedRequestClient as a Dependency</a:t>
            </a:r>
          </a:p>
          <a:p>
            <a:pPr>
              <a:spcAft>
                <a:spcPts val="800"/>
              </a:spcAft>
              <a:defRPr sz="1600">
                <a:solidFill>
                  <a:srgbClr val="1A1A1A"/>
                </a:solidFill>
              </a:defRPr>
            </a:pPr>
            <a:r>
              <a:t>Every external dependency must be provided through the DependencyProvider. The pattern:</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protected</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addStoreClient(</a:t>
            </a:r>
            <a:r>
              <a:rPr sz="900">
                <a:solidFill>
                  <a:srgbClr val="880000"/>
                </a:solidFill>
                <a:latin typeface="Consolas"/>
              </a:rPr>
              <a:t>C</a:t>
            </a:r>
            <a:r>
              <a:rPr sz="900">
                <a:solidFill>
                  <a:srgbClr val="2D2D2D"/>
                </a:solidFill>
                <a:latin typeface="Consolas"/>
              </a:rPr>
              <a:t>ontainer </a:t>
            </a:r>
            <a:r>
              <a:rPr sz="900">
                <a:solidFill>
                  <a:srgbClr val="19177C"/>
                </a:solidFill>
                <a:latin typeface="Consolas"/>
              </a:rPr>
              <a:t>$container</a:t>
            </a:r>
            <a:r>
              <a:rPr sz="900">
                <a:solidFill>
                  <a:srgbClr val="2D2D2D"/>
                </a:solidFill>
                <a:latin typeface="Consolas"/>
              </a:rPr>
              <a:t>)</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-&gt;set(</a:t>
            </a:r>
            <a:r>
              <a:rPr sz="900" b="1">
                <a:solidFill>
                  <a:srgbClr val="007020"/>
                </a:solidFill>
                <a:latin typeface="Consolas"/>
              </a:rPr>
              <a:t>static</a:t>
            </a:r>
            <a:r>
              <a:rPr sz="900">
                <a:solidFill>
                  <a:srgbClr val="2D2D2D"/>
                </a:solidFill>
                <a:latin typeface="Consolas"/>
              </a:rPr>
              <a:t>::</a:t>
            </a:r>
            <a:r>
              <a:rPr sz="900">
                <a:solidFill>
                  <a:srgbClr val="880000"/>
                </a:solidFill>
                <a:latin typeface="Consolas"/>
              </a:rPr>
              <a:t>CLIENT_STORE</a:t>
            </a:r>
            <a:r>
              <a:rPr sz="900">
                <a:solidFill>
                  <a:srgbClr val="007020"/>
                </a:solidFill>
                <a:latin typeface="Consolas"/>
              </a:rPr>
              <a:t>,</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ontainer </a:t>
            </a:r>
            <a:r>
              <a:rPr sz="900">
                <a:solidFill>
                  <a:srgbClr val="19177C"/>
                </a:solidFill>
                <a:latin typeface="Consolas"/>
              </a:rPr>
              <a:t>$container</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$container</a:t>
            </a:r>
            <a:r>
              <a:rPr sz="900">
                <a:solidFill>
                  <a:srgbClr val="2D2D2D"/>
                </a:solidFill>
                <a:latin typeface="Consolas"/>
              </a:rPr>
              <a:t>-&gt;getLocator()-&gt;store()-&gt;client()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$container</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The locator works as: $container-&gt;getLocator()-&gt;&lt;moduleName&gt;()-&gt;&lt;what&gt;() .</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src/SprykerAcademy/Client/ContactRequest/ContactRequestDependencyProvider.php . In the addZedRequestClient() method, make the ZedRequestClient available using the locator and the constant CLIENT_ZED_REQUEST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2.3 Instantiate the ContactRequestStub</a:t>
            </a:r>
          </a:p>
          <a:p>
            <a:pPr>
              <a:spcAft>
                <a:spcPts val="800"/>
              </a:spcAft>
              <a:defRPr sz="1600">
                <a:solidFill>
                  <a:srgbClr val="1A1A1A"/>
                </a:solidFill>
              </a:defRPr>
            </a:pPr>
            <a:r>
              <a:t>Note the naming conventions: create*() for instantiation (using new ), get*() for retrieving provided dependencies.</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src/SprykerAcademy/Client/ContactRequest/ContactRequestFactory.php . In createContactRequestStub() , instantiate and return a ContactRequestStub with the correct dependency injected.</a:t>
            </a:r>
          </a:p>
          <a:p>
            <a:pPr>
              <a:spcBef>
                <a:spcPts val="800"/>
              </a:spcBef>
              <a:spcAft>
                <a:spcPts val="400"/>
              </a:spcAft>
              <a:defRPr sz="1700" b="1">
                <a:solidFill>
                  <a:srgbClr val="1A1A1A"/>
                </a:solidFill>
              </a:defRPr>
            </a:pPr>
            <a:r>
              <a:t>2.4 Create the Client (Internal API)</a:t>
            </a:r>
          </a:p>
          <a:p>
            <a:pPr>
              <a:spcAft>
                <a:spcPts val="800"/>
              </a:spcAft>
              <a:defRPr sz="1600">
                <a:solidFill>
                  <a:srgbClr val="1A1A1A"/>
                </a:solidFill>
              </a:defRPr>
            </a:pPr>
            <a:r>
              <a:t>The *Client class is what gets provided to other clients, Yves, or Glue through their DependencyProviders.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Build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src/SprykerAcademy/Client/ContactRequest/ContactRequestClient.php . Complete findContactRequest() by using the factory to create a ContactRequestStub and return the found contact request.</a:t>
            </a:r>
          </a:p>
          <a:p>
            <a:pPr>
              <a:spcAft>
                <a:spcPts val="800"/>
              </a:spcAft>
              <a:defRPr sz="1600">
                <a:solidFill>
                  <a:srgbClr val="1A1A1A"/>
                </a:solidFill>
              </a:defRPr>
            </a:pPr>
            <a:r>
              <a:t>Update IDE auto-completion:</a:t>
            </a:r>
          </a:p>
          <a:p>
            <a:pPr>
              <a:spcBef>
                <a:spcPts val="0"/>
              </a:spcBef>
              <a:spcAft>
                <a:spcPts val="0"/>
              </a:spcAft>
            </a:pPr>
            <a:r>
              <a:rPr sz="900">
                <a:solidFill>
                  <a:srgbClr val="2D2D2D"/>
                </a:solidFill>
                <a:latin typeface="Consolas"/>
              </a:rPr>
              <a:t>docker/sdk</a:t>
            </a:r>
            <a:r>
              <a:rPr sz="900">
                <a:solidFill>
                  <a:srgbClr val="2D2D2D"/>
                </a:solidFill>
                <a:latin typeface="Consolas"/>
              </a:rPr>
              <a:t> console dev:ide-auto-completion:generate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Build Yves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3.1 DependencyProvider and Factory</a:t>
            </a:r>
          </a:p>
          <a:p>
            <a:pPr>
              <a:spcAft>
                <a:spcPts val="800"/>
              </a:spcAft>
              <a:defRPr sz="1600">
                <a:solidFill>
                  <a:srgbClr val="1A1A1A"/>
                </a:solidFill>
              </a:defRPr>
            </a:pPr>
            <a:r>
              <a:t>Make the ContactRequestClient available in the Yves application layer.</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src/SprykerAcademy/Yves/ContactRequestPage/ContactRequestPageDependencyProvider.php . In the addContactRequestClient() method, make the ContactRequestClient available.</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src/SprykerAcademy/Yves/ContactRequestPage/ContactRequestPageFactory.php . Complete getContactRequestClient() by returning the provided dependency using ContactRequestPageDependencyProvider::CLIENT_CONTACT_REQUEST .</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Build Yves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3.2 Controller</a:t>
            </a:r>
          </a:p>
          <a:p>
            <a:pPr>
              <a:spcAft>
                <a:spcPts val="800"/>
              </a:spcAft>
              <a:defRPr sz="1600">
                <a:solidFill>
                  <a:srgbClr val="1A1A1A"/>
                </a:solidFill>
              </a:defRPr>
            </a:pPr>
            <a:r>
              <a:t>The template is already provided at src/SprykerAcademy/Yves/ContactRequestPage/Theme/default/views/contact-request/get.twig and expects a variable named contactRequest .</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src/SprykerAcademy/Yves/ContactRequestPage/Controller/IndexController.php . Complete getAction() : 1. Instantiate a ContactRequestCriteriaTransfer and set the contact request ID ( idContactRequest ) from the route parameter 2. Use getFactory() to access the ContactRequestClient 3. Find a contact request by the criteria and assign the result to $contactRequestResponseTransfer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Build Yves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Not the constructor here. Exercise 4 injected the Facade into the Back Office controller through the constructor. That works because Zed’s controllers come out of the Symfony container. config/Yves/ApplicationServices.php is an empty stub, so nothing of yours is in the Yves container: Spryker builds a Yves controller with new , and a constructor with arguments fails with *Too few arguments to function …::__construct()*. In Yves you reach dependencies through getFactory() .</a:t>
            </a:r>
          </a:p>
          <a:p>
            <a:pPr>
              <a:spcBef>
                <a:spcPts val="800"/>
              </a:spcBef>
              <a:spcAft>
                <a:spcPts val="400"/>
              </a:spcAft>
              <a:defRPr sz="1700" b="1">
                <a:solidFill>
                  <a:srgbClr val="1A1A1A"/>
                </a:solidFill>
              </a:defRPr>
            </a:pPr>
            <a:r>
              <a:t>3.3 Routing</a:t>
            </a:r>
          </a:p>
          <a:p>
            <a:pPr>
              <a:spcAft>
                <a:spcPts val="800"/>
              </a:spcAft>
              <a:defRPr sz="1600">
                <a:solidFill>
                  <a:srgbClr val="1A1A1A"/>
                </a:solidFill>
              </a:defRPr>
            </a:pPr>
            <a:r>
              <a:t>Unlike the Back Office, Yves requires explicit route definitions via a *RouteProviderPlugin .</a:t>
            </a:r>
          </a:p>
          <a:p>
            <a:pPr>
              <a:spcAft>
                <a:spcPts val="800"/>
              </a:spcAft>
              <a:defRPr sz="1600">
                <a:solidFill>
                  <a:srgbClr val="1A1A1A"/>
                </a:solidFill>
              </a:defRPr>
            </a:pPr>
            <a:r>
              <a:t>Coding time: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Build Yves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src/SprykerAcademy/Yves/ContactRequestPage/Plugin/Router/ContactRequestPageRouteProviderPlugin.php . In addContactRequestGetRoute() , fill in the correct module name and controller name for the placeholders.</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src/SprykerAcademy/Yves/Router/RouterDependencyProvider.php . It extends the project’s Pyz\Yves\Router\RouterDependencyProvider ; in getRouteProvider() , add a new ContactRequestPageRouteProviderPlugin to the plugins returned by the parent.</a:t>
            </a:r>
          </a:p>
          <a:p>
            <a:pPr>
              <a:spcAft>
                <a:spcPts val="800"/>
              </a:spcAft>
              <a:defRPr sz="1400" i="1">
                <a:solidFill>
                  <a:srgbClr val="888888"/>
                </a:solidFill>
              </a:defRPr>
            </a:pPr>
            <a:r>
              <a:t>❝ Why does this work without editing Pyz? SprykerAcademy is listed before Pyz in KernelConstants::PROJECT_NAMESPACES (the loader adds it), so the kernel resolves SprykerAcademy\Yves\Router\RouterDependencyProvider instead of the Pyz class. The parent call keeps all project routes.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Build Yves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If Yves answers Route 'x' not found for a route you just added Yves keeps its route collection in src/Generated/Yves/Router , and cache:empty-all does not clear that folder - it only clears the Zed router and the Twig cache. The collection is built on the first request and then reused, so a route added afterwards is invisible while the pages of the previous state still work. Delete the folder and let the next request rebuild it: rm -rf src/Generated/Yves/Router ./exercises/load.sh does this for you on every load.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Create a contact request via Back Office: http://backoffice.eu.spryker.local/contact-request/index/add</a:t>
            </a:r>
          </a:p>
          <a:p>
            <a:pPr>
              <a:spcAft>
                <a:spcPts val="400"/>
              </a:spcAft>
              <a:defRPr sz="1500">
                <a:solidFill>
                  <a:srgbClr val="1A1A1A"/>
                </a:solidFill>
              </a:defRPr>
            </a:pPr>
            <a:r>
              <a:t>• View the contact request in Yves using its idContactRequest : http://yves.eu.spryker.local/contact-request/1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Exercise5</a:t>
            </a:r>
          </a:p>
          <a:p>
            <a:pPr>
              <a:spcAft>
                <a:spcPts val="800"/>
              </a:spcAft>
              <a:defRPr sz="1600">
                <a:solidFill>
                  <a:srgbClr val="1A1A1A"/>
                </a:solidFill>
              </a:defRPr>
            </a:pPr>
            <a:r>
              <a:t>Or run all exercise tests at once: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a:t>
            </a:r>
          </a:p>
          <a:p>
            <a:pPr>
              <a:spcAft>
                <a:spcPts val="800"/>
              </a:spcAft>
              <a:defRPr sz="1600">
                <a:solidFill>
                  <a:srgbClr val="1A1A1A"/>
                </a:solidFill>
              </a:defRPr>
            </a:pPr>
            <a:r>
              <a:t>All tests should pass if your implementation is correct.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basics/module-layers/complete </a:t>
            </a:r>
            <a:r>
              <a:rPr sz="900">
                <a:solidFill>
                  <a:srgbClr val="2D2D2D"/>
                </a:solidFill>
                <a:latin typeface="Consolas"/>
              </a:rPr>
              <a:t>--run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6: Define and Use a Config Value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6: Define and Use a Config Value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define a config value in the default config file and cascade it through the module’s Config class into a controller, displaying it in a Twig template.</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must have completed all previous exercises (1 through 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basics/configuration/skeleton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a:p>
            <a:pPr>
              <a:spcAft>
                <a:spcPts val="800"/>
              </a:spcAft>
              <a:defRPr sz="1600">
                <a:solidFill>
                  <a:srgbClr val="1A1A1A"/>
                </a:solidFill>
              </a:defRPr>
            </a:pPr>
            <a:r>
              <a:t>The branch brings no new source files - you write all four classes by hand with what you have learned so far. What it does bring is the Exercise 6 test suite, so you can check your own work before you look at the solution:</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Exercise6</a:t>
            </a:r>
          </a:p>
          <a:p>
            <a:pPr>
              <a:spcAft>
                <a:spcPts val="800"/>
              </a:spcAft>
              <a:defRPr sz="1600">
                <a:solidFill>
                  <a:srgbClr val="1A1A1A"/>
                </a:solidFill>
              </a:defRPr>
            </a:pPr>
            <a:r>
              <a:t>It is red until you finish the exercise. That is the point.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Your task is to create a Back Office page accessible at:</a:t>
            </a:r>
          </a:p>
          <a:p>
            <a:pPr>
              <a:spcAft>
                <a:spcPts val="800"/>
              </a:spcAft>
              <a:defRPr sz="1600">
                <a:solidFill>
                  <a:srgbClr val="1A1A1A"/>
                </a:solidFill>
              </a:defRPr>
            </a:pPr>
            <a:r>
              <a:t>http://backoffice.eu.spryker.local/contact-request/config/index</a:t>
            </a:r>
          </a:p>
          <a:p>
            <a:pPr>
              <a:spcAft>
                <a:spcPts val="800"/>
              </a:spcAft>
              <a:defRPr sz="1600">
                <a:solidFill>
                  <a:srgbClr val="1A1A1A"/>
                </a:solidFill>
              </a:defRPr>
            </a:pPr>
            <a:r>
              <a:t>that displays a config value defined in config_default.php .</a:t>
            </a:r>
          </a:p>
          <a:p>
            <a:pPr>
              <a:spcAft>
                <a:spcPts val="800"/>
              </a:spcAft>
              <a:defRPr sz="1600">
                <a:solidFill>
                  <a:srgbClr val="1A1A1A"/>
                </a:solidFill>
              </a:defRPr>
            </a:pPr>
            <a:r>
              <a:t>We continue working in the ContactRequest module at src/SprykerAcademy/Zed/ContactRequest/ .</a:t>
            </a:r>
          </a:p>
          <a:p>
            <a:pPr>
              <a:spcBef>
                <a:spcPts val="1200"/>
              </a:spcBef>
              <a:spcAft>
                <a:spcPts val="600"/>
              </a:spcAft>
              <a:defRPr sz="2000" b="1">
                <a:solidFill>
                  <a:srgbClr val="1A1A1A"/>
                </a:solidFill>
              </a:defRPr>
            </a:pPr>
            <a:r>
              <a:t>1. Create a Constants Interface</a:t>
            </a:r>
          </a:p>
          <a:p>
            <a:pPr>
              <a:spcAft>
                <a:spcPts val="800"/>
              </a:spcAft>
              <a:defRPr sz="1600">
                <a:solidFill>
                  <a:srgbClr val="1A1A1A"/>
                </a:solidFill>
              </a:defRPr>
            </a:pPr>
            <a:r>
              <a:t>Constants interfaces live in the Shared namespace so they can be used across all application layers (Zed, Yves, Client).</a:t>
            </a:r>
          </a:p>
          <a:p>
            <a:pPr>
              <a:spcAft>
                <a:spcPts val="800"/>
              </a:spcAft>
              <a:defRPr sz="1600">
                <a:solidFill>
                  <a:srgbClr val="1A1A1A"/>
                </a:solidFill>
              </a:defRPr>
            </a:pPr>
            <a:r>
              <a:t>Coding time:</a:t>
            </a:r>
          </a:p>
          <a:p>
            <a:pPr>
              <a:spcAft>
                <a:spcPts val="800"/>
              </a:spcAft>
              <a:defRPr sz="1600">
                <a:solidFill>
                  <a:srgbClr val="1A1A1A"/>
                </a:solidFill>
              </a:defRPr>
            </a:pPr>
            <a:r>
              <a:t>Create src/SprykerAcademy/Shared/ContactRequest/ContactRequestConstants.php :</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&lt;?php</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namespace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S</a:t>
            </a:r>
            <a:r>
              <a:rPr sz="900">
                <a:solidFill>
                  <a:srgbClr val="2D2D2D"/>
                </a:solidFill>
                <a:latin typeface="Consolas"/>
              </a:rPr>
              <a:t>hared\</a:t>
            </a:r>
            <a:r>
              <a:rPr sz="900">
                <a:solidFill>
                  <a:srgbClr val="880000"/>
                </a:solidFill>
                <a:latin typeface="Consolas"/>
              </a:rPr>
              <a:t>C</a:t>
            </a:r>
            <a:r>
              <a:rPr sz="900">
                <a:solidFill>
                  <a:srgbClr val="2D2D2D"/>
                </a:solidFill>
                <a:latin typeface="Consolas"/>
              </a:rPr>
              <a:t>ontactRequest</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interface</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ontactRequestConstants</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const</a:t>
            </a:r>
            <a:r>
              <a:rPr sz="900">
                <a:solidFill>
                  <a:srgbClr val="2D2D2D"/>
                </a:solidFill>
                <a:latin typeface="Consolas"/>
              </a:rPr>
              <a:t> </a:t>
            </a:r>
            <a:r>
              <a:rPr sz="900">
                <a:solidFill>
                  <a:srgbClr val="902000"/>
                </a:solidFill>
                <a:latin typeface="Consolas"/>
              </a:rPr>
              <a:t>string</a:t>
            </a:r>
            <a:r>
              <a:rPr sz="900">
                <a:solidFill>
                  <a:srgbClr val="2D2D2D"/>
                </a:solidFill>
                <a:latin typeface="Consolas"/>
              </a:rPr>
              <a:t> </a:t>
            </a:r>
            <a:r>
              <a:rPr sz="900">
                <a:solidFill>
                  <a:srgbClr val="880000"/>
                </a:solidFill>
                <a:latin typeface="Consolas"/>
              </a:rPr>
              <a:t>MY_CONFIG_VALUE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'CONTACT_REQUEST:MY_CONFIG_VALUE'</a:t>
            </a:r>
            <a:r>
              <a:rPr sz="900">
                <a:solidFill>
                  <a:srgbClr val="007020"/>
                </a:solidFill>
                <a:latin typeface="Consolas"/>
              </a:rPr>
              <a:t>;</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The string 'CONTACT_REQUEST:MY_CONFIG_VALUE' is the key used in config files. The convention is MODULE_NAME:CONFIG_KEY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Set the Config Value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config/Shared/config_default.php and add your config value at the end of the file (before the closing ?&gt; or end of file):</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S</a:t>
            </a:r>
            <a:r>
              <a:rPr sz="900">
                <a:solidFill>
                  <a:srgbClr val="2D2D2D"/>
                </a:solidFill>
                <a:latin typeface="Consolas"/>
              </a:rPr>
              <a:t>hared\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C</a:t>
            </a:r>
            <a:r>
              <a:rPr sz="900">
                <a:solidFill>
                  <a:srgbClr val="2D2D2D"/>
                </a:solidFill>
                <a:latin typeface="Consolas"/>
              </a:rPr>
              <a:t>ontactRequestConstants</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19177C"/>
                </a:solidFill>
                <a:latin typeface="Consolas"/>
              </a:rPr>
              <a:t>$config</a:t>
            </a:r>
            <a:r>
              <a:rPr sz="900">
                <a:solidFill>
                  <a:srgbClr val="2D2D2D"/>
                </a:solidFill>
                <a:latin typeface="Consolas"/>
              </a:rPr>
              <a:t>[</a:t>
            </a:r>
            <a:r>
              <a:rPr sz="900">
                <a:solidFill>
                  <a:srgbClr val="880000"/>
                </a:solidFill>
                <a:latin typeface="Consolas"/>
              </a:rPr>
              <a:t>C</a:t>
            </a:r>
            <a:r>
              <a:rPr sz="900">
                <a:solidFill>
                  <a:srgbClr val="2D2D2D"/>
                </a:solidFill>
                <a:latin typeface="Consolas"/>
              </a:rPr>
              <a:t>ontactRequestConstants::</a:t>
            </a:r>
            <a:r>
              <a:rPr sz="900">
                <a:solidFill>
                  <a:srgbClr val="880000"/>
                </a:solidFill>
                <a:latin typeface="Consolas"/>
              </a:rPr>
              <a:t>MY_CONFIG_VALUE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4070A0"/>
                </a:solidFill>
                <a:latin typeface="Consolas"/>
              </a:rPr>
              <a:t>'Hello from config!'</a:t>
            </a:r>
            <a:r>
              <a:rPr sz="900">
                <a:solidFill>
                  <a:srgbClr val="007020"/>
                </a:solidFill>
                <a:latin typeface="Consolas"/>
              </a:rPr>
              <a:t>;</a:t>
            </a:r>
          </a:p>
          <a:p>
            <a:pPr>
              <a:spcAft>
                <a:spcPts val="800"/>
              </a:spcAft>
              <a:defRPr sz="1600">
                <a:solidFill>
                  <a:srgbClr val="1A1A1A"/>
                </a:solidFill>
              </a:defRPr>
            </a:pPr>
            <a:r>
              <a:t>You can use any string you like as the value.</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2. Set the Config Value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This line stays yours. config_default.php belongs to the project, and the exercise loader never edits it. The solution branch’s ContactRequestConfig::getMyConfigValue() reads the key with a default ( $this-&gt;get(ContactRequestConstants::MY_CONFIG_VALUE, 'This is a default value') ), so the page works before you add the line and shows your value after. When you later load a branch without ContactRequestConstants (exercises 1-5), remove the line again: a use of a class that no longer exists is harmless, but ContactRequestConstants::MY_CONFIG_VALUE is not.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3. Create the Config Class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Each module can have a Config class that provides typed access to global config values. The naming convention is &lt;Module&gt;Config.php at the module root.</a:t>
            </a:r>
          </a:p>
          <a:p>
            <a:pPr>
              <a:spcAft>
                <a:spcPts val="800"/>
              </a:spcAft>
              <a:defRPr sz="1600">
                <a:solidFill>
                  <a:srgbClr val="1A1A1A"/>
                </a:solidFill>
              </a:defRPr>
            </a:pPr>
            <a:r>
              <a:t>A Zed Config class extends Spryker\Zed\Kernel\AbstractBundleConfig , which provides the $this-&gt;get() helper method to read values from the global config.</a:t>
            </a:r>
          </a:p>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src/SprykerAcademy/Zed/ContactRequest/ContactRequestConfig.php :</a:t>
            </a:r>
          </a:p>
          <a:p>
            <a:pPr>
              <a:spcAft>
                <a:spcPts val="400"/>
              </a:spcAft>
              <a:defRPr sz="1500">
                <a:solidFill>
                  <a:srgbClr val="1A1A1A"/>
                </a:solidFill>
              </a:defRPr>
            </a:pPr>
            <a:r>
              <a:t>• Extend Spryker\Zed\Kernel\AbstractBundleConfig</a:t>
            </a:r>
          </a:p>
          <a:p>
            <a:pPr>
              <a:spcAft>
                <a:spcPts val="400"/>
              </a:spcAft>
              <a:defRPr sz="1500">
                <a:solidFill>
                  <a:srgbClr val="1A1A1A"/>
                </a:solidFill>
              </a:defRPr>
            </a:pPr>
            <a:r>
              <a:t>• Add a getMyConfigValue(): string method that uses $this-&gt;get(ContactRequestConstants::MY_CONFIG_VALUE) to return the config value</a:t>
            </a:r>
          </a:p>
          <a:p>
            <a:pPr>
              <a:spcAft>
                <a:spcPts val="400"/>
              </a:spcAft>
              <a:defRPr sz="1500">
                <a:solidFill>
                  <a:srgbClr val="1A1A1A"/>
                </a:solidFill>
              </a:defRPr>
            </a:pPr>
            <a:r>
              <a:t>• Optionally pass a second argument to $this-&gt;get() as a default fallback value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4. Create the Communication Factory</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To access the Config class from a controller, you need a CommunicationFactory. The factory extends Spryker\Zed\Kernel\Communication\AbstractCommunicationFactory , which provides the getConfig() helper method.</a:t>
            </a:r>
          </a:p>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src/SprykerAcademy/Zed/ContactRequest/Communication/ContactRequestCommunicationFactory.php :</a:t>
            </a:r>
          </a:p>
          <a:p>
            <a:pPr>
              <a:spcAft>
                <a:spcPts val="400"/>
              </a:spcAft>
              <a:defRPr sz="1500">
                <a:solidFill>
                  <a:srgbClr val="1A1A1A"/>
                </a:solidFill>
              </a:defRPr>
            </a:pPr>
            <a:r>
              <a:t>• Extend Spryker\Zed\Kernel\Communication\AbstractCommunicationFactory</a:t>
            </a:r>
          </a:p>
          <a:p>
            <a:pPr>
              <a:spcAft>
                <a:spcPts val="400"/>
              </a:spcAft>
              <a:defRPr sz="1500">
                <a:solidFill>
                  <a:srgbClr val="1A1A1A"/>
                </a:solidFill>
              </a:defRPr>
            </a:pPr>
            <a:r>
              <a:t>• The class body can be empty — the getConfig() method is inherited</a:t>
            </a:r>
          </a:p>
          <a:p>
            <a:pPr>
              <a:spcAft>
                <a:spcPts val="400"/>
              </a:spcAft>
              <a:defRPr sz="1500">
                <a:solidFill>
                  <a:srgbClr val="1A1A1A"/>
                </a:solidFill>
              </a:defRPr>
            </a:pPr>
            <a:r>
              <a:t>• Add the following annotation for IDE support:</a:t>
            </a:r>
          </a:p>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@method</a:t>
            </a:r>
            <a:r>
              <a:rPr sz="900" i="1">
                <a:solidFill>
                  <a:srgbClr val="60A0B0"/>
                </a:solidFill>
                <a:latin typeface="Consolas"/>
              </a:rPr>
              <a:t> </a:t>
            </a:r>
            <a:r>
              <a:rPr sz="900" b="1" i="1">
                <a:solidFill>
                  <a:srgbClr val="60A0B0"/>
                </a:solidFill>
                <a:latin typeface="Consolas"/>
              </a:rPr>
              <a:t>\SprykerAcademy\Zed\ContactRequest\ContactRequestConfig</a:t>
            </a:r>
            <a:r>
              <a:rPr sz="900" i="1">
                <a:solidFill>
                  <a:srgbClr val="60A0B0"/>
                </a:solidFill>
                <a:latin typeface="Consolas"/>
              </a:rPr>
              <a:t> getConfig()</a:t>
            </a:r>
          </a:p>
          <a:p>
            <a:pPr>
              <a:spcBef>
                <a:spcPts val="0"/>
              </a:spcBef>
              <a:spcAft>
                <a:spcPts val="0"/>
              </a:spcAft>
            </a:pPr>
            <a:r>
              <a:rPr sz="900" i="1">
                <a:solidFill>
                  <a:srgbClr val="60A0B0"/>
                </a:solidFill>
                <a:latin typeface="Consolas"/>
              </a:rPr>
              <a:t> */</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Create the Template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src/SprykerAcademy/Zed/ContactRequest/Presentation/Config/index.twig :</a:t>
            </a:r>
          </a:p>
          <a:p>
            <a:pPr>
              <a:spcBef>
                <a:spcPts val="0"/>
              </a:spcBef>
              <a:spcAft>
                <a:spcPts val="0"/>
              </a:spcAft>
            </a:pPr>
            <a:r>
              <a:rPr sz="900">
                <a:solidFill>
                  <a:srgbClr val="2D2D2D"/>
                </a:solidFill>
                <a:latin typeface="Consolas"/>
              </a:rPr>
              <a:t>{% extends '@Gui/Layout/layout.twig'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block content %}</a:t>
            </a:r>
          </a:p>
          <a:p>
            <a:pPr>
              <a:spcBef>
                <a:spcPts val="0"/>
              </a:spcBef>
              <a:spcAft>
                <a:spcPts val="0"/>
              </a:spcAft>
            </a:pPr>
            <a:r>
              <a:rPr sz="900">
                <a:solidFill>
                  <a:srgbClr val="2D2D2D"/>
                </a:solidFill>
                <a:latin typeface="Consolas"/>
              </a:rPr>
              <a:t>    {{ configValue }}</a:t>
            </a:r>
          </a:p>
          <a:p>
            <a:pPr>
              <a:spcBef>
                <a:spcPts val="0"/>
              </a:spcBef>
              <a:spcAft>
                <a:spcPts val="0"/>
              </a:spcAft>
            </a:pPr>
            <a:r>
              <a:rPr sz="900">
                <a:solidFill>
                  <a:srgbClr val="2D2D2D"/>
                </a:solidFill>
                <a:latin typeface="Consolas"/>
              </a:rPr>
              <a:t>{% endblock %}</a:t>
            </a:r>
          </a:p>
          <a:p>
            <a:pPr>
              <a:spcAft>
                <a:spcPts val="800"/>
              </a:spcAft>
              <a:defRPr sz="1600">
                <a:solidFill>
                  <a:srgbClr val="1A1A1A"/>
                </a:solidFill>
              </a:defRPr>
            </a:pPr>
            <a:r>
              <a:t>The folder Config matches the controller name, and index.twig matches the action name.</a:t>
            </a:r>
          </a:p>
          <a:p>
            <a:pPr>
              <a:spcBef>
                <a:spcPts val="1200"/>
              </a:spcBef>
              <a:spcAft>
                <a:spcPts val="600"/>
              </a:spcAft>
              <a:defRPr sz="2000" b="1">
                <a:solidFill>
                  <a:srgbClr val="1A1A1A"/>
                </a:solidFill>
              </a:defRPr>
            </a:pPr>
            <a:r>
              <a:t>6. Create the Controller</a:t>
            </a:r>
          </a:p>
          <a:p>
            <a:pPr>
              <a:spcAft>
                <a:spcPts val="800"/>
              </a:spcAft>
              <a:defRPr sz="1600">
                <a:solidFill>
                  <a:srgbClr val="1A1A1A"/>
                </a:solidFill>
              </a:defRPr>
            </a:pPr>
            <a:r>
              <a:t>Coding time:</a:t>
            </a:r>
          </a:p>
          <a:p>
            <a:pPr>
              <a:spcAft>
                <a:spcPts val="800"/>
              </a:spcAft>
              <a:defRPr sz="1600">
                <a:solidFill>
                  <a:srgbClr val="1A1A1A"/>
                </a:solidFill>
              </a:defRPr>
            </a:pPr>
            <a:r>
              <a:t>Create src/SprykerAcademy/Zed/ContactRequest/Communication/Controller/ConfigController.php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Create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Extend Spryker\Zed\Kernel\Communication\Controller\AbstractController</a:t>
            </a:r>
          </a:p>
          <a:p>
            <a:pPr>
              <a:spcAft>
                <a:spcPts val="400"/>
              </a:spcAft>
              <a:defRPr sz="1500">
                <a:solidFill>
                  <a:srgbClr val="1A1A1A"/>
                </a:solidFill>
              </a:defRPr>
            </a:pPr>
            <a:r>
              <a:t>• Implement indexAction() : Get the config value from the Config class Return $this-&gt;viewResponse(['configValue' =&gt; $configValue])</a:t>
            </a:r>
          </a:p>
          <a:p>
            <a:pPr>
              <a:spcAft>
                <a:spcPts val="800"/>
              </a:spcAft>
              <a:defRPr sz="1600">
                <a:solidFill>
                  <a:srgbClr val="1A1A1A"/>
                </a:solidFill>
              </a:defRPr>
            </a:pPr>
            <a:r>
              <a:t>Starting with Spryker 202512.0 , Zed controllers support constructor dependency injection . This means you can inject the Config class directly into the controller instead of going through the factory chain: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Create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prykerAcademy\</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ontactRequest\</a:t>
            </a:r>
            <a:r>
              <a:rPr sz="900">
                <a:solidFill>
                  <a:srgbClr val="880000"/>
                </a:solidFill>
                <a:latin typeface="Consolas"/>
              </a:rPr>
              <a:t>C</a:t>
            </a:r>
            <a:r>
              <a:rPr sz="900">
                <a:solidFill>
                  <a:srgbClr val="2D2D2D"/>
                </a:solidFill>
                <a:latin typeface="Consolas"/>
              </a:rPr>
              <a:t>ontactRequestConfig</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2D2D2D"/>
                </a:solidFill>
                <a:latin typeface="Consolas"/>
              </a:rPr>
              <a:t>__construct</a:t>
            </a:r>
            <a:r>
              <a:rPr sz="900">
                <a:solidFill>
                  <a:srgbClr val="2D2D2D"/>
                </a:solidFill>
                <a:latin typeface="Consolas"/>
              </a:rPr>
              <a:t>(</a:t>
            </a:r>
            <a:r>
              <a:rPr sz="900" b="1">
                <a:solidFill>
                  <a:srgbClr val="007020"/>
                </a:solidFill>
                <a:latin typeface="Consolas"/>
              </a:rPr>
              <a:t>private</a:t>
            </a:r>
            <a:r>
              <a:rPr sz="900">
                <a:solidFill>
                  <a:srgbClr val="2D2D2D"/>
                </a:solidFill>
                <a:latin typeface="Consolas"/>
              </a:rPr>
              <a:t> readonly </a:t>
            </a:r>
            <a:r>
              <a:rPr sz="900">
                <a:solidFill>
                  <a:srgbClr val="880000"/>
                </a:solidFill>
                <a:latin typeface="Consolas"/>
              </a:rPr>
              <a:t>C</a:t>
            </a:r>
            <a:r>
              <a:rPr sz="900">
                <a:solidFill>
                  <a:srgbClr val="2D2D2D"/>
                </a:solidFill>
                <a:latin typeface="Consolas"/>
              </a:rPr>
              <a:t>ontactRequestConfig </a:t>
            </a:r>
            <a:r>
              <a:rPr sz="900">
                <a:solidFill>
                  <a:srgbClr val="19177C"/>
                </a:solidFill>
                <a:latin typeface="Consolas"/>
              </a:rPr>
              <a:t>$config</a:t>
            </a:r>
            <a:r>
              <a:rPr sz="900">
                <a:solidFill>
                  <a:srgbClr val="2D2D2D"/>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indexAction()</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$configValue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-&gt;config-&gt;getMyConfigValue()</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-&gt;viewResponse([</a:t>
            </a:r>
          </a:p>
          <a:p>
            <a:pPr>
              <a:spcBef>
                <a:spcPts val="0"/>
              </a:spcBef>
              <a:spcAft>
                <a:spcPts val="0"/>
              </a:spcAft>
            </a:pPr>
            <a:r>
              <a:rPr sz="900">
                <a:solidFill>
                  <a:srgbClr val="2D2D2D"/>
                </a:solidFill>
                <a:latin typeface="Consolas"/>
              </a:rPr>
              <a:t>            </a:t>
            </a:r>
            <a:r>
              <a:rPr sz="900">
                <a:solidFill>
                  <a:srgbClr val="4070A0"/>
                </a:solidFill>
                <a:latin typeface="Consolas"/>
              </a:rPr>
              <a:t>'configValue'</a:t>
            </a:r>
            <a:r>
              <a:rPr sz="900">
                <a:solidFill>
                  <a:srgbClr val="2D2D2D"/>
                </a:solidFill>
                <a:latin typeface="Consolas"/>
              </a:rPr>
              <a:t> =&gt; </a:t>
            </a:r>
            <a:r>
              <a:rPr sz="900">
                <a:solidFill>
                  <a:srgbClr val="19177C"/>
                </a:solidFill>
                <a:latin typeface="Consolas"/>
              </a:rPr>
              <a:t>$configValue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Create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Alternatively, you can use the traditional factory approach (which still works and is the pattern you will find in older codebases):</a:t>
            </a:r>
          </a:p>
          <a:p>
            <a:pPr>
              <a:spcBef>
                <a:spcPts val="0"/>
              </a:spcBef>
              <a:spcAft>
                <a:spcPts val="0"/>
              </a:spcAft>
            </a:pPr>
            <a:r>
              <a:rPr sz="900" i="1">
                <a:solidFill>
                  <a:srgbClr val="60A0B0"/>
                </a:solidFill>
                <a:latin typeface="Consolas"/>
              </a:rPr>
              <a:t>/**</a:t>
            </a:r>
          </a:p>
          <a:p>
            <a:pPr>
              <a:spcBef>
                <a:spcPts val="0"/>
              </a:spcBef>
              <a:spcAft>
                <a:spcPts val="0"/>
              </a:spcAft>
            </a:pPr>
            <a:r>
              <a:rPr sz="900" i="1">
                <a:solidFill>
                  <a:srgbClr val="60A0B0"/>
                </a:solidFill>
                <a:latin typeface="Consolas"/>
              </a:rPr>
              <a:t> * </a:t>
            </a:r>
            <a:r>
              <a:rPr sz="900" b="1" i="1">
                <a:solidFill>
                  <a:srgbClr val="60A0B0"/>
                </a:solidFill>
                <a:latin typeface="Consolas"/>
              </a:rPr>
              <a:t>@method</a:t>
            </a:r>
            <a:r>
              <a:rPr sz="900" i="1">
                <a:solidFill>
                  <a:srgbClr val="60A0B0"/>
                </a:solidFill>
                <a:latin typeface="Consolas"/>
              </a:rPr>
              <a:t> </a:t>
            </a:r>
            <a:r>
              <a:rPr sz="900" b="1" i="1">
                <a:solidFill>
                  <a:srgbClr val="60A0B0"/>
                </a:solidFill>
                <a:latin typeface="Consolas"/>
              </a:rPr>
              <a:t>\SprykerAcademy\Zed\ContactRequest\Communication\ContactRequestCommunicationFactory</a:t>
            </a:r>
            <a:r>
              <a:rPr sz="900" i="1">
                <a:solidFill>
                  <a:srgbClr val="60A0B0"/>
                </a:solidFill>
                <a:latin typeface="Consolas"/>
              </a:rPr>
              <a:t> getFactory()</a:t>
            </a:r>
          </a:p>
          <a:p>
            <a:pPr>
              <a:spcBef>
                <a:spcPts val="0"/>
              </a:spcBef>
              <a:spcAft>
                <a:spcPts val="0"/>
              </a:spcAft>
            </a:pPr>
            <a:r>
              <a:rPr sz="900" i="1">
                <a:solidFill>
                  <a:srgbClr val="60A0B0"/>
                </a:solidFill>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indexAction()</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19177C"/>
                </a:solidFill>
                <a:latin typeface="Consolas"/>
              </a:rPr>
              <a:t>$configValue</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-&gt;getFactory()-&gt;getConfig()-&gt;getMyConfigValue()</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-&gt;viewResponse([</a:t>
            </a:r>
          </a:p>
          <a:p>
            <a:pPr>
              <a:spcBef>
                <a:spcPts val="0"/>
              </a:spcBef>
              <a:spcAft>
                <a:spcPts val="0"/>
              </a:spcAft>
            </a:pPr>
            <a:r>
              <a:rPr sz="900">
                <a:solidFill>
                  <a:srgbClr val="2D2D2D"/>
                </a:solidFill>
                <a:latin typeface="Consolas"/>
              </a:rPr>
              <a:t>            </a:t>
            </a:r>
            <a:r>
              <a:rPr sz="900">
                <a:solidFill>
                  <a:srgbClr val="4070A0"/>
                </a:solidFill>
                <a:latin typeface="Consolas"/>
              </a:rPr>
              <a:t>'configValue'</a:t>
            </a:r>
            <a:r>
              <a:rPr sz="900">
                <a:solidFill>
                  <a:srgbClr val="2D2D2D"/>
                </a:solidFill>
                <a:latin typeface="Consolas"/>
              </a:rPr>
              <a:t> =&gt; </a:t>
            </a:r>
            <a:r>
              <a:rPr sz="900">
                <a:solidFill>
                  <a:srgbClr val="19177C"/>
                </a:solidFill>
                <a:latin typeface="Consolas"/>
              </a:rPr>
              <a:t>$configValue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5. Create the Template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Choose either approach for your implementation.</a:t>
            </a:r>
          </a:p>
          <a:p>
            <a:pPr>
              <a:spcAft>
                <a:spcPts val="800"/>
              </a:spcAft>
              <a:defRPr sz="1600">
                <a:solidFill>
                  <a:srgbClr val="1A1A1A"/>
                </a:solidFill>
              </a:defRPr>
            </a:pPr>
            <a:r>
              <a:t>Clear the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a:p>
            <a:pPr>
              <a:spcAft>
                <a:spcPts val="800"/>
              </a:spcAft>
              <a:defRPr sz="1600">
                <a:solidFill>
                  <a:srgbClr val="1A1A1A"/>
                </a:solidFill>
              </a:defRPr>
            </a:pPr>
            <a:r>
              <a:t>Visit: http://backoffice.eu.spryker.local/contact-request/config/index (Credentials: admin@spryker.com / change123 )</a:t>
            </a:r>
          </a:p>
          <a:p>
            <a:pPr>
              <a:spcAft>
                <a:spcPts val="800"/>
              </a:spcAft>
              <a:defRPr sz="1600">
                <a:solidFill>
                  <a:srgbClr val="1A1A1A"/>
                </a:solidFill>
              </a:defRPr>
            </a:pPr>
            <a:r>
              <a:t>You should see your config value displayed on the page.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Exercise6</a:t>
            </a:r>
          </a:p>
          <a:p>
            <a:pPr>
              <a:spcAft>
                <a:spcPts val="800"/>
              </a:spcAft>
              <a:defRPr sz="1600">
                <a:solidFill>
                  <a:srgbClr val="1A1A1A"/>
                </a:solidFill>
              </a:defRPr>
            </a:pPr>
            <a:r>
              <a:t>All tests should pass if your implementation is correct.</a:t>
            </a:r>
          </a:p>
          <a:p>
            <a:pPr>
              <a:spcAft>
                <a:spcPts val="800"/>
              </a:spcAft>
              <a:defRPr sz="1400" i="1">
                <a:solidFill>
                  <a:srgbClr val="888888"/>
                </a:solidFill>
              </a:defRPr>
            </a:pPr>
            <a:r>
              <a:t>❝ Cannot redeclare class ContactRequestConfig and the whole suite dies. Not a test problem: one of your new files is missing its namespace line. Composer maps SprykerAcademy\Zed\ContactRequest\ContactRequestConfig to the file, includes it, does not find that class in it (the file declared a class in the global namespace instead), and on the next lookup includes the same file again - which is a redeclaration. A PHP file under src/SprykerAcademy/ always starts with its namespace . One file without it takes down every test in the run, not just its own.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basics/configuration/complete </a:t>
            </a:r>
            <a:r>
              <a:rPr sz="900">
                <a:solidFill>
                  <a:srgbClr val="2D2D2D"/>
                </a:solidFill>
                <a:latin typeface="Consolas"/>
              </a:rPr>
              <a:t>--run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6b: Let an Admin Change the Value in the Back Office</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6b: Let an Admin Change the Value in the Back Office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Exercise 6 you put a value in config/Shared/config_default.php and read it through a module config class. That value is part of the code: changing the greeting means editing a PHP file, committing it and deploying.</a:t>
            </a:r>
          </a:p>
          <a:p>
            <a:pPr>
              <a:spcAft>
                <a:spcPts val="800"/>
              </a:spcAft>
              <a:defRPr sz="1600">
                <a:solidFill>
                  <a:srgbClr val="1A1A1A"/>
                </a:solidFill>
              </a:defRPr>
            </a:pPr>
            <a:r>
              <a:t>The Configuration module is the other half of the story. You describe settings in a YAML schema, Spryker renders a Back Office page from it, stores the values in the database and hands them to your code at runtime. Same page, same greeting - but now a shop administrator changes it, and nobody deploys anything.</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6b: Let an Admin Change the Value in the Back Office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 will learn how to: - Write a configuration schema : feature &gt; tab &gt; group &gt; setting - Publish it with configuration:sync and find it in Back Office &gt; Configuration - Read a value in Zed through the Configuration facade - Know which settings reach the storefront, and what has to happen first - Tell the two mechanisms apart, and choose the right one</a:t>
            </a:r>
          </a:p>
          <a:p>
            <a:pPr>
              <a:spcAft>
                <a:spcPts val="800"/>
              </a:spcAft>
              <a:defRPr sz="1600">
                <a:solidFill>
                  <a:srgbClr val="1A1A1A"/>
                </a:solidFill>
              </a:defRPr>
            </a:pPr>
            <a:r>
              <a:t>Official documentation: - Configuration module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Exercise 6 completed: the ConfigController at /contact-request/config/index renders a value.</a:t>
            </a:r>
          </a:p>
          <a:p>
            <a:pPr>
              <a:spcAft>
                <a:spcPts val="800"/>
              </a:spcAft>
              <a:defRPr sz="1600">
                <a:solidFill>
                  <a:srgbClr val="1A1A1A"/>
                </a:solidFill>
              </a:defRPr>
            </a:pPr>
            <a:r>
              <a:t>No exercise branch. You continue in the module you already have.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1: Two Ways to Configure a Shop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config_default.php (Exercise 6)                          Configuration module (this exercise)               </a:t>
            </a:r>
          </a:p>
          <a:p>
            <a:pPr>
              <a:spcAft>
                <a:spcPts val="100"/>
              </a:spcAft>
              <a:defRPr sz="1000">
                <a:solidFill>
                  <a:srgbClr val="1A1A1A"/>
                </a:solidFill>
                <a:latin typeface="Consolas"/>
              </a:defRPr>
            </a:pPr>
            <a:r>
              <a:t>---------------------  -------------------------------------------------------  ---------------------------------------------------</a:t>
            </a:r>
          </a:p>
          <a:p>
            <a:pPr>
              <a:spcAft>
                <a:spcPts val="100"/>
              </a:spcAft>
              <a:defRPr sz="1000">
                <a:solidFill>
                  <a:srgbClr val="1A1A1A"/>
                </a:solidFill>
                <a:latin typeface="Consolas"/>
              </a:defRPr>
            </a:pPr>
            <a:r>
              <a:t>Who changes it         a developer                                              a shop administrator                               </a:t>
            </a:r>
          </a:p>
          <a:p>
            <a:pPr>
              <a:spcAft>
                <a:spcPts val="100"/>
              </a:spcAft>
              <a:defRPr sz="1000">
                <a:solidFill>
                  <a:srgbClr val="1A1A1A"/>
                </a:solidFill>
                <a:latin typeface="Consolas"/>
              </a:defRPr>
            </a:pPr>
            <a:r>
              <a:t>How                    edit PHP, commit, deploy                                 Back Office form, Save                             </a:t>
            </a:r>
          </a:p>
          <a:p>
            <a:pPr>
              <a:spcAft>
                <a:spcPts val="100"/>
              </a:spcAft>
              <a:defRPr sz="1000">
                <a:solidFill>
                  <a:srgbClr val="1A1A1A"/>
                </a:solidFill>
                <a:latin typeface="Consolas"/>
              </a:defRPr>
            </a:pPr>
            <a:r>
              <a:t>When it takes effect   next deployment                                          next request                                       </a:t>
            </a:r>
          </a:p>
          <a:p>
            <a:pPr>
              <a:spcAft>
                <a:spcPts val="100"/>
              </a:spcAft>
              <a:defRPr sz="1000">
                <a:solidFill>
                  <a:srgbClr val="1A1A1A"/>
                </a:solidFill>
                <a:latin typeface="Consolas"/>
              </a:defRPr>
            </a:pPr>
            <a:r>
              <a:t>Where the value lives  in the repository                                        in the database                                    </a:t>
            </a:r>
          </a:p>
          <a:p>
            <a:pPr>
              <a:spcAft>
                <a:spcPts val="100"/>
              </a:spcAft>
              <a:defRPr sz="1000">
                <a:solidFill>
                  <a:srgbClr val="1A1A1A"/>
                </a:solidFill>
                <a:latin typeface="Consolas"/>
              </a:defRPr>
            </a:pPr>
            <a:r>
              <a:t>Good for               infrastructure, endpoints, feature toggles tied to code  texts, thresholds, keys, anything the business owns</a:t>
            </a:r>
          </a:p>
          <a:p>
            <a:pPr>
              <a:spcAft>
                <a:spcPts val="800"/>
              </a:spcAft>
              <a:defRPr sz="1600">
                <a:solidFill>
                  <a:srgbClr val="1A1A1A"/>
                </a:solidFill>
              </a:defRPr>
            </a:pPr>
            <a:r>
              <a:t>Both exist on purpose. A queue host belongs in config_default.php . A greeting on a page does not.</a:t>
            </a:r>
          </a:p>
          <a:p>
            <a:pPr>
              <a:spcAft>
                <a:spcPts val="800"/>
              </a:spcAft>
              <a:defRPr sz="1600">
                <a:solidFill>
                  <a:srgbClr val="1A1A1A"/>
                </a:solidFill>
              </a:defRPr>
            </a:pPr>
            <a:r>
              <a:t>A schema is a tree with four levels, and the key of a setting is its path through that tree :</a:t>
            </a:r>
          </a:p>
          <a:p>
            <a:pPr>
              <a:spcBef>
                <a:spcPts val="0"/>
              </a:spcBef>
              <a:spcAft>
                <a:spcPts val="0"/>
              </a:spcAft>
            </a:pPr>
            <a:r>
              <a:rPr sz="900">
                <a:solidFill>
                  <a:srgbClr val="2D2D2D"/>
                </a:solidFill>
                <a:latin typeface="Consolas"/>
              </a:rPr>
              <a:t>feature        contact_request</a:t>
            </a:r>
          </a:p>
          <a:p>
            <a:pPr>
              <a:spcBef>
                <a:spcPts val="0"/>
              </a:spcBef>
              <a:spcAft>
                <a:spcPts val="0"/>
              </a:spcAft>
            </a:pPr>
            <a:r>
              <a:rPr sz="900">
                <a:solidFill>
                  <a:srgbClr val="2D2D2D"/>
                </a:solidFill>
                <a:latin typeface="Consolas"/>
              </a:rPr>
              <a:t>  tab          general</a:t>
            </a:r>
          </a:p>
          <a:p>
            <a:pPr>
              <a:spcBef>
                <a:spcPts val="0"/>
              </a:spcBef>
              <a:spcAft>
                <a:spcPts val="0"/>
              </a:spcAft>
            </a:pPr>
            <a:r>
              <a:rPr sz="900">
                <a:solidFill>
                  <a:srgbClr val="2D2D2D"/>
                </a:solidFill>
                <a:latin typeface="Consolas"/>
              </a:rPr>
              <a:t>    group      config_page</a:t>
            </a:r>
          </a:p>
          <a:p>
            <a:pPr>
              <a:spcBef>
                <a:spcPts val="0"/>
              </a:spcBef>
              <a:spcAft>
                <a:spcPts val="0"/>
              </a:spcAft>
            </a:pPr>
            <a:r>
              <a:rPr sz="900">
                <a:solidFill>
                  <a:srgbClr val="2D2D2D"/>
                </a:solidFill>
                <a:latin typeface="Consolas"/>
              </a:rPr>
              <a:t>      setting  greeting        -&gt;  contact_request:general:config_page:greeting</a:t>
            </a:r>
          </a:p>
          <a:p>
            <a:pPr>
              <a:spcAft>
                <a:spcPts val="800"/>
              </a:spcAft>
              <a:defRPr sz="1600">
                <a:solidFill>
                  <a:srgbClr val="1A1A1A"/>
                </a:solidFill>
              </a:defRPr>
            </a:pPr>
            <a:r>
              <a:t>Schemas are plain YAML files, and Spryker looks for *.configuration.yml in two places: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1: Two Ways to Configure a Shop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Location                                Owner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data/configuration/                     the project - this is where yours goes       </a:t>
            </a:r>
          </a:p>
          <a:p>
            <a:pPr>
              <a:spcAft>
                <a:spcPts val="100"/>
              </a:spcAft>
              <a:defRPr sz="1000">
                <a:solidFill>
                  <a:srgbClr val="1A1A1A"/>
                </a:solidFill>
                <a:latin typeface="Consolas"/>
              </a:defRPr>
            </a:pPr>
            <a:r>
              <a:t>&lt;module root&gt;/resources/configuration/  modules, scanned under vendor/*/* and src/*/*</a:t>
            </a:r>
          </a:p>
          <a:p>
            <a:pPr>
              <a:spcAft>
                <a:spcPts val="800"/>
              </a:spcAft>
              <a:defRPr sz="1600">
                <a:solidFill>
                  <a:srgbClr val="1A1A1A"/>
                </a:solidFill>
              </a:defRPr>
            </a:pPr>
            <a:r>
              <a:t>Look at what the demo shop already ships in data/configuration/ : ai_vendor , ai_commerce , shop_ui , availability_widget . Every page under Back Office &gt; Configuration comes from one of these files or from a module’s own.</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Write the Schema</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Create data/configuration/contact_request.configuration.yml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Write the Schema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i="1">
                <a:solidFill>
                  <a:srgbClr val="60A0B0"/>
                </a:solidFill>
                <a:latin typeface="Consolas"/>
              </a:rPr>
              <a:t># yaml-language-server: $schema=../../vendor/spryker/configuration/resources/configuration/configuration-schema-v1.json</a:t>
            </a:r>
          </a:p>
          <a:p>
            <a:pPr>
              <a:spcBef>
                <a:spcPts val="0"/>
              </a:spcBef>
              <a:spcAft>
                <a:spcPts val="0"/>
              </a:spcAft>
            </a:pPr>
            <a:r>
              <a:rPr sz="900">
                <a:solidFill>
                  <a:srgbClr val="06287E"/>
                </a:solidFill>
                <a:latin typeface="Consolas"/>
              </a:rPr>
              <a:t>features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contact_request</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Contact Request</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Settings of the Contact Request module.</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10</a:t>
            </a:r>
          </a:p>
          <a:p>
            <a:pPr>
              <a:spcBef>
                <a:spcPts val="0"/>
              </a:spcBef>
              <a:spcAft>
                <a:spcPts val="0"/>
              </a:spcAft>
            </a:pPr>
            <a:r>
              <a:rPr sz="900">
                <a:solidFill>
                  <a:srgbClr val="2D2D2D"/>
                </a:solidFill>
                <a:latin typeface="Consolas"/>
              </a:rPr>
              <a:t>      </a:t>
            </a:r>
            <a:r>
              <a:rPr sz="900">
                <a:solidFill>
                  <a:srgbClr val="06287E"/>
                </a:solidFill>
                <a:latin typeface="Consolas"/>
              </a:rPr>
              <a:t>tabs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general</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General</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General settings of the Contact Request pages.</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0</a:t>
            </a:r>
          </a:p>
          <a:p>
            <a:pPr>
              <a:spcBef>
                <a:spcPts val="0"/>
              </a:spcBef>
              <a:spcAft>
                <a:spcPts val="0"/>
              </a:spcAft>
            </a:pPr>
            <a:r>
              <a:rPr sz="900">
                <a:solidFill>
                  <a:srgbClr val="2D2D2D"/>
                </a:solidFill>
                <a:latin typeface="Consolas"/>
              </a:rPr>
              <a:t>            </a:t>
            </a:r>
            <a:r>
              <a:rPr sz="900">
                <a:solidFill>
                  <a:srgbClr val="06287E"/>
                </a:solidFill>
                <a:latin typeface="Consolas"/>
              </a:rPr>
              <a:t>groups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config_page</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Config Page</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The page at /contact-request/config/index.</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Write the Schema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0</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a:p>
            <a:pPr>
              <a:spcBef>
                <a:spcPts val="0"/>
              </a:spcBef>
              <a:spcAft>
                <a:spcPts val="0"/>
              </a:spcAft>
            </a:pPr>
            <a:r>
              <a:rPr sz="900">
                <a:solidFill>
                  <a:srgbClr val="2D2D2D"/>
                </a:solidFill>
                <a:latin typeface="Consolas"/>
              </a:rPr>
              <a:t>                  </a:t>
            </a:r>
            <a:r>
              <a:rPr sz="900">
                <a:solidFill>
                  <a:srgbClr val="06287E"/>
                </a:solidFill>
                <a:latin typeface="Consolas"/>
              </a:rPr>
              <a:t>settings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key</a:t>
            </a:r>
            <a:r>
              <a:rPr sz="900" b="1">
                <a:solidFill>
                  <a:srgbClr val="007020"/>
                </a:solidFill>
                <a:latin typeface="Consolas"/>
              </a:rPr>
              <a:t>:</a:t>
            </a:r>
            <a:r>
              <a:rPr sz="900">
                <a:solidFill>
                  <a:srgbClr val="2D2D2D"/>
                </a:solidFill>
                <a:latin typeface="Consolas"/>
              </a:rPr>
              <a:t> greeting</a:t>
            </a:r>
          </a:p>
          <a:p>
            <a:pPr>
              <a:spcBef>
                <a:spcPts val="0"/>
              </a:spcBef>
              <a:spcAft>
                <a:spcPts val="0"/>
              </a:spcAft>
            </a:pPr>
            <a:r>
              <a:rPr sz="900">
                <a:solidFill>
                  <a:srgbClr val="2D2D2D"/>
                </a:solidFill>
                <a:latin typeface="Consolas"/>
              </a:rPr>
              <a:t>                        </a:t>
            </a:r>
            <a:r>
              <a:rPr sz="900">
                <a:solidFill>
                  <a:srgbClr val="06287E"/>
                </a:solidFill>
                <a:latin typeface="Consolas"/>
              </a:rPr>
              <a:t>name</a:t>
            </a:r>
            <a:r>
              <a:rPr sz="900" b="1">
                <a:solidFill>
                  <a:srgbClr val="007020"/>
                </a:solidFill>
                <a:latin typeface="Consolas"/>
              </a:rPr>
              <a:t>:</a:t>
            </a:r>
            <a:r>
              <a:rPr sz="900">
                <a:solidFill>
                  <a:srgbClr val="2D2D2D"/>
                </a:solidFill>
                <a:latin typeface="Consolas"/>
              </a:rPr>
              <a:t> Greeting</a:t>
            </a:r>
          </a:p>
          <a:p>
            <a:pPr>
              <a:spcBef>
                <a:spcPts val="0"/>
              </a:spcBef>
              <a:spcAft>
                <a:spcPts val="0"/>
              </a:spcAft>
            </a:pPr>
            <a:r>
              <a:rPr sz="900">
                <a:solidFill>
                  <a:srgbClr val="2D2D2D"/>
                </a:solidFill>
                <a:latin typeface="Consolas"/>
              </a:rPr>
              <a:t>                        </a:t>
            </a:r>
            <a:r>
              <a:rPr sz="900">
                <a:solidFill>
                  <a:srgbClr val="06287E"/>
                </a:solidFill>
                <a:latin typeface="Consolas"/>
              </a:rPr>
              <a:t>description</a:t>
            </a:r>
            <a:r>
              <a:rPr sz="900" b="1">
                <a:solidFill>
                  <a:srgbClr val="007020"/>
                </a:solidFill>
                <a:latin typeface="Consolas"/>
              </a:rPr>
              <a:t>:</a:t>
            </a:r>
            <a:r>
              <a:rPr sz="900">
                <a:solidFill>
                  <a:srgbClr val="2D2D2D"/>
                </a:solidFill>
                <a:latin typeface="Consolas"/>
              </a:rPr>
              <a:t> The text shown on the Contact Request config page.</a:t>
            </a:r>
          </a:p>
          <a:p>
            <a:pPr>
              <a:spcBef>
                <a:spcPts val="0"/>
              </a:spcBef>
              <a:spcAft>
                <a:spcPts val="0"/>
              </a:spcAft>
            </a:pPr>
            <a:r>
              <a:rPr sz="900">
                <a:solidFill>
                  <a:srgbClr val="2D2D2D"/>
                </a:solidFill>
                <a:latin typeface="Consolas"/>
              </a:rPr>
              <a:t>                        </a:t>
            </a:r>
            <a:r>
              <a:rPr sz="900">
                <a:solidFill>
                  <a:srgbClr val="06287E"/>
                </a:solidFill>
                <a:latin typeface="Consolas"/>
              </a:rPr>
              <a:t>type</a:t>
            </a:r>
            <a:r>
              <a:rPr sz="900" b="1">
                <a:solidFill>
                  <a:srgbClr val="007020"/>
                </a:solidFill>
                <a:latin typeface="Consolas"/>
              </a:rPr>
              <a:t>:</a:t>
            </a:r>
            <a:r>
              <a:rPr sz="900">
                <a:solidFill>
                  <a:srgbClr val="2D2D2D"/>
                </a:solidFill>
                <a:latin typeface="Consolas"/>
              </a:rPr>
              <a:t> string</a:t>
            </a:r>
          </a:p>
          <a:p>
            <a:pPr>
              <a:spcBef>
                <a:spcPts val="0"/>
              </a:spcBef>
              <a:spcAft>
                <a:spcPts val="0"/>
              </a:spcAft>
            </a:pPr>
            <a:r>
              <a:rPr sz="900">
                <a:solidFill>
                  <a:srgbClr val="2D2D2D"/>
                </a:solidFill>
                <a:latin typeface="Consolas"/>
              </a:rPr>
              <a:t>                        </a:t>
            </a:r>
            <a:r>
              <a:rPr sz="900">
                <a:solidFill>
                  <a:srgbClr val="06287E"/>
                </a:solidFill>
                <a:latin typeface="Consolas"/>
              </a:rPr>
              <a:t>default_value</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'Hello from the Back Office!'</a:t>
            </a:r>
          </a:p>
          <a:p>
            <a:pPr>
              <a:spcBef>
                <a:spcPts val="0"/>
              </a:spcBef>
              <a:spcAft>
                <a:spcPts val="0"/>
              </a:spcAft>
            </a:pPr>
            <a:r>
              <a:rPr sz="900">
                <a:solidFill>
                  <a:srgbClr val="2D2D2D"/>
                </a:solidFill>
                <a:latin typeface="Consolas"/>
              </a:rPr>
              <a:t>                        </a:t>
            </a:r>
            <a:r>
              <a:rPr sz="900">
                <a:solidFill>
                  <a:srgbClr val="06287E"/>
                </a:solidFill>
                <a:latin typeface="Consolas"/>
              </a:rPr>
              <a:t>enabled</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secret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false</a:t>
            </a:r>
          </a:p>
          <a:p>
            <a:pPr>
              <a:spcBef>
                <a:spcPts val="0"/>
              </a:spcBef>
              <a:spcAft>
                <a:spcPts val="0"/>
              </a:spcAft>
            </a:pPr>
            <a:r>
              <a:rPr sz="900">
                <a:solidFill>
                  <a:srgbClr val="2D2D2D"/>
                </a:solidFill>
                <a:latin typeface="Consolas"/>
              </a:rPr>
              <a:t>                        </a:t>
            </a:r>
            <a:r>
              <a:rPr sz="900">
                <a:solidFill>
                  <a:srgbClr val="06287E"/>
                </a:solidFill>
                <a:latin typeface="Consolas"/>
              </a:rPr>
              <a:t>storefront</a:t>
            </a:r>
            <a:r>
              <a:rPr sz="900" b="1">
                <a:solidFill>
                  <a:srgbClr val="007020"/>
                </a:solidFill>
                <a:latin typeface="Consolas"/>
              </a:rPr>
              <a:t>:</a:t>
            </a:r>
            <a:r>
              <a:rPr sz="900">
                <a:solidFill>
                  <a:srgbClr val="2D2D2D"/>
                </a:solidFill>
                <a:latin typeface="Consolas"/>
              </a:rPr>
              <a:t> </a:t>
            </a:r>
            <a:r>
              <a:rPr sz="900">
                <a:solidFill>
                  <a:srgbClr val="4070A0"/>
                </a:solidFill>
                <a:latin typeface="Consolas"/>
              </a:rPr>
              <a:t>true</a:t>
            </a:r>
          </a:p>
          <a:p>
            <a:pPr>
              <a:spcBef>
                <a:spcPts val="0"/>
              </a:spcBef>
              <a:spcAft>
                <a:spcPts val="0"/>
              </a:spcAft>
            </a:pPr>
            <a:r>
              <a:rPr sz="900">
                <a:solidFill>
                  <a:srgbClr val="2D2D2D"/>
                </a:solidFill>
                <a:latin typeface="Consolas"/>
              </a:rPr>
              <a:t>                        </a:t>
            </a:r>
            <a:r>
              <a:rPr sz="900">
                <a:solidFill>
                  <a:srgbClr val="06287E"/>
                </a:solidFill>
                <a:latin typeface="Consolas"/>
              </a:rPr>
              <a:t>order</a:t>
            </a:r>
            <a:r>
              <a:rPr sz="900" b="1">
                <a:solidFill>
                  <a:srgbClr val="007020"/>
                </a:solidFill>
                <a:latin typeface="Consolas"/>
              </a:rPr>
              <a:t>:</a:t>
            </a:r>
            <a:r>
              <a:rPr sz="900">
                <a:solidFill>
                  <a:srgbClr val="2D2D2D"/>
                </a:solidFill>
                <a:latin typeface="Consolas"/>
              </a:rPr>
              <a:t> </a:t>
            </a:r>
            <a:r>
              <a:rPr sz="900">
                <a:solidFill>
                  <a:srgbClr val="40A070"/>
                </a:solidFill>
                <a:latin typeface="Consolas"/>
              </a:rPr>
              <a:t>0</a:t>
            </a:r>
          </a:p>
          <a:p>
            <a:pPr>
              <a:spcBef>
                <a:spcPts val="0"/>
              </a:spcBef>
              <a:spcAft>
                <a:spcPts val="0"/>
              </a:spcAft>
            </a:pPr>
            <a:r>
              <a:rPr sz="900">
                <a:solidFill>
                  <a:srgbClr val="2D2D2D"/>
                </a:solidFill>
                <a:latin typeface="Consolas"/>
              </a:rPr>
              <a:t>                        </a:t>
            </a:r>
            <a:r>
              <a:rPr sz="900">
                <a:solidFill>
                  <a:srgbClr val="06287E"/>
                </a:solidFill>
                <a:latin typeface="Consolas"/>
              </a:rPr>
              <a:t>scopes</a:t>
            </a:r>
            <a:r>
              <a:rPr sz="900" b="1">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global</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Write the Schema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Every level carries key , name , description , enabled and order ; key is what code uses, name is what the administrator reads. On the setting itself:</a:t>
            </a:r>
          </a:p>
          <a:p>
            <a:pPr>
              <a:spcAft>
                <a:spcPts val="400"/>
              </a:spcAft>
              <a:defRPr sz="1500">
                <a:solidFill>
                  <a:srgbClr val="1A1A1A"/>
                </a:solidFill>
              </a:defRPr>
            </a:pPr>
            <a:r>
              <a:t>• type - string , boolean , integer , radio , color , regex and others. It decides which form field the Back Office renders and how the value is cast when you read it.</a:t>
            </a:r>
          </a:p>
          <a:p>
            <a:pPr>
              <a:spcAft>
                <a:spcPts val="400"/>
              </a:spcAft>
              <a:defRPr sz="1500">
                <a:solidFill>
                  <a:srgbClr val="1A1A1A"/>
                </a:solidFill>
              </a:defRPr>
            </a:pPr>
            <a:r>
              <a:t>• default_value - used until somebody saves something. A setting nobody has touched still answers.</a:t>
            </a:r>
          </a:p>
          <a:p>
            <a:pPr>
              <a:spcAft>
                <a:spcPts val="400"/>
              </a:spcAft>
              <a:defRPr sz="1500">
                <a:solidFill>
                  <a:srgbClr val="1A1A1A"/>
                </a:solidFill>
              </a:defRPr>
            </a:pPr>
            <a:r>
              <a:t>• secret - true encrypts the value and never shows it again. Use it for tokens, never for texts.</a:t>
            </a:r>
          </a:p>
          <a:p>
            <a:pPr>
              <a:spcAft>
                <a:spcPts val="400"/>
              </a:spcAft>
              <a:defRPr sz="1500">
                <a:solidFill>
                  <a:srgbClr val="1A1A1A"/>
                </a:solidFill>
              </a:defRPr>
            </a:pPr>
            <a:r>
              <a:t>• storefront - whether the value is published to Yves. See Part 5.</a:t>
            </a:r>
          </a:p>
          <a:p>
            <a:pPr>
              <a:spcAft>
                <a:spcPts val="400"/>
              </a:spcAft>
              <a:defRPr sz="1500">
                <a:solidFill>
                  <a:srgbClr val="1A1A1A"/>
                </a:solidFill>
              </a:defRPr>
            </a:pPr>
            <a:r>
              <a:t>• scopes - global , or store , locale , customer_group , customer for values that differ per store or per customer group. Start with global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Write the Schema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first line is not decoration: it points your editor at the JSON schema of this file format, so you get completion and an error on a typo instead of a silent miss.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Publish and Edit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configuration:sync</a:t>
            </a:r>
          </a:p>
          <a:p>
            <a:pPr>
              <a:spcAft>
                <a:spcPts val="800"/>
              </a:spcAft>
              <a:defRPr sz="1600">
                <a:solidFill>
                  <a:srgbClr val="1A1A1A"/>
                </a:solidFill>
              </a:defRPr>
            </a:pPr>
            <a:r>
              <a:t>The command reads every *.configuration.yml of the project and of the modules, merges them and writes the result to data/cache/configuration/ . It reports how many settings it processed - one more than the last run.</a:t>
            </a:r>
          </a:p>
          <a:p>
            <a:pPr>
              <a:spcAft>
                <a:spcPts val="800"/>
              </a:spcAft>
              <a:defRPr sz="1600">
                <a:solidFill>
                  <a:srgbClr val="1A1A1A"/>
                </a:solidFill>
              </a:defRPr>
            </a:pPr>
            <a:r>
              <a:t>Now open the Back Office at http://backoffice.eu.spryker.local/configuration/manage ( Configuration in the main menu). In the left sidebar you find Contact Request , and under it the General tab. Hovering the entry shows the description you wrote.</a:t>
            </a:r>
          </a:p>
          <a:p>
            <a:pPr>
              <a:spcAft>
                <a:spcPts val="800"/>
              </a:spcAft>
              <a:defRPr sz="1600">
                <a:solidFill>
                  <a:srgbClr val="1A1A1A"/>
                </a:solidFill>
              </a:defRPr>
            </a:pPr>
            <a:r>
              <a:t>Open it, and there is your Config Page group with the Greeting field, filled with the default. Change it to something you will recognise, and Save.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Publish and Edit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After every cache:empty-all , run configuration:sync again. Clearing the cache deletes data/cache/configuration , and until you sync, the Back Office has no schema to render and reads fail with an unknown setting.</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Back Office now holds a value your code ignores. Wiring it in takes one constructor argument, because the core Configuration module registers its facade as a service in the Zed container. Check for yourself:</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a:t>
            </a:r>
            <a:r>
              <a:rPr sz="900">
                <a:solidFill>
                  <a:srgbClr val="4070A0"/>
                </a:solidFill>
                <a:latin typeface="Consolas"/>
              </a:rPr>
              <a:t>'Spryker\\Zed\\Configuration\\Business\\ConfigurationFacadeInterface'</a:t>
            </a:r>
          </a:p>
          <a:p>
            <a:pPr>
              <a:spcAft>
                <a:spcPts val="800"/>
              </a:spcAft>
              <a:defRPr sz="1600">
                <a:solidFill>
                  <a:srgbClr val="1A1A1A"/>
                </a:solidFill>
              </a:defRPr>
            </a:pPr>
            <a:r>
              <a:t>(The backslashes are doubled because docker/sdk cli runs the command through a shell inside the container.)</a:t>
            </a:r>
          </a:p>
          <a:p>
            <a:pPr>
              <a:spcBef>
                <a:spcPts val="0"/>
              </a:spcBef>
              <a:spcAft>
                <a:spcPts val="0"/>
              </a:spcAft>
            </a:pPr>
            <a:r>
              <a:rPr sz="900">
                <a:solidFill>
                  <a:srgbClr val="2D2D2D"/>
                </a:solidFill>
                <a:latin typeface="Consolas"/>
              </a:rPr>
              <a:t>Service ID   Spryker\Zed\Configuration\Business\ConfigurationFacadeInterface</a:t>
            </a:r>
          </a:p>
          <a:p>
            <a:pPr>
              <a:spcBef>
                <a:spcPts val="0"/>
              </a:spcBef>
              <a:spcAft>
                <a:spcPts val="0"/>
              </a:spcAft>
            </a:pPr>
            <a:r>
              <a:rPr sz="900">
                <a:solidFill>
                  <a:srgbClr val="2D2D2D"/>
                </a:solidFill>
                <a:latin typeface="Consolas"/>
              </a:rPr>
              <a:t>Class        Spryker\Zed\Configuration\Business\ConfigurationFacade</a:t>
            </a:r>
          </a:p>
          <a:p>
            <a:pPr>
              <a:spcBef>
                <a:spcPts val="0"/>
              </a:spcBef>
              <a:spcAft>
                <a:spcPts val="0"/>
              </a:spcAft>
            </a:pPr>
            <a:r>
              <a:rPr sz="900">
                <a:solidFill>
                  <a:srgbClr val="2D2D2D"/>
                </a:solidFill>
                <a:latin typeface="Consolas"/>
              </a:rPr>
              <a:t>Public       yes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That is the same mechanism you used in Exercise 4 when the Back Office controller received its facade through the constructor, and it works for a core module too, which is worth understanding because config/Zed/ApplicationServices.php loads project modules only.</a:t>
            </a:r>
          </a:p>
          <a:p>
            <a:pPr>
              <a:spcAft>
                <a:spcPts val="800"/>
              </a:spcAft>
              <a:defRPr sz="1600">
                <a:solidFill>
                  <a:srgbClr val="1A1A1A"/>
                </a:solidFill>
              </a:defRPr>
            </a:pPr>
            <a:r>
              <a:t>A Symfony compiler pass does it. Spryker\Shared\Application\Kernel::build() adds Spryker\Service\Container\Pass\SprykerDefaultsPass , which walks every module the module finder can see - core and project - and registers each module’s conventional entry points as public services:</a:t>
            </a:r>
          </a:p>
          <a:p>
            <a:pPr>
              <a:spcBef>
                <a:spcPts val="0"/>
              </a:spcBef>
              <a:spcAft>
                <a:spcPts val="0"/>
              </a:spcAft>
            </a:pPr>
            <a:r>
              <a:rPr sz="900">
                <a:solidFill>
                  <a:srgbClr val="2D2D2D"/>
                </a:solidFill>
                <a:latin typeface="Consolas"/>
              </a:rPr>
              <a:t>&lt;Org&gt;\Zed\&lt;Module&gt;\Business\&lt;Module&gt;FacadeInterface</a:t>
            </a:r>
          </a:p>
          <a:p>
            <a:pPr>
              <a:spcBef>
                <a:spcPts val="0"/>
              </a:spcBef>
              <a:spcAft>
                <a:spcPts val="0"/>
              </a:spcAft>
            </a:pPr>
            <a:r>
              <a:rPr sz="900">
                <a:solidFill>
                  <a:srgbClr val="2D2D2D"/>
                </a:solidFill>
                <a:latin typeface="Consolas"/>
              </a:rPr>
              <a:t>&lt;Org&gt;\Zed\&lt;Module&gt;\&lt;Module&gt;Config</a:t>
            </a:r>
          </a:p>
          <a:p>
            <a:pPr>
              <a:spcBef>
                <a:spcPts val="0"/>
              </a:spcBef>
              <a:spcAft>
                <a:spcPts val="0"/>
              </a:spcAft>
            </a:pPr>
            <a:r>
              <a:rPr sz="900">
                <a:solidFill>
                  <a:srgbClr val="2D2D2D"/>
                </a:solidFill>
                <a:latin typeface="Consolas"/>
              </a:rPr>
              <a:t>&lt;Org&gt;\Client\&lt;Module&gt;\&lt;Module&gt;ClientInterface</a:t>
            </a:r>
          </a:p>
          <a:p>
            <a:pPr>
              <a:spcBef>
                <a:spcPts val="0"/>
              </a:spcBef>
              <a:spcAft>
                <a:spcPts val="0"/>
              </a:spcAft>
            </a:pPr>
            <a:r>
              <a:rPr sz="900">
                <a:solidFill>
                  <a:srgbClr val="2D2D2D"/>
                </a:solidFill>
                <a:latin typeface="Consolas"/>
              </a:rPr>
              <a:t>&lt;Org&gt;\Service\&lt;Module&gt;\&lt;Module&gt;ServiceInterface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Only those. Ask the container what it has from the core Configuration module and you get exactly two entries, the facade interface and the module config - no readers, no writers, no mappers:</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grep</a:t>
            </a:r>
            <a:r>
              <a:rPr sz="900">
                <a:solidFill>
                  <a:srgbClr val="2D2D2D"/>
                </a:solidFill>
                <a:latin typeface="Consolas"/>
              </a:rPr>
              <a:t> </a:t>
            </a:r>
            <a:r>
              <a:rPr sz="900">
                <a:solidFill>
                  <a:srgbClr val="4070A0"/>
                </a:solidFill>
                <a:latin typeface="Consolas"/>
              </a:rPr>
              <a:t>'Spryker\\Zed\\Configuration\\'</a:t>
            </a:r>
          </a:p>
          <a:p>
            <a:pPr>
              <a:spcAft>
                <a:spcPts val="800"/>
              </a:spcAft>
              <a:defRPr sz="1600">
                <a:solidFill>
                  <a:srgbClr val="1A1A1A"/>
                </a:solidFill>
              </a:defRPr>
            </a:pPr>
            <a:r>
              <a:t>So you can constructor-inject the front door of any module, core or project, and nothing behind it - facades, clients and services by their interface, module configs by their class, and no factories or repositories of a core module. Exercise 4, section 2.6 has the full table, and section 2.7 next to it is what to run when a change to a constructor does not seem to take effect. And because the pass looks for a project override before the core class, a ContactRequestFacade of your own in SprykerAcademy would be injected in place of a core one with the same name - the same precedence the class resolver uses everywhere else in Spryker.</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src/SprykerAcademy/Zed/ContactRequest/Communication/Controller/ConfigController.php and take the Configuration facade as a second constructor argument: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G</a:t>
            </a:r>
            <a:r>
              <a:rPr sz="900">
                <a:solidFill>
                  <a:srgbClr val="2D2D2D"/>
                </a:solidFill>
                <a:latin typeface="Consolas"/>
              </a:rPr>
              <a:t>enerated\</a:t>
            </a:r>
            <a:r>
              <a:rPr sz="900">
                <a:solidFill>
                  <a:srgbClr val="880000"/>
                </a:solidFill>
                <a:latin typeface="Consolas"/>
              </a:rPr>
              <a:t>S</a:t>
            </a:r>
            <a:r>
              <a:rPr sz="900">
                <a:solidFill>
                  <a:srgbClr val="2D2D2D"/>
                </a:solidFill>
                <a:latin typeface="Consolas"/>
              </a:rPr>
              <a:t>hared\</a:t>
            </a:r>
            <a:r>
              <a:rPr sz="900">
                <a:solidFill>
                  <a:srgbClr val="880000"/>
                </a:solidFill>
                <a:latin typeface="Consolas"/>
              </a:rPr>
              <a:t>T</a:t>
            </a:r>
            <a:r>
              <a:rPr sz="900">
                <a:solidFill>
                  <a:srgbClr val="2D2D2D"/>
                </a:solidFill>
                <a:latin typeface="Consolas"/>
              </a:rPr>
              <a:t>ransfer\</a:t>
            </a:r>
            <a:r>
              <a:rPr sz="900">
                <a:solidFill>
                  <a:srgbClr val="880000"/>
                </a:solidFill>
                <a:latin typeface="Consolas"/>
              </a:rPr>
              <a:t>C</a:t>
            </a:r>
            <a:r>
              <a:rPr sz="900">
                <a:solidFill>
                  <a:srgbClr val="2D2D2D"/>
                </a:solidFill>
                <a:latin typeface="Consolas"/>
              </a:rPr>
              <a:t>onfigurationValueRequestTransfer</a:t>
            </a:r>
            <a:r>
              <a:rPr sz="900">
                <a:solidFill>
                  <a:srgbClr val="007020"/>
                </a:solidFill>
                <a:latin typeface="Consolas"/>
              </a:rPr>
              <a:t>;</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S</a:t>
            </a:r>
            <a:r>
              <a:rPr sz="900">
                <a:solidFill>
                  <a:srgbClr val="2D2D2D"/>
                </a:solidFill>
                <a:latin typeface="Consolas"/>
              </a:rPr>
              <a:t>pryker\</a:t>
            </a:r>
            <a:r>
              <a:rPr sz="900">
                <a:solidFill>
                  <a:srgbClr val="880000"/>
                </a:solidFill>
                <a:latin typeface="Consolas"/>
              </a:rPr>
              <a:t>Z</a:t>
            </a:r>
            <a:r>
              <a:rPr sz="900">
                <a:solidFill>
                  <a:srgbClr val="2D2D2D"/>
                </a:solidFill>
                <a:latin typeface="Consolas"/>
              </a:rPr>
              <a:t>ed\</a:t>
            </a:r>
            <a:r>
              <a:rPr sz="900">
                <a:solidFill>
                  <a:srgbClr val="880000"/>
                </a:solidFill>
                <a:latin typeface="Consolas"/>
              </a:rPr>
              <a:t>C</a:t>
            </a:r>
            <a:r>
              <a:rPr sz="900">
                <a:solidFill>
                  <a:srgbClr val="2D2D2D"/>
                </a:solidFill>
                <a:latin typeface="Consolas"/>
              </a:rPr>
              <a:t>onfiguration\</a:t>
            </a:r>
            <a:r>
              <a:rPr sz="900">
                <a:solidFill>
                  <a:srgbClr val="880000"/>
                </a:solidFill>
                <a:latin typeface="Consolas"/>
              </a:rPr>
              <a:t>B</a:t>
            </a:r>
            <a:r>
              <a:rPr sz="900">
                <a:solidFill>
                  <a:srgbClr val="2D2D2D"/>
                </a:solidFill>
                <a:latin typeface="Consolas"/>
              </a:rPr>
              <a:t>usiness\</a:t>
            </a:r>
            <a:r>
              <a:rPr sz="900">
                <a:solidFill>
                  <a:srgbClr val="880000"/>
                </a:solidFill>
                <a:latin typeface="Consolas"/>
              </a:rPr>
              <a:t>C</a:t>
            </a:r>
            <a:r>
              <a:rPr sz="900">
                <a:solidFill>
                  <a:srgbClr val="2D2D2D"/>
                </a:solidFill>
                <a:latin typeface="Consolas"/>
              </a:rPr>
              <a:t>onfigurationFacadeInterface</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b="1">
                <a:solidFill>
                  <a:srgbClr val="007020"/>
                </a:solidFill>
                <a:latin typeface="Consolas"/>
              </a:rPr>
              <a:t>class</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onfigController </a:t>
            </a:r>
            <a:r>
              <a:rPr sz="900" b="1">
                <a:solidFill>
                  <a:srgbClr val="007020"/>
                </a:solidFill>
                <a:latin typeface="Consolas"/>
              </a:rPr>
              <a:t>extends</a:t>
            </a:r>
            <a:r>
              <a:rPr sz="900">
                <a:solidFill>
                  <a:srgbClr val="2D2D2D"/>
                </a:solidFill>
                <a:latin typeface="Consolas"/>
              </a:rPr>
              <a:t> </a:t>
            </a:r>
            <a:r>
              <a:rPr sz="900">
                <a:solidFill>
                  <a:srgbClr val="880000"/>
                </a:solidFill>
                <a:latin typeface="Consolas"/>
              </a:rPr>
              <a:t>A</a:t>
            </a:r>
            <a:r>
              <a:rPr sz="900">
                <a:solidFill>
                  <a:srgbClr val="2D2D2D"/>
                </a:solidFill>
                <a:latin typeface="Consolas"/>
              </a:rPr>
              <a:t>bstractController</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a:t>
            </a:r>
            <a:r>
              <a:rPr sz="900">
                <a:solidFill>
                  <a:srgbClr val="2D2D2D"/>
                </a:solidFill>
                <a:latin typeface="Consolas"/>
              </a:rPr>
              <a:t>__construct</a:t>
            </a:r>
            <a:r>
              <a:rPr sz="900">
                <a:solidFill>
                  <a:srgbClr val="2D2D2D"/>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private</a:t>
            </a:r>
            <a:r>
              <a:rPr sz="900">
                <a:solidFill>
                  <a:srgbClr val="2D2D2D"/>
                </a:solidFill>
                <a:latin typeface="Consolas"/>
              </a:rPr>
              <a:t> readonly </a:t>
            </a:r>
            <a:r>
              <a:rPr sz="900">
                <a:solidFill>
                  <a:srgbClr val="880000"/>
                </a:solidFill>
                <a:latin typeface="Consolas"/>
              </a:rPr>
              <a:t>C</a:t>
            </a:r>
            <a:r>
              <a:rPr sz="900">
                <a:solidFill>
                  <a:srgbClr val="2D2D2D"/>
                </a:solidFill>
                <a:latin typeface="Consolas"/>
              </a:rPr>
              <a:t>ontactRequestConfig </a:t>
            </a:r>
            <a:r>
              <a:rPr sz="900">
                <a:solidFill>
                  <a:srgbClr val="19177C"/>
                </a:solidFill>
                <a:latin typeface="Consolas"/>
              </a:rPr>
              <a:t>$config</a:t>
            </a:r>
            <a:r>
              <a:rPr sz="900">
                <a:solidFill>
                  <a:srgbClr val="00702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private</a:t>
            </a:r>
            <a:r>
              <a:rPr sz="900">
                <a:solidFill>
                  <a:srgbClr val="2D2D2D"/>
                </a:solidFill>
                <a:latin typeface="Consolas"/>
              </a:rPr>
              <a:t> readonly </a:t>
            </a:r>
            <a:r>
              <a:rPr sz="900">
                <a:solidFill>
                  <a:srgbClr val="880000"/>
                </a:solidFill>
                <a:latin typeface="Consolas"/>
              </a:rPr>
              <a:t>C</a:t>
            </a:r>
            <a:r>
              <a:rPr sz="900">
                <a:solidFill>
                  <a:srgbClr val="2D2D2D"/>
                </a:solidFill>
                <a:latin typeface="Consolas"/>
              </a:rPr>
              <a:t>onfigurationFacadeInterface </a:t>
            </a:r>
            <a:r>
              <a:rPr sz="900">
                <a:solidFill>
                  <a:srgbClr val="19177C"/>
                </a:solidFill>
                <a:latin typeface="Consolas"/>
              </a:rPr>
              <a:t>$configurationFacade</a:t>
            </a:r>
            <a:r>
              <a:rPr sz="900">
                <a:solidFill>
                  <a:srgbClr val="007020"/>
                </a:solidFill>
                <a:latin typeface="Consolas"/>
              </a:rPr>
              <a:t>,</a:t>
            </a:r>
          </a:p>
          <a:p>
            <a:pPr>
              <a:spcBef>
                <a:spcPts val="0"/>
              </a:spcBef>
              <a:spcAft>
                <a:spcPts val="0"/>
              </a:spcAft>
            </a:pPr>
            <a:r>
              <a:rPr sz="900">
                <a:solidFill>
                  <a:srgbClr val="2D2D2D"/>
                </a:solidFill>
                <a:latin typeface="Consolas"/>
              </a:rPr>
              <a:t>    ) {</a:t>
            </a:r>
          </a:p>
          <a:p>
            <a:pPr>
              <a:spcBef>
                <a:spcPts val="0"/>
              </a:spcBef>
              <a:spcAft>
                <a:spcPts val="0"/>
              </a:spcAft>
            </a:pP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public</a:t>
            </a:r>
            <a:r>
              <a:rPr sz="900">
                <a:solidFill>
                  <a:srgbClr val="2D2D2D"/>
                </a:solidFill>
                <a:latin typeface="Consolas"/>
              </a:rPr>
              <a:t> </a:t>
            </a:r>
            <a:r>
              <a:rPr sz="900" b="1">
                <a:solidFill>
                  <a:srgbClr val="007020"/>
                </a:solidFill>
                <a:latin typeface="Consolas"/>
              </a:rPr>
              <a:t>function</a:t>
            </a:r>
            <a:r>
              <a:rPr sz="900">
                <a:solidFill>
                  <a:srgbClr val="2D2D2D"/>
                </a:solidFill>
                <a:latin typeface="Consolas"/>
              </a:rPr>
              <a:t> indexAction()</a:t>
            </a:r>
            <a:r>
              <a:rPr sz="900">
                <a:solidFill>
                  <a:srgbClr val="007020"/>
                </a:solidFill>
                <a:latin typeface="Consolas"/>
              </a:rPr>
              <a:t>:</a:t>
            </a:r>
            <a:r>
              <a:rPr sz="900">
                <a:solidFill>
                  <a:srgbClr val="2D2D2D"/>
                </a:solidFill>
                <a:latin typeface="Consolas"/>
              </a:rPr>
              <a:t> </a:t>
            </a:r>
            <a:r>
              <a:rPr sz="900">
                <a:solidFill>
                  <a:srgbClr val="902000"/>
                </a:solidFill>
                <a:latin typeface="Consolas"/>
              </a:rPr>
              <a:t>array</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a:t>
            </a:r>
            <a:r>
              <a:rPr sz="900" b="1">
                <a:solidFill>
                  <a:srgbClr val="007020"/>
                </a:solidFill>
                <a:latin typeface="Consolas"/>
              </a:rPr>
              <a:t>return</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-&gt;viewResponse([</a:t>
            </a:r>
          </a:p>
          <a:p>
            <a:pPr>
              <a:spcBef>
                <a:spcPts val="0"/>
              </a:spcBef>
              <a:spcAft>
                <a:spcPts val="0"/>
              </a:spcAft>
            </a:pPr>
            <a:r>
              <a:rPr sz="900">
                <a:solidFill>
                  <a:srgbClr val="2D2D2D"/>
                </a:solidFill>
                <a:latin typeface="Consolas"/>
              </a:rPr>
              <a:t>            </a:t>
            </a:r>
            <a:r>
              <a:rPr sz="900">
                <a:solidFill>
                  <a:srgbClr val="4070A0"/>
                </a:solidFill>
                <a:latin typeface="Consolas"/>
              </a:rPr>
              <a:t>'configValue'</a:t>
            </a:r>
            <a:r>
              <a:rPr sz="900">
                <a:solidFill>
                  <a:srgbClr val="2D2D2D"/>
                </a:solidFill>
                <a:latin typeface="Consolas"/>
              </a:rPr>
              <a:t> =&gt; </a:t>
            </a:r>
            <a:r>
              <a:rPr sz="900">
                <a:solidFill>
                  <a:srgbClr val="19177C"/>
                </a:solidFill>
                <a:latin typeface="Consolas"/>
              </a:rPr>
              <a:t>$this</a:t>
            </a:r>
            <a:r>
              <a:rPr sz="900">
                <a:solidFill>
                  <a:srgbClr val="2D2D2D"/>
                </a:solidFill>
                <a:latin typeface="Consolas"/>
              </a:rPr>
              <a:t>-&gt;config-&gt;getMyConfigValue()</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'greeting'</a:t>
            </a:r>
            <a:r>
              <a:rPr sz="900">
                <a:solidFill>
                  <a:srgbClr val="2D2D2D"/>
                </a:solidFill>
                <a:latin typeface="Consolas"/>
              </a:rPr>
              <a:t> =&gt; </a:t>
            </a:r>
            <a:r>
              <a:rPr sz="900">
                <a:solidFill>
                  <a:srgbClr val="19177C"/>
                </a:solidFill>
                <a:latin typeface="Consolas"/>
              </a:rPr>
              <a:t>$this</a:t>
            </a:r>
            <a:r>
              <a:rPr sz="900">
                <a:solidFill>
                  <a:srgbClr val="2D2D2D"/>
                </a:solidFill>
                <a:latin typeface="Consolas"/>
              </a:rPr>
              <a:t>-&gt;configurationFacade-&gt;getConfigurationValue(</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onfigurationValueRequestTransfer())-&gt;setKey(</a:t>
            </a:r>
            <a:r>
              <a:rPr sz="900">
                <a:solidFill>
                  <a:srgbClr val="4070A0"/>
                </a:solidFill>
                <a:latin typeface="Consolas"/>
              </a:rPr>
              <a:t>'contact_request:general:config_page:greeting'</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007020"/>
                </a:solidFill>
                <a:latin typeface="Consolas"/>
              </a:rPr>
              <a: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r>
              <a:rPr sz="900">
                <a:solidFill>
                  <a:srgbClr val="007020"/>
                </a:solidFill>
                <a:latin typeface="Consolas"/>
              </a:rPr>
              <a:t>;</a:t>
            </a:r>
          </a:p>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a:t>
            </a:r>
          </a:p>
          <a:p>
            <a:pPr>
              <a:spcAft>
                <a:spcPts val="800"/>
              </a:spcAft>
              <a:defRPr sz="1600">
                <a:solidFill>
                  <a:srgbClr val="1A1A1A"/>
                </a:solidFill>
              </a:defRPr>
            </a:pPr>
            <a:r>
              <a:t>Add the second value to src/SprykerAcademy/Zed/ContactRequest/Presentation/Config/index.twig :</a:t>
            </a:r>
          </a:p>
          <a:p>
            <a:pPr>
              <a:spcBef>
                <a:spcPts val="0"/>
              </a:spcBef>
              <a:spcAft>
                <a:spcPts val="0"/>
              </a:spcAft>
            </a:pPr>
            <a:r>
              <a:rPr sz="900">
                <a:solidFill>
                  <a:srgbClr val="2D2D2D"/>
                </a:solidFill>
                <a:latin typeface="Consolas"/>
              </a:rPr>
              <a:t>{{ configValue }}</a:t>
            </a:r>
          </a:p>
          <a:p>
            <a:pPr>
              <a:spcBef>
                <a:spcPts val="0"/>
              </a:spcBef>
              <a:spcAft>
                <a:spcPts val="0"/>
              </a:spcAft>
            </a:pPr>
            <a:r>
              <a:rPr sz="900">
                <a:solidFill>
                  <a:srgbClr val="2D2D2D"/>
                </a:solidFill>
                <a:latin typeface="Consolas"/>
              </a:rPr>
              <a:t>{{ greeting }}</a:t>
            </a:r>
          </a:p>
          <a:p>
            <a:pPr>
              <a:spcAft>
                <a:spcPts val="800"/>
              </a:spcAft>
              <a:defRPr sz="1600">
                <a:solidFill>
                  <a:srgbClr val="1A1A1A"/>
                </a:solidFill>
              </a:defRPr>
            </a:pPr>
            <a:r>
              <a:t>Reload http://backoffice.eu.spryker.local/contact-request/config/index. Two values, two mechanisms: one you can only change by deploying, one you just changed in a form.</a:t>
            </a:r>
          </a:p>
          <a:p>
            <a:pPr>
              <a:spcAft>
                <a:spcPts val="800"/>
              </a:spcAft>
              <a:defRPr sz="1600">
                <a:solidFill>
                  <a:srgbClr val="1A1A1A"/>
                </a:solidFill>
              </a:defRPr>
            </a:pPr>
            <a:r>
              <a:t>getConfigurationValue() resolves the scope, decrypts the value if the setting is secret , and casts it to the type from the schema - so a boolean setting comes back as a bool, not as the string "true" .</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Read the Value in Zed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Now change the greeting in the Back Office again and reload the page. No cache clear, no deployment. That is the whole point of the exercise.</a:t>
            </a:r>
          </a:p>
          <a:p>
            <a:pPr>
              <a:spcAft>
                <a:spcPts val="800"/>
              </a:spcAft>
              <a:defRPr sz="1400" i="1">
                <a:solidFill>
                  <a:srgbClr val="888888"/>
                </a:solidFill>
              </a:defRPr>
            </a:pPr>
            <a:r>
              <a:t>❝ If the page dies with *Too few arguments to function ConfigController::__construct()*, the controller is not coming out of the container - see the troubleshooting block in Exercise 4 .</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What storefront: true Really Means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Yves does not read the database. A setting marked storefront: true travels the same road as products and prices - publish &amp; sync - and Yves reads the result from Redis through the Configuration client :</a:t>
            </a:r>
          </a:p>
          <a:p>
            <a:pPr>
              <a:spcBef>
                <a:spcPts val="0"/>
              </a:spcBef>
              <a:spcAft>
                <a:spcPts val="0"/>
              </a:spcAft>
            </a:pPr>
            <a:r>
              <a:rPr sz="900" b="1">
                <a:solidFill>
                  <a:srgbClr val="007020"/>
                </a:solidFill>
                <a:latin typeface="Consolas"/>
              </a:rPr>
              <a:t>use</a:t>
            </a:r>
            <a:r>
              <a:rPr sz="900">
                <a:solidFill>
                  <a:srgbClr val="2D2D2D"/>
                </a:solidFill>
                <a:latin typeface="Consolas"/>
              </a:rPr>
              <a:t> </a:t>
            </a:r>
            <a:r>
              <a:rPr sz="900">
                <a:solidFill>
                  <a:srgbClr val="880000"/>
                </a:solidFill>
                <a:latin typeface="Consolas"/>
              </a:rPr>
              <a:t>G</a:t>
            </a:r>
            <a:r>
              <a:rPr sz="900">
                <a:solidFill>
                  <a:srgbClr val="2D2D2D"/>
                </a:solidFill>
                <a:latin typeface="Consolas"/>
              </a:rPr>
              <a:t>enerated\</a:t>
            </a:r>
            <a:r>
              <a:rPr sz="900">
                <a:solidFill>
                  <a:srgbClr val="880000"/>
                </a:solidFill>
                <a:latin typeface="Consolas"/>
              </a:rPr>
              <a:t>S</a:t>
            </a:r>
            <a:r>
              <a:rPr sz="900">
                <a:solidFill>
                  <a:srgbClr val="2D2D2D"/>
                </a:solidFill>
                <a:latin typeface="Consolas"/>
              </a:rPr>
              <a:t>hared\</a:t>
            </a:r>
            <a:r>
              <a:rPr sz="900">
                <a:solidFill>
                  <a:srgbClr val="880000"/>
                </a:solidFill>
                <a:latin typeface="Consolas"/>
              </a:rPr>
              <a:t>T</a:t>
            </a:r>
            <a:r>
              <a:rPr sz="900">
                <a:solidFill>
                  <a:srgbClr val="2D2D2D"/>
                </a:solidFill>
                <a:latin typeface="Consolas"/>
              </a:rPr>
              <a:t>ransfer\</a:t>
            </a:r>
            <a:r>
              <a:rPr sz="900">
                <a:solidFill>
                  <a:srgbClr val="880000"/>
                </a:solidFill>
                <a:latin typeface="Consolas"/>
              </a:rPr>
              <a:t>C</a:t>
            </a:r>
            <a:r>
              <a:rPr sz="900">
                <a:solidFill>
                  <a:srgbClr val="2D2D2D"/>
                </a:solidFill>
                <a:latin typeface="Consolas"/>
              </a:rPr>
              <a:t>onfigurationValueRequestTransfer</a:t>
            </a:r>
            <a:r>
              <a:rPr sz="900">
                <a:solidFill>
                  <a:srgbClr val="007020"/>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19177C"/>
                </a:solidFill>
                <a:latin typeface="Consolas"/>
              </a:rPr>
              <a:t>$greeting</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-&gt;getFactory()-&gt;getConfigurationClient()-&gt;getConfigurationValue(</a:t>
            </a:r>
          </a:p>
          <a:p>
            <a:pPr>
              <a:spcBef>
                <a:spcPts val="0"/>
              </a:spcBef>
              <a:spcAft>
                <a:spcPts val="0"/>
              </a:spcAft>
            </a:pP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onfigurationValueRequestTransfer())-&gt;setKey(</a:t>
            </a:r>
            <a:r>
              <a:rPr sz="900">
                <a:solidFill>
                  <a:srgbClr val="4070A0"/>
                </a:solidFill>
                <a:latin typeface="Consolas"/>
              </a:rPr>
              <a:t>'contact_request:general:config_page:greeting'</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The client is Spryker\Client\Configuration\ConfigurationClientInterface . In Yves you provide it through your module’s DependencyProvider and expose it on the factory, exactly like the ContactRequestClient in Exercise 5 - Yves has no service container of its own, so there is no constructor injection here (see the note in Exercise 5).</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What storefront: true Really Means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part that surprises people is the delay. Pressing Save in the Back Office writes two things immediately: the value in spy_configuration_value and a published copy in spy_configuration_storage . That second table carries Spryker’s synchronization behavior, so its rows are queued to Redis under keys that start with configuration: - and until the queue workers have processed that queue, Yves still answers with the old value while the Back Office already shows the new one .</a:t>
            </a:r>
          </a:p>
          <a:p>
            <a:pPr>
              <a:spcBef>
                <a:spcPts val="0"/>
              </a:spcBef>
              <a:spcAft>
                <a:spcPts val="0"/>
              </a:spcAft>
            </a:pPr>
            <a:r>
              <a:rPr sz="900">
                <a:solidFill>
                  <a:srgbClr val="2D2D2D"/>
                </a:solidFill>
                <a:latin typeface="Consolas"/>
              </a:rPr>
              <a:t>docker/sdk</a:t>
            </a:r>
            <a:r>
              <a:rPr sz="900">
                <a:solidFill>
                  <a:srgbClr val="2D2D2D"/>
                </a:solidFill>
                <a:latin typeface="Consolas"/>
              </a:rPr>
              <a:t> console queue:worker:start</a:t>
            </a:r>
          </a:p>
          <a:p>
            <a:pPr>
              <a:spcAft>
                <a:spcPts val="800"/>
              </a:spcAft>
              <a:defRPr sz="1600">
                <a:solidFill>
                  <a:srgbClr val="1A1A1A"/>
                </a:solidFill>
              </a:defRPr>
            </a:pPr>
            <a:r>
              <a:t>If you want to see the mechanism rather than trust it, look at spy_configuration_storage right after a save, and at the configuration:* keys in the Redis GUI. Exercise 10 of the intermediate course is publish &amp; sync end to end.</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What storefront: true Really Means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 setting with storefront: false never leaves Zed, which is what you want for anything an unauthenticated visitor should not be able to read.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docker/sdk console configuration:sync reports one more setting than before your file existed.</a:t>
            </a:r>
          </a:p>
          <a:p>
            <a:pPr>
              <a:spcAft>
                <a:spcPts val="400"/>
              </a:spcAft>
              <a:defRPr sz="1500">
                <a:solidFill>
                  <a:srgbClr val="1A1A1A"/>
                </a:solidFill>
              </a:defRPr>
            </a:pPr>
            <a:r>
              <a:t>• Back Office &gt; Configuration has a Contact Request entry with a General tab.</a:t>
            </a:r>
          </a:p>
          <a:p>
            <a:pPr>
              <a:spcAft>
                <a:spcPts val="400"/>
              </a:spcAft>
              <a:defRPr sz="1500">
                <a:solidFill>
                  <a:srgbClr val="1A1A1A"/>
                </a:solidFill>
              </a:defRPr>
            </a:pPr>
            <a:r>
              <a:t>• The Greeting field shows Hello from the Back Office! before you save anything - the default_value answers even with an empty database.</a:t>
            </a:r>
          </a:p>
          <a:p>
            <a:pPr>
              <a:spcAft>
                <a:spcPts val="400"/>
              </a:spcAft>
              <a:defRPr sz="1500">
                <a:solidFill>
                  <a:srgbClr val="1A1A1A"/>
                </a:solidFill>
              </a:defRPr>
            </a:pPr>
            <a:r>
              <a:t>• /contact-request/config/index shows the text you saved, and shows a new one after you save again, without any console command.</a:t>
            </a:r>
          </a:p>
          <a:p>
            <a:pPr>
              <a:spcAft>
                <a:spcPts val="400"/>
              </a:spcAft>
              <a:defRPr sz="1500">
                <a:solidFill>
                  <a:srgbClr val="1A1A1A"/>
                </a:solidFill>
              </a:defRPr>
            </a:pPr>
            <a:r>
              <a:t>• Delete data/cache/configuration (or run cache:empty-all ), reload the Back Office, watch it break, run configuration:sync , watch it work.</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Cleanup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Keep the schema and the wiring - the exercise leaves the module in a good state. If you want the page back to its Exercise 6 shape, drop the greeting variable from the controller and the template; the schema does no harm.</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Change scopes on the setting to [global, store] , sync, and watch the Back Office grow a per-store column. Read it with -&gt;setScope('store')-&gt;setScopeIdentifier('DE') .</a:t>
            </a:r>
          </a:p>
          <a:p>
            <a:pPr>
              <a:spcAft>
                <a:spcPts val="400"/>
              </a:spcAft>
              <a:defRPr sz="1500">
                <a:solidFill>
                  <a:srgbClr val="1A1A1A"/>
                </a:solidFill>
              </a:defRPr>
            </a:pPr>
            <a:r>
              <a:t>• Add a second setting with secret: true , save a value, and reopen the form: the field is empty, because the value is encrypted and never sent back to the browser.</a:t>
            </a:r>
          </a:p>
          <a:p>
            <a:pPr>
              <a:spcAft>
                <a:spcPts val="400"/>
              </a:spcAft>
              <a:defRPr sz="1500">
                <a:solidFill>
                  <a:srgbClr val="1A1A1A"/>
                </a:solidFill>
              </a:defRPr>
            </a:pPr>
            <a:r>
              <a:t>• A value can be referenced from other configuration with the configuration:: prefix instead of being read in code. Exercise 9b uses that to point the AI features at an API token an administrator manages.</a:t>
            </a:r>
          </a:p>
          <a:p>
            <a:pPr>
              <a:spcAft>
                <a:spcPts val="400"/>
              </a:spcAft>
              <a:defRPr sz="1500">
                <a:solidFill>
                  <a:srgbClr val="1A1A1A"/>
                </a:solidFill>
              </a:defRPr>
            </a:pPr>
            <a:r>
              <a:t>• Ship the schema inside a module instead of the project: resources/configuration/ in the module root, which is how spryker/gui and the other core modules do it.</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6c: Build the Module Again, with the AI Dev SDK</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6c: Build the Module Again, with the AI Dev SDK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Exercises 1 to 6b you built the ContactRequest module by hand, step by step, from a guide that told you every class name and every file path. In this exercise you throw all of it away, describe the same feature the way a product owner would - six sentences, plus a short list of how this project builds things - and let your AI coding assistant design and build it on an empty shop.</a:t>
            </a:r>
          </a:p>
          <a:p>
            <a:pPr>
              <a:spcAft>
                <a:spcPts val="800"/>
              </a:spcAft>
              <a:defRPr sz="1600">
                <a:solidFill>
                  <a:srgbClr val="1A1A1A"/>
                </a:solidFill>
              </a:defRPr>
            </a:pPr>
            <a:r>
              <a:t>That is the point. The Spryker AI Dev SDK gives the assistant Spryker’s architecture rules, skills and agents. Your job is to state what you want and to judge what comes back - because this time there is no skeleton, no wiring and no test suite to hide behind. You have the perfect yardstick anyway: you wrote the other implementation yourself, and it is one load.sh away.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6c: Build the Module Again, with the AI Dev SDK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 will learn how to: - Reset a project so an assistant gets a genuine cold start - Set up the AI Dev SDK in a project with ai-dev:setup - Read what the SDK generates: the context file, the rules, the skills and the agents - Tell the assistant to actually use those skills and agents rather than improvising - Write a requirement-level prompt and let the assistant derive schema, layers and routes - Steer it to the API Platform for the Storefront API, and check the result in Swagger or Postman - Review AI-generated Spryker code against your own implementation, file by file</a:t>
            </a:r>
          </a:p>
          <a:p>
            <a:pPr>
              <a:spcAft>
                <a:spcPts val="800"/>
              </a:spcAft>
              <a:defRPr sz="1600">
                <a:solidFill>
                  <a:srgbClr val="1A1A1A"/>
                </a:solidFill>
              </a:defRPr>
            </a:pPr>
            <a:r>
              <a:t>Official documentation: - AI Dev SDK - Install AI Dev</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Exercises 1 to 6b completed, so you know what “correct” looks like. The code itself is about to go - that is fine, load.sh brings it back.</a:t>
            </a:r>
          </a:p>
          <a:p>
            <a:pPr>
              <a:spcAft>
                <a:spcPts val="400"/>
              </a:spcAft>
              <a:defRPr sz="1500">
                <a:solidFill>
                  <a:srgbClr val="1A1A1A"/>
                </a:solidFill>
              </a:defRPr>
            </a:pPr>
            <a:r>
              <a:t>• An AI coding assistant installed on your machine: Claude Code, Cursor, GitHub Copilot, Windsurf, OpenCode or Codex. The SDK generates files for all of them.</a:t>
            </a:r>
          </a:p>
          <a:p>
            <a:pPr>
              <a:spcAft>
                <a:spcPts val="400"/>
              </a:spcAft>
              <a:defRPr sz="1500">
                <a:solidFill>
                  <a:srgbClr val="1A1A1A"/>
                </a:solidFill>
              </a:defRPr>
            </a:pPr>
            <a:r>
              <a:t>• The spryker-sdk/ai-dev package. The B2B Marketplace demo shop ships it out of the box (see composer.json ).</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1: Start from a Clean Shop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exercise only works as a cold start. If src/SprykerAcademy still holds your ContactRequest module, the assistant will find it, follow it, and you will have tested your own scaffolding rather than the assistant.</a:t>
            </a:r>
          </a:p>
          <a:p>
            <a:pPr>
              <a:spcAft>
                <a:spcPts val="800"/>
              </a:spcAft>
              <a:defRPr sz="1600">
                <a:solidFill>
                  <a:srgbClr val="1A1A1A"/>
                </a:solidFill>
              </a:defRPr>
            </a:pPr>
            <a:r>
              <a:t>Nothing you delete here is precious. Every exercise in this course is one command away:</a:t>
            </a:r>
          </a:p>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basics/module-layers/complete </a:t>
            </a:r>
            <a:r>
              <a:rPr sz="900">
                <a:solidFill>
                  <a:srgbClr val="2D2D2D"/>
                </a:solidFill>
                <a:latin typeface="Consolas"/>
              </a:rPr>
              <a:t>--run</a:t>
            </a:r>
          </a:p>
          <a:p>
            <a:pPr>
              <a:spcAft>
                <a:spcPts val="800"/>
              </a:spcAft>
              <a:defRPr sz="1600">
                <a:solidFill>
                  <a:srgbClr val="1A1A1A"/>
                </a:solidFill>
              </a:defRPr>
            </a:pPr>
            <a:r>
              <a:t>That is what makes a reset cheap, and it is why this exercise does not ask you to juggle branches, stash anything or keep a copy of your work.</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Option A: a second shop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Clone the demo shop into a folder of its own and boot it there. You get a genuinely untouched project and the shop you have been working in stays as it is. It costs a full install, so do it if you have the time or an instructor-provided image.</a:t>
            </a:r>
          </a:p>
          <a:p>
            <a:pPr>
              <a:spcBef>
                <a:spcPts val="1200"/>
              </a:spcBef>
              <a:spcAft>
                <a:spcPts val="600"/>
              </a:spcAft>
              <a:defRPr sz="2000" b="1">
                <a:solidFill>
                  <a:srgbClr val="1A1A1A"/>
                </a:solidFill>
              </a:defRPr>
            </a:pPr>
            <a:r>
              <a:t>Option B: reset the shop you have</a:t>
            </a:r>
          </a:p>
          <a:p>
            <a:pPr>
              <a:spcAft>
                <a:spcPts val="800"/>
              </a:spcAft>
              <a:defRPr sz="1600">
                <a:solidFill>
                  <a:srgbClr val="1A1A1A"/>
                </a:solidFill>
              </a:defRPr>
            </a:pPr>
            <a:r>
              <a:t>Look before you delete. Work in the project root (the b2b-demo-marketplace clone), not in the exercises folder:</a:t>
            </a:r>
          </a:p>
          <a:p>
            <a:pPr>
              <a:spcBef>
                <a:spcPts val="0"/>
              </a:spcBef>
              <a:spcAft>
                <a:spcPts val="0"/>
              </a:spcAft>
            </a:pPr>
            <a:r>
              <a:rPr sz="900">
                <a:solidFill>
                  <a:srgbClr val="06287E"/>
                </a:solidFill>
                <a:latin typeface="Consolas"/>
              </a:rPr>
              <a:t>git</a:t>
            </a:r>
            <a:r>
              <a:rPr sz="900">
                <a:solidFill>
                  <a:srgbClr val="2D2D2D"/>
                </a:solidFill>
                <a:latin typeface="Consolas"/>
              </a:rPr>
              <a:t> describe </a:t>
            </a:r>
            <a:r>
              <a:rPr sz="900">
                <a:solidFill>
                  <a:srgbClr val="2D2D2D"/>
                </a:solidFill>
                <a:latin typeface="Consolas"/>
              </a:rPr>
              <a:t>--tags</a:t>
            </a:r>
            <a:r>
              <a:rPr sz="900">
                <a:solidFill>
                  <a:srgbClr val="2D2D2D"/>
                </a:solidFill>
                <a:latin typeface="Consolas"/>
              </a:rPr>
              <a:t>     </a:t>
            </a:r>
            <a:r>
              <a:rPr sz="900" i="1">
                <a:solidFill>
                  <a:srgbClr val="60A0B0"/>
                </a:solidFill>
                <a:latin typeface="Consolas"/>
              </a:rPr>
              <a:t># the release you cloned, for example 202608.0</a:t>
            </a:r>
          </a:p>
          <a:p>
            <a:pPr>
              <a:spcBef>
                <a:spcPts val="0"/>
              </a:spcBef>
              <a:spcAft>
                <a:spcPts val="0"/>
              </a:spcAft>
            </a:pPr>
            <a:r>
              <a:rPr sz="900">
                <a:solidFill>
                  <a:srgbClr val="06287E"/>
                </a:solidFill>
                <a:latin typeface="Consolas"/>
              </a:rPr>
              <a:t>git</a:t>
            </a:r>
            <a:r>
              <a:rPr sz="900">
                <a:solidFill>
                  <a:srgbClr val="2D2D2D"/>
                </a:solidFill>
                <a:latin typeface="Consolas"/>
              </a:rPr>
              <a:t> status </a:t>
            </a:r>
            <a:r>
              <a:rPr sz="900">
                <a:solidFill>
                  <a:srgbClr val="2D2D2D"/>
                </a:solidFill>
                <a:latin typeface="Consolas"/>
              </a:rPr>
              <a:t>--short</a:t>
            </a:r>
            <a:r>
              <a:rPr sz="900">
                <a:solidFill>
                  <a:srgbClr val="2D2D2D"/>
                </a:solidFill>
                <a:latin typeface="Consolas"/>
              </a:rPr>
              <a:t>      </a:t>
            </a:r>
            <a:r>
              <a:rPr sz="900" i="1">
                <a:solidFill>
                  <a:srgbClr val="60A0B0"/>
                </a:solidFill>
                <a:latin typeface="Consolas"/>
              </a:rPr>
              <a:t># everything the exercises added or changed</a:t>
            </a:r>
          </a:p>
          <a:p>
            <a:pPr>
              <a:spcAft>
                <a:spcPts val="800"/>
              </a:spcAft>
              <a:defRPr sz="1600">
                <a:solidFill>
                  <a:srgbClr val="1A1A1A"/>
                </a:solidFill>
              </a:defRPr>
            </a:pPr>
            <a:r>
              <a:t>Then reset: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Option A: a second shop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06287E"/>
                </a:solidFill>
                <a:latin typeface="Consolas"/>
              </a:rPr>
              <a:t>git</a:t>
            </a:r>
            <a:r>
              <a:rPr sz="900">
                <a:solidFill>
                  <a:srgbClr val="2D2D2D"/>
                </a:solidFill>
                <a:latin typeface="Consolas"/>
              </a:rPr>
              <a:t> reset </a:t>
            </a:r>
            <a:r>
              <a:rPr sz="900">
                <a:solidFill>
                  <a:srgbClr val="2D2D2D"/>
                </a:solidFill>
                <a:latin typeface="Consolas"/>
              </a:rPr>
              <a:t>--hard</a:t>
            </a:r>
            <a:r>
              <a:rPr sz="900">
                <a:solidFill>
                  <a:srgbClr val="2D2D2D"/>
                </a:solidFill>
                <a:latin typeface="Consolas"/>
              </a:rPr>
              <a:t>                                      </a:t>
            </a:r>
            <a:r>
              <a:rPr sz="900" i="1">
                <a:solidFill>
                  <a:srgbClr val="60A0B0"/>
                </a:solidFill>
                <a:latin typeface="Consolas"/>
              </a:rPr>
              <a:t># tracked files back to the release</a:t>
            </a:r>
          </a:p>
          <a:p>
            <a:pPr>
              <a:spcBef>
                <a:spcPts val="0"/>
              </a:spcBef>
              <a:spcAft>
                <a:spcPts val="0"/>
              </a:spcAft>
            </a:pPr>
            <a:r>
              <a:rPr sz="900">
                <a:solidFill>
                  <a:srgbClr val="06287E"/>
                </a:solidFill>
                <a:latin typeface="Consolas"/>
              </a:rPr>
              <a:t>rm</a:t>
            </a:r>
            <a:r>
              <a:rPr sz="900">
                <a:solidFill>
                  <a:srgbClr val="2D2D2D"/>
                </a:solidFill>
                <a:latin typeface="Consolas"/>
              </a:rPr>
              <a:t> </a:t>
            </a:r>
            <a:r>
              <a:rPr sz="900">
                <a:solidFill>
                  <a:srgbClr val="2D2D2D"/>
                </a:solidFill>
                <a:latin typeface="Consolas"/>
              </a:rPr>
              <a:t>-rf</a:t>
            </a:r>
            <a:r>
              <a:rPr sz="900">
                <a:solidFill>
                  <a:srgbClr val="2D2D2D"/>
                </a:solidFill>
                <a:latin typeface="Consolas"/>
              </a:rPr>
              <a:t> src/SprykerAcademy tests/SprykerAcademyTest    </a:t>
            </a:r>
            <a:r>
              <a:rPr sz="900" i="1">
                <a:solidFill>
                  <a:srgbClr val="60A0B0"/>
                </a:solidFill>
                <a:latin typeface="Consolas"/>
              </a:rPr>
              <a:t># the exercise code itself</a:t>
            </a:r>
          </a:p>
          <a:p>
            <a:pPr>
              <a:spcBef>
                <a:spcPts val="0"/>
              </a:spcBef>
              <a:spcAft>
                <a:spcPts val="0"/>
              </a:spcAft>
            </a:pPr>
            <a:r>
              <a:rPr sz="900">
                <a:solidFill>
                  <a:srgbClr val="06287E"/>
                </a:solidFill>
                <a:latin typeface="Consolas"/>
              </a:rPr>
              <a:t>git</a:t>
            </a:r>
            <a:r>
              <a:rPr sz="900">
                <a:solidFill>
                  <a:srgbClr val="2D2D2D"/>
                </a:solidFill>
                <a:latin typeface="Consolas"/>
              </a:rPr>
              <a:t> clean </a:t>
            </a:r>
            <a:r>
              <a:rPr sz="900">
                <a:solidFill>
                  <a:srgbClr val="2D2D2D"/>
                </a:solidFill>
                <a:latin typeface="Consolas"/>
              </a:rPr>
              <a:t>-nd</a:t>
            </a:r>
            <a:r>
              <a:rPr sz="900">
                <a:solidFill>
                  <a:srgbClr val="2D2D2D"/>
                </a:solidFill>
                <a:latin typeface="Consolas"/>
              </a:rPr>
              <a:t>                                         </a:t>
            </a:r>
            <a:r>
              <a:rPr sz="900" i="1">
                <a:solidFill>
                  <a:srgbClr val="60A0B0"/>
                </a:solidFill>
                <a:latin typeface="Consolas"/>
              </a:rPr>
              <a:t># dry run: read this list first</a:t>
            </a:r>
          </a:p>
          <a:p>
            <a:pPr>
              <a:spcBef>
                <a:spcPts val="0"/>
              </a:spcBef>
              <a:spcAft>
                <a:spcPts val="0"/>
              </a:spcAft>
            </a:pPr>
            <a:r>
              <a:rPr sz="900">
                <a:solidFill>
                  <a:srgbClr val="06287E"/>
                </a:solidFill>
                <a:latin typeface="Consolas"/>
              </a:rPr>
              <a:t>git</a:t>
            </a:r>
            <a:r>
              <a:rPr sz="900">
                <a:solidFill>
                  <a:srgbClr val="2D2D2D"/>
                </a:solidFill>
                <a:latin typeface="Consolas"/>
              </a:rPr>
              <a:t> clean </a:t>
            </a:r>
            <a:r>
              <a:rPr sz="900">
                <a:solidFill>
                  <a:srgbClr val="2D2D2D"/>
                </a:solidFill>
                <a:latin typeface="Consolas"/>
              </a:rPr>
              <a:t>-df</a:t>
            </a:r>
            <a:r>
              <a:rPr sz="900">
                <a:solidFill>
                  <a:srgbClr val="2D2D2D"/>
                </a:solidFill>
                <a:latin typeface="Consolas"/>
              </a:rPr>
              <a:t>                                         </a:t>
            </a:r>
            <a:r>
              <a:rPr sz="900" i="1">
                <a:solidFill>
                  <a:srgbClr val="60A0B0"/>
                </a:solidFill>
                <a:latin typeface="Consolas"/>
              </a:rPr>
              <a:t># remove what is left</a:t>
            </a:r>
          </a:p>
          <a:p>
            <a:pPr>
              <a:spcAft>
                <a:spcPts val="800"/>
              </a:spcAft>
              <a:defRPr sz="1400" i="1">
                <a:solidFill>
                  <a:srgbClr val="888888"/>
                </a:solidFill>
              </a:defRPr>
            </a:pPr>
            <a:r>
              <a:t>❝ Your environment survives this , for three different reasons. vendor/ , src/Generated/ and docker/ are listed in the shop’s .gitignore , and git clean leaves ignored files alone. exercises/ is a Git repository of its own, and git clean refuses to delete those. .env is a tracked file of the demo shop, so git reset --hard restored it rather than removing it. Do not add -x or -ff : that would wipe your installed dependencies, the Docker SDK and the exercises clone, and you would be reinstalling the shop instead of doing the exercise.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Option A: a second shop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git reset --hard discards uncommitted changes to tracked files; it does not delete commits. If you committed your exercise work, those commits are still in the branch and git log still finds them - the working tree is what matters here.</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Register the SprykerAcademy namespace again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reset reverted it, and the assistant needs a project namespace to write into. This is Step 4 of the Student Setup Guide:</a:t>
            </a:r>
          </a:p>
          <a:p>
            <a:pPr>
              <a:spcBef>
                <a:spcPts val="0"/>
              </a:spcBef>
              <a:spcAft>
                <a:spcPts val="0"/>
              </a:spcAft>
            </a:pPr>
            <a:r>
              <a:rPr sz="900" b="1">
                <a:solidFill>
                  <a:srgbClr val="FF0000"/>
                </a:solidFill>
                <a:latin typeface="Consolas"/>
              </a:rPr>
              <a:t>"autoload":</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"psr-4"</a:t>
            </a:r>
            <a:r>
              <a:rPr sz="900">
                <a:solidFill>
                  <a:srgbClr val="06287E"/>
                </a:solidFill>
                <a:latin typeface="Consolas"/>
              </a:rPr>
              <a:t>:</a:t>
            </a: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"Pyz</a:t>
            </a:r>
            <a:r>
              <a:rPr sz="900">
                <a:solidFill>
                  <a:srgbClr val="4070A0"/>
                </a:solidFill>
                <a:latin typeface="Consolas"/>
              </a:rPr>
              <a:t>\\</a:t>
            </a:r>
            <a:r>
              <a:rPr sz="900">
                <a:solidFill>
                  <a:srgbClr val="902000"/>
                </a:solidFill>
                <a:latin typeface="Consolas"/>
              </a:rPr>
              <a:t>"</a:t>
            </a:r>
            <a:r>
              <a:rPr sz="900">
                <a:solidFill>
                  <a:srgbClr val="06287E"/>
                </a:solidFill>
                <a:latin typeface="Consolas"/>
              </a:rPr>
              <a:t>:</a:t>
            </a:r>
            <a:r>
              <a:rPr sz="900">
                <a:solidFill>
                  <a:srgbClr val="2D2D2D"/>
                </a:solidFill>
                <a:latin typeface="Consolas"/>
              </a:rPr>
              <a:t> </a:t>
            </a:r>
            <a:r>
              <a:rPr sz="900">
                <a:solidFill>
                  <a:srgbClr val="4070A0"/>
                </a:solidFill>
                <a:latin typeface="Consolas"/>
              </a:rPr>
              <a:t>"src/Pyz/"</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"SprykerAcademy</a:t>
            </a:r>
            <a:r>
              <a:rPr sz="900">
                <a:solidFill>
                  <a:srgbClr val="4070A0"/>
                </a:solidFill>
                <a:latin typeface="Consolas"/>
              </a:rPr>
              <a:t>\\</a:t>
            </a:r>
            <a:r>
              <a:rPr sz="900">
                <a:solidFill>
                  <a:srgbClr val="902000"/>
                </a:solidFill>
                <a:latin typeface="Consolas"/>
              </a:rPr>
              <a:t>"</a:t>
            </a:r>
            <a:r>
              <a:rPr sz="900">
                <a:solidFill>
                  <a:srgbClr val="06287E"/>
                </a:solidFill>
                <a:latin typeface="Consolas"/>
              </a:rPr>
              <a:t>:</a:t>
            </a:r>
            <a:r>
              <a:rPr sz="900">
                <a:solidFill>
                  <a:srgbClr val="2D2D2D"/>
                </a:solidFill>
                <a:latin typeface="Consolas"/>
              </a:rPr>
              <a:t> </a:t>
            </a:r>
            <a:r>
              <a:rPr sz="900">
                <a:solidFill>
                  <a:srgbClr val="4070A0"/>
                </a:solidFill>
                <a:latin typeface="Consolas"/>
              </a:rPr>
              <a:t>"src/SprykerAcademy/"</a:t>
            </a:r>
          </a:p>
          <a:p>
            <a:pPr>
              <a:spcBef>
                <a:spcPts val="0"/>
              </a:spcBef>
              <a:spcAft>
                <a:spcPts val="0"/>
              </a:spcAft>
            </a:pPr>
            <a:r>
              <a:rPr sz="900">
                <a:solidFill>
                  <a:srgbClr val="2D2D2D"/>
                </a:solidFill>
                <a:latin typeface="Consolas"/>
              </a:rPr>
              <a:t>    </a:t>
            </a:r>
            <a:r>
              <a:rPr sz="900">
                <a:solidFill>
                  <a:srgbClr val="06287E"/>
                </a:solidFill>
                <a:latin typeface="Consolas"/>
              </a:rPr>
              <a:t>}</a:t>
            </a:r>
          </a:p>
          <a:p>
            <a:pPr>
              <a:spcBef>
                <a:spcPts val="0"/>
              </a:spcBef>
              <a:spcAft>
                <a:spcPts val="0"/>
              </a:spcAft>
            </a:pPr>
            <a:r>
              <a:rPr sz="900">
                <a:solidFill>
                  <a:srgbClr val="06287E"/>
                </a:solidFill>
                <a:latin typeface="Consolas"/>
              </a:rPr>
              <a:t>}</a:t>
            </a:r>
          </a:p>
          <a:p>
            <a:pPr>
              <a:spcBef>
                <a:spcPts val="0"/>
              </a:spcBef>
              <a:spcAft>
                <a:spcPts val="0"/>
              </a:spcAft>
            </a:pPr>
            <a:r>
              <a:rPr sz="900">
                <a:solidFill>
                  <a:srgbClr val="19177C"/>
                </a:solidFill>
                <a:latin typeface="Consolas"/>
              </a:rPr>
              <a:t>$config</a:t>
            </a:r>
            <a:r>
              <a:rPr sz="900">
                <a:solidFill>
                  <a:srgbClr val="2D2D2D"/>
                </a:solidFill>
                <a:latin typeface="Consolas"/>
              </a:rPr>
              <a:t>[</a:t>
            </a:r>
            <a:r>
              <a:rPr sz="900">
                <a:solidFill>
                  <a:srgbClr val="880000"/>
                </a:solidFill>
                <a:latin typeface="Consolas"/>
              </a:rPr>
              <a:t>K</a:t>
            </a:r>
            <a:r>
              <a:rPr sz="900">
                <a:solidFill>
                  <a:srgbClr val="2D2D2D"/>
                </a:solidFill>
                <a:latin typeface="Consolas"/>
              </a:rPr>
              <a:t>ernelConstants::</a:t>
            </a:r>
            <a:r>
              <a:rPr sz="900">
                <a:solidFill>
                  <a:srgbClr val="880000"/>
                </a:solidFill>
                <a:latin typeface="Consolas"/>
              </a:rPr>
              <a:t>PROJECT_NAMESPACES</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p>
          <a:p>
            <a:pPr>
              <a:spcBef>
                <a:spcPts val="0"/>
              </a:spcBef>
              <a:spcAft>
                <a:spcPts val="0"/>
              </a:spcAft>
            </a:pPr>
            <a:r>
              <a:rPr sz="900">
                <a:solidFill>
                  <a:srgbClr val="2D2D2D"/>
                </a:solidFill>
                <a:latin typeface="Consolas"/>
              </a:rPr>
              <a:t>    </a:t>
            </a:r>
            <a:r>
              <a:rPr sz="900">
                <a:solidFill>
                  <a:srgbClr val="4070A0"/>
                </a:solidFill>
                <a:latin typeface="Consolas"/>
              </a:rPr>
              <a:t>'SprykerAcademy'</a:t>
            </a:r>
            <a:r>
              <a:rPr sz="900">
                <a:solidFill>
                  <a:srgbClr val="007020"/>
                </a:solidFill>
                <a:latin typeface="Consolas"/>
              </a:rPr>
              <a:t>,</a:t>
            </a:r>
          </a:p>
          <a:p>
            <a:pPr>
              <a:spcBef>
                <a:spcPts val="0"/>
              </a:spcBef>
              <a:spcAft>
                <a:spcPts val="0"/>
              </a:spcAft>
            </a:pPr>
            <a:r>
              <a:rPr sz="900">
                <a:solidFill>
                  <a:srgbClr val="2D2D2D"/>
                </a:solidFill>
                <a:latin typeface="Consolas"/>
              </a:rPr>
              <a:t>    </a:t>
            </a:r>
            <a:r>
              <a:rPr sz="900">
                <a:solidFill>
                  <a:srgbClr val="4070A0"/>
                </a:solidFill>
                <a:latin typeface="Consolas"/>
              </a:rPr>
              <a:t>'Pyz'</a:t>
            </a:r>
            <a:r>
              <a:rPr sz="900">
                <a:solidFill>
                  <a:srgbClr val="007020"/>
                </a:solidFill>
                <a:latin typeface="Consolas"/>
              </a:rPr>
              <a:t>,</a:t>
            </a:r>
          </a:p>
          <a:p>
            <a:pPr>
              <a:spcBef>
                <a:spcPts val="0"/>
              </a:spcBef>
              <a:spcAft>
                <a:spcPts val="0"/>
              </a:spcAft>
            </a:pP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2D2D2D"/>
                </a:solidFill>
                <a:latin typeface="Consolas"/>
              </a:rPr>
              <a:t>docker/sdk</a:t>
            </a:r>
            <a:r>
              <a:rPr sz="900">
                <a:solidFill>
                  <a:srgbClr val="2D2D2D"/>
                </a:solidFill>
                <a:latin typeface="Consolas"/>
              </a:rPr>
              <a:t> cli composer dump-autoload</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Register the SprykerAcademy namespace again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Keep that order. cache:empty-all deletes the generated Propel configuration, so every console command fails with Database map was not initialized until propel:install rebuilds it. Clear the cache first, never last.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Check that the page really is blank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06287E"/>
                </a:solidFill>
                <a:latin typeface="Consolas"/>
              </a:rPr>
              <a:t>ls</a:t>
            </a:r>
            <a:r>
              <a:rPr sz="900">
                <a:solidFill>
                  <a:srgbClr val="2D2D2D"/>
                </a:solidFill>
                <a:latin typeface="Consolas"/>
              </a:rPr>
              <a:t> src/SprykerAcademy </a:t>
            </a:r>
            <a:r>
              <a:rPr sz="900">
                <a:solidFill>
                  <a:srgbClr val="40A070"/>
                </a:solidFill>
                <a:latin typeface="Consolas"/>
              </a:rPr>
              <a:t>2</a:t>
            </a:r>
            <a:r>
              <a:rPr sz="900">
                <a:solidFill>
                  <a:srgbClr val="666666"/>
                </a:solidFill>
                <a:latin typeface="Consolas"/>
              </a:rPr>
              <a:t>&gt;</a:t>
            </a:r>
            <a:r>
              <a:rPr sz="900">
                <a:solidFill>
                  <a:srgbClr val="2D2D2D"/>
                </a:solidFill>
                <a:latin typeface="Consolas"/>
              </a:rPr>
              <a:t>/dev/null        </a:t>
            </a:r>
            <a:r>
              <a:rPr sz="900" i="1">
                <a:solidFill>
                  <a:srgbClr val="60A0B0"/>
                </a:solidFill>
                <a:latin typeface="Consolas"/>
              </a:rPr>
              <a:t># must not exist</a:t>
            </a:r>
          </a:p>
          <a:p>
            <a:pPr>
              <a:spcBef>
                <a:spcPts val="0"/>
              </a:spcBef>
              <a:spcAft>
                <a:spcPts val="0"/>
              </a:spcAft>
            </a:pPr>
            <a:r>
              <a:rPr sz="900">
                <a:solidFill>
                  <a:srgbClr val="06287E"/>
                </a:solidFill>
                <a:latin typeface="Consolas"/>
              </a:rPr>
              <a:t>grep</a:t>
            </a:r>
            <a:r>
              <a:rPr sz="900">
                <a:solidFill>
                  <a:srgbClr val="2D2D2D"/>
                </a:solidFill>
                <a:latin typeface="Consolas"/>
              </a:rPr>
              <a:t> </a:t>
            </a:r>
            <a:r>
              <a:rPr sz="900">
                <a:solidFill>
                  <a:srgbClr val="2D2D2D"/>
                </a:solidFill>
                <a:latin typeface="Consolas"/>
              </a:rPr>
              <a:t>-rn</a:t>
            </a:r>
            <a:r>
              <a:rPr sz="900">
                <a:solidFill>
                  <a:srgbClr val="2D2D2D"/>
                </a:solidFill>
                <a:latin typeface="Consolas"/>
              </a:rPr>
              <a:t> ContactRequest config/ src/Pyz/ </a:t>
            </a:r>
            <a:r>
              <a:rPr sz="900" i="1">
                <a:solidFill>
                  <a:srgbClr val="60A0B0"/>
                </a:solidFill>
                <a:latin typeface="Consolas"/>
              </a:rPr>
              <a:t># must find nothing</a:t>
            </a:r>
          </a:p>
          <a:p>
            <a:pPr>
              <a:spcAft>
                <a:spcPts val="800"/>
              </a:spcAft>
              <a:defRPr sz="1600">
                <a:solidFill>
                  <a:srgbClr val="1A1A1A"/>
                </a:solidFill>
              </a:defRPr>
            </a:pPr>
            <a:r>
              <a:t>The Back Office has no Contact Request entry in the navigation any more, and http://backoffice.eu.spryker.local/contact-request/index/index is a 404. That is the starting point.</a:t>
            </a:r>
          </a:p>
          <a:p>
            <a:pPr>
              <a:spcAft>
                <a:spcPts val="800"/>
              </a:spcAft>
              <a:defRPr sz="1400" i="1">
                <a:solidFill>
                  <a:srgbClr val="888888"/>
                </a:solidFill>
              </a:defRPr>
            </a:pPr>
            <a:r>
              <a:t>❝ One leftover you cannot see. The pyz_contact_request table from Exercise 3 is still in the database - resetting files does not touch data. Leave it there. If the assistant designs a different table and propel:install complains, that is a real migration conflict and a good thing to hand to the spryker-issue-diagnoser agent.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Set Up the AI Dev SDK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Do this after Part 1. The SDK writes untracked files ( CLAUDE.md , .claude/ , …), and git clean -df would have deleted them.</a:t>
            </a:r>
          </a:p>
          <a:p>
            <a:pPr>
              <a:spcAft>
                <a:spcPts val="800"/>
              </a:spcAft>
              <a:defRPr sz="1600">
                <a:solidFill>
                  <a:srgbClr val="1A1A1A"/>
                </a:solidFill>
              </a:defRPr>
            </a:pPr>
            <a:r>
              <a:t>The SDK is a Composer package with console commands. Run the setup once per project:</a:t>
            </a:r>
          </a:p>
          <a:p>
            <a:pPr>
              <a:spcBef>
                <a:spcPts val="0"/>
              </a:spcBef>
              <a:spcAft>
                <a:spcPts val="0"/>
              </a:spcAft>
            </a:pPr>
            <a:r>
              <a:rPr sz="900">
                <a:solidFill>
                  <a:srgbClr val="2D2D2D"/>
                </a:solidFill>
                <a:latin typeface="Consolas"/>
              </a:rPr>
              <a:t>docker/sdk</a:t>
            </a:r>
            <a:r>
              <a:rPr sz="900">
                <a:solidFill>
                  <a:srgbClr val="2D2D2D"/>
                </a:solidFill>
                <a:latin typeface="Consolas"/>
              </a:rPr>
              <a:t> console ai-dev:setup</a:t>
            </a:r>
          </a:p>
          <a:p>
            <a:pPr>
              <a:spcAft>
                <a:spcPts val="800"/>
              </a:spcAft>
              <a:defRPr sz="1600">
                <a:solidFill>
                  <a:srgbClr val="1A1A1A"/>
                </a:solidFill>
              </a:defRPr>
            </a:pPr>
            <a:r>
              <a:t>The command is interactive:</a:t>
            </a:r>
          </a:p>
          <a:p>
            <a:pPr>
              <a:spcAft>
                <a:spcPts val="400"/>
              </a:spcAft>
              <a:defRPr sz="1500">
                <a:solidFill>
                  <a:srgbClr val="1A1A1A"/>
                </a:solidFill>
              </a:defRPr>
            </a:pPr>
            <a:r>
              <a:t>• It detects your AI tool from the folders in the project ( .claude , .cursor , .github , …) and asks you to confirm, or lets you pick one.</a:t>
            </a:r>
          </a:p>
          <a:p>
            <a:pPr>
              <a:spcAft>
                <a:spcPts val="400"/>
              </a:spcAft>
              <a:defRPr sz="1500">
                <a:solidFill>
                  <a:srgbClr val="1A1A1A"/>
                </a:solidFill>
              </a:defRPr>
            </a:pPr>
            <a:r>
              <a:t>• It asks whether to generate the files ready to use or as examples ( example.CLAUDE.md , .claude/skills/propel-schema-example , …). Choose ready to use for this training.</a:t>
            </a:r>
          </a:p>
          <a:p>
            <a:pPr>
              <a:spcAft>
                <a:spcPts val="400"/>
              </a:spcAft>
              <a:defRPr sz="1500">
                <a:solidFill>
                  <a:srgbClr val="1A1A1A"/>
                </a:solidFill>
              </a:defRPr>
            </a:pPr>
            <a:r>
              <a:t>• For each step it asks for confirmation: Generate rules , Generate agents/context file , Generate skills , Generate agents . Say yes to all. Existing files are never overwritten unless you agree.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Set Up the AI Dev SDK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What lands in the project depends on the tool:</a:t>
            </a:r>
          </a:p>
          <a:p>
            <a:pPr>
              <a:spcAft>
                <a:spcPts val="100"/>
              </a:spcAft>
              <a:defRPr sz="1000">
                <a:solidFill>
                  <a:srgbClr val="1A1A1A"/>
                </a:solidFill>
                <a:latin typeface="Consolas"/>
              </a:defRPr>
            </a:pPr>
            <a:r>
              <a:t>Tool              Context file                     Rules                  Skills             Agents         </a:t>
            </a:r>
          </a:p>
          <a:p>
            <a:pPr>
              <a:spcAft>
                <a:spcPts val="100"/>
              </a:spcAft>
              <a:defRPr sz="1000">
                <a:solidFill>
                  <a:srgbClr val="1A1A1A"/>
                </a:solidFill>
                <a:latin typeface="Consolas"/>
              </a:defRPr>
            </a:pPr>
            <a:r>
              <a:t>----------------  -------------------------------  ---------------------  -----------------  ---------------</a:t>
            </a:r>
          </a:p>
          <a:p>
            <a:pPr>
              <a:spcAft>
                <a:spcPts val="100"/>
              </a:spcAft>
              <a:defRPr sz="1000">
                <a:solidFill>
                  <a:srgbClr val="1A1A1A"/>
                </a:solidFill>
                <a:latin typeface="Consolas"/>
              </a:defRPr>
            </a:pPr>
            <a:r>
              <a:t>Claude Code       CLAUDE.md                        .claude/rules/         .claude/skills/    .claude/agents/</a:t>
            </a:r>
          </a:p>
          <a:p>
            <a:pPr>
              <a:spcAft>
                <a:spcPts val="100"/>
              </a:spcAft>
              <a:defRPr sz="1000">
                <a:solidFill>
                  <a:srgbClr val="1A1A1A"/>
                </a:solidFill>
                <a:latin typeface="Consolas"/>
              </a:defRPr>
            </a:pPr>
            <a:r>
              <a:t>Cursor            AGENTS.md                        .cursor/rules/         .cursor/skills/    .cursor/agents/</a:t>
            </a:r>
          </a:p>
          <a:p>
            <a:pPr>
              <a:spcAft>
                <a:spcPts val="100"/>
              </a:spcAft>
              <a:defRPr sz="1000">
                <a:solidFill>
                  <a:srgbClr val="1A1A1A"/>
                </a:solidFill>
                <a:latin typeface="Consolas"/>
              </a:defRPr>
            </a:pPr>
            <a:r>
              <a:t>GitHub Copilot    .github/copilot-instructions.md  .github/instructions/  .github/skills/    .github/agents/</a:t>
            </a:r>
          </a:p>
          <a:p>
            <a:pPr>
              <a:spcAft>
                <a:spcPts val="100"/>
              </a:spcAft>
              <a:defRPr sz="1000">
                <a:solidFill>
                  <a:srgbClr val="1A1A1A"/>
                </a:solidFill>
                <a:latin typeface="Consolas"/>
              </a:defRPr>
            </a:pPr>
            <a:r>
              <a:t>Windsurf          .windsurfrules                   .windsurf/rules/       .windsurf/skills/  -              </a:t>
            </a:r>
          </a:p>
          <a:p>
            <a:pPr>
              <a:spcAft>
                <a:spcPts val="100"/>
              </a:spcAft>
              <a:defRPr sz="1000">
                <a:solidFill>
                  <a:srgbClr val="1A1A1A"/>
                </a:solidFill>
                <a:latin typeface="Consolas"/>
              </a:defRPr>
            </a:pPr>
            <a:r>
              <a:t>OpenCode / Codex  AGENTS.md                        .opencode/rules/       .agents/skills/    -</a:t>
            </a:r>
          </a:p>
          <a:p>
            <a:pPr>
              <a:spcAft>
                <a:spcPts val="800"/>
              </a:spcAft>
              <a:defRPr sz="1400" i="1">
                <a:solidFill>
                  <a:srgbClr val="888888"/>
                </a:solidFill>
              </a:defRPr>
            </a:pPr>
            <a:r>
              <a:t>❝ GitHub Copilot on Docker sync. The shop’s .dockersyncignore starts with .git* , and that pattern catches .github along with .gitignore and .gitattributes . The files the SDK generates for Copilot then never cross between the host and the container. Add an exception right after that entry: .git* !/.github Only Copilot is affected - .claude , .cursor and .windsurf do not match .git* . See Generated files per AI tool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Set Up the AI Dev SDK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other commands of the module generate single artifacts ( ai-dev:generate-agents-file , ai-dev:generate-skills ) and start the MCP server ( ai-dev:mcp-server ) that lets the assistant query transfers, interfaces and OMS information of the running application. You do not need them for this exercise.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What to look at (5 minutes, no coding)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context file ( CLAUDE.md or AGENTS.md ). It is the architecture brief for the assistant: the console commands, the architectural rules (single responsibility, dependencies through the constructor, no new in business logic, transfers are never modified in place), and the project organization.</a:t>
            </a:r>
          </a:p>
          <a:p>
            <a:pPr>
              <a:spcAft>
                <a:spcPts val="400"/>
              </a:spcAft>
              <a:defRPr sz="1500">
                <a:solidFill>
                  <a:srgbClr val="1A1A1A"/>
                </a:solidFill>
              </a:defRPr>
            </a:pPr>
            <a:r>
              <a:t>• The rules folder : one Markdown file per convention. Open dependency-provider.md , factory-pattern.md , layer-communication.md , transfer-object.md , persistence.md , controller.md and naming-conventions.md . These are the same rules you applied by hand in Exercises 4 to 6.</a:t>
            </a:r>
          </a:p>
          <a:p>
            <a:pPr>
              <a:spcAft>
                <a:spcPts val="400"/>
              </a:spcAft>
              <a:defRPr sz="1500">
                <a:solidFill>
                  <a:srgbClr val="1A1A1A"/>
                </a:solidFill>
              </a:defRPr>
            </a:pPr>
            <a:r>
              <a:t>• The skills folder : task recipes the assistant follows, for example propel-schema , spryker-customization , spryker-refresher , static-validation , codecept-functional , spryker-runtime , spryker-qa-coverage , spryker-docs-research , yves-atomic-frontend , data-import , code-review .</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What to look at (5 minutes, no coding)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agents folder : specialised roles, six of them - spryker-feature-expert , spryker-code-reviewer , spryker-verifier , spryker-issue-diagnoser , spryker-data-seeder and spryker-screenshot-collector .</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Make the assistant actually use them</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Generating skills and agents does not mean they get used. Assistants improvise: they write a Propel schema from memory instead of following propel-schema , they declare a feature finished without running static-validation , and they never spawn a subagent unless told they may. Append this to the context file ( CLAUDE.md , AGENTS.md or .github/copilot-instructions.md ), right after the project facts below:</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Make the assistant actually use them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06287E"/>
                </a:solidFill>
                <a:latin typeface="Consolas"/>
              </a:rPr>
              <a:t># AI Workflow - Agents and Skills</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This project ships Spryker-specific **skills** in `.claude/skills/` and **subagents** in</a:t>
            </a:r>
          </a:p>
          <a:p>
            <a:pPr>
              <a:spcBef>
                <a:spcPts val="0"/>
              </a:spcBef>
              <a:spcAft>
                <a:spcPts val="0"/>
              </a:spcAft>
            </a:pPr>
            <a:r>
              <a:rPr sz="900" b="1" i="1">
                <a:solidFill>
                  <a:srgbClr val="60A0B0"/>
                </a:solidFill>
                <a:latin typeface="Consolas"/>
              </a:rPr>
              <a:t>`.claude/agents/`</a:t>
            </a:r>
            <a:r>
              <a:rPr sz="900">
                <a:solidFill>
                  <a:srgbClr val="2D2D2D"/>
                </a:solidFill>
                <a:latin typeface="Consolas"/>
              </a:rPr>
              <a:t>. They encode how this project works. Use them instead of hand-rolling</a:t>
            </a:r>
          </a:p>
          <a:p>
            <a:pPr>
              <a:spcBef>
                <a:spcPts val="0"/>
              </a:spcBef>
              <a:spcAft>
                <a:spcPts val="0"/>
              </a:spcAft>
            </a:pPr>
            <a:r>
              <a:rPr sz="900">
                <a:solidFill>
                  <a:srgbClr val="2D2D2D"/>
                </a:solidFill>
                <a:latin typeface="Consolas"/>
              </a:rPr>
              <a:t>what they cover.</a:t>
            </a:r>
          </a:p>
          <a:p>
            <a:pPr>
              <a:spcBef>
                <a:spcPts val="0"/>
              </a:spcBef>
              <a:spcAft>
                <a:spcPts val="0"/>
              </a:spcAft>
            </a:pPr>
            <a:r>
              <a:rPr sz="900">
                <a:latin typeface="Consolas"/>
              </a:rPr>
              <a:t> </a:t>
            </a:r>
          </a:p>
          <a:p>
            <a:pPr>
              <a:spcBef>
                <a:spcPts val="0"/>
              </a:spcBef>
              <a:spcAft>
                <a:spcPts val="0"/>
              </a:spcAft>
            </a:pPr>
            <a:r>
              <a:rPr sz="900">
                <a:solidFill>
                  <a:srgbClr val="06287E"/>
                </a:solidFill>
                <a:latin typeface="Consolas"/>
              </a:rPr>
              <a:t>## Before you start any task</a:t>
            </a:r>
          </a:p>
          <a:p>
            <a:pPr>
              <a:spcBef>
                <a:spcPts val="0"/>
              </a:spcBef>
              <a:spcAft>
                <a:spcPts val="0"/>
              </a:spcAft>
            </a:pPr>
            <a:r>
              <a:rPr sz="900">
                <a:solidFill>
                  <a:srgbClr val="2D2D2D"/>
                </a:solidFill>
                <a:latin typeface="Consolas"/>
              </a:rPr>
              <a:t>List the available skills and name which ones apply to this task before writing any code.</a:t>
            </a:r>
          </a:p>
          <a:p>
            <a:pPr>
              <a:spcBef>
                <a:spcPts val="0"/>
              </a:spcBef>
              <a:spcAft>
                <a:spcPts val="0"/>
              </a:spcAft>
            </a:pPr>
            <a:r>
              <a:rPr sz="900">
                <a:solidFill>
                  <a:srgbClr val="2D2D2D"/>
                </a:solidFill>
                <a:latin typeface="Consolas"/>
              </a:rPr>
              <a:t>If none apply, say so explicitly. Never skip this step silently.</a:t>
            </a:r>
          </a:p>
          <a:p>
            <a:pPr>
              <a:spcBef>
                <a:spcPts val="0"/>
              </a:spcBef>
              <a:spcAft>
                <a:spcPts val="0"/>
              </a:spcAft>
            </a:pPr>
            <a:r>
              <a:rPr sz="900">
                <a:latin typeface="Consolas"/>
              </a:rPr>
              <a:t> </a:t>
            </a:r>
          </a:p>
          <a:p>
            <a:pPr>
              <a:spcBef>
                <a:spcPts val="0"/>
              </a:spcBef>
              <a:spcAft>
                <a:spcPts val="0"/>
              </a:spcAft>
            </a:pPr>
            <a:r>
              <a:rPr sz="900">
                <a:solidFill>
                  <a:srgbClr val="06287E"/>
                </a:solidFill>
                <a:latin typeface="Consolas"/>
              </a:rPr>
              <a:t>## Mandatory skills, by trigger</a:t>
            </a:r>
          </a:p>
          <a:p>
            <a:pPr>
              <a:spcBef>
                <a:spcPts val="0"/>
              </a:spcBef>
              <a:spcAft>
                <a:spcPts val="0"/>
              </a:spcAft>
            </a:pPr>
            <a:r>
              <a:rPr sz="900">
                <a:solidFill>
                  <a:srgbClr val="2D2D2D"/>
                </a:solidFill>
                <a:latin typeface="Consolas"/>
              </a:rPr>
              <a:t>| When you are about to... | Invoke |</a:t>
            </a:r>
          </a:p>
          <a:p>
            <a:pPr>
              <a:spcBef>
                <a:spcPts val="0"/>
              </a:spcBef>
              <a:spcAft>
                <a:spcPts val="0"/>
              </a:spcAft>
            </a:pPr>
            <a:r>
              <a:rPr sz="900">
                <a:solidFill>
                  <a:srgbClr val="2D2D2D"/>
                </a:solidFill>
                <a:latin typeface="Consolas"/>
              </a:rPr>
              <a:t>|---|---|</a:t>
            </a:r>
          </a:p>
          <a:p>
            <a:pPr>
              <a:spcBef>
                <a:spcPts val="0"/>
              </a:spcBef>
              <a:spcAft>
                <a:spcPts val="0"/>
              </a:spcAft>
            </a:pPr>
            <a:r>
              <a:rPr sz="900">
                <a:solidFill>
                  <a:srgbClr val="2D2D2D"/>
                </a:solidFill>
                <a:latin typeface="Consolas"/>
              </a:rPr>
              <a:t>| Implement a feature from a PRD or acceptance criteria | </a:t>
            </a:r>
            <a:r>
              <a:rPr sz="900" b="1" i="1">
                <a:solidFill>
                  <a:srgbClr val="60A0B0"/>
                </a:solidFill>
                <a:latin typeface="Consolas"/>
              </a:rPr>
              <a:t>`spryker-customization`</a:t>
            </a:r>
            <a:r>
              <a:rPr sz="900">
                <a:solidFill>
                  <a:srgbClr val="2D2D2D"/>
                </a:solidFill>
                <a:latin typeface="Consolas"/>
              </a:rPr>
              <a:t> |</a:t>
            </a:r>
          </a:p>
          <a:p>
            <a:pPr>
              <a:spcBef>
                <a:spcPts val="0"/>
              </a:spcBef>
              <a:spcAft>
                <a:spcPts val="0"/>
              </a:spcAft>
            </a:pPr>
            <a:r>
              <a:rPr sz="900">
                <a:solidFill>
                  <a:srgbClr val="2D2D2D"/>
                </a:solidFill>
                <a:latin typeface="Consolas"/>
              </a:rPr>
              <a:t>| Create or change a Propel </a:t>
            </a:r>
            <a:r>
              <a:rPr sz="900" b="1" i="1">
                <a:solidFill>
                  <a:srgbClr val="60A0B0"/>
                </a:solidFill>
                <a:latin typeface="Consolas"/>
              </a:rPr>
              <a:t>`*.schema.xml`</a:t>
            </a:r>
            <a:r>
              <a:rPr sz="900">
                <a:solidFill>
                  <a:srgbClr val="2D2D2D"/>
                </a:solidFill>
                <a:latin typeface="Consolas"/>
              </a:rPr>
              <a:t> | </a:t>
            </a:r>
            <a:r>
              <a:rPr sz="900" b="1" i="1">
                <a:solidFill>
                  <a:srgbClr val="60A0B0"/>
                </a:solidFill>
                <a:latin typeface="Consolas"/>
              </a:rPr>
              <a:t>`propel-schema`</a:t>
            </a:r>
            <a:r>
              <a:rPr sz="900">
                <a:solidFill>
                  <a:srgbClr val="2D2D2D"/>
                </a:solidFill>
                <a:latin typeface="Consolas"/>
              </a:rPr>
              <a:t> |</a:t>
            </a:r>
          </a:p>
          <a:p>
            <a:pPr>
              <a:spcBef>
                <a:spcPts val="0"/>
              </a:spcBef>
              <a:spcAft>
                <a:spcPts val="0"/>
              </a:spcAft>
            </a:pPr>
            <a:r>
              <a:rPr sz="900">
                <a:solidFill>
                  <a:srgbClr val="2D2D2D"/>
                </a:solidFill>
                <a:latin typeface="Consolas"/>
              </a:rPr>
              <a:t>| Apply code, schema, frontend or config changes | </a:t>
            </a:r>
            <a:r>
              <a:rPr sz="900" b="1" i="1">
                <a:solidFill>
                  <a:srgbClr val="60A0B0"/>
                </a:solidFill>
                <a:latin typeface="Consolas"/>
              </a:rPr>
              <a:t>`spryker-refresher`</a:t>
            </a:r>
            <a:r>
              <a:rPr sz="900">
                <a:solidFill>
                  <a:srgbClr val="2D2D2D"/>
                </a:solidFill>
                <a:latin typeface="Consolas"/>
              </a:rPr>
              <a:t> (afterwards) |</a:t>
            </a:r>
          </a:p>
          <a:p>
            <a:pPr>
              <a:spcBef>
                <a:spcPts val="0"/>
              </a:spcBef>
              <a:spcAft>
                <a:spcPts val="0"/>
              </a:spcAft>
            </a:pPr>
            <a:r>
              <a:rPr sz="900">
                <a:solidFill>
                  <a:srgbClr val="2D2D2D"/>
                </a:solidFill>
                <a:latin typeface="Consolas"/>
              </a:rPr>
              <a:t>| Report work as complete | </a:t>
            </a:r>
            <a:r>
              <a:rPr sz="900" b="1" i="1">
                <a:solidFill>
                  <a:srgbClr val="60A0B0"/>
                </a:solidFill>
                <a:latin typeface="Consolas"/>
              </a:rPr>
              <a:t>`static-validation`</a:t>
            </a:r>
            <a:r>
              <a:rPr sz="900">
                <a:solidFill>
                  <a:srgbClr val="2D2D2D"/>
                </a:solidFill>
                <a:latin typeface="Consolas"/>
              </a:rPr>
              <a:t> (diff-scoped, before reporting) |</a:t>
            </a:r>
          </a:p>
          <a:p>
            <a:pPr>
              <a:spcBef>
                <a:spcPts val="0"/>
              </a:spcBef>
              <a:spcAft>
                <a:spcPts val="0"/>
              </a:spcAft>
            </a:pPr>
            <a:r>
              <a:rPr sz="900">
                <a:solidFill>
                  <a:srgbClr val="2D2D2D"/>
                </a:solidFill>
                <a:latin typeface="Consolas"/>
              </a:rPr>
              <a:t>| Write or run Codeception tests | </a:t>
            </a:r>
            <a:r>
              <a:rPr sz="900" b="1" i="1">
                <a:solidFill>
                  <a:srgbClr val="60A0B0"/>
                </a:solidFill>
                <a:latin typeface="Consolas"/>
              </a:rPr>
              <a:t>`codecept-functional`</a:t>
            </a:r>
            <a:r>
              <a:rPr sz="900">
                <a:solidFill>
                  <a:srgbClr val="2D2D2D"/>
                </a:solidFill>
                <a:latin typeface="Consolas"/>
              </a:rPr>
              <a:t> |</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Make the assistant actually use them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Drive the running app (Back Office, storefront, Glue, console) | </a:t>
            </a:r>
            <a:r>
              <a:rPr sz="900" b="1" i="1">
                <a:solidFill>
                  <a:srgbClr val="60A0B0"/>
                </a:solidFill>
                <a:latin typeface="Consolas"/>
              </a:rPr>
              <a:t>`spryker-runtime`</a:t>
            </a:r>
            <a:r>
              <a:rPr sz="900">
                <a:solidFill>
                  <a:srgbClr val="2D2D2D"/>
                </a:solidFill>
                <a:latin typeface="Consolas"/>
              </a:rPr>
              <a:t> |</a:t>
            </a:r>
          </a:p>
          <a:p>
            <a:pPr>
              <a:spcBef>
                <a:spcPts val="0"/>
              </a:spcBef>
              <a:spcAft>
                <a:spcPts val="0"/>
              </a:spcAft>
            </a:pPr>
            <a:r>
              <a:rPr sz="900">
                <a:solidFill>
                  <a:srgbClr val="2D2D2D"/>
                </a:solidFill>
                <a:latin typeface="Consolas"/>
              </a:rPr>
              <a:t>| Verify a feature end-to-end against the running app | </a:t>
            </a:r>
            <a:r>
              <a:rPr sz="900" b="1" i="1">
                <a:solidFill>
                  <a:srgbClr val="60A0B0"/>
                </a:solidFill>
                <a:latin typeface="Consolas"/>
              </a:rPr>
              <a:t>`spryker-qa-coverage`</a:t>
            </a:r>
            <a:r>
              <a:rPr sz="900">
                <a:solidFill>
                  <a:srgbClr val="2D2D2D"/>
                </a:solidFill>
                <a:latin typeface="Consolas"/>
              </a:rPr>
              <a:t> |</a:t>
            </a:r>
          </a:p>
          <a:p>
            <a:pPr>
              <a:spcBef>
                <a:spcPts val="0"/>
              </a:spcBef>
              <a:spcAft>
                <a:spcPts val="0"/>
              </a:spcAft>
            </a:pPr>
            <a:r>
              <a:rPr sz="900">
                <a:solidFill>
                  <a:srgbClr val="2D2D2D"/>
                </a:solidFill>
                <a:latin typeface="Consolas"/>
              </a:rPr>
              <a:t>| Describe how a Spryker feature behaves | </a:t>
            </a:r>
            <a:r>
              <a:rPr sz="900" b="1" i="1">
                <a:solidFill>
                  <a:srgbClr val="60A0B0"/>
                </a:solidFill>
                <a:latin typeface="Consolas"/>
              </a:rPr>
              <a:t>`spryker-docs-research`</a:t>
            </a:r>
            <a:r>
              <a:rPr sz="900">
                <a:solidFill>
                  <a:srgbClr val="2D2D2D"/>
                </a:solidFill>
                <a:latin typeface="Consolas"/>
              </a:rPr>
              <a:t> |</a:t>
            </a:r>
          </a:p>
          <a:p>
            <a:pPr>
              <a:spcBef>
                <a:spcPts val="0"/>
              </a:spcBef>
              <a:spcAft>
                <a:spcPts val="0"/>
              </a:spcAft>
            </a:pPr>
            <a:r>
              <a:rPr sz="900">
                <a:solidFill>
                  <a:srgbClr val="2D2D2D"/>
                </a:solidFill>
                <a:latin typeface="Consolas"/>
              </a:rPr>
              <a:t>| Build or change a Yves Twig component | </a:t>
            </a:r>
            <a:r>
              <a:rPr sz="900" b="1" i="1">
                <a:solidFill>
                  <a:srgbClr val="60A0B0"/>
                </a:solidFill>
                <a:latin typeface="Consolas"/>
              </a:rPr>
              <a:t>`yves-atomic-frontend`</a:t>
            </a:r>
            <a:r>
              <a:rPr sz="900">
                <a:solidFill>
                  <a:srgbClr val="2D2D2D"/>
                </a:solidFill>
                <a:latin typeface="Consolas"/>
              </a:rPr>
              <a:t> |</a:t>
            </a:r>
          </a:p>
          <a:p>
            <a:pPr>
              <a:spcBef>
                <a:spcPts val="0"/>
              </a:spcBef>
              <a:spcAft>
                <a:spcPts val="0"/>
              </a:spcAft>
            </a:pPr>
            <a:r>
              <a:rPr sz="900">
                <a:solidFill>
                  <a:srgbClr val="2D2D2D"/>
                </a:solidFill>
                <a:latin typeface="Consolas"/>
              </a:rPr>
              <a:t>| Create or change data import files | </a:t>
            </a:r>
            <a:r>
              <a:rPr sz="900" b="1" i="1">
                <a:solidFill>
                  <a:srgbClr val="60A0B0"/>
                </a:solidFill>
                <a:latin typeface="Consolas"/>
              </a:rPr>
              <a:t>`data-import`</a:t>
            </a:r>
            <a:r>
              <a:rPr sz="900">
                <a:solidFill>
                  <a:srgbClr val="2D2D2D"/>
                </a:solidFill>
                <a:latin typeface="Consolas"/>
              </a:rPr>
              <a:t> |</a:t>
            </a:r>
          </a:p>
          <a:p>
            <a:pPr>
              <a:spcBef>
                <a:spcPts val="0"/>
              </a:spcBef>
              <a:spcAft>
                <a:spcPts val="0"/>
              </a:spcAft>
            </a:pPr>
            <a:r>
              <a:rPr sz="900">
                <a:latin typeface="Consolas"/>
              </a:rPr>
              <a:t> </a:t>
            </a:r>
          </a:p>
          <a:p>
            <a:pPr>
              <a:spcBef>
                <a:spcPts val="0"/>
              </a:spcBef>
              <a:spcAft>
                <a:spcPts val="0"/>
              </a:spcAft>
            </a:pPr>
            <a:r>
              <a:rPr sz="900">
                <a:solidFill>
                  <a:srgbClr val="06287E"/>
                </a:solidFill>
                <a:latin typeface="Consolas"/>
              </a:rPr>
              <a:t>## Subagents - explicitly authorised</a:t>
            </a:r>
          </a:p>
          <a:p>
            <a:pPr>
              <a:spcBef>
                <a:spcPts val="0"/>
              </a:spcBef>
              <a:spcAft>
                <a:spcPts val="0"/>
              </a:spcAft>
            </a:pPr>
            <a:r>
              <a:rPr sz="900">
                <a:solidFill>
                  <a:srgbClr val="2D2D2D"/>
                </a:solidFill>
                <a:latin typeface="Consolas"/>
              </a:rPr>
              <a:t>You ARE authorised to use the Agent tool for the </a:t>
            </a:r>
            <a:r>
              <a:rPr sz="900" b="1" i="1">
                <a:solidFill>
                  <a:srgbClr val="60A0B0"/>
                </a:solidFill>
                <a:latin typeface="Consolas"/>
              </a:rPr>
              <a:t>`spryker-*`</a:t>
            </a:r>
            <a:r>
              <a:rPr sz="900">
                <a:solidFill>
                  <a:srgbClr val="2D2D2D"/>
                </a:solidFill>
                <a:latin typeface="Consolas"/>
              </a:rPr>
              <a:t> subagents in </a:t>
            </a:r>
            <a:r>
              <a:rPr sz="900" b="1" i="1">
                <a:solidFill>
                  <a:srgbClr val="60A0B0"/>
                </a:solidFill>
                <a:latin typeface="Consolas"/>
              </a:rPr>
              <a:t>`.claude/agents/`</a:t>
            </a:r>
          </a:p>
          <a:p>
            <a:pPr>
              <a:spcBef>
                <a:spcPts val="0"/>
              </a:spcBef>
              <a:spcAft>
                <a:spcPts val="0"/>
              </a:spcAft>
            </a:pPr>
            <a:r>
              <a:rPr sz="900">
                <a:solidFill>
                  <a:srgbClr val="2D2D2D"/>
                </a:solidFill>
                <a:latin typeface="Consolas"/>
              </a:rPr>
              <a:t>without asking first. This context file is the authorisation. Prefer:</a:t>
            </a:r>
          </a:p>
          <a:p>
            <a:pPr>
              <a:spcBef>
                <a:spcPts val="0"/>
              </a:spcBef>
              <a:spcAft>
                <a:spcPts val="0"/>
              </a:spcAft>
            </a:pPr>
            <a:r>
              <a:rPr sz="900">
                <a:latin typeface="Consolas"/>
              </a:rPr>
              <a:t> </a:t>
            </a:r>
          </a:p>
          <a:p>
            <a:pPr>
              <a:spcBef>
                <a:spcPts val="0"/>
              </a:spcBef>
              <a:spcAft>
                <a:spcPts val="0"/>
              </a:spcAft>
            </a:pPr>
            <a:r>
              <a:rPr sz="900">
                <a:solidFill>
                  <a:srgbClr val="BB6688"/>
                </a:solidFill>
                <a:latin typeface="Consolas"/>
              </a:rPr>
              <a:t>- </a:t>
            </a:r>
            <a:r>
              <a:rPr sz="900" b="1" i="1">
                <a:solidFill>
                  <a:srgbClr val="60A0B0"/>
                </a:solidFill>
                <a:latin typeface="Consolas"/>
              </a:rPr>
              <a:t>`spryker-feature-expert`</a:t>
            </a:r>
            <a:r>
              <a:rPr sz="900">
                <a:solidFill>
                  <a:srgbClr val="2D2D2D"/>
                </a:solidFill>
                <a:latin typeface="Consolas"/>
              </a:rPr>
              <a:t> - "how does X work in Spryker", design questions, before custom design</a:t>
            </a:r>
          </a:p>
          <a:p>
            <a:pPr>
              <a:spcBef>
                <a:spcPts val="0"/>
              </a:spcBef>
              <a:spcAft>
                <a:spcPts val="0"/>
              </a:spcAft>
            </a:pPr>
            <a:r>
              <a:rPr sz="900">
                <a:solidFill>
                  <a:srgbClr val="BB6688"/>
                </a:solidFill>
                <a:latin typeface="Consolas"/>
              </a:rPr>
              <a:t>- </a:t>
            </a:r>
            <a:r>
              <a:rPr sz="900" b="1" i="1">
                <a:solidFill>
                  <a:srgbClr val="60A0B0"/>
                </a:solidFill>
                <a:latin typeface="Consolas"/>
              </a:rPr>
              <a:t>`spryker-verifier`</a:t>
            </a:r>
            <a:r>
              <a:rPr sz="900">
                <a:solidFill>
                  <a:srgbClr val="2D2D2D"/>
                </a:solidFill>
                <a:latin typeface="Consolas"/>
              </a:rPr>
              <a:t> - independent PASS/FAIL verification of acceptance criteria</a:t>
            </a:r>
          </a:p>
          <a:p>
            <a:pPr>
              <a:spcBef>
                <a:spcPts val="0"/>
              </a:spcBef>
              <a:spcAft>
                <a:spcPts val="0"/>
              </a:spcAft>
            </a:pPr>
            <a:r>
              <a:rPr sz="900">
                <a:solidFill>
                  <a:srgbClr val="BB6688"/>
                </a:solidFill>
                <a:latin typeface="Consolas"/>
              </a:rPr>
              <a:t>- </a:t>
            </a:r>
            <a:r>
              <a:rPr sz="900" b="1" i="1">
                <a:solidFill>
                  <a:srgbClr val="60A0B0"/>
                </a:solidFill>
                <a:latin typeface="Consolas"/>
              </a:rPr>
              <a:t>`spryker-issue-diagnoser`</a:t>
            </a:r>
            <a:r>
              <a:rPr sz="900">
                <a:solidFill>
                  <a:srgbClr val="2D2D2D"/>
                </a:solidFill>
                <a:latin typeface="Consolas"/>
              </a:rPr>
              <a:t> - root-causing a failure</a:t>
            </a:r>
          </a:p>
          <a:p>
            <a:pPr>
              <a:spcBef>
                <a:spcPts val="0"/>
              </a:spcBef>
              <a:spcAft>
                <a:spcPts val="0"/>
              </a:spcAft>
            </a:pPr>
            <a:r>
              <a:rPr sz="900">
                <a:solidFill>
                  <a:srgbClr val="BB6688"/>
                </a:solidFill>
                <a:latin typeface="Consolas"/>
              </a:rPr>
              <a:t>- </a:t>
            </a:r>
            <a:r>
              <a:rPr sz="900" b="1" i="1">
                <a:solidFill>
                  <a:srgbClr val="60A0B0"/>
                </a:solidFill>
                <a:latin typeface="Consolas"/>
              </a:rPr>
              <a:t>`spryker-data-seeder`</a:t>
            </a:r>
            <a:r>
              <a:rPr sz="900">
                <a:solidFill>
                  <a:srgbClr val="2D2D2D"/>
                </a:solidFill>
                <a:latin typeface="Consolas"/>
              </a:rPr>
              <a:t> - creating test data through the data-import path</a:t>
            </a:r>
          </a:p>
          <a:p>
            <a:pPr>
              <a:spcBef>
                <a:spcPts val="0"/>
              </a:spcBef>
              <a:spcAft>
                <a:spcPts val="0"/>
              </a:spcAft>
            </a:pPr>
            <a:r>
              <a:rPr sz="900">
                <a:solidFill>
                  <a:srgbClr val="BB6688"/>
                </a:solidFill>
                <a:latin typeface="Consolas"/>
              </a:rPr>
              <a:t>- </a:t>
            </a:r>
            <a:r>
              <a:rPr sz="900" b="1" i="1">
                <a:solidFill>
                  <a:srgbClr val="60A0B0"/>
                </a:solidFill>
                <a:latin typeface="Consolas"/>
              </a:rPr>
              <a:t>`spryker-code-reviewer`</a:t>
            </a:r>
            <a:r>
              <a:rPr sz="900">
                <a:solidFill>
                  <a:srgbClr val="2D2D2D"/>
                </a:solidFill>
                <a:latin typeface="Consolas"/>
              </a:rPr>
              <a:t> - review against Spryker standards before commit</a:t>
            </a:r>
          </a:p>
          <a:p>
            <a:pPr>
              <a:spcBef>
                <a:spcPts val="0"/>
              </a:spcBef>
              <a:spcAft>
                <a:spcPts val="0"/>
              </a:spcAft>
            </a:pPr>
            <a:r>
              <a:rPr sz="900">
                <a:solidFill>
                  <a:srgbClr val="BB6688"/>
                </a:solidFill>
                <a:latin typeface="Consolas"/>
              </a:rPr>
              <a:t>- </a:t>
            </a:r>
            <a:r>
              <a:rPr sz="900" b="1" i="1">
                <a:solidFill>
                  <a:srgbClr val="60A0B0"/>
                </a:solidFill>
                <a:latin typeface="Consolas"/>
              </a:rPr>
              <a:t>`spryker-screenshot-collector`</a:t>
            </a:r>
            <a:r>
              <a:rPr sz="900">
                <a:solidFill>
                  <a:srgbClr val="2D2D2D"/>
                </a:solidFill>
                <a:latin typeface="Consolas"/>
              </a:rPr>
              <a:t> - demo captures</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Run independent agents in parallel in a single message.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Make the assistant actually use them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latin typeface="Consolas"/>
              </a:rPr>
              <a:t> </a:t>
            </a:r>
          </a:p>
          <a:p>
            <a:pPr>
              <a:spcBef>
                <a:spcPts val="0"/>
              </a:spcBef>
              <a:spcAft>
                <a:spcPts val="0"/>
              </a:spcAft>
            </a:pPr>
            <a:r>
              <a:rPr sz="900">
                <a:solidFill>
                  <a:srgbClr val="06287E"/>
                </a:solidFill>
                <a:latin typeface="Consolas"/>
              </a:rPr>
              <a:t>## Definition of done</a:t>
            </a:r>
          </a:p>
          <a:p>
            <a:pPr>
              <a:spcBef>
                <a:spcPts val="0"/>
              </a:spcBef>
              <a:spcAft>
                <a:spcPts val="0"/>
              </a:spcAft>
            </a:pPr>
            <a:r>
              <a:rPr sz="900">
                <a:solidFill>
                  <a:srgbClr val="2D2D2D"/>
                </a:solidFill>
                <a:latin typeface="Consolas"/>
              </a:rPr>
              <a:t>A task is not done until </a:t>
            </a:r>
            <a:r>
              <a:rPr sz="900" b="1" i="1">
                <a:solidFill>
                  <a:srgbClr val="60A0B0"/>
                </a:solidFill>
                <a:latin typeface="Consolas"/>
              </a:rPr>
              <a:t>`static-validation`</a:t>
            </a:r>
            <a:r>
              <a:rPr sz="900">
                <a:solidFill>
                  <a:srgbClr val="2D2D2D"/>
                </a:solidFill>
                <a:latin typeface="Consolas"/>
              </a:rPr>
              <a:t> is clean on the diff and </a:t>
            </a:r>
            <a:r>
              <a:rPr sz="900" b="1" i="1">
                <a:solidFill>
                  <a:srgbClr val="60A0B0"/>
                </a:solidFill>
                <a:latin typeface="Consolas"/>
              </a:rPr>
              <a:t>`spryker-verifier`</a:t>
            </a:r>
          </a:p>
          <a:p>
            <a:pPr>
              <a:spcBef>
                <a:spcPts val="0"/>
              </a:spcBef>
              <a:spcAft>
                <a:spcPts val="0"/>
              </a:spcAft>
            </a:pPr>
            <a:r>
              <a:rPr sz="900">
                <a:solidFill>
                  <a:srgbClr val="2D2D2D"/>
                </a:solidFill>
                <a:latin typeface="Consolas"/>
              </a:rPr>
              <a:t>(or </a:t>
            </a:r>
            <a:r>
              <a:rPr sz="900" b="1" i="1">
                <a:solidFill>
                  <a:srgbClr val="60A0B0"/>
                </a:solidFill>
                <a:latin typeface="Consolas"/>
              </a:rPr>
              <a:t>`spryker-qa-coverage`</a:t>
            </a:r>
            <a:r>
              <a:rPr sz="900">
                <a:solidFill>
                  <a:srgbClr val="2D2D2D"/>
                </a:solidFill>
                <a:latin typeface="Consolas"/>
              </a:rPr>
              <a:t>) has confirmed the acceptance criteria against the running app.</a:t>
            </a:r>
          </a:p>
          <a:p>
            <a:pPr>
              <a:spcAft>
                <a:spcPts val="800"/>
              </a:spcAft>
              <a:defRPr sz="1600">
                <a:solidFill>
                  <a:srgbClr val="1A1A1A"/>
                </a:solidFill>
              </a:defRPr>
            </a:pPr>
            <a:r>
              <a:t>Three things worth understanding about that block, because you will write one for your own projects:</a:t>
            </a:r>
          </a:p>
          <a:p>
            <a:pPr>
              <a:spcAft>
                <a:spcPts val="400"/>
              </a:spcAft>
              <a:defRPr sz="1500">
                <a:solidFill>
                  <a:srgbClr val="1A1A1A"/>
                </a:solidFill>
              </a:defRPr>
            </a:pPr>
            <a:r>
              <a:t>• “List the skills that apply before writing code” turns an invisible decision into a visible one. You can see in the transcript whether it picked propel-schema or decided to wing it, and you can stop it before it has written thirty files.</a:t>
            </a:r>
          </a:p>
          <a:p>
            <a:pPr>
              <a:spcAft>
                <a:spcPts val="400"/>
              </a:spcAft>
              <a:defRPr sz="1500">
                <a:solidFill>
                  <a:srgbClr val="1A1A1A"/>
                </a:solidFill>
              </a:defRPr>
            </a:pPr>
            <a:r>
              <a:t>• The explicit authorisation matters. An assistant that is unsure whether it may spawn subagents will simply not spawn them. Saying “this file is the authorisation” removes the doubt - and naming which agent for which job stops it from asking a code reviewer to diagnose a 500.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Make the assistant actually use them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spryker-docs-research is a skill, not an agent. It lives in .claude/skills/ , so it belongs in the table above and not in the subagent list. The same goes for spryker-qa-coverage . Check your own .claude/agents/ folder before naming something as an agent - there are exactly six.</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Add the project facts the SDK cannot know</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Check whether the context file names the project namespace. If it only talks about Pyz , add a line to it:</a:t>
            </a:r>
          </a:p>
          <a:p>
            <a:pPr>
              <a:spcBef>
                <a:spcPts val="0"/>
              </a:spcBef>
              <a:spcAft>
                <a:spcPts val="0"/>
              </a:spcAft>
            </a:pPr>
            <a:r>
              <a:rPr sz="900">
                <a:solidFill>
                  <a:srgbClr val="2D2D2D"/>
                </a:solidFill>
                <a:latin typeface="Consolas"/>
              </a:rPr>
              <a:t>Project code goes into the `SprykerAcademy` namespace (`src/SprykerAcademy`), which is</a:t>
            </a:r>
          </a:p>
          <a:p>
            <a:pPr>
              <a:spcBef>
                <a:spcPts val="0"/>
              </a:spcBef>
              <a:spcAft>
                <a:spcPts val="0"/>
              </a:spcAft>
            </a:pPr>
            <a:r>
              <a:rPr sz="900">
                <a:solidFill>
                  <a:srgbClr val="2D2D2D"/>
                </a:solidFill>
                <a:latin typeface="Consolas"/>
              </a:rPr>
              <a:t>registered in composer.json and before `Pyz` in `PROJECT_NAMESPACES`.</a:t>
            </a:r>
          </a:p>
          <a:p>
            <a:pPr>
              <a:spcAft>
                <a:spcPts val="800"/>
              </a:spcAft>
              <a:defRPr sz="1600">
                <a:solidFill>
                  <a:srgbClr val="1A1A1A"/>
                </a:solidFill>
              </a:defRPr>
            </a:pPr>
            <a:r>
              <a:t>Add the API convention as well. Spryker has two ways to build a Storefront API, the older GlueApplication plugins and the API Platform , and both work - so an assistant trained on older material will happily pick the one you do not want: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Add the project facts the SDK cannot know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New APIs use the Spryker API Platform: a `*.resource.yml` under</a:t>
            </a:r>
          </a:p>
          <a:p>
            <a:pPr>
              <a:spcBef>
                <a:spcPts val="0"/>
              </a:spcBef>
              <a:spcAft>
                <a:spcPts val="0"/>
              </a:spcAft>
            </a:pPr>
            <a:r>
              <a:rPr sz="900">
                <a:solidFill>
                  <a:srgbClr val="2D2D2D"/>
                </a:solidFill>
                <a:latin typeface="Consolas"/>
              </a:rPr>
              <a:t>resources/api/storefront/ plus a Provider class implementing</a:t>
            </a:r>
          </a:p>
          <a:p>
            <a:pPr>
              <a:spcBef>
                <a:spcPts val="0"/>
              </a:spcBef>
              <a:spcAft>
                <a:spcPts val="0"/>
              </a:spcAft>
            </a:pPr>
            <a:r>
              <a:rPr sz="900">
                <a:solidFill>
                  <a:srgbClr val="2D2D2D"/>
                </a:solidFill>
                <a:latin typeface="Consolas"/>
              </a:rPr>
              <a:t>ApiPlatform\State\ProviderInterface. Do not use the legacy GlueApplication</a:t>
            </a:r>
          </a:p>
          <a:p>
            <a:pPr>
              <a:spcBef>
                <a:spcPts val="0"/>
              </a:spcBef>
              <a:spcAft>
                <a:spcPts val="0"/>
              </a:spcAft>
            </a:pPr>
            <a:r>
              <a:rPr sz="900">
                <a:solidFill>
                  <a:srgbClr val="2D2D2D"/>
                </a:solidFill>
                <a:latin typeface="Consolas"/>
              </a:rPr>
              <a:t>resource plugins. For resources in this namespace to be found, `src/SprykerAcademy`</a:t>
            </a:r>
          </a:p>
          <a:p>
            <a:pPr>
              <a:spcBef>
                <a:spcPts val="0"/>
              </a:spcBef>
              <a:spcAft>
                <a:spcPts val="0"/>
              </a:spcAft>
            </a:pPr>
            <a:r>
              <a:rPr sz="900">
                <a:solidFill>
                  <a:srgbClr val="2D2D2D"/>
                </a:solidFill>
                <a:latin typeface="Consolas"/>
              </a:rPr>
              <a:t>must be listed in config/Glue/packages/spryker_api_platform.php (this shop serves</a:t>
            </a:r>
          </a:p>
          <a:p>
            <a:pPr>
              <a:spcBef>
                <a:spcPts val="0"/>
              </a:spcBef>
              <a:spcAft>
                <a:spcPts val="0"/>
              </a:spcAft>
            </a:pPr>
            <a:r>
              <a:rPr sz="900">
                <a:solidFill>
                  <a:srgbClr val="2D2D2D"/>
                </a:solidFill>
                <a:latin typeface="Consolas"/>
              </a:rPr>
              <a:t>glue.eu.spryker.local from the GLUE application), resources are generated with</a:t>
            </a:r>
          </a:p>
          <a:p>
            <a:pPr>
              <a:spcBef>
                <a:spcPts val="0"/>
              </a:spcBef>
              <a:spcAft>
                <a:spcPts val="0"/>
              </a:spcAft>
            </a:pPr>
            <a:r>
              <a:rPr sz="900">
                <a:solidFill>
                  <a:srgbClr val="2D2D2D"/>
                </a:solidFill>
                <a:latin typeface="Consolas"/>
              </a:rPr>
              <a:t>`GLUE_APPLICATION=GLUE glue api:generate storefront`, and the compiled container is</a:t>
            </a:r>
          </a:p>
          <a:p>
            <a:pPr>
              <a:spcBef>
                <a:spcPts val="0"/>
              </a:spcBef>
              <a:spcAft>
                <a:spcPts val="0"/>
              </a:spcAft>
            </a:pPr>
            <a:r>
              <a:rPr sz="900">
                <a:solidFill>
                  <a:srgbClr val="2D2D2D"/>
                </a:solidFill>
                <a:latin typeface="Consolas"/>
              </a:rPr>
              <a:t>refreshed with `GLUE_APPLICATION=GLUE glue cache:clear`.</a:t>
            </a:r>
          </a:p>
          <a:p>
            <a:pPr>
              <a:spcAft>
                <a:spcPts val="800"/>
              </a:spcAft>
              <a:defRPr sz="1600">
                <a:solidFill>
                  <a:srgbClr val="1A1A1A"/>
                </a:solidFill>
              </a:defRPr>
            </a:pPr>
            <a:r>
              <a:t>And the wiring conventions, which are the ones an assistant gets wrong most often because the older Spryker style is what it has read most of:</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Add the project facts the SDK cannot know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Zed wires dependencies with Symfony constructor injection. config/Zed/ApplicationServices.php</a:t>
            </a:r>
          </a:p>
          <a:p>
            <a:pPr>
              <a:spcBef>
                <a:spcPts val="0"/>
              </a:spcBef>
              <a:spcAft>
                <a:spcPts val="0"/>
              </a:spcAft>
            </a:pPr>
            <a:r>
              <a:rPr sz="900">
                <a:solidFill>
                  <a:srgbClr val="2D2D2D"/>
                </a:solidFill>
                <a:latin typeface="Consolas"/>
              </a:rPr>
              <a:t>loads every project module into the container, so a project class type-hints what it needs</a:t>
            </a:r>
          </a:p>
          <a:p>
            <a:pPr>
              <a:spcBef>
                <a:spcPts val="0"/>
              </a:spcBef>
              <a:spcAft>
                <a:spcPts val="0"/>
              </a:spcAft>
            </a:pPr>
            <a:r>
              <a:rPr sz="900">
                <a:solidFill>
                  <a:srgbClr val="2D2D2D"/>
                </a:solidFill>
                <a:latin typeface="Consolas"/>
              </a:rPr>
              <a:t>instead of being assembled in a factory. In a Zed facade, reach the business classes with</a:t>
            </a:r>
          </a:p>
          <a:p>
            <a:pPr>
              <a:spcBef>
                <a:spcPts val="0"/>
              </a:spcBef>
              <a:spcAft>
                <a:spcPts val="0"/>
              </a:spcAft>
            </a:pPr>
            <a:r>
              <a:rPr sz="900">
                <a:solidFill>
                  <a:srgbClr val="2D2D2D"/>
                </a:solidFill>
                <a:latin typeface="Consolas"/>
              </a:rPr>
              <a:t>$this-&gt;getService(MyReader::class) - AbstractFacade uses</a:t>
            </a:r>
          </a:p>
          <a:p>
            <a:pPr>
              <a:spcBef>
                <a:spcPts val="0"/>
              </a:spcBef>
              <a:spcAft>
                <a:spcPts val="0"/>
              </a:spcAft>
            </a:pPr>
            <a:r>
              <a:rPr sz="900">
                <a:solidFill>
                  <a:srgbClr val="2D2D2D"/>
                </a:solidFill>
                <a:latin typeface="Consolas"/>
              </a:rPr>
              <a:t>Spryker\Service\Container\ContainerTrait. Do not write a business factory or a dependency</a:t>
            </a:r>
          </a:p>
          <a:p>
            <a:pPr>
              <a:spcBef>
                <a:spcPts val="0"/>
              </a:spcBef>
              <a:spcAft>
                <a:spcPts val="0"/>
              </a:spcAft>
            </a:pPr>
            <a:r>
              <a:rPr sz="900">
                <a:solidFill>
                  <a:srgbClr val="2D2D2D"/>
                </a:solidFill>
                <a:latin typeface="Consolas"/>
              </a:rPr>
              <a:t>provider for something the container already provides.</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Two exceptions. config/Yves/ApplicationServices.php is an empty stub, so Yves keeps the</a:t>
            </a:r>
          </a:p>
          <a:p>
            <a:pPr>
              <a:spcBef>
                <a:spcPts val="0"/>
              </a:spcBef>
              <a:spcAft>
                <a:spcPts val="0"/>
              </a:spcAft>
            </a:pPr>
            <a:r>
              <a:rPr sz="900">
                <a:solidFill>
                  <a:srgbClr val="2D2D2D"/>
                </a:solidFill>
                <a:latin typeface="Consolas"/>
              </a:rPr>
              <a:t>factory and the dependency provider. And a project-namespace Client used from Glue must be</a:t>
            </a:r>
          </a:p>
          <a:p>
            <a:pPr>
              <a:spcBef>
                <a:spcPts val="0"/>
              </a:spcBef>
              <a:spcAft>
                <a:spcPts val="0"/>
              </a:spcAft>
            </a:pPr>
            <a:r>
              <a:rPr sz="900">
                <a:solidFill>
                  <a:srgbClr val="2D2D2D"/>
                </a:solidFill>
                <a:latin typeface="Consolas"/>
              </a:rPr>
              <a:t>registered by hand in config/GlueStorefront/ApplicationServices.php with</a:t>
            </a:r>
          </a:p>
          <a:p>
            <a:pPr>
              <a:spcBef>
                <a:spcPts val="0"/>
              </a:spcBef>
              <a:spcAft>
                <a:spcPts val="0"/>
              </a:spcAft>
            </a:pPr>
            <a:r>
              <a:rPr sz="900">
                <a:solidFill>
                  <a:srgbClr val="2D2D2D"/>
                </a:solidFill>
                <a:latin typeface="Consolas"/>
              </a:rPr>
              <a:t>$services-&gt;set(Interface::class, Class::class), because SprykerDefaultsPass only</a:t>
            </a:r>
          </a:p>
          <a:p>
            <a:pPr>
              <a:spcBef>
                <a:spcPts val="0"/>
              </a:spcBef>
              <a:spcAft>
                <a:spcPts val="0"/>
              </a:spcAft>
            </a:pPr>
            <a:r>
              <a:rPr sz="900">
                <a:solidFill>
                  <a:srgbClr val="2D2D2D"/>
                </a:solidFill>
                <a:latin typeface="Consolas"/>
              </a:rPr>
              <a:t>auto-registers core namespaces.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Add the project facts the SDK cannot know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Project facts belong in the context file , because it describes the project and stays, while the prompt describes one feature and changes every time. The prompt in Part 3 repeats them anyway - belt and braces for the facts everything else hangs off - but it is the context file that makes the assistant remember them on the task after this one.</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your AI tool in the project root and give it this - and nothing else:</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I need a Contact Request module for this shop.</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Customers can send a message to the shop owner. A contact request stores the message and</a:t>
            </a:r>
          </a:p>
          <a:p>
            <a:pPr>
              <a:spcBef>
                <a:spcPts val="0"/>
              </a:spcBef>
              <a:spcAft>
                <a:spcPts val="0"/>
              </a:spcAft>
            </a:pPr>
            <a:r>
              <a:rPr sz="900">
                <a:solidFill>
                  <a:srgbClr val="2D2D2D"/>
                </a:solidFill>
                <a:latin typeface="Consolas"/>
              </a:rPr>
              <a:t>belongs to a customer, so the customer is a foreign key on the contact request.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In the Back Office, an administrator opens a page that lists the contact requests in a table</a:t>
            </a:r>
          </a:p>
          <a:p>
            <a:pPr>
              <a:spcBef>
                <a:spcPts val="0"/>
              </a:spcBef>
              <a:spcAft>
                <a:spcPts val="0"/>
              </a:spcAft>
            </a:pPr>
            <a:r>
              <a:rPr sz="900">
                <a:solidFill>
                  <a:srgbClr val="2D2D2D"/>
                </a:solidFill>
                <a:latin typeface="Consolas"/>
              </a:rPr>
              <a:t>they can read, sort, filter and page through.</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The same messages are reachable through the Storefront API, so a customer can send one and</a:t>
            </a:r>
          </a:p>
          <a:p>
            <a:pPr>
              <a:spcBef>
                <a:spcPts val="0"/>
              </a:spcBef>
              <a:spcAft>
                <a:spcPts val="0"/>
              </a:spcAft>
            </a:pPr>
            <a:r>
              <a:rPr sz="900">
                <a:solidFill>
                  <a:srgbClr val="2D2D2D"/>
                </a:solidFill>
                <a:latin typeface="Consolas"/>
              </a:rPr>
              <a:t>read their own without opening the storefront pages.</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A logged-in customer can also write and send the message from the customer account area in</a:t>
            </a:r>
          </a:p>
          <a:p>
            <a:pPr>
              <a:spcBef>
                <a:spcPts val="0"/>
              </a:spcBef>
              <a:spcAft>
                <a:spcPts val="0"/>
              </a:spcAft>
            </a:pPr>
            <a:r>
              <a:rPr sz="900">
                <a:solidFill>
                  <a:srgbClr val="2D2D2D"/>
                </a:solidFill>
                <a:latin typeface="Consolas"/>
              </a:rPr>
              <a:t>the storefront - but ask me whether I want that part before you build it.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How we build things in this project: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Put the code in the SprykerAcademy namespace (src/SprykerAcademy).</a:t>
            </a:r>
          </a:p>
          <a:p>
            <a:pPr>
              <a:spcBef>
                <a:spcPts val="0"/>
              </a:spcBef>
              <a:spcAft>
                <a:spcPts val="0"/>
              </a:spcAft>
            </a:pPr>
            <a:r>
              <a:rPr sz="900">
                <a:solidFill>
                  <a:srgbClr val="2D2D2D"/>
                </a:solidFill>
                <a:latin typeface="Consolas"/>
              </a:rPr>
              <a:t>- Build the API with the Spryker API Platform: a *.resource.yml plus a state provider and a</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processor. Do not use the legacy GlueApplication resource plugins.</a:t>
            </a:r>
          </a:p>
          <a:p>
            <a:pPr>
              <a:spcBef>
                <a:spcPts val="0"/>
              </a:spcBef>
              <a:spcAft>
                <a:spcPts val="0"/>
              </a:spcAft>
            </a:pPr>
            <a:r>
              <a:rPr sz="900">
                <a:solidFill>
                  <a:srgbClr val="2D2D2D"/>
                </a:solidFill>
                <a:latin typeface="Consolas"/>
              </a:rPr>
              <a:t>- In Zed, wire dependencies with Symfony constructor injection. Project classes are already</a:t>
            </a:r>
          </a:p>
          <a:p>
            <a:pPr>
              <a:spcBef>
                <a:spcPts val="0"/>
              </a:spcBef>
              <a:spcAft>
                <a:spcPts val="0"/>
              </a:spcAft>
            </a:pPr>
            <a:r>
              <a:rPr sz="900">
                <a:solidFill>
                  <a:srgbClr val="2D2D2D"/>
                </a:solidFill>
                <a:latin typeface="Consolas"/>
              </a:rPr>
              <a:t>  in the container, so a class type-hints what it needs. Do not add a business factory or a</a:t>
            </a:r>
          </a:p>
          <a:p>
            <a:pPr>
              <a:spcBef>
                <a:spcPts val="0"/>
              </a:spcBef>
              <a:spcAft>
                <a:spcPts val="0"/>
              </a:spcAft>
            </a:pPr>
            <a:r>
              <a:rPr sz="900">
                <a:solidFill>
                  <a:srgbClr val="2D2D2D"/>
                </a:solidFill>
                <a:latin typeface="Consolas"/>
              </a:rPr>
              <a:t>  dependency provider for something the container can give you.</a:t>
            </a:r>
          </a:p>
          <a:p>
            <a:pPr>
              <a:spcBef>
                <a:spcPts val="0"/>
              </a:spcBef>
              <a:spcAft>
                <a:spcPts val="0"/>
              </a:spcAft>
            </a:pPr>
            <a:r>
              <a:rPr sz="900">
                <a:solidFill>
                  <a:srgbClr val="2D2D2D"/>
                </a:solidFill>
                <a:latin typeface="Consolas"/>
              </a:rPr>
              <a:t>- In the facade, reach your business classes with $this-&gt;getService(ContactRequestReader::class).</a:t>
            </a:r>
          </a:p>
          <a:p>
            <a:pPr>
              <a:spcBef>
                <a:spcPts val="0"/>
              </a:spcBef>
              <a:spcAft>
                <a:spcPts val="0"/>
              </a:spcAft>
            </a:pPr>
            <a:r>
              <a:rPr sz="900">
                <a:solidFill>
                  <a:srgbClr val="2D2D2D"/>
                </a:solidFill>
                <a:latin typeface="Consolas"/>
              </a:rPr>
              <a:t>  AbstractFacade has the container trait, so no getFactory() and no business factory at all.</a:t>
            </a:r>
          </a:p>
          <a:p>
            <a:pPr>
              <a:spcBef>
                <a:spcPts val="0"/>
              </a:spcBef>
              <a:spcAft>
                <a:spcPts val="0"/>
              </a:spcAft>
            </a:pPr>
            <a:r>
              <a:rPr sz="900">
                <a:solidFill>
                  <a:srgbClr val="2D2D2D"/>
                </a:solidFill>
                <a:latin typeface="Consolas"/>
              </a:rPr>
              <a:t>- Yves is the exception: its container is empty, so a Yves page keeps the usual factory and</a:t>
            </a:r>
          </a:p>
          <a:p>
            <a:pPr>
              <a:spcBef>
                <a:spcPts val="0"/>
              </a:spcBef>
              <a:spcAft>
                <a:spcPts val="0"/>
              </a:spcAft>
            </a:pPr>
            <a:r>
              <a:rPr sz="900">
                <a:solidFill>
                  <a:srgbClr val="2D2D2D"/>
                </a:solidFill>
                <a:latin typeface="Consolas"/>
              </a:rPr>
              <a:t>  dependency provider.</a:t>
            </a:r>
          </a:p>
          <a:p>
            <a:pPr>
              <a:spcBef>
                <a:spcPts val="0"/>
              </a:spcBef>
              <a:spcAft>
                <a:spcPts val="0"/>
              </a:spcAft>
            </a:pPr>
            <a:r>
              <a:rPr sz="900">
                <a:solidFill>
                  <a:srgbClr val="2D2D2D"/>
                </a:solidFill>
                <a:latin typeface="Consolas"/>
              </a:rPr>
              <a:t>- A project Client that an API Platform provider injects has to be registered by hand in</a:t>
            </a:r>
          </a:p>
          <a:p>
            <a:pPr>
              <a:spcBef>
                <a:spcPts val="0"/>
              </a:spcBef>
              <a:spcAft>
                <a:spcPts val="0"/>
              </a:spcAft>
            </a:pPr>
            <a:r>
              <a:rPr sz="900">
                <a:solidFill>
                  <a:srgbClr val="2D2D2D"/>
                </a:solidFill>
                <a:latin typeface="Consolas"/>
              </a:rPr>
              <a:t>  config/GlueStorefront/ApplicationServices.php with $services-&gt;set(Interface::class, Class::class).</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Ask me whatever you need before you start.</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first half is the specification, and notice what is not in it: no class names, no file paths, no layer list, no routes, no console commands, no tests. Deriving all of that from a requirement is the assistant’s job, and the rules and skills the SDK installed are where it gets the conventions from. You spent Exercises 1 to 6b learning those conventions so you can tell whether it got them right.</a:t>
            </a:r>
          </a:p>
          <a:p>
            <a:pPr>
              <a:spcAft>
                <a:spcPts val="800"/>
              </a:spcAft>
              <a:defRPr sz="1600">
                <a:solidFill>
                  <a:srgbClr val="1A1A1A"/>
                </a:solidFill>
              </a:defRPr>
            </a:pPr>
            <a:r>
              <a:t>The second half is different in kind. Those are not design decisions the assistant could derive from the requirement - they are facts about this project , and it has no way to know any of them:</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100"/>
              </a:spcAft>
              <a:defRPr sz="1000">
                <a:solidFill>
                  <a:srgbClr val="1A1A1A"/>
                </a:solidFill>
                <a:latin typeface="Consolas"/>
              </a:defRPr>
            </a:pPr>
            <a:r>
              <a:t>House rule                                 Why it has to be said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Ask before building Yves                   The storefront is the largest part of the job and the part many students skip - they test in Swagger or Postman instead. An assistant that asks first can save you half the run, but only if you tell it that the question is open.                                                                                                                                         </a:t>
            </a:r>
          </a:p>
          <a:p>
            <a:pPr>
              <a:spcAft>
                <a:spcPts val="100"/>
              </a:spcAft>
              <a:defRPr sz="1000">
                <a:solidFill>
                  <a:srgbClr val="1A1A1A"/>
                </a:solidFill>
                <a:latin typeface="Consolas"/>
              </a:defRPr>
            </a:pPr>
            <a:r>
              <a:t>API Platform, not GlueApplication plugins  Both exist in this Spryker version and both work. Most training material out there is about the older one, so that is what an assistant reaches for.                                                                                                                                                                                                                        </a:t>
            </a:r>
          </a:p>
          <a:p>
            <a:pPr>
              <a:spcAft>
                <a:spcPts val="100"/>
              </a:spcAft>
              <a:defRPr sz="1000">
                <a:solidFill>
                  <a:srgbClr val="1A1A1A"/>
                </a:solidFill>
                <a:latin typeface="Consolas"/>
              </a:defRPr>
            </a:pPr>
            <a:r>
              <a:t>Symfony DI in Zed                          config/Zed/ApplicationServices.php loads every project module into the container, so a class written under src/SprykerAcademy is a public, autowired service ( Exercise 4, section 2.6 ). An assistant that does not know this writes the older stack instead: a business factory, a dependency provider, and getFactory() everywhere.                                      </a:t>
            </a:r>
          </a:p>
          <a:p>
            <a:pPr>
              <a:spcAft>
                <a:spcPts val="100"/>
              </a:spcAft>
              <a:defRPr sz="1000">
                <a:solidFill>
                  <a:srgbClr val="1A1A1A"/>
                </a:solidFill>
                <a:latin typeface="Consolas"/>
              </a:defRPr>
            </a:pPr>
            <a:r>
              <a:t>getService() in the facade                 AbstractFacade uses Spryker\Service\Container\ContainerTrait , so $this-&gt;getService(ContactRequestReader::class) reads straight from the container - the style you wrote yourself in Exercise 4, section 2.4 . The second argument of getService() is a factory method name to fall back on, which is how a legacy module migrates gradually; a new module does not need it.</a:t>
            </a:r>
          </a:p>
          <a:p>
            <a:pPr>
              <a:spcAft>
                <a:spcPts val="100"/>
              </a:spcAft>
              <a:defRPr sz="1000">
                <a:solidFill>
                  <a:srgbClr val="1A1A1A"/>
                </a:solidFill>
                <a:latin typeface="Consolas"/>
              </a:defRPr>
            </a:pPr>
            <a:r>
              <a:t>Yves keeps the factory                     config/Yves/ApplicationServices.php is an empty stub in the demo shop, so nothing of yours is in the Yves container. The rule above would be wrong there, and an assistant applying it consistently would break the storefront.                                                                                                                                             </a:t>
            </a:r>
          </a:p>
          <a:p>
            <a:pPr>
              <a:spcAft>
                <a:spcPts val="100"/>
              </a:spcAft>
              <a:defRPr sz="1000">
                <a:solidFill>
                  <a:srgbClr val="1A1A1A"/>
                </a:solidFill>
                <a:latin typeface="Consolas"/>
              </a:defRPr>
            </a:pPr>
            <a:r>
              <a:t>The Glue Storefront client registration    SprykerDefaultsPass auto-registers Spryker’s conventional entry points, but findResolvableClassForInterface() returns null for anything outside the core namespaces. A project-namespace Client therefore falls through to a proxy that fails at runtime with Could not find … in any of the attached containers , and the only fix is the explicit $services-&gt;set() .</a:t>
            </a:r>
          </a:p>
          <a:p>
            <a:pPr>
              <a:spcAft>
                <a:spcPts val="800"/>
              </a:spcAft>
              <a:defRPr sz="1400" i="1">
                <a:solidFill>
                  <a:srgbClr val="888888"/>
                </a:solidFill>
              </a:defRPr>
            </a:pPr>
            <a:r>
              <a:t>❝ This list is the difference between a module and your module. Without it, a real run of this exercise came back with a business factory, a Zed dependency provider, a Client factory and dependency provider of its own, and a facade whose every method reads $this-&gt;getFactory()-&gt;create...() . Perfectly ordinary Spryker code - just not the style you spent Exercises 4 to 6 teaching, and a diff full of noise rather than of decisions.</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The Prompt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same facts belong in the context file from Part 2, because it describes the project and stays, while the prompt describes one feature and changes every time. Repeat them here anyway: a context file is one more thing an assistant can skim past, and these are the facts everything else hangs off.</a:t>
            </a:r>
          </a:p>
          <a:p>
            <a:pPr>
              <a:spcAft>
                <a:spcPts val="800"/>
              </a:spcAft>
              <a:defRPr sz="1400" i="1">
                <a:solidFill>
                  <a:srgbClr val="888888"/>
                </a:solidFill>
              </a:defRPr>
            </a:pPr>
            <a:r>
              <a:t>❝ You are asking, in a page, for roughly what Exercises 1 to 6b build by hand, plus the kind of API resource Exercise 12 builds in the intermediate course: a Propel table with a foreign key to spy_customer , transfers, the three Zed layers, a Back Office page with a table, a Client with a Zed stub, and - if you say yes - a customer account page in Yves.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It gets to choose the names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shop is empty, so nothing collides and nothing is reserved. The module does not have to be called ContactRequest , the table does not have to be pyz_contact_request , and the Back Office route is whatever the assistant decides. Let it choose. What it picks, and whether it picks consistently across the schema, the transfers, the routes and the navigation, is one of the things you are here to judge.</a:t>
            </a:r>
          </a:p>
          <a:p>
            <a:pPr>
              <a:spcAft>
                <a:spcPts val="800"/>
              </a:spcAft>
              <a:defRPr sz="1600">
                <a:solidFill>
                  <a:srgbClr val="1A1A1A"/>
                </a:solidFill>
              </a:defRPr>
            </a:pPr>
            <a:r>
              <a:t>Write down the names it chose before you go on - Part 5 needs them.</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Answer its questions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 good assistant will come back with questions before it writes code. Answer them; do not let it guess. Decisions that are yours to make for this exercise:</a:t>
            </a:r>
          </a:p>
          <a:p>
            <a:pPr>
              <a:spcAft>
                <a:spcPts val="100"/>
              </a:spcAft>
              <a:defRPr sz="1000">
                <a:solidFill>
                  <a:srgbClr val="1A1A1A"/>
                </a:solidFill>
                <a:latin typeface="Consolas"/>
              </a:defRPr>
            </a:pPr>
            <a:r>
              <a:t>Question you are likely to get                           Answer for this exercise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Do you want the storefront pages in Yves?                Your call, and the prompt tells it to ask. Say no if you are testing in Swagger or Postman - the Back Office and the API already exercise the whole stack, and you halve the run. Say yes if you want to compare its Yves code with yours.</a:t>
            </a:r>
          </a:p>
          <a:p>
            <a:pPr>
              <a:spcAft>
                <a:spcPts val="100"/>
              </a:spcAft>
              <a:defRPr sz="1000">
                <a:solidFill>
                  <a:srgbClr val="1A1A1A"/>
                </a:solidFill>
                <a:latin typeface="Consolas"/>
              </a:defRPr>
            </a:pPr>
            <a:r>
              <a:t>Guests too, or only logged-in customers?                 Only logged-in customers.                                                                                                                                                                                                                 </a:t>
            </a:r>
          </a:p>
          <a:p>
            <a:pPr>
              <a:spcAft>
                <a:spcPts val="100"/>
              </a:spcAft>
              <a:defRPr sz="1000">
                <a:solidFill>
                  <a:srgbClr val="1A1A1A"/>
                </a:solidFill>
                <a:latin typeface="Consolas"/>
              </a:defRPr>
            </a:pPr>
            <a:r>
              <a:t>Should the customer see the messages they already sent?  Yes - on the account page if you asked for Yves, through the API either way.                                                                                                                                                              </a:t>
            </a:r>
          </a:p>
          <a:p>
            <a:pPr>
              <a:spcAft>
                <a:spcPts val="100"/>
              </a:spcAft>
              <a:defRPr sz="1000">
                <a:solidFill>
                  <a:srgbClr val="1A1A1A"/>
                </a:solidFill>
                <a:latin typeface="Consolas"/>
              </a:defRPr>
            </a:pPr>
            <a:r>
              <a:t>Can the customer edit or delete a message?               No. Sending is enough.                                                                                                                                                                                                                    </a:t>
            </a:r>
          </a:p>
          <a:p>
            <a:pPr>
              <a:spcAft>
                <a:spcPts val="100"/>
              </a:spcAft>
              <a:defRPr sz="1000">
                <a:solidFill>
                  <a:srgbClr val="1A1A1A"/>
                </a:solidFill>
                <a:latin typeface="Consolas"/>
              </a:defRPr>
            </a:pPr>
            <a:r>
              <a:t>Does the admin reply, or is there a status / read flag?  No. Reading is enough.                                                                                                                                                                                                                    </a:t>
            </a:r>
          </a:p>
          <a:p>
            <a:pPr>
              <a:spcAft>
                <a:spcPts val="100"/>
              </a:spcAft>
              <a:defRPr sz="1000">
                <a:solidFill>
                  <a:srgbClr val="1A1A1A"/>
                </a:solidFill>
                <a:latin typeface="Consolas"/>
              </a:defRPr>
            </a:pPr>
            <a:r>
              <a:t>Email notification to the shop owner?                    No.                                                                                                                                                                                                                                       </a:t>
            </a:r>
          </a:p>
          <a:p>
            <a:pPr>
              <a:spcAft>
                <a:spcPts val="100"/>
              </a:spcAft>
              <a:defRPr sz="1000">
                <a:solidFill>
                  <a:srgbClr val="1A1A1A"/>
                </a:solidFill>
                <a:latin typeface="Consolas"/>
              </a:defRPr>
            </a:pPr>
            <a:r>
              <a:t>Extra fields (subject, category, created date)?          A creation timestamp is fine, nothing else.                                                                                                                                                                                               </a:t>
            </a:r>
          </a:p>
          <a:p>
            <a:pPr>
              <a:spcAft>
                <a:spcPts val="100"/>
              </a:spcAft>
              <a:defRPr sz="1000">
                <a:solidFill>
                  <a:srgbClr val="1A1A1A"/>
                </a:solidFill>
                <a:latin typeface="Consolas"/>
              </a:defRPr>
            </a:pPr>
            <a:r>
              <a:t>Is the API public, or only for the logged-in customer?   Only the logged-in customer, authenticated like the rest of the Storefront API.                                                                                                                                                           </a:t>
            </a:r>
          </a:p>
          <a:p>
            <a:pPr>
              <a:spcAft>
                <a:spcPts val="100"/>
              </a:spcAft>
              <a:defRPr sz="1000">
                <a:solidFill>
                  <a:srgbClr val="1A1A1A"/>
                </a:solidFill>
                <a:latin typeface="Consolas"/>
              </a:defRPr>
            </a:pPr>
            <a:r>
              <a:t>Which operations on the API?                             Send a message, and list the ones that customer sent. Nothing else.                                                                                                                                                                       </a:t>
            </a:r>
          </a:p>
          <a:p>
            <a:pPr>
              <a:spcAft>
                <a:spcPts val="100"/>
              </a:spcAft>
              <a:defRPr sz="1000">
                <a:solidFill>
                  <a:srgbClr val="1A1A1A"/>
                </a:solidFill>
                <a:latin typeface="Consolas"/>
              </a:defRPr>
            </a:pPr>
            <a:r>
              <a:t>Should it write tests?                                   Yes, if it offers - but you review the code yourself either way.</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While it works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Watch which rules and skills it picks up . With the workflow block from Part 2 in place it should name them before it starts: propel-schema for the schema, yves-atomic-frontend for the storefront template, spryker-refresher after it changes code, static-validation before it declares victory. An assistant that writes a schema file and never runs propel:install has not finished, whatever it says - and an assistant that never mentions a skill is improvising.</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Verify It Actually Works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There is no test suite this time. You verify the way you would verify a colleague’s branch: by running it.</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Bef>
                <a:spcPts val="0"/>
              </a:spcBef>
              <a:spcAft>
                <a:spcPts val="0"/>
              </a:spcAft>
            </a:pPr>
            <a:r>
              <a:rPr sz="900">
                <a:solidFill>
                  <a:srgbClr val="2D2D2D"/>
                </a:solidFill>
                <a:latin typeface="Consolas"/>
              </a:rPr>
              <a:t>docker/sdk</a:t>
            </a:r>
            <a:r>
              <a:rPr sz="900">
                <a:solidFill>
                  <a:srgbClr val="2D2D2D"/>
                </a:solidFill>
                <a:latin typeface="Consolas"/>
              </a:rPr>
              <a:t> console navigation:build-cache</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api:generate storefront</a:t>
            </a:r>
          </a:p>
          <a:p>
            <a:pPr>
              <a:spcBef>
                <a:spcPts val="0"/>
              </a:spcBef>
              <a:spcAft>
                <a:spcPts val="0"/>
              </a:spcAft>
            </a:pPr>
            <a:r>
              <a:rPr sz="900">
                <a:solidFill>
                  <a:srgbClr val="2D2D2D"/>
                </a:solidFill>
                <a:latin typeface="Consolas"/>
              </a:rPr>
              <a:t>docker/sdk</a:t>
            </a:r>
            <a:r>
              <a:rPr sz="900">
                <a:solidFill>
                  <a:srgbClr val="2D2D2D"/>
                </a:solidFill>
                <a:latin typeface="Consolas"/>
              </a:rPr>
              <a:t> cli GLUE_APPLICATION=GLUE glue cache:clear</a:t>
            </a:r>
          </a:p>
          <a:p>
            <a:pPr>
              <a:spcAft>
                <a:spcPts val="800"/>
              </a:spcAft>
              <a:defRPr sz="1400" i="1">
                <a:solidFill>
                  <a:srgbClr val="888888"/>
                </a:solidFill>
              </a:defRPr>
            </a:pPr>
            <a:r>
              <a:t>❝ The last command is the one people forget. A *.resource.yml does nothing until glue api:generate has turned it into a generated resource class, and it needs GLUE_APPLICATION in the environment - every glue command does.</a:t>
            </a:r>
          </a:p>
          <a:p>
            <a:pPr>
              <a:spcAft>
                <a:spcPts val="800"/>
              </a:spcAft>
              <a:defRPr sz="1600">
                <a:solidFill>
                  <a:srgbClr val="1A1A1A"/>
                </a:solidFill>
              </a:defRPr>
            </a:pPr>
            <a:r>
              <a:t>Then walk the three flows. Substitute the names the assistant actually chose: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Verify It Actually Works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Storefront - only if you said yes to Yves. Log in at http://yves.eu.spryker.local/en/login as sonia@acme.com / change123 , open the customer account area, send a message. If you said no, start at the API in step 3 and use it to create the message the Back Office table has to show.</a:t>
            </a:r>
          </a:p>
          <a:p>
            <a:pPr>
              <a:spcAft>
                <a:spcPts val="400"/>
              </a:spcAft>
              <a:defRPr sz="1500">
                <a:solidFill>
                  <a:srgbClr val="1A1A1A"/>
                </a:solidFill>
              </a:defRPr>
            </a:pPr>
            <a:r>
              <a:t>• Back Office. Log in at http://backoffice.eu.spryker.local as admin@spryker.com / change123 , find the new navigation entry, and check that the message is in the table - with the right customer next to it. Sort a column, type something in the filter, page through.</a:t>
            </a:r>
          </a:p>
          <a:p>
            <a:pPr>
              <a:spcAft>
                <a:spcPts val="400"/>
              </a:spcAft>
              <a:defRPr sz="1500">
                <a:solidFill>
                  <a:srgbClr val="1A1A1A"/>
                </a:solidFill>
              </a:defRPr>
            </a:pPr>
            <a:r>
              <a:t>• Storefront API. Open http://glue.eu.spryker.local/docs. That page is API Platform’s own documentation of the running API - Swagger UI and ReDoc over the live OpenAPI spec - and the new resource has to be in it, with the operations you asked for. Send a request from the page and read the response.</a:t>
            </a:r>
          </a:p>
          <a:p>
            <a:pPr>
              <a:spcAft>
                <a:spcPts val="800"/>
              </a:spcAft>
              <a:defRPr sz="1600">
                <a:solidFill>
                  <a:srgbClr val="1A1A1A"/>
                </a:solidFill>
              </a:defRPr>
            </a:pPr>
            <a:r>
              <a:t>If you prefer Postman, import the spec instead of clicking:</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application/vnd.openapi+json'</a:t>
            </a:r>
            <a:r>
              <a:rPr sz="900">
                <a:solidFill>
                  <a:srgbClr val="2D2D2D"/>
                </a:solidFill>
                <a:latin typeface="Consolas"/>
              </a:rPr>
              <a:t> http://glue.eu.spryker.local/docs </a:t>
            </a:r>
            <a:r>
              <a:rPr sz="900">
                <a:solidFill>
                  <a:srgbClr val="2D2D2D"/>
                </a:solidFill>
                <a:latin typeface="Consolas"/>
              </a:rPr>
              <a:t>-o</a:t>
            </a:r>
            <a:r>
              <a:rPr sz="900">
                <a:solidFill>
                  <a:srgbClr val="2D2D2D"/>
                </a:solidFill>
                <a:latin typeface="Consolas"/>
              </a:rPr>
              <a:t> glue-openapi.json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Verify It Actually Works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From a shell, remember that this API speaks JSON:API - without the Accept header every request answers 406 Not Acceptable , which looks like a broken endpoint and is not:</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application/vnd.api+json'</a:t>
            </a:r>
            <a:r>
              <a:rPr sz="900">
                <a:solidFill>
                  <a:srgbClr val="2D2D2D"/>
                </a:solidFill>
                <a:latin typeface="Consolas"/>
              </a:rPr>
              <a:t> http://glue.eu.spryker.local/contact-requests</a:t>
            </a:r>
          </a:p>
          <a:p>
            <a:pPr>
              <a:spcAft>
                <a:spcPts val="800"/>
              </a:spcAft>
              <a:defRPr sz="1600">
                <a:solidFill>
                  <a:srgbClr val="1A1A1A"/>
                </a:solidFill>
              </a:defRPr>
            </a:pPr>
            <a:r>
              <a:t>The endpoint belongs to a logged-in customer, so you need a token. This is the whole handshake, and it is the same one Postman needs in its Authorization tab:</a:t>
            </a:r>
          </a:p>
          <a:p>
            <a:pPr>
              <a:spcBef>
                <a:spcPts val="0"/>
              </a:spcBef>
              <a:spcAft>
                <a:spcPts val="0"/>
              </a:spcAft>
            </a:pPr>
            <a:r>
              <a:rPr sz="900">
                <a:solidFill>
                  <a:srgbClr val="19177C"/>
                </a:solidFill>
                <a:latin typeface="Consolas"/>
              </a:rPr>
              <a:t>TOKEN</a:t>
            </a:r>
            <a:r>
              <a:rPr sz="900">
                <a:solidFill>
                  <a:srgbClr val="666666"/>
                </a:solidFill>
                <a:latin typeface="Consolas"/>
              </a:rPr>
              <a:t>=</a:t>
            </a:r>
            <a:r>
              <a:rPr sz="900">
                <a:solidFill>
                  <a:srgbClr val="19177C"/>
                </a:solidFill>
                <a:latin typeface="Consolas"/>
              </a:rPr>
              <a:t>$(</a:t>
            </a: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-X</a:t>
            </a:r>
            <a:r>
              <a:rPr sz="900">
                <a:solidFill>
                  <a:srgbClr val="2D2D2D"/>
                </a:solidFill>
                <a:latin typeface="Consolas"/>
              </a:rPr>
              <a:t> POST http://glue.eu.spryker.local/access-tokens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'Content-Type: application/vnd.api+json'</a:t>
            </a: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application/vnd.api+json'</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a:solidFill>
                  <a:srgbClr val="2D2D2D"/>
                </a:solidFill>
                <a:latin typeface="Consolas"/>
              </a:rPr>
              <a:t>-d</a:t>
            </a:r>
            <a:r>
              <a:rPr sz="900">
                <a:solidFill>
                  <a:srgbClr val="2D2D2D"/>
                </a:solidFill>
                <a:latin typeface="Consolas"/>
              </a:rPr>
              <a:t> </a:t>
            </a:r>
            <a:r>
              <a:rPr sz="900">
                <a:solidFill>
                  <a:srgbClr val="4070A0"/>
                </a:solidFill>
                <a:latin typeface="Consolas"/>
              </a:rPr>
              <a:t>'{"data":{"type":"access-tokens","attributes":{"username":"sonia@acme.com","password":"change123"}}}'</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a:t>
            </a:r>
            <a:r>
              <a:rPr sz="900" b="1">
                <a:solidFill>
                  <a:srgbClr val="007020"/>
                </a:solidFill>
                <a:latin typeface="Consolas"/>
              </a:rPr>
              <a:t>|</a:t>
            </a:r>
            <a:r>
              <a:rPr sz="900">
                <a:solidFill>
                  <a:srgbClr val="2D2D2D"/>
                </a:solidFill>
                <a:latin typeface="Consolas"/>
              </a:rPr>
              <a:t> </a:t>
            </a:r>
            <a:r>
              <a:rPr sz="900">
                <a:solidFill>
                  <a:srgbClr val="2D2D2D"/>
                </a:solidFill>
                <a:latin typeface="Consolas"/>
              </a:rPr>
              <a:t>python3</a:t>
            </a:r>
            <a:r>
              <a:rPr sz="900">
                <a:solidFill>
                  <a:srgbClr val="2D2D2D"/>
                </a:solidFill>
                <a:latin typeface="Consolas"/>
              </a:rPr>
              <a:t> </a:t>
            </a:r>
            <a:r>
              <a:rPr sz="900">
                <a:solidFill>
                  <a:srgbClr val="2D2D2D"/>
                </a:solidFill>
                <a:latin typeface="Consolas"/>
              </a:rPr>
              <a:t>-c</a:t>
            </a:r>
            <a:r>
              <a:rPr sz="900">
                <a:solidFill>
                  <a:srgbClr val="2D2D2D"/>
                </a:solidFill>
                <a:latin typeface="Consolas"/>
              </a:rPr>
              <a:t> </a:t>
            </a:r>
            <a:r>
              <a:rPr sz="900">
                <a:solidFill>
                  <a:srgbClr val="4070A0"/>
                </a:solidFill>
                <a:latin typeface="Consolas"/>
              </a:rPr>
              <a:t>'import sys,json; print(json.load(sys.stdin)["data"]["attributes"]["accessToken"])'</a:t>
            </a:r>
            <a:r>
              <a:rPr sz="900">
                <a:solidFill>
                  <a:srgbClr val="19177C"/>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curl</a:t>
            </a:r>
            <a:r>
              <a:rPr sz="900">
                <a:solidFill>
                  <a:srgbClr val="2D2D2D"/>
                </a:solidFill>
                <a:latin typeface="Consolas"/>
              </a:rPr>
              <a:t> </a:t>
            </a:r>
            <a:r>
              <a:rPr sz="900">
                <a:solidFill>
                  <a:srgbClr val="2D2D2D"/>
                </a:solidFill>
                <a:latin typeface="Consolas"/>
              </a:rPr>
              <a:t>-s</a:t>
            </a: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"Authorization: Bearer </a:t>
            </a:r>
            <a:r>
              <a:rPr sz="900">
                <a:solidFill>
                  <a:srgbClr val="19177C"/>
                </a:solidFill>
                <a:latin typeface="Consolas"/>
              </a:rPr>
              <a:t>$TOKEN</a:t>
            </a:r>
            <a:r>
              <a:rPr sz="900">
                <a:solidFill>
                  <a:srgbClr val="4070A0"/>
                </a:solidFill>
                <a:latin typeface="Consolas"/>
              </a:rPr>
              <a:t>"</a:t>
            </a:r>
            <a:r>
              <a:rPr sz="900">
                <a:solidFill>
                  <a:srgbClr val="2D2D2D"/>
                </a:solidFill>
                <a:latin typeface="Consolas"/>
              </a:rPr>
              <a:t> </a:t>
            </a:r>
            <a:r>
              <a:rPr sz="900">
                <a:solidFill>
                  <a:srgbClr val="2D2D2D"/>
                </a:solidFill>
                <a:latin typeface="Consolas"/>
              </a:rPr>
              <a:t>-H</a:t>
            </a:r>
            <a:r>
              <a:rPr sz="900">
                <a:solidFill>
                  <a:srgbClr val="2D2D2D"/>
                </a:solidFill>
                <a:latin typeface="Consolas"/>
              </a:rPr>
              <a:t> </a:t>
            </a:r>
            <a:r>
              <a:rPr sz="900">
                <a:solidFill>
                  <a:srgbClr val="4070A0"/>
                </a:solidFill>
                <a:latin typeface="Consolas"/>
              </a:rPr>
              <a:t>'Accept: application/vnd.api+json'</a:t>
            </a:r>
            <a:r>
              <a:rPr sz="900">
                <a:solidFill>
                  <a:srgbClr val="2D2D2D"/>
                </a:solidFill>
                <a:latin typeface="Consolas"/>
              </a:rPr>
              <a:t> </a:t>
            </a:r>
            <a:r>
              <a:rPr sz="900">
                <a:solidFill>
                  <a:srgbClr val="902000"/>
                </a:solidFill>
                <a:latin typeface="Consolas"/>
              </a:rPr>
              <a:t>\</a:t>
            </a:r>
          </a:p>
          <a:p>
            <a:pPr>
              <a:spcBef>
                <a:spcPts val="0"/>
              </a:spcBef>
              <a:spcAft>
                <a:spcPts val="0"/>
              </a:spcAft>
            </a:pPr>
            <a:r>
              <a:rPr sz="900">
                <a:solidFill>
                  <a:srgbClr val="2D2D2D"/>
                </a:solidFill>
                <a:latin typeface="Consolas"/>
              </a:rPr>
              <a:t>  http://glue.eu.spryker.local/contact-requests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Verify It Actually Works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This is the route for anyone who does not want to touch Yves. A token, a POST and a GET exercise the whole feature - schema, persistence, business layer and API - without opening the storefront once. It is also the honest test of the requirement you wrote: you asked for messages a customer can send and read their own , so the GET must return that customer’s messages and nobody else’s.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See everything it touched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 started from a clean shop, so Git is an exact record of the assistant’s work:</a:t>
            </a:r>
          </a:p>
          <a:p>
            <a:pPr>
              <a:spcBef>
                <a:spcPts val="0"/>
              </a:spcBef>
              <a:spcAft>
                <a:spcPts val="0"/>
              </a:spcAft>
            </a:pPr>
            <a:r>
              <a:rPr sz="900">
                <a:solidFill>
                  <a:srgbClr val="06287E"/>
                </a:solidFill>
                <a:latin typeface="Consolas"/>
              </a:rPr>
              <a:t>git</a:t>
            </a:r>
            <a:r>
              <a:rPr sz="900">
                <a:solidFill>
                  <a:srgbClr val="2D2D2D"/>
                </a:solidFill>
                <a:latin typeface="Consolas"/>
              </a:rPr>
              <a:t> status </a:t>
            </a:r>
            <a:r>
              <a:rPr sz="900">
                <a:solidFill>
                  <a:srgbClr val="2D2D2D"/>
                </a:solidFill>
                <a:latin typeface="Consolas"/>
              </a:rPr>
              <a:t>--short</a:t>
            </a:r>
            <a:r>
              <a:rPr sz="900">
                <a:solidFill>
                  <a:srgbClr val="2D2D2D"/>
                </a:solidFill>
                <a:latin typeface="Consolas"/>
              </a:rPr>
              <a:t>     </a:t>
            </a:r>
            <a:r>
              <a:rPr sz="900" i="1">
                <a:solidFill>
                  <a:srgbClr val="60A0B0"/>
                </a:solidFill>
                <a:latin typeface="Consolas"/>
              </a:rPr>
              <a:t># every file it created</a:t>
            </a:r>
          </a:p>
          <a:p>
            <a:pPr>
              <a:spcBef>
                <a:spcPts val="0"/>
              </a:spcBef>
              <a:spcAft>
                <a:spcPts val="0"/>
              </a:spcAft>
            </a:pPr>
            <a:r>
              <a:rPr sz="900">
                <a:solidFill>
                  <a:srgbClr val="06287E"/>
                </a:solidFill>
                <a:latin typeface="Consolas"/>
              </a:rPr>
              <a:t>git</a:t>
            </a:r>
            <a:r>
              <a:rPr sz="900">
                <a:solidFill>
                  <a:srgbClr val="2D2D2D"/>
                </a:solidFill>
                <a:latin typeface="Consolas"/>
              </a:rPr>
              <a:t> diff </a:t>
            </a:r>
            <a:r>
              <a:rPr sz="900">
                <a:solidFill>
                  <a:srgbClr val="2D2D2D"/>
                </a:solidFill>
                <a:latin typeface="Consolas"/>
              </a:rPr>
              <a:t>--stat</a:t>
            </a:r>
            <a:r>
              <a:rPr sz="900">
                <a:solidFill>
                  <a:srgbClr val="2D2D2D"/>
                </a:solidFill>
                <a:latin typeface="Consolas"/>
              </a:rPr>
              <a:t>        </a:t>
            </a:r>
            <a:r>
              <a:rPr sz="900" i="1">
                <a:solidFill>
                  <a:srgbClr val="60A0B0"/>
                </a:solidFill>
                <a:latin typeface="Consolas"/>
              </a:rPr>
              <a:t># every tracked file it edited</a:t>
            </a:r>
          </a:p>
          <a:p>
            <a:pPr>
              <a:spcAft>
                <a:spcPts val="800"/>
              </a:spcAft>
              <a:defRPr sz="1600">
                <a:solidFill>
                  <a:srgbClr val="1A1A1A"/>
                </a:solidFill>
              </a:defRPr>
            </a:pPr>
            <a:r>
              <a:t>Anything outside src/SprykerAcademy is a shared file. Expect to see some of these, and read every one of them:</a:t>
            </a:r>
          </a:p>
          <a:p>
            <a:pPr>
              <a:spcAft>
                <a:spcPts val="100"/>
              </a:spcAft>
              <a:defRPr sz="1000">
                <a:solidFill>
                  <a:srgbClr val="1A1A1A"/>
                </a:solidFill>
                <a:latin typeface="Consolas"/>
              </a:defRPr>
            </a:pPr>
            <a:r>
              <a:t>File                                                     What to check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config/Zed/navigation.xml                                The Back Office entry, pointing at a controller that exists</a:t>
            </a:r>
          </a:p>
          <a:p>
            <a:pPr>
              <a:spcAft>
                <a:spcPts val="100"/>
              </a:spcAft>
              <a:defRPr sz="1000">
                <a:solidFill>
                  <a:srgbClr val="1A1A1A"/>
                </a:solidFill>
                <a:latin typeface="Consolas"/>
              </a:defRPr>
            </a:pPr>
            <a:r>
              <a:t>config/Shared/config_default.php                         Constants appended, nothing else disturbed                 </a:t>
            </a:r>
          </a:p>
          <a:p>
            <a:pPr>
              <a:spcAft>
                <a:spcPts val="100"/>
              </a:spcAft>
              <a:defRPr sz="1000">
                <a:solidFill>
                  <a:srgbClr val="1A1A1A"/>
                </a:solidFill>
                <a:latin typeface="Consolas"/>
              </a:defRPr>
            </a:pPr>
            <a:r>
              <a:t>config/Zed/ApplicationServices.php                       Bindings, if it wrote two implementations of an interface  </a:t>
            </a:r>
          </a:p>
          <a:p>
            <a:pPr>
              <a:spcAft>
                <a:spcPts val="100"/>
              </a:spcAft>
              <a:defRPr sz="1000">
                <a:solidFill>
                  <a:srgbClr val="1A1A1A"/>
                </a:solidFill>
                <a:latin typeface="Consolas"/>
              </a:defRPr>
            </a:pPr>
            <a:r>
              <a:t>config/GlueStorefront/ApplicationServices.php            The project Client registration the API needs              </a:t>
            </a:r>
          </a:p>
          <a:p>
            <a:pPr>
              <a:spcAft>
                <a:spcPts val="100"/>
              </a:spcAft>
              <a:defRPr sz="1000">
                <a:solidFill>
                  <a:srgbClr val="1A1A1A"/>
                </a:solidFill>
                <a:latin typeface="Consolas"/>
              </a:defRPr>
            </a:pPr>
            <a:r>
              <a:t>config/GlueStorefront/packages/spryker_api_platform.php  src/SprykerAcademy in the source directories               </a:t>
            </a:r>
          </a:p>
          <a:p>
            <a:pPr>
              <a:spcAft>
                <a:spcPts val="100"/>
              </a:spcAft>
              <a:defRPr sz="1000">
                <a:solidFill>
                  <a:srgbClr val="1A1A1A"/>
                </a:solidFill>
                <a:latin typeface="Consolas"/>
              </a:defRPr>
            </a:pPr>
            <a:r>
              <a:t>src/Pyz/Yves/CustomerPage/...navigation-sidebar.twig     If you asked for Yves: the account link                    </a:t>
            </a:r>
          </a:p>
          <a:p>
            <a:pPr>
              <a:spcAft>
                <a:spcPts val="100"/>
              </a:spcAft>
              <a:defRPr sz="1000">
                <a:solidFill>
                  <a:srgbClr val="1A1A1A"/>
                </a:solidFill>
                <a:latin typeface="Consolas"/>
              </a:defRPr>
            </a:pPr>
            <a:r>
              <a:t>composer.json                                            Did it add a dependency? Which, and why?</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Check the service container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This is where a Spryker assistant goes wrong quietly:</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lint:container</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vendor/bin/console debug:container </a:t>
            </a:r>
            <a:r>
              <a:rPr sz="900" b="1">
                <a:solidFill>
                  <a:srgbClr val="007020"/>
                </a:solidFill>
                <a:latin typeface="Consolas"/>
              </a:rPr>
              <a:t>|</a:t>
            </a:r>
            <a:r>
              <a:rPr sz="900">
                <a:solidFill>
                  <a:srgbClr val="2D2D2D"/>
                </a:solidFill>
                <a:latin typeface="Consolas"/>
              </a:rPr>
              <a:t> </a:t>
            </a:r>
            <a:r>
              <a:rPr sz="900">
                <a:solidFill>
                  <a:srgbClr val="06287E"/>
                </a:solidFill>
                <a:latin typeface="Consolas"/>
              </a:rPr>
              <a:t>grep</a:t>
            </a:r>
            <a:r>
              <a:rPr sz="900">
                <a:solidFill>
                  <a:srgbClr val="2D2D2D"/>
                </a:solidFill>
                <a:latin typeface="Consolas"/>
              </a:rPr>
              <a:t> SprykerAcademy</a:t>
            </a:r>
          </a:p>
          <a:p>
            <a:pPr>
              <a:spcAft>
                <a:spcPts val="800"/>
              </a:spcAft>
              <a:defRPr sz="1600">
                <a:solidFill>
                  <a:srgbClr val="1A1A1A"/>
                </a:solidFill>
              </a:defRPr>
            </a:pPr>
            <a:r>
              <a:t>The lint must answer The container was linted successfully , and the listing shows every class of the new module that Symfony knows about. If a class the assistant just wrote is missing from the listing, rebuild the container before believing it - docker/sdk console cache:clear ( Exercise 4, section 2.7 ). Autowiring resolves a constructor that asks for an interface only while exactly one class implements it, so if the assistant wrote two implementations of the same interface, the binding has to be explicit in config/Zed/ApplicationServices.php - see Exercise 4, section 2.5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Check the service container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If a page errors, do not fix it yourself yet. Hand the error to the assistant (the spryker-issue-diagnoser agent is built for this) and watch how it diagnoses. That is also part of the exercise.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Review It Like a Pull Request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Commit the result first. This is the only copy of it, and the next step overwrites the folder:</a:t>
            </a:r>
          </a:p>
          <a:p>
            <a:pPr>
              <a:spcBef>
                <a:spcPts val="0"/>
              </a:spcBef>
              <a:spcAft>
                <a:spcPts val="0"/>
              </a:spcAft>
            </a:pPr>
            <a:r>
              <a:rPr sz="900">
                <a:solidFill>
                  <a:srgbClr val="2D2D2D"/>
                </a:solidFill>
                <a:latin typeface="Consolas"/>
              </a:rPr>
              <a:t>printf</a:t>
            </a:r>
            <a:r>
              <a:rPr sz="900">
                <a:solidFill>
                  <a:srgbClr val="2D2D2D"/>
                </a:solidFill>
                <a:latin typeface="Consolas"/>
              </a:rPr>
              <a:t> </a:t>
            </a:r>
            <a:r>
              <a:rPr sz="900">
                <a:solidFill>
                  <a:srgbClr val="4070A0"/>
                </a:solidFill>
                <a:latin typeface="Consolas"/>
              </a:rPr>
              <a:t>'exercises/\n'</a:t>
            </a:r>
            <a:r>
              <a:rPr sz="900">
                <a:solidFill>
                  <a:srgbClr val="2D2D2D"/>
                </a:solidFill>
                <a:latin typeface="Consolas"/>
              </a:rPr>
              <a:t> </a:t>
            </a:r>
            <a:r>
              <a:rPr sz="900">
                <a:solidFill>
                  <a:srgbClr val="666666"/>
                </a:solidFill>
                <a:latin typeface="Consolas"/>
              </a:rPr>
              <a:t>&gt;&gt;</a:t>
            </a:r>
            <a:r>
              <a:rPr sz="900">
                <a:solidFill>
                  <a:srgbClr val="2D2D2D"/>
                </a:solidFill>
                <a:latin typeface="Consolas"/>
              </a:rPr>
              <a:t> .git/info/exclude   </a:t>
            </a:r>
            <a:r>
              <a:rPr sz="900" i="1">
                <a:solidFill>
                  <a:srgbClr val="60A0B0"/>
                </a:solidFill>
                <a:latin typeface="Consolas"/>
              </a:rPr>
              <a:t># the exercises clone is a repo of its own</a:t>
            </a:r>
          </a:p>
          <a:p>
            <a:pPr>
              <a:spcBef>
                <a:spcPts val="0"/>
              </a:spcBef>
              <a:spcAft>
                <a:spcPts val="0"/>
              </a:spcAft>
            </a:pPr>
            <a:r>
              <a:rPr sz="900">
                <a:solidFill>
                  <a:srgbClr val="06287E"/>
                </a:solidFill>
                <a:latin typeface="Consolas"/>
              </a:rPr>
              <a:t>git</a:t>
            </a:r>
            <a:r>
              <a:rPr sz="900">
                <a:solidFill>
                  <a:srgbClr val="2D2D2D"/>
                </a:solidFill>
                <a:latin typeface="Consolas"/>
              </a:rPr>
              <a:t> add </a:t>
            </a:r>
            <a:r>
              <a:rPr sz="900">
                <a:solidFill>
                  <a:srgbClr val="2D2D2D"/>
                </a:solidFill>
                <a:latin typeface="Consolas"/>
              </a:rPr>
              <a:t>-A</a:t>
            </a:r>
          </a:p>
          <a:p>
            <a:pPr>
              <a:spcBef>
                <a:spcPts val="0"/>
              </a:spcBef>
              <a:spcAft>
                <a:spcPts val="0"/>
              </a:spcAft>
            </a:pPr>
            <a:r>
              <a:rPr sz="900">
                <a:solidFill>
                  <a:srgbClr val="06287E"/>
                </a:solidFill>
                <a:latin typeface="Consolas"/>
              </a:rPr>
              <a:t>git</a:t>
            </a:r>
            <a:r>
              <a:rPr sz="900">
                <a:solidFill>
                  <a:srgbClr val="2D2D2D"/>
                </a:solidFill>
                <a:latin typeface="Consolas"/>
              </a:rPr>
              <a:t> commit </a:t>
            </a:r>
            <a:r>
              <a:rPr sz="900">
                <a:solidFill>
                  <a:srgbClr val="2D2D2D"/>
                </a:solidFill>
                <a:latin typeface="Consolas"/>
              </a:rPr>
              <a:t>-m</a:t>
            </a:r>
            <a:r>
              <a:rPr sz="900">
                <a:solidFill>
                  <a:srgbClr val="2D2D2D"/>
                </a:solidFill>
                <a:latin typeface="Consolas"/>
              </a:rPr>
              <a:t> </a:t>
            </a:r>
            <a:r>
              <a:rPr sz="900">
                <a:solidFill>
                  <a:srgbClr val="4070A0"/>
                </a:solidFill>
                <a:latin typeface="Consolas"/>
              </a:rPr>
              <a:t>"ContactRequest built by the AI Dev SDK"</a:t>
            </a:r>
          </a:p>
          <a:p>
            <a:pPr>
              <a:spcBef>
                <a:spcPts val="0"/>
              </a:spcBef>
              <a:spcAft>
                <a:spcPts val="0"/>
              </a:spcAft>
            </a:pPr>
            <a:r>
              <a:rPr sz="900">
                <a:solidFill>
                  <a:srgbClr val="06287E"/>
                </a:solidFill>
                <a:latin typeface="Consolas"/>
              </a:rPr>
              <a:t>git</a:t>
            </a:r>
            <a:r>
              <a:rPr sz="900">
                <a:solidFill>
                  <a:srgbClr val="2D2D2D"/>
                </a:solidFill>
                <a:latin typeface="Consolas"/>
              </a:rPr>
              <a:t> show </a:t>
            </a:r>
            <a:r>
              <a:rPr sz="900">
                <a:solidFill>
                  <a:srgbClr val="2D2D2D"/>
                </a:solidFill>
                <a:latin typeface="Consolas"/>
              </a:rPr>
              <a:t>--stat</a:t>
            </a:r>
            <a:r>
              <a:rPr sz="900">
                <a:solidFill>
                  <a:srgbClr val="2D2D2D"/>
                </a:solidFill>
                <a:latin typeface="Consolas"/>
              </a:rPr>
              <a:t> HEAD</a:t>
            </a:r>
          </a:p>
          <a:p>
            <a:pPr>
              <a:spcAft>
                <a:spcPts val="800"/>
              </a:spcAft>
              <a:defRPr sz="1400" i="1">
                <a:solidFill>
                  <a:srgbClr val="888888"/>
                </a:solidFill>
              </a:defRPr>
            </a:pPr>
            <a:r>
              <a:t>❝ Without the first line, git add -A warns adding embedded git repository: exercises and records the folder as a broken submodule reference. .git/info/exclude is a personal .gitignore that is not part of the repository, which is exactly right for a folder only you have.</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Bring your own implementation back and diff the two</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Now load the handmade module on top of the assistant’s. The loader deletes src/SprykerAcademy and writes Exercise 6’s version in its place - and because the assistant’s version is committed, that turns the whole comparison into one git diff :</a:t>
            </a:r>
          </a:p>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basics/module-layers/complete </a:t>
            </a:r>
            <a:r>
              <a:rPr sz="900">
                <a:solidFill>
                  <a:srgbClr val="2D2D2D"/>
                </a:solidFill>
                <a:latin typeface="Consolas"/>
              </a:rPr>
              <a:t>--run</a:t>
            </a:r>
          </a:p>
          <a:p>
            <a:pPr>
              <a:spcBef>
                <a:spcPts val="0"/>
              </a:spcBef>
              <a:spcAft>
                <a:spcPts val="0"/>
              </a:spcAft>
            </a:pPr>
            <a:r>
              <a:rPr sz="900">
                <a:latin typeface="Consolas"/>
              </a:rPr>
              <a:t> </a:t>
            </a:r>
          </a:p>
          <a:p>
            <a:pPr>
              <a:spcBef>
                <a:spcPts val="0"/>
              </a:spcBef>
              <a:spcAft>
                <a:spcPts val="0"/>
              </a:spcAft>
            </a:pPr>
            <a:r>
              <a:rPr sz="900">
                <a:solidFill>
                  <a:srgbClr val="06287E"/>
                </a:solidFill>
                <a:latin typeface="Consolas"/>
              </a:rPr>
              <a:t>git</a:t>
            </a:r>
            <a:r>
              <a:rPr sz="900">
                <a:solidFill>
                  <a:srgbClr val="2D2D2D"/>
                </a:solidFill>
                <a:latin typeface="Consolas"/>
              </a:rPr>
              <a:t> status </a:t>
            </a:r>
            <a:r>
              <a:rPr sz="900">
                <a:solidFill>
                  <a:srgbClr val="2D2D2D"/>
                </a:solidFill>
                <a:latin typeface="Consolas"/>
              </a:rPr>
              <a:t>--short</a:t>
            </a:r>
            <a:r>
              <a:rPr sz="900">
                <a:solidFill>
                  <a:srgbClr val="2D2D2D"/>
                </a:solidFill>
                <a:latin typeface="Consolas"/>
              </a:rPr>
              <a:t>     </a:t>
            </a:r>
            <a:r>
              <a:rPr sz="900" i="1">
                <a:solidFill>
                  <a:srgbClr val="60A0B0"/>
                </a:solidFill>
                <a:latin typeface="Consolas"/>
              </a:rPr>
              <a:t># what the two implementations disagree about</a:t>
            </a:r>
          </a:p>
          <a:p>
            <a:pPr>
              <a:spcBef>
                <a:spcPts val="0"/>
              </a:spcBef>
              <a:spcAft>
                <a:spcPts val="0"/>
              </a:spcAft>
            </a:pPr>
            <a:r>
              <a:rPr sz="900">
                <a:solidFill>
                  <a:srgbClr val="06287E"/>
                </a:solidFill>
                <a:latin typeface="Consolas"/>
              </a:rPr>
              <a:t>git</a:t>
            </a:r>
            <a:r>
              <a:rPr sz="900">
                <a:solidFill>
                  <a:srgbClr val="2D2D2D"/>
                </a:solidFill>
                <a:latin typeface="Consolas"/>
              </a:rPr>
              <a:t> diff               </a:t>
            </a:r>
            <a:r>
              <a:rPr sz="900" i="1">
                <a:solidFill>
                  <a:srgbClr val="60A0B0"/>
                </a:solidFill>
                <a:latin typeface="Consolas"/>
              </a:rPr>
              <a:t># the assistant's version (HEAD) against yours (working tree)</a:t>
            </a:r>
          </a:p>
          <a:p>
            <a:pPr>
              <a:spcAft>
                <a:spcPts val="800"/>
              </a:spcAft>
              <a:defRPr sz="1400" i="1">
                <a:solidFill>
                  <a:srgbClr val="888888"/>
                </a:solidFill>
              </a:defRPr>
            </a:pPr>
            <a:r>
              <a:t>❝ The loader registers the namespace and runs composer dump-autoload itself, so there is nothing to do after it apart from reading the diff.</a:t>
            </a:r>
          </a:p>
          <a:p>
            <a:pPr>
              <a:spcAft>
                <a:spcPts val="800"/>
              </a:spcAft>
              <a:defRPr sz="1600">
                <a:solidFill>
                  <a:srgbClr val="1A1A1A"/>
                </a:solidFill>
              </a:defRPr>
            </a:pPr>
            <a:r>
              <a:t>Read git status first, because the file names alone tell you most of the story:</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Bring your own implementation back and diff the two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Deleted files are things the assistant wrote that your module does not have. Sometimes they are genuinely better; sometimes they are a Validator , a Creator and an ExceptionFactory where a Writer would have done.</a:t>
            </a:r>
          </a:p>
          <a:p>
            <a:pPr>
              <a:spcAft>
                <a:spcPts val="400"/>
              </a:spcAft>
              <a:defRPr sz="1500">
                <a:solidFill>
                  <a:srgbClr val="1A1A1A"/>
                </a:solidFill>
              </a:defRPr>
            </a:pPr>
            <a:r>
              <a:t>• New files are what it left out. If Communication/Table/... shows up here, it did not use Spryker’s table and your sorting and filtering came from somewhere else.</a:t>
            </a:r>
          </a:p>
          <a:p>
            <a:pPr>
              <a:spcAft>
                <a:spcPts val="400"/>
              </a:spcAft>
              <a:defRPr sz="1500">
                <a:solidFill>
                  <a:srgbClr val="1A1A1A"/>
                </a:solidFill>
              </a:defRPr>
            </a:pPr>
            <a:r>
              <a:t>• Modified files are the interesting ones: same name, same job, two designs. git diff them one by one.</a:t>
            </a:r>
          </a:p>
          <a:p>
            <a:pPr>
              <a:spcAft>
                <a:spcPts val="800"/>
              </a:spcAft>
              <a:defRPr sz="1600">
                <a:solidFill>
                  <a:srgbClr val="1A1A1A"/>
                </a:solidFill>
              </a:defRPr>
            </a:pPr>
            <a:r>
              <a:t>If the assistant chose different class names - likely, and fine - Git sees no pairs at all and everything looks added or deleted. Compare the two by shape instead. The script reads the assistant’s module straight out of the commit, so the working tree stays exactly as the loader left it:</a:t>
            </a:r>
          </a:p>
          <a:p>
            <a:pPr>
              <a:spcBef>
                <a:spcPts val="0"/>
              </a:spcBef>
              <a:spcAft>
                <a:spcPts val="0"/>
              </a:spcAft>
            </a:pPr>
            <a:r>
              <a:rPr sz="900">
                <a:solidFill>
                  <a:srgbClr val="2D2D2D"/>
                </a:solidFill>
                <a:latin typeface="Consolas"/>
              </a:rPr>
              <a:t>./exercises/tools/compare-modules.sh</a:t>
            </a:r>
            <a:r>
              <a:rPr sz="900">
                <a:solidFill>
                  <a:srgbClr val="2D2D2D"/>
                </a:solidFill>
                <a:latin typeface="Consolas"/>
              </a:rPr>
              <a:t> ContactRequest </a:t>
            </a:r>
            <a:r>
              <a:rPr sz="900">
                <a:solidFill>
                  <a:srgbClr val="666666"/>
                </a:solidFill>
                <a:latin typeface="Consolas"/>
              </a:rPr>
              <a:t>&lt;</a:t>
            </a:r>
            <a:r>
              <a:rPr sz="900">
                <a:solidFill>
                  <a:srgbClr val="2D2D2D"/>
                </a:solidFill>
                <a:latin typeface="Consolas"/>
              </a:rPr>
              <a:t>TheNameItChose</a:t>
            </a:r>
            <a:r>
              <a:rPr sz="900">
                <a:solidFill>
                  <a:srgbClr val="666666"/>
                </a:solidFill>
                <a:latin typeface="Consolas"/>
              </a:rPr>
              <a:t>&gt;</a:t>
            </a:r>
            <a:r>
              <a:rPr sz="900">
                <a:solidFill>
                  <a:srgbClr val="2D2D2D"/>
                </a:solidFill>
                <a:latin typeface="Consolas"/>
              </a:rPr>
              <a:t> --ref HEAD</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Bring your own implementation back and diff the two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It maps every file of one module onto the other in all three spellings ( ContactRequest , contact_request , contact-request ), normalises the name inside the files too, and reports what is missing, extra and genuinely different:</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Bring your own implementation back and diff the two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Comparing ContactRequest (working tree) with CustomerRequest (HEAD)</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differs: ./Zed/ContactRequest/Business/ContactRequestFacade.php</a:t>
            </a:r>
          </a:p>
          <a:p>
            <a:pPr>
              <a:spcBef>
                <a:spcPts val="0"/>
              </a:spcBef>
              <a:spcAft>
                <a:spcPts val="0"/>
              </a:spcAft>
            </a:pPr>
            <a:r>
              <a:rPr sz="900">
                <a:solidFill>
                  <a:srgbClr val="2D2D2D"/>
                </a:solidFill>
                <a:latin typeface="Consolas"/>
              </a:rPr>
              <a:t>differs: ./Zed/ContactRequest/Persistence/Propel/Schema/pyz_contact_request.schema.xml</a:t>
            </a:r>
          </a:p>
          <a:p>
            <a:pPr>
              <a:spcBef>
                <a:spcPts val="0"/>
              </a:spcBef>
              <a:spcAft>
                <a:spcPts val="0"/>
              </a:spcAft>
            </a:pPr>
            <a:r>
              <a:rPr sz="900">
                <a:solidFill>
                  <a:srgbClr val="2D2D2D"/>
                </a:solidFill>
                <a:latin typeface="Consolas"/>
              </a:rPr>
              <a:t>only in ContactRequest: ./Zed/ContactRequest/Business/Writer/ContactRequestWriter.php</a:t>
            </a:r>
          </a:p>
          <a:p>
            <a:pPr>
              <a:spcBef>
                <a:spcPts val="0"/>
              </a:spcBef>
              <a:spcAft>
                <a:spcPts val="0"/>
              </a:spcAft>
            </a:pPr>
            <a:r>
              <a:rPr sz="900">
                <a:solidFill>
                  <a:srgbClr val="2D2D2D"/>
                </a:solidFill>
                <a:latin typeface="Consolas"/>
              </a:rPr>
              <a:t>only in CustomerRequest: ./Zed/CustomerRequest/Business/Creator/CustomerRequestCreator.php</a:t>
            </a:r>
          </a:p>
          <a:p>
            <a:pPr>
              <a:spcBef>
                <a:spcPts val="0"/>
              </a:spcBef>
              <a:spcAft>
                <a:spcPts val="0"/>
              </a:spcAft>
            </a:pPr>
            <a:r>
              <a:rPr sz="900">
                <a:solidFill>
                  <a:srgbClr val="2D2D2D"/>
                </a:solidFill>
                <a:latin typeface="Consolas"/>
              </a:rPr>
              <a:t>only in CustomerRequest: ./Zed/CustomerRequest/Business/Validator/CustomerRequestValidator.php</a:t>
            </a:r>
          </a:p>
          <a:p>
            <a:pPr>
              <a:spcBef>
                <a:spcPts val="0"/>
              </a:spcBef>
              <a:spcAft>
                <a:spcPts val="0"/>
              </a:spcAft>
            </a:pPr>
            <a:r>
              <a:rPr sz="900">
                <a:solidFill>
                  <a:srgbClr val="2D2D2D"/>
                </a:solidFill>
                <a:latin typeface="Consolas"/>
              </a:rPr>
              <a:t>only in CustomerRequest: ./Zed/CustomerRequest/Business/CustomerRequestBusinessFactory.php</a:t>
            </a:r>
          </a:p>
          <a:p>
            <a:pPr>
              <a:spcBef>
                <a:spcPts val="0"/>
              </a:spcBef>
              <a:spcAft>
                <a:spcPts val="0"/>
              </a:spcAft>
            </a:pPr>
            <a:r>
              <a:rPr sz="900">
                <a:solidFill>
                  <a:srgbClr val="2D2D2D"/>
                </a:solidFill>
                <a:latin typeface="Consolas"/>
              </a:rPr>
              <a:t>only in CustomerRequest: ./Zed/CustomerRequest/Communication/Table/CustomerRequestTable.php</a:t>
            </a:r>
          </a:p>
          <a:p>
            <a:pPr>
              <a:spcBef>
                <a:spcPts val="0"/>
              </a:spcBef>
              <a:spcAft>
                <a:spcPts val="0"/>
              </a:spcAft>
            </a:pPr>
            <a:r>
              <a:rPr sz="900">
                <a:solidFill>
                  <a:srgbClr val="2D2D2D"/>
                </a:solidFill>
                <a:latin typeface="Consolas"/>
              </a:rPr>
              <a: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identical after renaming: 0 of 43 files</a:t>
            </a:r>
          </a:p>
          <a:p>
            <a:pPr>
              <a:spcBef>
                <a:spcPts val="0"/>
              </a:spcBef>
              <a:spcAft>
                <a:spcPts val="0"/>
              </a:spcAft>
            </a:pPr>
            <a:r>
              <a:rPr sz="900">
                <a:solidFill>
                  <a:srgbClr val="2D2D2D"/>
                </a:solidFill>
                <a:latin typeface="Consolas"/>
              </a:rPr>
              <a:t>differs: 12   only in ContactRequest: 13   only in CustomerRequest: 18</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Bring your own implementation back and diff the two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That output is from a real run, and it is already a review: the assistant split writing into a Creator and a Validator where you had one Writer , it kept the business factory the house rules told it not to write, and it did use Spryker’s AbstractTable - which your Exercise 4 module never had. Nothing identical after renaming means it designed rather than copied.</a:t>
            </a:r>
          </a:p>
          <a:p>
            <a:pPr>
              <a:spcAft>
                <a:spcPts val="800"/>
              </a:spcAft>
              <a:defRPr sz="1600">
                <a:solidFill>
                  <a:srgbClr val="1A1A1A"/>
                </a:solidFill>
              </a:defRPr>
            </a:pPr>
            <a:r>
              <a:t>If most of it comes back identical, the opposite happened: the assistant reproduced the tutorial it was trained on, and the script says so.</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Then go through the code with the rules of Exercises 1 to 6b in hand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Persistence. Is fk_customer a real Propel foreign key to spy_customer , or just an integer column? Is there an index? Does any Propel entity leave the Persistence layer, or does everything cross the boundary as a transfer?</a:t>
            </a:r>
          </a:p>
          <a:p>
            <a:pPr>
              <a:spcAft>
                <a:spcPts val="400"/>
              </a:spcAft>
              <a:defRPr sz="1500">
                <a:solidFill>
                  <a:srgbClr val="1A1A1A"/>
                </a:solidFill>
              </a:defRPr>
            </a:pPr>
            <a:r>
              <a:t>• Business. Is there a Facade with an interface? Are Reader and Writer separate classes with interfaces? Any new inside business logic instead of a factory?</a:t>
            </a:r>
          </a:p>
          <a:p>
            <a:pPr>
              <a:spcAft>
                <a:spcPts val="400"/>
              </a:spcAft>
              <a:defRPr sz="1500">
                <a:solidFill>
                  <a:srgbClr val="1A1A1A"/>
                </a:solidFill>
              </a:defRPr>
            </a:pPr>
            <a:r>
              <a:t>• Communication. Did it use Spryker’s Back Office table ( AbstractTable from the Gui module, with configure() and prepareData() ), or did it hand-roll a Twig loop and call it a table? Sorting, filtering and paging come for free with the first and not at all with the second.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Then go through the code with the rules of Exercises 1 to 6b in hand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Wiring. Count the classes that exist only to assemble other classes. A business factory, a Zed dependency provider and a facade full of $this-&gt;getFactory()-&gt;create...() mean it ignored the house rules and wrote the older Spryker style - which runs, and which is exactly the noise that makes the diff against your module unreadable. In Yves it is the other way round: a factory and a dependency provider are correct there, and constructor injection is not.</a:t>
            </a:r>
          </a:p>
          <a:p>
            <a:pPr>
              <a:spcAft>
                <a:spcPts val="400"/>
              </a:spcAft>
              <a:defRPr sz="1500">
                <a:solidFill>
                  <a:srgbClr val="1A1A1A"/>
                </a:solidFill>
              </a:defRPr>
            </a:pPr>
            <a:r>
              <a:t>• Yves - if you asked for it. Does the storefront go through the Client and the Zed gateway, or does it query the database directly from Yves? Does the page only ever show the messages of the logged-in customer - or can you change an ID in the URL and read someone else’s?</a:t>
            </a:r>
          </a:p>
          <a:p>
            <a:pPr>
              <a:spcAft>
                <a:spcPts val="400"/>
              </a:spcAft>
              <a:defRPr sz="1500">
                <a:solidFill>
                  <a:srgbClr val="1A1A1A"/>
                </a:solidFill>
              </a:defRPr>
            </a:pPr>
            <a:r>
              <a:t>• Transfers. strict="true" , or untyped accessors?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Then go through the code with the rules of Exercises 1 to 6b in hand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The API. A *.resource.yml plus a Provider class, or the legacy GlueApplication plugin stack? Both run, and only one is what Spryker recommends for new APIs. Did it register src/SprykerAcademy in config/GlueStorefront/packages/spryker_api_platform.php , or did it quietly put the resource in Pyz where the default source directories already look?</a:t>
            </a:r>
          </a:p>
          <a:p>
            <a:pPr>
              <a:spcAft>
                <a:spcPts val="400"/>
              </a:spcAft>
              <a:defRPr sz="1500">
                <a:solidFill>
                  <a:srgbClr val="1A1A1A"/>
                </a:solidFill>
              </a:defRPr>
            </a:pPr>
            <a:r>
              <a:t>• Who can read what. Change the id in the API request to a contact request belonging to another customer. If you get it back, the Provider is not scoping by the authenticated customer - the single most common mistake in a generated API, and the one a passing test suite will not catch.</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Then go through the code with the rules of Exercises 1 to 6b in hand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Service wiring. Did it register the interfaces it injects in config/Zed/ApplicationServices.php , or is the module standing on the single-implementation rule without knowing it? Ask the assistant which of its constructor arguments would stop resolving if you added a second implementation tomorrow. And if an API Platform provider injects its Client, is that Client registered in config/GlueStorefront/ApplicationServices.php - or did it only work because you told it to put the line there?</a:t>
            </a:r>
          </a:p>
          <a:p>
            <a:pPr>
              <a:spcAft>
                <a:spcPts val="400"/>
              </a:spcAft>
              <a:defRPr sz="1500">
                <a:solidFill>
                  <a:srgbClr val="1A1A1A"/>
                </a:solidFill>
              </a:defRPr>
            </a:pPr>
            <a:r>
              <a:t>• Everything else. Dependencies through the DependencyProvider and created in factories? Return types as interfaces? Did it add things you never asked for - extra fields, helper classes, commented-out code? Would you keep them?</a:t>
            </a:r>
          </a:p>
          <a:p>
            <a:pPr>
              <a:spcAft>
                <a:spcPts val="800"/>
              </a:spcAft>
              <a:defRPr sz="1600">
                <a:solidFill>
                  <a:srgbClr val="1A1A1A"/>
                </a:solidFill>
              </a:defRPr>
            </a:pPr>
            <a:r>
              <a:t>Then ask the SDK’s own reviewer and compare its list with yours:</a:t>
            </a:r>
          </a:p>
          <a:p>
            <a:pPr>
              <a:spcBef>
                <a:spcPts val="0"/>
              </a:spcBef>
              <a:spcAft>
                <a:spcPts val="0"/>
              </a:spcAft>
            </a:pPr>
            <a:r>
              <a:rPr sz="900">
                <a:solidFill>
                  <a:srgbClr val="2D2D2D"/>
                </a:solidFill>
                <a:latin typeface="Consolas"/>
              </a:rPr>
              <a:t>Use the spryker-code-reviewer agent to review the ContactRequest module in the last commit.</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Then go through the code with the rules of Exercises 1 to 6b in hand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best result of this exercise is a list of differences, not a perfect module. Write the list down - it is the thing you take home about working with an assistant on a Spryker project.</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Cleanup</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You are already most of the way there: the loader in Part 5 put the handmade module back. For Exercise 7, load its skeleton and rebuild:</a:t>
            </a:r>
          </a:p>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basics/extending-core-modules/skeleton</a:t>
            </a:r>
          </a:p>
          <a:p>
            <a:pPr>
              <a:spcBef>
                <a:spcPts val="0"/>
              </a:spcBef>
              <a:spcAft>
                <a:spcPts val="0"/>
              </a:spcAft>
            </a:pPr>
            <a:r>
              <a:rPr sz="900">
                <a:solidFill>
                  <a:srgbClr val="2D2D2D"/>
                </a:solidFill>
                <a:latin typeface="Consolas"/>
              </a:rPr>
              <a:t>docker/sdk</a:t>
            </a:r>
            <a:r>
              <a:rPr sz="900">
                <a:solidFill>
                  <a:srgbClr val="2D2D2D"/>
                </a:solidFill>
                <a:latin typeface="Consolas"/>
              </a:rPr>
              <a:t> console c:e</a:t>
            </a:r>
          </a:p>
          <a:p>
            <a:pPr>
              <a:spcBef>
                <a:spcPts val="0"/>
              </a:spcBef>
              <a:spcAft>
                <a:spcPts val="0"/>
              </a:spcAft>
            </a:pPr>
            <a:r>
              <a:rPr sz="900">
                <a:solidFill>
                  <a:srgbClr val="2D2D2D"/>
                </a:solidFill>
                <a:latin typeface="Consolas"/>
              </a:rPr>
              <a:t>docker/sdk</a:t>
            </a:r>
            <a:r>
              <a:rPr sz="900">
                <a:solidFill>
                  <a:srgbClr val="2D2D2D"/>
                </a:solidFill>
                <a:latin typeface="Consolas"/>
              </a:rPr>
              <a:t> cli composer dump-autoload</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a:p>
            <a:pPr>
              <a:spcAft>
                <a:spcPts val="800"/>
              </a:spcAft>
              <a:defRPr sz="1600">
                <a:solidFill>
                  <a:srgbClr val="1A1A1A"/>
                </a:solidFill>
              </a:defRPr>
            </a:pPr>
            <a:r>
              <a:t>Two things the loader does not clean up after the assistant, because it only ever adds to those files:</a:t>
            </a:r>
          </a:p>
          <a:p>
            <a:pPr>
              <a:spcAft>
                <a:spcPts val="400"/>
              </a:spcAft>
              <a:defRPr sz="1500">
                <a:solidFill>
                  <a:srgbClr val="1A1A1A"/>
                </a:solidFill>
              </a:defRPr>
            </a:pPr>
            <a:r>
              <a:t>• The navigation entry , if the assistant’s module used a different key from Exercise 6’s. The Back Office menu then keeps a link to a controller that no longer exists. Remove the entry from config/Zed/navigation.xml and run docker/sdk console navigation:build-cache .</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Cleanup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Anything it wrote in src/Pyz or config/ . git diff after the load shows what survived; the table it created stays in the database as well.</a:t>
            </a:r>
          </a:p>
          <a:p>
            <a:pPr>
              <a:spcAft>
                <a:spcPts val="800"/>
              </a:spcAft>
              <a:defRPr sz="1600">
                <a:solidFill>
                  <a:srgbClr val="1A1A1A"/>
                </a:solidFill>
              </a:defRPr>
            </a:pPr>
            <a:r>
              <a:t>The assistant’s module is safe in the commit from Part 5, so you can read it again whenever you want:</a:t>
            </a:r>
          </a:p>
          <a:p>
            <a:pPr>
              <a:spcBef>
                <a:spcPts val="0"/>
              </a:spcBef>
              <a:spcAft>
                <a:spcPts val="0"/>
              </a:spcAft>
            </a:pPr>
            <a:r>
              <a:rPr sz="900">
                <a:solidFill>
                  <a:srgbClr val="06287E"/>
                </a:solidFill>
                <a:latin typeface="Consolas"/>
              </a:rPr>
              <a:t>git</a:t>
            </a:r>
            <a:r>
              <a:rPr sz="900">
                <a:solidFill>
                  <a:srgbClr val="2D2D2D"/>
                </a:solidFill>
                <a:latin typeface="Consolas"/>
              </a:rPr>
              <a:t> show </a:t>
            </a:r>
            <a:r>
              <a:rPr sz="900">
                <a:solidFill>
                  <a:srgbClr val="2D2D2D"/>
                </a:solidFill>
                <a:latin typeface="Consolas"/>
              </a:rPr>
              <a:t>--stat</a:t>
            </a:r>
            <a:r>
              <a:rPr sz="900">
                <a:solidFill>
                  <a:srgbClr val="2D2D2D"/>
                </a:solidFill>
                <a:latin typeface="Consolas"/>
              </a:rPr>
              <a:t> HEAD~0                       </a:t>
            </a:r>
            <a:r>
              <a:rPr sz="900" i="1">
                <a:solidFill>
                  <a:srgbClr val="60A0B0"/>
                </a:solidFill>
                <a:latin typeface="Consolas"/>
              </a:rPr>
              <a:t># or whichever commit it was</a:t>
            </a:r>
          </a:p>
          <a:p>
            <a:pPr>
              <a:spcBef>
                <a:spcPts val="0"/>
              </a:spcBef>
              <a:spcAft>
                <a:spcPts val="0"/>
              </a:spcAft>
            </a:pPr>
            <a:r>
              <a:rPr sz="900">
                <a:solidFill>
                  <a:srgbClr val="06287E"/>
                </a:solidFill>
                <a:latin typeface="Consolas"/>
              </a:rPr>
              <a:t>git</a:t>
            </a:r>
            <a:r>
              <a:rPr sz="900">
                <a:solidFill>
                  <a:srgbClr val="2D2D2D"/>
                </a:solidFill>
                <a:latin typeface="Consolas"/>
              </a:rPr>
              <a:t> checkout </a:t>
            </a:r>
            <a:r>
              <a:rPr sz="900">
                <a:solidFill>
                  <a:srgbClr val="666666"/>
                </a:solidFill>
                <a:latin typeface="Consolas"/>
              </a:rPr>
              <a:t>&lt;</a:t>
            </a:r>
            <a:r>
              <a:rPr sz="900">
                <a:solidFill>
                  <a:srgbClr val="2D2D2D"/>
                </a:solidFill>
                <a:latin typeface="Consolas"/>
              </a:rPr>
              <a:t>commit</a:t>
            </a:r>
            <a:r>
              <a:rPr sz="900">
                <a:solidFill>
                  <a:srgbClr val="666666"/>
                </a:solidFill>
                <a:latin typeface="Consolas"/>
              </a:rPr>
              <a:t>&gt;</a:t>
            </a:r>
            <a:r>
              <a:rPr sz="900">
                <a:solidFill>
                  <a:srgbClr val="2D2D2D"/>
                </a:solidFill>
                <a:latin typeface="Consolas"/>
              </a:rPr>
              <a:t> -- src/SprykerAcademy  </a:t>
            </a:r>
            <a:r>
              <a:rPr sz="900" i="1">
                <a:solidFill>
                  <a:srgbClr val="60A0B0"/>
                </a:solidFill>
                <a:latin typeface="Consolas"/>
              </a:rPr>
              <a:t># put it back in the tree</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Going Further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Give the exact same prompt to a second assistant or a second model on the same clean shop, commit that one too, and diff the two commits. The differences between two AI runs are as instructive as the differences from your own code.</a:t>
            </a:r>
          </a:p>
          <a:p>
            <a:pPr>
              <a:spcAft>
                <a:spcPts val="400"/>
              </a:spcAft>
              <a:defRPr sz="1500">
                <a:solidFill>
                  <a:srgbClr val="1A1A1A"/>
                </a:solidFill>
              </a:defRPr>
            </a:pPr>
            <a:r>
              <a:t>• Run it once without the workflow block from Part 2 and once with it, and count how many skills each run names. That is the cheapest demonstration there is of why a context file is worth writing.</a:t>
            </a:r>
          </a:p>
          <a:p>
            <a:pPr>
              <a:spcAft>
                <a:spcPts val="400"/>
              </a:spcAft>
              <a:defRPr sz="1500">
                <a:solidFill>
                  <a:srgbClr val="1A1A1A"/>
                </a:solidFill>
              </a:defRPr>
            </a:pPr>
            <a:r>
              <a:t>• Add one sentence to the requirement - “the admin can reply to a message and the customer sees the reply” - and watch whether it extends the existing design or bolts on a parallel one.</a:t>
            </a:r>
          </a:p>
          <a:p>
            <a:pPr>
              <a:spcAft>
                <a:spcPts val="400"/>
              </a:spcAft>
              <a:defRPr sz="1500">
                <a:solidFill>
                  <a:srgbClr val="1A1A1A"/>
                </a:solidFill>
              </a:defRPr>
            </a:pPr>
            <a:r>
              <a:t>• Start the MCP server ( docker/sdk console ai-dev:mcp-server -q ), connect it to your tool, and ask the assistant which transfers exist for the module it just built.</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3600" b="1">
                <a:solidFill>
                  <a:srgbClr val="00A89B"/>
                </a:solidFill>
              </a:defRPr>
            </a:pPr>
            <a:r>
              <a:t>Exercise 7: Extending Core Modules - Customer Messages</a:t>
            </a:r>
          </a:p>
        </p:txBody>
      </p:sp>
      <p:sp>
        <p:nvSpPr>
          <p:cNvPr id="3" name="Rectangle 2"/>
          <p:cNvSpPr/>
          <p:nvPr/>
        </p:nvSpPr>
        <p:spPr>
          <a:xfrm>
            <a:off x="3657600" y="2286000"/>
            <a:ext cx="4876495" cy="381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Exercise 7: Extending Core Modules - Customer Messages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this exercise, you will extend Spryker’s out-of-the-box CustomerPage module to show a list of messages belonging to the logged-in customer, allow them to add new messages through a form, and delete existing ones.</a:t>
            </a:r>
          </a:p>
          <a:p>
            <a:pPr>
              <a:spcAft>
                <a:spcPts val="800"/>
              </a:spcAft>
              <a:defRPr sz="1600">
                <a:solidFill>
                  <a:srgbClr val="1A1A1A"/>
                </a:solidFill>
              </a:defRPr>
            </a:pPr>
            <a:r>
              <a:t>You will learn how to: - Modify an existing database schema (foreign keys, timestampable behavior) - Update transfer definitions with new properties and collection types - Apply SOLID principles: separate Reader, Writer, and Deleter classes - Extend the GatewayController and Client layer for new Yves-Zed communication - Extend a Spryker core Yves module (CustomerPage) at project level - Work with Symfony forms backed by Transfer objects in Spryker Yves - Use Spryker’s AJAX component pattern for dynamic page updates (bonus)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Prerequisites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You must have completed Exercises 1-5 (Module Layers)</a:t>
            </a:r>
          </a:p>
          <a:p>
            <a:pPr>
              <a:spcAft>
                <a:spcPts val="400"/>
              </a:spcAft>
              <a:defRPr sz="1500">
                <a:solidFill>
                  <a:srgbClr val="1A1A1A"/>
                </a:solidFill>
              </a:defRPr>
            </a:pPr>
            <a:r>
              <a:t>• Understanding of the Client/Stub pattern for Yves-Zed communication</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Loading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basics/extending-core-modules/skeleton </a:t>
            </a:r>
            <a:r>
              <a:rPr sz="900">
                <a:solidFill>
                  <a:srgbClr val="2D2D2D"/>
                </a:solidFill>
                <a:latin typeface="Consolas"/>
              </a:rPr>
              <a:t>--run</a:t>
            </a:r>
          </a:p>
          <a:p>
            <a:pPr>
              <a:spcAft>
                <a:spcPts val="800"/>
              </a:spcAft>
              <a:defRPr sz="1600">
                <a:solidFill>
                  <a:srgbClr val="1A1A1A"/>
                </a:solidFill>
              </a:defRPr>
            </a:pPr>
            <a:r>
              <a:t>--run also runs the commands the loader lists after loading (cache, Propel, transfers and whatever this exercise needs, such as queues or Glue resources) and stops at the first one that fails. Leave it out to run them yourself.</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Part 1: Adjust the Database Schema</a:t>
            </a:r>
          </a:p>
          <a:p>
            <a:pPr>
              <a:spcAft>
                <a:spcPts val="800"/>
              </a:spcAft>
              <a:defRPr sz="1600">
                <a:solidFill>
                  <a:srgbClr val="1A1A1A"/>
                </a:solidFill>
              </a:defRPr>
            </a:pPr>
            <a:r>
              <a:t>Currently the pyz_contact_request table stores contact requests without any link to who created them. We need to add a foreign key to the spy_customer table so each contact request can belong to a customer. We also add the timestampable behavior so Propel automatically manages created_at and updated_at columns.</a:t>
            </a:r>
          </a:p>
          <a:p>
            <a:pPr>
              <a:spcAft>
                <a:spcPts val="800"/>
              </a:spcAft>
              <a:defRPr sz="1600">
                <a:solidFill>
                  <a:srgbClr val="1A1A1A"/>
                </a:solidFill>
              </a:defRPr>
            </a:pPr>
            <a:r>
              <a:t>Coding time: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Working on the Exercise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src/SprykerAcademy/Zed/ContactRequest/Persistence/Propel/Schema/pyz_contact_request.schema.xml and: 1. Add a new column fk_customer of type INTEGER (not required, since existing contact requests have no customer) 2. Add fk_customer to the existing pyz_contact_request-message unique index, so two customers can send the same text 3. Add a &lt;foreign-key&gt; element that references the spy_customer table, mapping fk_customer to id_customer with onDelete="CASCADE" 4. Add &lt;behavior name="timestampable"/&gt; — Propel will auto-add created_at and updated_at TIMESTAMP columns</a:t>
            </a:r>
          </a:p>
          <a:p>
            <a:pPr>
              <a:spcAft>
                <a:spcPts val="800"/>
              </a:spcAft>
              <a:defRPr sz="1600">
                <a:solidFill>
                  <a:srgbClr val="1A1A1A"/>
                </a:solidFill>
              </a:defRPr>
            </a:pPr>
            <a:r>
              <a:t>After modifying the schema, run:</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propel:install</a:t>
            </a:r>
          </a:p>
          <a:p>
            <a:pPr>
              <a:spcAft>
                <a:spcPts val="800"/>
              </a:spcAft>
              <a:defRPr sz="1600">
                <a:solidFill>
                  <a:srgbClr val="1A1A1A"/>
                </a:solidFill>
              </a:defRPr>
            </a:pPr>
            <a:r>
              <a:t>This will generate a migration, update the database, and regenerate the ORM classes.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Update Transfer Definitions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We need to make the new fkCustomer and createdAt fields available in our DTOs, and also create a new transfer for collections of messages.</a:t>
            </a:r>
          </a:p>
          <a:p>
            <a:pPr>
              <a:spcAft>
                <a:spcPts val="800"/>
              </a:spcAft>
              <a:defRPr sz="1600">
                <a:solidFill>
                  <a:srgbClr val="1A1A1A"/>
                </a:solidFill>
              </a:defRPr>
            </a:pPr>
            <a:r>
              <a:t>Coding time:</a:t>
            </a:r>
          </a:p>
          <a:p>
            <a:pPr>
              <a:spcAft>
                <a:spcPts val="800"/>
              </a:spcAft>
              <a:defRPr sz="1600">
                <a:solidFill>
                  <a:srgbClr val="1A1A1A"/>
                </a:solidFill>
              </a:defRPr>
            </a:pPr>
            <a:r>
              <a:t>Open src/SprykerAcademy/Shared/ContactRequest/Transfer/contact_request.transfer.xml and: 1. Add a fkCustomer property of type int to the ContactRequest transfer 2. Add a createdAt property of type string to the ContactRequest transfer 3. Add a fkCustomer property of type int to the ContactRequestCriteria transfer 4. Add a new transfer named ContactRequestCollection with strict="true" and a property contactRequests of type ContactRequest[] and singular="contactRequest"</a:t>
            </a:r>
          </a:p>
          <a:p>
            <a:pPr>
              <a:spcBef>
                <a:spcPts val="0"/>
              </a:spcBef>
              <a:spcAft>
                <a:spcPts val="0"/>
              </a:spcAft>
            </a:pPr>
            <a:r>
              <a:rPr sz="900" b="1">
                <a:solidFill>
                  <a:srgbClr val="007020"/>
                </a:solidFill>
                <a:latin typeface="Consolas"/>
              </a:rPr>
              <a:t>&lt;transfer</a:t>
            </a:r>
            <a:r>
              <a:rPr sz="900">
                <a:solidFill>
                  <a:srgbClr val="007020"/>
                </a:solidFill>
                <a:latin typeface="Consolas"/>
              </a:rPr>
              <a:t> name=</a:t>
            </a:r>
            <a:r>
              <a:rPr sz="900">
                <a:solidFill>
                  <a:srgbClr val="4070A0"/>
                </a:solidFill>
                <a:latin typeface="Consolas"/>
              </a:rPr>
              <a:t>"ContactRequestCollection"</a:t>
            </a:r>
            <a:r>
              <a:rPr sz="900">
                <a:solidFill>
                  <a:srgbClr val="007020"/>
                </a:solidFill>
                <a:latin typeface="Consolas"/>
              </a:rPr>
              <a:t> strict=</a:t>
            </a:r>
            <a:r>
              <a:rPr sz="900">
                <a:solidFill>
                  <a:srgbClr val="4070A0"/>
                </a:solidFill>
                <a:latin typeface="Consolas"/>
              </a:rPr>
              <a:t>"true"</a:t>
            </a:r>
            <a:r>
              <a:rPr sz="900" b="1">
                <a:solidFill>
                  <a:srgbClr val="007020"/>
                </a:solidFill>
                <a:latin typeface="Consolas"/>
              </a:rPr>
              <a:t>&gt;</a:t>
            </a:r>
          </a:p>
          <a:p>
            <a:pPr>
              <a:spcBef>
                <a:spcPts val="0"/>
              </a:spcBef>
              <a:spcAft>
                <a:spcPts val="0"/>
              </a:spcAft>
            </a:pPr>
            <a:r>
              <a:rPr sz="900">
                <a:solidFill>
                  <a:srgbClr val="2D2D2D"/>
                </a:solidFill>
                <a:latin typeface="Consolas"/>
              </a:rPr>
              <a:t>    </a:t>
            </a:r>
            <a:r>
              <a:rPr sz="900" b="1">
                <a:solidFill>
                  <a:srgbClr val="007020"/>
                </a:solidFill>
                <a:latin typeface="Consolas"/>
              </a:rPr>
              <a:t>&lt;property</a:t>
            </a:r>
            <a:r>
              <a:rPr sz="900">
                <a:solidFill>
                  <a:srgbClr val="007020"/>
                </a:solidFill>
                <a:latin typeface="Consolas"/>
              </a:rPr>
              <a:t> name=</a:t>
            </a:r>
            <a:r>
              <a:rPr sz="900">
                <a:solidFill>
                  <a:srgbClr val="4070A0"/>
                </a:solidFill>
                <a:latin typeface="Consolas"/>
              </a:rPr>
              <a:t>"contactRequests"</a:t>
            </a:r>
            <a:r>
              <a:rPr sz="900">
                <a:solidFill>
                  <a:srgbClr val="007020"/>
                </a:solidFill>
                <a:latin typeface="Consolas"/>
              </a:rPr>
              <a:t> type=</a:t>
            </a:r>
            <a:r>
              <a:rPr sz="900">
                <a:solidFill>
                  <a:srgbClr val="4070A0"/>
                </a:solidFill>
                <a:latin typeface="Consolas"/>
              </a:rPr>
              <a:t>"ContactRequest[]"</a:t>
            </a:r>
            <a:r>
              <a:rPr sz="900">
                <a:solidFill>
                  <a:srgbClr val="007020"/>
                </a:solidFill>
                <a:latin typeface="Consolas"/>
              </a:rPr>
              <a:t> singular=</a:t>
            </a:r>
            <a:r>
              <a:rPr sz="900">
                <a:solidFill>
                  <a:srgbClr val="4070A0"/>
                </a:solidFill>
                <a:latin typeface="Consolas"/>
              </a:rPr>
              <a:t>"contactRequest"</a:t>
            </a:r>
            <a:r>
              <a:rPr sz="900" b="1">
                <a:solidFill>
                  <a:srgbClr val="007020"/>
                </a:solidFill>
                <a:latin typeface="Consolas"/>
              </a:rPr>
              <a:t>/&gt;</a:t>
            </a:r>
          </a:p>
          <a:p>
            <a:pPr>
              <a:spcBef>
                <a:spcPts val="0"/>
              </a:spcBef>
              <a:spcAft>
                <a:spcPts val="0"/>
              </a:spcAft>
            </a:pPr>
            <a:r>
              <a:rPr sz="900" b="1">
                <a:solidFill>
                  <a:srgbClr val="007020"/>
                </a:solidFill>
                <a:latin typeface="Consolas"/>
              </a:rPr>
              <a:t>&lt;/transfer&gt;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Update Transfer Definitions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Regenerate transfers:</a:t>
            </a:r>
          </a:p>
          <a:p>
            <a:pPr>
              <a:spcBef>
                <a:spcPts val="0"/>
              </a:spcBef>
              <a:spcAft>
                <a:spcPts val="0"/>
              </a:spcAft>
            </a:pPr>
            <a:r>
              <a:rPr sz="900">
                <a:solidFill>
                  <a:srgbClr val="2D2D2D"/>
                </a:solidFill>
                <a:latin typeface="Consolas"/>
              </a:rPr>
              <a:t>docker/sdk</a:t>
            </a:r>
            <a:r>
              <a:rPr sz="900">
                <a:solidFill>
                  <a:srgbClr val="2D2D2D"/>
                </a:solidFill>
                <a:latin typeface="Consolas"/>
              </a:rPr>
              <a:t> console transfer:generate</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2: Update Transfer Definitions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Why singular on a collection? The generator builds the adder from the property name, so contactRequests alone would produce the plural addContactRequests() — a method that adds one element but reads as if it added many. singular="contactRequest" names it addContactRequest() instead. Combined with strict="true" (see Exercise 2 ) the collection API becomes: public function addContactRequest( C ontactRequestTransfer $contactRequest ) public function getContactRequests() : ArrayObject The adder only accepts a ContactRequestTransfer , and the getter never returns null — a strict collection is initialised to an empty ArrayObject , so the account template can loop over it even when the customer has no contact requests yet. On a strict associative array property singular is not optional at all: leave it out and transfer:generate aborts with InvalidSingularPropertyNameException .</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Update Persistence and Business Layers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3.1 Add a Repository Method</a:t>
            </a:r>
          </a:p>
          <a:p>
            <a:pPr>
              <a:spcAft>
                <a:spcPts val="800"/>
              </a:spcAft>
              <a:defRPr sz="1600">
                <a:solidFill>
                  <a:srgbClr val="1A1A1A"/>
                </a:solidFill>
              </a:defRPr>
            </a:pPr>
            <a:r>
              <a:t>We need a way to fetch all contact requests belonging to a specific customer.</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src/SprykerAcademy/Zed/ContactRequest/Persistence/ContactRequestRepository.php . Implement findContactRequestsByCustomer() : 1. Get the contact request query from the factory 2. Filter by fk_customer if the criteria has a fkCustomer set 3. Execute the query with find() to get all matching entities 4. Map each entity to a ContactRequestTransfer using the ContactRequestMapper 5. Return the array of ContactRequestTransfer objects</a:t>
            </a:r>
          </a:p>
          <a:p>
            <a:pPr>
              <a:spcAft>
                <a:spcPts val="800"/>
              </a:spcAft>
              <a:defRPr sz="1600">
                <a:solidFill>
                  <a:srgbClr val="1A1A1A"/>
                </a:solidFill>
              </a:defRPr>
            </a:pPr>
            <a:r>
              <a:t>Propel provides magic filterBy&lt;ColumnName&gt;() methods on query objects.</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Update Persistence and Business Layers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3.2 Update the ContactRequestReader</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src/SprykerAcademy/Zed/ContactRequest/Business/Reader/ContactRequestReader.php . Implement findContactRequestsByCustomer() : - Use the repository to get the contact requests - Create a ContactRequestCollectionTransfer and add each one to it using addContactRequest()</a:t>
            </a:r>
          </a:p>
          <a:p>
            <a:pPr>
              <a:spcBef>
                <a:spcPts val="800"/>
              </a:spcBef>
              <a:spcAft>
                <a:spcPts val="400"/>
              </a:spcAft>
              <a:defRPr sz="1700" b="1">
                <a:solidFill>
                  <a:srgbClr val="1A1A1A"/>
                </a:solidFill>
              </a:defRPr>
            </a:pPr>
            <a:r>
              <a:t>3.3 Expose Through the Facade</a:t>
            </a:r>
          </a:p>
          <a:p>
            <a:pPr>
              <a:spcAft>
                <a:spcPts val="800"/>
              </a:spcAft>
              <a:defRPr sz="1600">
                <a:solidFill>
                  <a:srgbClr val="1A1A1A"/>
                </a:solidFill>
              </a:defRPr>
            </a:pPr>
            <a:r>
              <a:t>Coding time:</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3: Update Persistence and Business Layers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src/SprykerAcademy/Zed/ContactRequest/Business/ContactRequestFacade.php . Implement findContactRequestsByCustomer() the same way you wrote the other two in Exercise 4 : delegate to $this-&gt;getService(ContactRequestReader::class) . No Business Factory is involved — the container wires the Reader’s ContactRequestRepositoryInterface through the binding you registered in config/Zed/ApplicationServices.php in Exercise 4, section 2.5 . Every new class you inject by interface - the Deleter below included - needs its own $services-&gt;set() line there. If you add one and nothing changes, the compiled container is stale: docker/sdk console cache:clear , not cache:empty-all ( Exercise 4, section 2.7 ).</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Expose via GatewayController</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We need three new gateway actions: create, get by customer, and delete.</a:t>
            </a:r>
          </a:p>
          <a:p>
            <a:pPr>
              <a:spcAft>
                <a:spcPts val="800"/>
              </a:spcAft>
              <a:defRPr sz="1600">
                <a:solidFill>
                  <a:srgbClr val="1A1A1A"/>
                </a:solidFill>
              </a:defRPr>
            </a:pPr>
            <a:r>
              <a:t>Coding time:</a:t>
            </a:r>
          </a:p>
          <a:p>
            <a:pPr>
              <a:spcAft>
                <a:spcPts val="800"/>
              </a:spcAft>
              <a:defRPr sz="1600">
                <a:solidFill>
                  <a:srgbClr val="1A1A1A"/>
                </a:solidFill>
              </a:defRPr>
            </a:pPr>
            <a:r>
              <a:t>Open src/SprykerAcademy/Zed/ContactRequest/Communication/Controller/GatewayController.php : 1. In createContactRequestAction() , use the Facade to create and return the message 2. In getContactRequestsByCustomerAction() , use the Facade to find messages by customer and return the collection 3. In deleteContactRequestAction() , use the Facade to delete by ID and return a ContactRequestResponseTransfer with the isSuccessful flag</a:t>
            </a:r>
          </a:p>
          <a:p>
            <a:pPr>
              <a:spcAft>
                <a:spcPts val="800"/>
              </a:spcAft>
              <a:defRPr sz="1600">
                <a:solidFill>
                  <a:srgbClr val="1A1A1A"/>
                </a:solidFill>
              </a:defRPr>
            </a:pPr>
            <a:r>
              <a:t>The Facade’s deleteContactRequest() is provided and reaches the Deleter through $this-&gt;getService(ContactRequestDeleter::class) — the same pattern again.</a:t>
            </a:r>
          </a:p>
          <a:p>
            <a:pPr>
              <a:spcAft>
                <a:spcPts val="800"/>
              </a:spcAft>
              <a:defRPr sz="1600">
                <a:solidFill>
                  <a:srgbClr val="1A1A1A"/>
                </a:solidFill>
              </a:defRPr>
            </a:pPr>
            <a:r>
              <a:t>Clear cache after adding new controller actions: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4: Expose via GatewayController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Build the Client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5.1 Update the Stub</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src/SprykerAcademy/Client/ContactRequest/Stub/ContactRequestStub.php : 1. In createContactRequest() , use $this-&gt;zedRequestClient-&gt;call() with the path /contact-request/gateway/create-contact-request 2. In getContactRequestsByCustomer() , use the path /contact-request/gateway/get-contact-requests-by-customer 3. In deleteContactRequest() , use the path /contact-request/gateway/delete-contact-request</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Build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Gateway path convention: /module-name/gateway/action-name where the action name is the controller method without the Action suffix, converted to kebab-case. For example, deleteContactRequestAction() becomes /contact-request/gateway/delete-contact-request .</a:t>
            </a:r>
          </a:p>
          <a:p>
            <a:pPr>
              <a:spcBef>
                <a:spcPts val="800"/>
              </a:spcBef>
              <a:spcAft>
                <a:spcPts val="400"/>
              </a:spcAft>
              <a:defRPr sz="1700" b="1">
                <a:solidFill>
                  <a:srgbClr val="1A1A1A"/>
                </a:solidFill>
              </a:defRPr>
            </a:pPr>
            <a:r>
              <a:t>5.2 Update the Client</a:t>
            </a:r>
          </a:p>
          <a:p>
            <a:pPr>
              <a:spcAft>
                <a:spcPts val="800"/>
              </a:spcAft>
              <a:defRPr sz="1600">
                <a:solidFill>
                  <a:srgbClr val="1A1A1A"/>
                </a:solidFill>
              </a:defRPr>
            </a:pPr>
            <a:r>
              <a:t>Coding time:</a:t>
            </a:r>
          </a:p>
          <a:p>
            <a:pPr>
              <a:spcAft>
                <a:spcPts val="800"/>
              </a:spcAft>
              <a:defRPr sz="1600">
                <a:solidFill>
                  <a:srgbClr val="1A1A1A"/>
                </a:solidFill>
              </a:defRPr>
            </a:pPr>
            <a:r>
              <a:t>Open src/SprykerAcademy/Client/ContactRequest/ContactRequestClient.php : 1. In createContactRequest() , delegate to the ContactRequestStub via the factory 2. In getContactRequestsByCustomer() , delegate to the ContactRequestStub via the factory 3. In deleteContactRequest() , delegate to the ContactRequestStub via the factory</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5: Build the Client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Update IDE auto-completion:</a:t>
            </a:r>
          </a:p>
          <a:p>
            <a:pPr>
              <a:spcBef>
                <a:spcPts val="0"/>
              </a:spcBef>
              <a:spcAft>
                <a:spcPts val="0"/>
              </a:spcAft>
            </a:pPr>
            <a:r>
              <a:rPr sz="900">
                <a:solidFill>
                  <a:srgbClr val="2D2D2D"/>
                </a:solidFill>
                <a:latin typeface="Consolas"/>
              </a:rPr>
              <a:t>docker/sdk</a:t>
            </a:r>
            <a:r>
              <a:rPr sz="900">
                <a:solidFill>
                  <a:srgbClr val="2D2D2D"/>
                </a:solidFill>
                <a:latin typeface="Consolas"/>
              </a:rPr>
              <a:t> console dev:ide-auto-completion:generate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Now we extend Spryker’s core CustomerPage module to add our message functionality. This is the key part of the exercise that demonstrates how to extend core Spryker modules at project level.</a:t>
            </a:r>
          </a:p>
          <a:p>
            <a:pPr>
              <a:spcAft>
                <a:spcPts val="800"/>
              </a:spcAft>
              <a:defRPr sz="1600">
                <a:solidFill>
                  <a:srgbClr val="1A1A1A"/>
                </a:solidFill>
              </a:defRPr>
            </a:pPr>
            <a:r>
              <a:t>The pattern: extend the class in your project namespace, and override or add the methods you need.</a:t>
            </a:r>
          </a:p>
          <a:p>
            <a:pPr>
              <a:spcAft>
                <a:spcPts val="800"/>
              </a:spcAft>
              <a:defRPr sz="1400" i="1">
                <a:solidFill>
                  <a:srgbClr val="888888"/>
                </a:solidFill>
              </a:defRPr>
            </a:pPr>
            <a:r>
              <a:t>❝ Extend the Pyz class, not the core one. SprykerAcademy is listed before Pyz in KernelConstants::PROJECT_NAMESPACES , so the kernel resolves SprykerAcademy\Yves\CustomerPage\CustomerPageDependencyProvider instead of the project’s Pyz\Yves\CustomerPage\CustomerPageDependencyProvider . The demo shop already customises CustomerPage (a session client, after-login redirects, authentication handlers, a Pyz register controller that calls getPyzSessionClient() ). Extending SprykerShop\Yves\CustomerPage\... would silently drop all of that and break login and registration; extending Pyz\Yves\CustomerPage\... keeps it. The skeleton classes already extend the Pyz ones.</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6.1 DependencyProvider</a:t>
            </a:r>
          </a:p>
          <a:p>
            <a:pPr>
              <a:spcAft>
                <a:spcPts val="800"/>
              </a:spcAft>
              <a:defRPr sz="1600">
                <a:solidFill>
                  <a:srgbClr val="1A1A1A"/>
                </a:solidFill>
              </a:defRPr>
            </a:pPr>
            <a:r>
              <a:t>We need to inject our ContactRequestClient into the extended CustomerPage module.</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src/SprykerAcademy/Yves/CustomerPage/CustomerPageDependencyProvider.php . In addContactRequestClient() , use $container-&gt;set() with the CLIENT_CONTACT_REQUEST constant to provide the ContactRequestClient through the locator.</a:t>
            </a:r>
          </a:p>
          <a:p>
            <a:pPr>
              <a:spcAft>
                <a:spcPts val="800"/>
              </a:spcAft>
              <a:defRPr sz="1600">
                <a:solidFill>
                  <a:srgbClr val="1A1A1A"/>
                </a:solidFill>
              </a:defRPr>
            </a:pPr>
            <a:r>
              <a:t>The locator pattern: $container-&gt;getLocator()-&gt;contactRequest()-&gt;client() .</a:t>
            </a:r>
          </a:p>
          <a:p>
            <a:pPr>
              <a:spcBef>
                <a:spcPts val="800"/>
              </a:spcBef>
              <a:spcAft>
                <a:spcPts val="400"/>
              </a:spcAft>
              <a:defRPr sz="1700" b="1">
                <a:solidFill>
                  <a:srgbClr val="1A1A1A"/>
                </a:solidFill>
              </a:defRPr>
            </a:pPr>
            <a:r>
              <a:t>6.2 Factory</a:t>
            </a:r>
          </a:p>
          <a:p>
            <a:pPr>
              <a:spcAft>
                <a:spcPts val="800"/>
              </a:spcAft>
              <a:defRPr sz="1600">
                <a:solidFill>
                  <a:srgbClr val="1A1A1A"/>
                </a:solidFill>
              </a:defRPr>
            </a:pPr>
            <a:r>
              <a:t>Coding time:</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Open src/SprykerAcademy/Yves/CustomerPage/CustomerPageFactory.php : 1. In getContactRequestClient() , return the provided dependency using the CLIENT_CONTACT_REQUEST constant 2. In createContactRequestForm() , use the Spryker form factory chain to instantiate the form: php $this-&gt;createCustomerFormFactory()-&gt;getFormFactory()-&gt;create(ContactRequestForm::class, $contactRequestTransfer)</a:t>
            </a:r>
          </a:p>
          <a:p>
            <a:pPr>
              <a:spcAft>
                <a:spcPts val="800"/>
              </a:spcAft>
              <a:defRPr sz="1400" i="1">
                <a:solidFill>
                  <a:srgbClr val="888888"/>
                </a:solidFill>
              </a:defRPr>
            </a:pPr>
            <a:r>
              <a:t>❝ How Spryker forms work: Spryker Yves doesn’t expose Symfony’s FormFactory directly on the module factory. Instead, each module that uses forms has a proxy FormFactory class (e.g., SprykerShop\Yves\CustomerPage\Form\FormFactory ) that extends AbstractFactory and provides getFormFactory() through the application container. The chain is: CustomerPageFactory::createCustomerFormFactory() -&gt; FormFactory::getFormFactory() -&gt; Symfony’s FormFactory::create() .</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Data-mapped forms: Notice we pass $contactRequestTransfer as the second argument to create() . This tells Symfony to bind the form directly to the transfer object. When the form is submitted, $form-&gt;getData() returns the hydrated ContactRequestTransfer directly — no manual field mapping needed.</a:t>
            </a:r>
          </a:p>
          <a:p>
            <a:pPr>
              <a:spcBef>
                <a:spcPts val="800"/>
              </a:spcBef>
              <a:spcAft>
                <a:spcPts val="400"/>
              </a:spcAft>
              <a:defRPr sz="1700" b="1">
                <a:solidFill>
                  <a:srgbClr val="1A1A1A"/>
                </a:solidFill>
              </a:defRPr>
            </a:pPr>
            <a:r>
              <a:t>6.3 ContactRequestForm</a:t>
            </a:r>
          </a:p>
          <a:p>
            <a:pPr>
              <a:spcAft>
                <a:spcPts val="800"/>
              </a:spcAft>
              <a:defRPr sz="1600">
                <a:solidFill>
                  <a:srgbClr val="1A1A1A"/>
                </a:solidFill>
              </a:defRPr>
            </a:pPr>
            <a:r>
              <a:t>This is a standard Symfony form with a text field for the message.</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src/SprykerAcademy/Yves/CustomerPage/Form/ContactRequestForm.php . In addMessageField() , add a TextType field using the FIELD_MESSAGE constant, with a label and a NotBlank constraint.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Symfony form + Spryker transfers: Spryker transfer objects implement ArrayAccess , so Symfony’s PropertyAccessor can read/write properties by name. When the form field name matches a transfer property (e.g., message maps to getMessage() / setMessage() ), data binding works automatically. No need for configureOptions() with data_class — though adding it would be more explicit.</a:t>
            </a:r>
          </a:p>
          <a:p>
            <a:pPr>
              <a:spcAft>
                <a:spcPts val="800"/>
              </a:spcAft>
              <a:defRPr sz="1400" i="1">
                <a:solidFill>
                  <a:srgbClr val="888888"/>
                </a:solidFill>
              </a:defRPr>
            </a:pPr>
            <a:r>
              <a:t>❝ No SubmitType in the form class: The submit button is rendered directly in the Twig template with Spryker’s button CSS classes. This keeps the form class focused on data fields and validation, and gives the template full control over button styling.</a:t>
            </a:r>
          </a:p>
          <a:p>
            <a:pPr>
              <a:spcBef>
                <a:spcPts val="800"/>
              </a:spcBef>
              <a:spcAft>
                <a:spcPts val="400"/>
              </a:spcAft>
              <a:defRPr sz="1700" b="1">
                <a:solidFill>
                  <a:srgbClr val="1A1A1A"/>
                </a:solidFill>
              </a:defRPr>
            </a:pPr>
            <a:r>
              <a:t>6.4 ContactRequestController</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The controller handles listing messages, creating new ones, and deleting. It extends AbstractCustomerController from SprykerShop which provides getLoggedInCustomerTransfer() .</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src/SprykerAcademy/Yves/CustomerPage/Controller/ContactRequestController.php :</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listAction() : 1. Get the logged-in customer using $this-&gt;getLoggedInCustomerTransfer() 2. Create a ContactRequestCriteriaTransfer and set the fkCustomer using setFkCustomerOrFail() for strict validation 3. Fetch messages using the ContactRequestClient through the factory 4. Create the message form with $this-&gt;getFactory()-&gt;createContactRequestForm(new ContactRequestTransfer()) — pass a fresh transfer as the data object 5. Handle the request with $messageForm-&gt;handleRequest($request) 6. If the form is submitted and valid, get the hydrated transfer with $messageForm-&gt;getData() , set the fkCustomer , and create the message 7. Return a view with the contactRequests and contactRequestForm variables, using the template @CustomerPage/views/contact-request/list.twig</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 deleteAction() : 1. Use $this-&gt;castId($request-&gt;request-&gt;get('idContactRequest')) to safely extract and validate the contact request ID 2. Create a ContactRequestCriteriaTransfer , set the idContactRequest , and call deleteContactRequest() on the client 3. Redirect back to the messages list</a:t>
            </a:r>
          </a:p>
          <a:p>
            <a:pPr>
              <a:spcAft>
                <a:spcPts val="800"/>
              </a:spcAft>
              <a:defRPr sz="1400" i="1">
                <a:solidFill>
                  <a:srgbClr val="888888"/>
                </a:solidFill>
              </a:defRPr>
            </a:pPr>
            <a:r>
              <a:t>❝ castId() pattern: Spryker’s Zed AbstractController provides castId() which validates that an ID is numeric and non-zero, throwing an exception otherwise. Since this method isn’t available in Yves controllers, we add a protected castId() method following the same pattern. This prevents silently passing 0 or non-numeric values to the persistence layer.</a:t>
            </a:r>
          </a:p>
          <a:p>
            <a:pPr>
              <a:spcAft>
                <a:spcPts val="800"/>
              </a:spcAft>
              <a:defRPr sz="1400" i="1">
                <a:solidFill>
                  <a:srgbClr val="888888"/>
                </a:solidFill>
              </a:defRPr>
            </a:pPr>
            <a:r>
              <a:t>❝ setFkCustomerOrFail() vs setFkCustomer() : The OrFail variant throws an exception if the value is null. Use it when the value is required for the operation to make sense — it fails fast with a clear error instead of silently proceeding with null.</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800"/>
              </a:spcBef>
              <a:spcAft>
                <a:spcPts val="400"/>
              </a:spcAft>
              <a:defRPr sz="1700" b="1">
                <a:solidFill>
                  <a:srgbClr val="1A1A1A"/>
                </a:solidFill>
              </a:defRPr>
            </a:pPr>
            <a:r>
              <a:t>6.5 Route Provider Plugin</a:t>
            </a:r>
          </a:p>
          <a:p>
            <a:pPr>
              <a:spcAft>
                <a:spcPts val="800"/>
              </a:spcAft>
              <a:defRPr sz="1600">
                <a:solidFill>
                  <a:srgbClr val="1A1A1A"/>
                </a:solidFill>
              </a:defRPr>
            </a:pPr>
            <a:r>
              <a:t>Coding time:</a:t>
            </a:r>
          </a:p>
          <a:p>
            <a:pPr>
              <a:spcAft>
                <a:spcPts val="800"/>
              </a:spcAft>
              <a:defRPr sz="1600">
                <a:solidFill>
                  <a:srgbClr val="1A1A1A"/>
                </a:solidFill>
              </a:defRPr>
            </a:pPr>
            <a:r>
              <a:t>Open src/SprykerAcademy/Yves/CustomerPage/Plugin/Router/CustomerPageRouteProviderPlugin.php : 1. In addCustomerContactRequestsRoute() , build a route for /customer/contact-requests pointing to the ContactRequest controller, listAction (GET + POST) 2. Add an addCustomerContactRequestsDeleteRoute() for POST /customer/contact-requests/delete pointing to the ContactRequest controller, deleteAction</a:t>
            </a:r>
          </a:p>
          <a:p>
            <a:pPr>
              <a:spcBef>
                <a:spcPts val="800"/>
              </a:spcBef>
              <a:spcAft>
                <a:spcPts val="400"/>
              </a:spcAft>
              <a:defRPr sz="1700" b="1">
                <a:solidFill>
                  <a:srgbClr val="1A1A1A"/>
                </a:solidFill>
              </a:defRPr>
            </a:pPr>
            <a:r>
              <a:t>6.6 Provided Scaffolding (no coding needed)</a:t>
            </a:r>
          </a:p>
          <a:p>
            <a:pPr>
              <a:spcAft>
                <a:spcPts val="800"/>
              </a:spcAft>
              <a:defRPr sz="1600">
                <a:solidFill>
                  <a:srgbClr val="1A1A1A"/>
                </a:solidFill>
              </a:defRPr>
            </a:pPr>
            <a:r>
              <a:t>The following files are already provided by the exercise skeleton:</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src/SprykerAcademy/Yves/Router/RouterDependencyProvider.php — Extends the project’s Pyz\Yves\Router\RouterDependencyProvider and swaps the core CustomerPageRouteProviderPlugin for your extended version. Because SprykerAcademy is resolved before Pyz , no project file is edited.</a:t>
            </a:r>
          </a:p>
          <a:p>
            <a:pPr>
              <a:spcAft>
                <a:spcPts val="400"/>
              </a:spcAft>
              <a:defRPr sz="1500">
                <a:solidFill>
                  <a:srgbClr val="1A1A1A"/>
                </a:solidFill>
              </a:defRPr>
            </a:pPr>
            <a:r>
              <a:t>• src/SprykerAcademy/Yves/CustomerPage/Theme/.../views/contact-request/list.twig — The Twig template showing the contact request table with delete buttons and the add form</a:t>
            </a:r>
          </a:p>
          <a:p>
            <a:pPr>
              <a:spcAft>
                <a:spcPts val="400"/>
              </a:spcAft>
              <a:defRPr sz="1500">
                <a:solidFill>
                  <a:srgbClr val="1A1A1A"/>
                </a:solidFill>
              </a:defRPr>
            </a:pPr>
            <a:r>
              <a:t>• src/SprykerAcademy/Zed/ContactRequest/Business/Deleter/ContactRequestDeleter.php and the Facade’s deleteContactRequest() — the delete business model, so Part 4 has something to call</a:t>
            </a:r>
          </a:p>
          <a:p>
            <a:pPr>
              <a:spcAft>
                <a:spcPts val="400"/>
              </a:spcAft>
              <a:defRPr sz="1500">
                <a:solidFill>
                  <a:srgbClr val="1A1A1A"/>
                </a:solidFill>
              </a:defRPr>
            </a:pPr>
            <a:r>
              <a:t>• ContactRequestController::castId() — the numeric-id guard described in 6.4</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Take a moment to review these files to understand: - How Spryker’s template override mechanism works (project-level Twig overrides vendor templates by matching the file path) - How the form is rendered with form_start / form_widget / form_end (Symfony form rendering helpers) - How each table row has a mini POST form for the delete button (no link — delete is always POST)</a:t>
            </a:r>
          </a:p>
          <a:p>
            <a:pPr>
              <a:spcBef>
                <a:spcPts val="800"/>
              </a:spcBef>
              <a:spcAft>
                <a:spcPts val="400"/>
              </a:spcAft>
              <a:defRPr sz="1700" b="1">
                <a:solidFill>
                  <a:srgbClr val="1A1A1A"/>
                </a:solidFill>
              </a:defRPr>
            </a:pPr>
            <a:r>
              <a:t>6.7 Sidebar Menu Item</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Once the route exists, add a “My Contact Requests” entry to the customer account sidebar. The project overrides that molecule in src/Pyz/Yves/CustomerPage/Theme/default/components/molecules/navigation-sidebar/navigation-sidebar.twig . Override it once more, in your module: Yves looks up templates in the project namespaces in order, so a template at the same path under src/SprykerAcademy wins over the Pyz one.</a:t>
            </a:r>
          </a:p>
          <a:p>
            <a:pPr>
              <a:spcAft>
                <a:spcPts val="800"/>
              </a:spcAft>
              <a:defRPr sz="1600">
                <a:solidFill>
                  <a:srgbClr val="1A1A1A"/>
                </a:solidFill>
              </a:defRPr>
            </a:pPr>
            <a:r>
              <a:t>Coding time:</a:t>
            </a:r>
          </a:p>
          <a:p>
            <a:pPr>
              <a:spcAft>
                <a:spcPts val="800"/>
              </a:spcAft>
              <a:defRPr sz="1600">
                <a:solidFill>
                  <a:srgbClr val="1A1A1A"/>
                </a:solidFill>
              </a:defRPr>
            </a:pPr>
            <a:r>
              <a:t>Copy src/Pyz/Yves/CustomerPage/Theme/default/components/molecules/navigation-sidebar/navigation-sidebar.twig to src/SprykerAcademy/Yves/CustomerPage/Theme/default/components/molecules/navigation-sidebar/navigation-sidebar.twig and append one more entry to its items array:</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a:t>
            </a:r>
          </a:p>
          <a:p>
            <a:pPr>
              <a:spcBef>
                <a:spcPts val="0"/>
              </a:spcBef>
              <a:spcAft>
                <a:spcPts val="0"/>
              </a:spcAft>
            </a:pPr>
            <a:r>
              <a:rPr sz="900">
                <a:solidFill>
                  <a:srgbClr val="2D2D2D"/>
                </a:solidFill>
                <a:latin typeface="Consolas"/>
              </a:rPr>
              <a:t>            name: 'contact-requests',</a:t>
            </a:r>
          </a:p>
          <a:p>
            <a:pPr>
              <a:spcBef>
                <a:spcPts val="0"/>
              </a:spcBef>
              <a:spcAft>
                <a:spcPts val="0"/>
              </a:spcAft>
            </a:pPr>
            <a:r>
              <a:rPr sz="900">
                <a:solidFill>
                  <a:srgbClr val="2D2D2D"/>
                </a:solidFill>
                <a:latin typeface="Consolas"/>
              </a:rPr>
              <a:t>            url: path('customer/contact-requests'),</a:t>
            </a:r>
          </a:p>
          <a:p>
            <a:pPr>
              <a:spcBef>
                <a:spcPts val="0"/>
              </a:spcBef>
              <a:spcAft>
                <a:spcPts val="0"/>
              </a:spcAft>
            </a:pPr>
            <a:r>
              <a:rPr sz="900">
                <a:solidFill>
                  <a:srgbClr val="2D2D2D"/>
                </a:solidFill>
                <a:latin typeface="Consolas"/>
              </a:rPr>
              <a:t>            label: 'My Contact Requests',</a:t>
            </a:r>
          </a:p>
          <a:p>
            <a:pPr>
              <a:spcBef>
                <a:spcPts val="0"/>
              </a:spcBef>
              <a:spcAft>
                <a:spcPts val="0"/>
              </a:spcAft>
            </a:pPr>
            <a:r>
              <a:rPr sz="900">
                <a:solidFill>
                  <a:srgbClr val="2D2D2D"/>
                </a:solidFill>
                <a:latin typeface="Consolas"/>
              </a:rPr>
              <a:t>            icon: 'envelopes',</a:t>
            </a:r>
          </a:p>
          <a:p>
            <a:pPr>
              <a:spcBef>
                <a:spcPts val="0"/>
              </a:spcBef>
              <a:spcAft>
                <a:spcPts val="0"/>
              </a:spcAft>
            </a:pPr>
            <a:r>
              <a:rPr sz="900">
                <a:solidFill>
                  <a:srgbClr val="2D2D2D"/>
                </a:solidFill>
                <a:latin typeface="Consolas"/>
              </a:rPr>
              <a:t>        },</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Part 6: Extend the CustomerPage Module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400" i="1">
                <a:solidFill>
                  <a:srgbClr val="888888"/>
                </a:solidFill>
              </a:defRPr>
            </a:pPr>
            <a:r>
              <a:t>❝ A template cannot extend the one it replaces - that is why it is a copy. customer/contact-requests is the route name ( ContactRequestController::ROUTE_CUSTOMER_CONTACT_REQUESTS ), not the path. Add the item only after the route is registered, otherwise path() fails on every account page. name is what the sidebar compares against the activePage the list page sets, so it has to read contact-requests for the entry to be highlighted. Do not wrap the entry in a Twig comment: the whole items array lives inside one {% define data = {...} %} tag, and a {# ... #} in there is read as an unclosed { , which kills every account page with a SyntaxError . The complete branch contains this template.</a:t>
            </a:r>
          </a:p>
          <a:p>
            <a:pPr>
              <a:spcAft>
                <a:spcPts val="800"/>
              </a:spcAft>
              <a:defRPr sz="1600">
                <a:solidFill>
                  <a:srgbClr val="1A1A1A"/>
                </a:solidFill>
              </a:defRPr>
            </a:pPr>
            <a:r>
              <a:t>Clear cache:</a:t>
            </a:r>
          </a:p>
          <a:p>
            <a:pPr>
              <a:spcBef>
                <a:spcPts val="0"/>
              </a:spcBef>
              <a:spcAft>
                <a:spcPts val="0"/>
              </a:spcAft>
            </a:pPr>
            <a:r>
              <a:rPr sz="900">
                <a:solidFill>
                  <a:srgbClr val="2D2D2D"/>
                </a:solidFill>
                <a:latin typeface="Consolas"/>
              </a:rPr>
              <a:t>docker/sdk</a:t>
            </a:r>
            <a:r>
              <a:rPr sz="900">
                <a:solidFill>
                  <a:srgbClr val="2D2D2D"/>
                </a:solidFill>
                <a:latin typeface="Consolas"/>
              </a:rPr>
              <a:t> console cache:empty-all</a:t>
            </a:r>
          </a:p>
          <a:p>
            <a:pPr>
              <a:spcBef>
                <a:spcPts val="0"/>
              </a:spcBef>
              <a:spcAft>
                <a:spcPts val="0"/>
              </a:spcAft>
            </a:pPr>
            <a:r>
              <a:rPr sz="900">
                <a:solidFill>
                  <a:srgbClr val="2D2D2D"/>
                </a:solidFill>
                <a:latin typeface="Consolas"/>
              </a:rPr>
              <a:t>docker/sdk</a:t>
            </a:r>
            <a:r>
              <a:rPr sz="900">
                <a:solidFill>
                  <a:srgbClr val="2D2D2D"/>
                </a:solidFill>
                <a:latin typeface="Consolas"/>
              </a:rPr>
              <a:t> console propel:model:build</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Best Practices Applied in This Exercise</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1200"/>
              </a:spcBef>
              <a:spcAft>
                <a:spcPts val="600"/>
              </a:spcAft>
              <a:defRPr sz="2000" b="1">
                <a:solidFill>
                  <a:srgbClr val="1A1A1A"/>
                </a:solidFill>
              </a:defRPr>
            </a:pPr>
            <a:r>
              <a:t>SOLID: Single Responsibility for Business Models</a:t>
            </a:r>
          </a:p>
          <a:p>
            <a:pPr>
              <a:spcAft>
                <a:spcPts val="800"/>
              </a:spcAft>
              <a:defRPr sz="1600">
                <a:solidFill>
                  <a:srgbClr val="1A1A1A"/>
                </a:solidFill>
              </a:defRPr>
            </a:pPr>
            <a:r>
              <a:t>The business layer separates concerns into dedicated classes:</a:t>
            </a:r>
          </a:p>
          <a:p>
            <a:pPr>
              <a:spcAft>
                <a:spcPts val="100"/>
              </a:spcAft>
              <a:defRPr sz="1000">
                <a:solidFill>
                  <a:srgbClr val="1A1A1A"/>
                </a:solidFill>
                <a:latin typeface="Consolas"/>
              </a:defRPr>
            </a:pPr>
            <a:r>
              <a:t>Class                  Responsibility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ContactRequestReader   Reading/querying messages (uses Repository)      </a:t>
            </a:r>
          </a:p>
          <a:p>
            <a:pPr>
              <a:spcAft>
                <a:spcPts val="100"/>
              </a:spcAft>
              <a:defRPr sz="1000">
                <a:solidFill>
                  <a:srgbClr val="1A1A1A"/>
                </a:solidFill>
                <a:latin typeface="Consolas"/>
              </a:defRPr>
            </a:pPr>
            <a:r>
              <a:t>ContactRequestWriter   Creating/persisting messages (uses EntityManager)</a:t>
            </a:r>
          </a:p>
          <a:p>
            <a:pPr>
              <a:spcAft>
                <a:spcPts val="100"/>
              </a:spcAft>
              <a:defRPr sz="1000">
                <a:solidFill>
                  <a:srgbClr val="1A1A1A"/>
                </a:solidFill>
                <a:latin typeface="Consolas"/>
              </a:defRPr>
            </a:pPr>
            <a:r>
              <a:t>ContactRequestDeleter  Deleting messages (uses EntityManager)</a:t>
            </a:r>
          </a:p>
          <a:p>
            <a:pPr>
              <a:spcAft>
                <a:spcPts val="800"/>
              </a:spcAft>
              <a:defRPr sz="1600">
                <a:solidFill>
                  <a:srgbClr val="1A1A1A"/>
                </a:solidFill>
              </a:defRPr>
            </a:pPr>
            <a:r>
              <a:t>Each class has one reason to change . The Writer does not know how to delete. The Deleter does not know how to create. The Facade orchestrates all three through the BusinessFactory.</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Form Data Binding with Transfer Objects</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Instead of extracting form data from arrays:</a:t>
            </a:r>
          </a:p>
          <a:p>
            <a:pPr>
              <a:spcBef>
                <a:spcPts val="0"/>
              </a:spcBef>
              <a:spcAft>
                <a:spcPts val="0"/>
              </a:spcAft>
            </a:pPr>
            <a:r>
              <a:rPr sz="900" i="1">
                <a:solidFill>
                  <a:srgbClr val="60A0B0"/>
                </a:solidFill>
                <a:latin typeface="Consolas"/>
              </a:rPr>
              <a:t>// Avoid this</a:t>
            </a:r>
          </a:p>
          <a:p>
            <a:pPr>
              <a:spcBef>
                <a:spcPts val="0"/>
              </a:spcBef>
              <a:spcAft>
                <a:spcPts val="0"/>
              </a:spcAft>
            </a:pPr>
            <a:r>
              <a:rPr sz="900">
                <a:solidFill>
                  <a:srgbClr val="19177C"/>
                </a:solidFill>
                <a:latin typeface="Consolas"/>
              </a:rPr>
              <a:t>$formData</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$messageForm</a:t>
            </a:r>
            <a:r>
              <a:rPr sz="900">
                <a:solidFill>
                  <a:srgbClr val="2D2D2D"/>
                </a:solidFill>
                <a:latin typeface="Consolas"/>
              </a:rPr>
              <a:t>-&gt;getData()</a:t>
            </a:r>
            <a:r>
              <a:rPr sz="900">
                <a:solidFill>
                  <a:srgbClr val="007020"/>
                </a:solidFill>
                <a:latin typeface="Consolas"/>
              </a:rPr>
              <a:t>;</a:t>
            </a:r>
          </a:p>
          <a:p>
            <a:pPr>
              <a:spcBef>
                <a:spcPts val="0"/>
              </a:spcBef>
              <a:spcAft>
                <a:spcPts val="0"/>
              </a:spcAft>
            </a:pPr>
            <a:r>
              <a:rPr sz="900">
                <a:solidFill>
                  <a:srgbClr val="19177C"/>
                </a:solidFill>
                <a:latin typeface="Consolas"/>
              </a:rPr>
              <a:t>$contactRequestTransfer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ontactRequestTransfer()</a:t>
            </a:r>
            <a:r>
              <a:rPr sz="900">
                <a:solidFill>
                  <a:srgbClr val="007020"/>
                </a:solidFill>
                <a:latin typeface="Consolas"/>
              </a:rPr>
              <a:t>;</a:t>
            </a:r>
          </a:p>
          <a:p>
            <a:pPr>
              <a:spcBef>
                <a:spcPts val="0"/>
              </a:spcBef>
              <a:spcAft>
                <a:spcPts val="0"/>
              </a:spcAft>
            </a:pPr>
            <a:r>
              <a:rPr sz="900">
                <a:solidFill>
                  <a:srgbClr val="19177C"/>
                </a:solidFill>
                <a:latin typeface="Consolas"/>
              </a:rPr>
              <a:t>$contactRequestTransfer</a:t>
            </a:r>
            <a:r>
              <a:rPr sz="900">
                <a:solidFill>
                  <a:srgbClr val="2D2D2D"/>
                </a:solidFill>
                <a:latin typeface="Consolas"/>
              </a:rPr>
              <a:t>-&gt;setMessage(</a:t>
            </a:r>
            <a:r>
              <a:rPr sz="900">
                <a:solidFill>
                  <a:srgbClr val="19177C"/>
                </a:solidFill>
                <a:latin typeface="Consolas"/>
              </a:rPr>
              <a:t>$formData</a:t>
            </a:r>
            <a:r>
              <a:rPr sz="900">
                <a:solidFill>
                  <a:srgbClr val="2D2D2D"/>
                </a:solidFill>
                <a:latin typeface="Consolas"/>
              </a:rPr>
              <a:t>[</a:t>
            </a:r>
            <a:r>
              <a:rPr sz="900">
                <a:solidFill>
                  <a:srgbClr val="4070A0"/>
                </a:solidFill>
                <a:latin typeface="Consolas"/>
              </a:rPr>
              <a:t>'message'</a:t>
            </a:r>
            <a:r>
              <a:rPr sz="900">
                <a:solidFill>
                  <a:srgbClr val="2D2D2D"/>
                </a:solidFill>
                <a:latin typeface="Consolas"/>
              </a:rPr>
              <a:t>])</a:t>
            </a:r>
            <a:r>
              <a:rPr sz="900">
                <a:solidFill>
                  <a:srgbClr val="007020"/>
                </a:solidFill>
                <a:latin typeface="Consolas"/>
              </a:rPr>
              <a:t>;</a:t>
            </a:r>
          </a:p>
          <a:p>
            <a:pPr>
              <a:spcAft>
                <a:spcPts val="800"/>
              </a:spcAft>
              <a:defRPr sz="1600">
                <a:solidFill>
                  <a:srgbClr val="1A1A1A"/>
                </a:solidFill>
              </a:defRPr>
            </a:pPr>
            <a:r>
              <a:t>Bind the form directly to a transfer:</a:t>
            </a:r>
          </a:p>
          <a:p>
            <a:pPr>
              <a:spcBef>
                <a:spcPts val="0"/>
              </a:spcBef>
              <a:spcAft>
                <a:spcPts val="0"/>
              </a:spcAft>
            </a:pPr>
            <a:r>
              <a:rPr sz="900" i="1">
                <a:solidFill>
                  <a:srgbClr val="60A0B0"/>
                </a:solidFill>
                <a:latin typeface="Consolas"/>
              </a:rPr>
              <a:t>// Preferred</a:t>
            </a:r>
          </a:p>
          <a:p>
            <a:pPr>
              <a:spcBef>
                <a:spcPts val="0"/>
              </a:spcBef>
              <a:spcAft>
                <a:spcPts val="0"/>
              </a:spcAft>
            </a:pPr>
            <a:r>
              <a:rPr sz="900">
                <a:solidFill>
                  <a:srgbClr val="19177C"/>
                </a:solidFill>
                <a:latin typeface="Consolas"/>
              </a:rPr>
              <a:t>$messageForm</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$factory</a:t>
            </a:r>
            <a:r>
              <a:rPr sz="900">
                <a:solidFill>
                  <a:srgbClr val="2D2D2D"/>
                </a:solidFill>
                <a:latin typeface="Consolas"/>
              </a:rPr>
              <a:t>-&gt;createContactRequestForm(</a:t>
            </a:r>
            <a:r>
              <a:rPr sz="900" b="1">
                <a:solidFill>
                  <a:srgbClr val="007020"/>
                </a:solidFill>
                <a:latin typeface="Consolas"/>
              </a:rPr>
              <a:t>new</a:t>
            </a:r>
            <a:r>
              <a:rPr sz="900">
                <a:solidFill>
                  <a:srgbClr val="2D2D2D"/>
                </a:solidFill>
                <a:latin typeface="Consolas"/>
              </a:rPr>
              <a:t> </a:t>
            </a:r>
            <a:r>
              <a:rPr sz="900">
                <a:solidFill>
                  <a:srgbClr val="880000"/>
                </a:solidFill>
                <a:latin typeface="Consolas"/>
              </a:rPr>
              <a:t>C</a:t>
            </a:r>
            <a:r>
              <a:rPr sz="900">
                <a:solidFill>
                  <a:srgbClr val="2D2D2D"/>
                </a:solidFill>
                <a:latin typeface="Consolas"/>
              </a:rPr>
              <a:t>ontactRequestTransfer())</a:t>
            </a:r>
            <a:r>
              <a:rPr sz="900">
                <a:solidFill>
                  <a:srgbClr val="007020"/>
                </a:solidFill>
                <a:latin typeface="Consolas"/>
              </a:rPr>
              <a:t>;</a:t>
            </a:r>
          </a:p>
          <a:p>
            <a:pPr>
              <a:spcBef>
                <a:spcPts val="0"/>
              </a:spcBef>
              <a:spcAft>
                <a:spcPts val="0"/>
              </a:spcAft>
            </a:pPr>
            <a:r>
              <a:rPr sz="900">
                <a:solidFill>
                  <a:srgbClr val="19177C"/>
                </a:solidFill>
                <a:latin typeface="Consolas"/>
              </a:rPr>
              <a:t>$messageForm</a:t>
            </a:r>
            <a:r>
              <a:rPr sz="900">
                <a:solidFill>
                  <a:srgbClr val="2D2D2D"/>
                </a:solidFill>
                <a:latin typeface="Consolas"/>
              </a:rPr>
              <a:t>-&gt;handleRequest(</a:t>
            </a:r>
            <a:r>
              <a:rPr sz="900">
                <a:solidFill>
                  <a:srgbClr val="19177C"/>
                </a:solidFill>
                <a:latin typeface="Consolas"/>
              </a:rPr>
              <a:t>$request</a:t>
            </a:r>
            <a:r>
              <a:rPr sz="900">
                <a:solidFill>
                  <a:srgbClr val="2D2D2D"/>
                </a:solidFill>
                <a:latin typeface="Consolas"/>
              </a:rPr>
              <a:t>)</a:t>
            </a:r>
            <a:r>
              <a:rPr sz="900">
                <a:solidFill>
                  <a:srgbClr val="007020"/>
                </a:solidFill>
                <a:latin typeface="Consolas"/>
              </a:rPr>
              <a:t>;</a:t>
            </a:r>
          </a:p>
          <a:p>
            <a:pPr>
              <a:spcBef>
                <a:spcPts val="0"/>
              </a:spcBef>
              <a:spcAft>
                <a:spcPts val="0"/>
              </a:spcAft>
            </a:pPr>
            <a:r>
              <a:rPr sz="900">
                <a:solidFill>
                  <a:srgbClr val="19177C"/>
                </a:solidFill>
                <a:latin typeface="Consolas"/>
              </a:rPr>
              <a:t>$contactRequestTransfer</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$messageForm</a:t>
            </a:r>
            <a:r>
              <a:rPr sz="900">
                <a:solidFill>
                  <a:srgbClr val="2D2D2D"/>
                </a:solidFill>
                <a:latin typeface="Consolas"/>
              </a:rPr>
              <a:t>-&gt;getData()</a:t>
            </a:r>
            <a:r>
              <a:rPr sz="900">
                <a:solidFill>
                  <a:srgbClr val="007020"/>
                </a:solidFill>
                <a:latin typeface="Consolas"/>
              </a:rPr>
              <a:t>;</a:t>
            </a:r>
            <a:r>
              <a:rPr sz="900">
                <a:solidFill>
                  <a:srgbClr val="2D2D2D"/>
                </a:solidFill>
                <a:latin typeface="Consolas"/>
              </a:rPr>
              <a:t> </a:t>
            </a:r>
            <a:r>
              <a:rPr sz="900" i="1">
                <a:solidFill>
                  <a:srgbClr val="60A0B0"/>
                </a:solidFill>
                <a:latin typeface="Consolas"/>
              </a:rPr>
              <a:t>// Already a ContactRequestTransfer</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Safe ID Handling with castId()</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Always validate IDs from user input before passing them to the persistence layer:</a:t>
            </a:r>
          </a:p>
          <a:p>
            <a:pPr>
              <a:spcBef>
                <a:spcPts val="0"/>
              </a:spcBef>
              <a:spcAft>
                <a:spcPts val="0"/>
              </a:spcAft>
            </a:pPr>
            <a:r>
              <a:rPr sz="900">
                <a:solidFill>
                  <a:srgbClr val="19177C"/>
                </a:solidFill>
                <a:latin typeface="Consolas"/>
              </a:rPr>
              <a:t>$idContactRequest</a:t>
            </a:r>
            <a:r>
              <a:rPr sz="900">
                <a:solidFill>
                  <a:srgbClr val="2D2D2D"/>
                </a:solidFill>
                <a:latin typeface="Consolas"/>
              </a:rPr>
              <a:t> </a:t>
            </a:r>
            <a:r>
              <a:rPr sz="900">
                <a:solidFill>
                  <a:srgbClr val="666666"/>
                </a:solidFill>
                <a:latin typeface="Consolas"/>
              </a:rPr>
              <a:t>=</a:t>
            </a:r>
            <a:r>
              <a:rPr sz="900">
                <a:solidFill>
                  <a:srgbClr val="2D2D2D"/>
                </a:solidFill>
                <a:latin typeface="Consolas"/>
              </a:rPr>
              <a:t> </a:t>
            </a:r>
            <a:r>
              <a:rPr sz="900">
                <a:solidFill>
                  <a:srgbClr val="19177C"/>
                </a:solidFill>
                <a:latin typeface="Consolas"/>
              </a:rPr>
              <a:t>$this</a:t>
            </a:r>
            <a:r>
              <a:rPr sz="900">
                <a:solidFill>
                  <a:srgbClr val="2D2D2D"/>
                </a:solidFill>
                <a:latin typeface="Consolas"/>
              </a:rPr>
              <a:t>-&gt;castId(</a:t>
            </a:r>
            <a:r>
              <a:rPr sz="900">
                <a:solidFill>
                  <a:srgbClr val="19177C"/>
                </a:solidFill>
                <a:latin typeface="Consolas"/>
              </a:rPr>
              <a:t>$request</a:t>
            </a:r>
            <a:r>
              <a:rPr sz="900">
                <a:solidFill>
                  <a:srgbClr val="2D2D2D"/>
                </a:solidFill>
                <a:latin typeface="Consolas"/>
              </a:rPr>
              <a:t>-&gt;request-&gt;get(</a:t>
            </a:r>
            <a:r>
              <a:rPr sz="900">
                <a:solidFill>
                  <a:srgbClr val="4070A0"/>
                </a:solidFill>
                <a:latin typeface="Consolas"/>
              </a:rPr>
              <a:t>'idContactRequest'</a:t>
            </a:r>
            <a:r>
              <a:rPr sz="900">
                <a:solidFill>
                  <a:srgbClr val="2D2D2D"/>
                </a:solidFill>
                <a:latin typeface="Consolas"/>
              </a:rPr>
              <a:t>))</a:t>
            </a:r>
            <a:r>
              <a:rPr sz="900">
                <a:solidFill>
                  <a:srgbClr val="007020"/>
                </a:solidFill>
                <a:latin typeface="Consolas"/>
              </a:rPr>
              <a:t>;</a:t>
            </a:r>
          </a:p>
          <a:p>
            <a:pPr>
              <a:spcBef>
                <a:spcPts val="0"/>
              </a:spcBef>
              <a:spcAft>
                <a:spcPts val="0"/>
              </a:spcAft>
            </a:pPr>
            <a:r>
              <a:rPr sz="900" i="1">
                <a:solidFill>
                  <a:srgbClr val="60A0B0"/>
                </a:solidFill>
                <a:latin typeface="Consolas"/>
              </a:rPr>
              <a:t>// Throws InvalidArgumentException if not numeric or zero</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Testing</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Log in to Yves: http://yves.eu.spryker.local/en/login (use sonia@acme.com / change123 )</a:t>
            </a:r>
          </a:p>
          <a:p>
            <a:pPr>
              <a:spcAft>
                <a:spcPts val="400"/>
              </a:spcAft>
              <a:defRPr sz="1500">
                <a:solidFill>
                  <a:srgbClr val="1A1A1A"/>
                </a:solidFill>
              </a:defRPr>
            </a:pPr>
            <a:r>
              <a:t>• Visit: http://yves.eu.spryker.local/en/customer/contact-requests</a:t>
            </a:r>
          </a:p>
          <a:p>
            <a:pPr>
              <a:spcAft>
                <a:spcPts val="400"/>
              </a:spcAft>
              <a:defRPr sz="1500">
                <a:solidFill>
                  <a:srgbClr val="1A1A1A"/>
                </a:solidFill>
              </a:defRPr>
            </a:pPr>
            <a:r>
              <a:t>• You should see a message list (empty initially) and a form to add messages</a:t>
            </a:r>
          </a:p>
          <a:p>
            <a:pPr>
              <a:spcAft>
                <a:spcPts val="400"/>
              </a:spcAft>
              <a:defRPr sz="1500">
                <a:solidFill>
                  <a:srgbClr val="1A1A1A"/>
                </a:solidFill>
              </a:defRPr>
            </a:pPr>
            <a:r>
              <a:t>• Add a message and verify it appears in the list with a created timestamp</a:t>
            </a:r>
          </a:p>
          <a:p>
            <a:pPr>
              <a:spcAft>
                <a:spcPts val="400"/>
              </a:spcAft>
              <a:defRPr sz="1500">
                <a:solidFill>
                  <a:srgbClr val="1A1A1A"/>
                </a:solidFill>
              </a:defRPr>
            </a:pPr>
            <a:r>
              <a:t>• Click “Delete” on a message and verify it disappears</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Verify Your Work</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Run the automated tests for this exercise: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 Exercise7</a:t>
            </a:r>
          </a:p>
          <a:p>
            <a:pPr>
              <a:spcAft>
                <a:spcPts val="800"/>
              </a:spcAft>
              <a:defRPr sz="1600">
                <a:solidFill>
                  <a:srgbClr val="1A1A1A"/>
                </a:solidFill>
              </a:defRPr>
            </a:pPr>
            <a:r>
              <a:t>The test suite covers: - Schema XML: fk_customer column, foreign key, timestampable behavior - Transfer XML: fkCustomer , createdAt properties, ContactRequestCollection transfer ( strict="true" , singular="contactRequest" ) - Structural: All classes and methods exist across the full stack - Mock-based: Stub calls the correct gateway paths for create, get, and delete - Unit: ContactRequestDeleter delegates to EntityManager correctly - SOLID: ContactRequestWriter does NOT have a delete() method</a:t>
            </a:r>
          </a:p>
          <a:p>
            <a:pPr>
              <a:spcAft>
                <a:spcPts val="800"/>
              </a:spcAft>
              <a:defRPr sz="1600">
                <a:solidFill>
                  <a:srgbClr val="1A1A1A"/>
                </a:solidFill>
              </a:defRPr>
            </a:pPr>
            <a:r>
              <a:t>Or run all exercise tests at once:</a:t>
            </a:r>
          </a:p>
          <a:p>
            <a:pPr>
              <a:spcBef>
                <a:spcPts val="0"/>
              </a:spcBef>
              <a:spcAft>
                <a:spcPts val="0"/>
              </a:spcAft>
            </a:pPr>
            <a:r>
              <a:rPr sz="900">
                <a:solidFill>
                  <a:srgbClr val="2D2D2D"/>
                </a:solidFill>
                <a:latin typeface="Consolas"/>
              </a:rPr>
              <a:t>docker/sdk</a:t>
            </a:r>
            <a:r>
              <a:rPr sz="900">
                <a:solidFill>
                  <a:srgbClr val="2D2D2D"/>
                </a:solidFill>
                <a:latin typeface="Consolas"/>
              </a:rPr>
              <a:t> cli vendor/bin/codecept run </a:t>
            </a:r>
            <a:r>
              <a:rPr sz="900">
                <a:solidFill>
                  <a:srgbClr val="2D2D2D"/>
                </a:solidFill>
                <a:latin typeface="Consolas"/>
              </a:rPr>
              <a:t>-c</a:t>
            </a:r>
            <a:r>
              <a:rPr sz="900">
                <a:solidFill>
                  <a:srgbClr val="2D2D2D"/>
                </a:solidFill>
                <a:latin typeface="Consolas"/>
              </a:rPr>
              <a:t> tests/SprykerAcademyTest/Zed/ContactRequest/</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Solution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basics/extending-core-modules/complete </a:t>
            </a:r>
            <a:r>
              <a:rPr sz="900">
                <a:solidFill>
                  <a:srgbClr val="2D2D2D"/>
                </a:solidFill>
                <a:latin typeface="Consolas"/>
              </a:rPr>
              <a:t>--run</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Bonus: AJAX Version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An extended solution is available that uses Spryker’s built-in AJAX component pattern to add and delete messages without a full page reload. The message table refreshes dynamically.</a:t>
            </a:r>
          </a:p>
          <a:p>
            <a:pPr>
              <a:spcBef>
                <a:spcPts val="1200"/>
              </a:spcBef>
              <a:spcAft>
                <a:spcPts val="600"/>
              </a:spcAft>
              <a:defRPr sz="2000" b="1">
                <a:solidFill>
                  <a:srgbClr val="1A1A1A"/>
                </a:solidFill>
              </a:defRPr>
            </a:pPr>
            <a:r>
              <a:t>How Spryker AJAX Works</a:t>
            </a:r>
          </a:p>
          <a:p>
            <a:pPr>
              <a:spcAft>
                <a:spcPts val="800"/>
              </a:spcAft>
              <a:defRPr sz="1600">
                <a:solidFill>
                  <a:srgbClr val="1A1A1A"/>
                </a:solidFill>
              </a:defRPr>
            </a:pPr>
            <a:r>
              <a:t>Spryker provides a component-based AJAX pattern using four Twig molecules from ShopUi :</a:t>
            </a:r>
          </a:p>
          <a:p>
            <a:pPr>
              <a:spcAft>
                <a:spcPts val="100"/>
              </a:spcAft>
              <a:defRPr sz="1000">
                <a:solidFill>
                  <a:srgbClr val="1A1A1A"/>
                </a:solidFill>
                <a:latin typeface="Consolas"/>
              </a:defRPr>
            </a:pPr>
            <a:r>
              <a:t>Component            Role                                                                                              </a:t>
            </a:r>
          </a:p>
          <a:p>
            <a:pPr>
              <a:spcAft>
                <a:spcPts val="100"/>
              </a:spcAft>
              <a:defRPr sz="1000">
                <a:solidFill>
                  <a:srgbClr val="1A1A1A"/>
                </a:solidFill>
                <a:latin typeface="Consolas"/>
              </a:defRPr>
            </a:pPr>
            <a:r>
              <a:t>-------------------  --------------------------------------------------------------------------------------------------</a:t>
            </a:r>
          </a:p>
          <a:p>
            <a:pPr>
              <a:spcAft>
                <a:spcPts val="100"/>
              </a:spcAft>
              <a:defRPr sz="1000">
                <a:solidFill>
                  <a:srgbClr val="1A1A1A"/>
                </a:solidFill>
                <a:latin typeface="Consolas"/>
              </a:defRPr>
            </a:pPr>
            <a:r>
              <a:t>ajax-provider        XMLHttpRequest wrapper — sends requests and dispatches fetching / fetched events                  </a:t>
            </a:r>
          </a:p>
          <a:p>
            <a:pPr>
              <a:spcAft>
                <a:spcPts val="100"/>
              </a:spcAft>
              <a:defRPr sz="1000">
                <a:solidFill>
                  <a:srgbClr val="1A1A1A"/>
                </a:solidFill>
                <a:latin typeface="Consolas"/>
              </a:defRPr>
            </a:pPr>
            <a:r>
              <a:t>ajax-form-submitter  Intercepts form submit (via data-* trigger attribute) and delegates to the provider               </a:t>
            </a:r>
          </a:p>
          <a:p>
            <a:pPr>
              <a:spcAft>
                <a:spcPts val="100"/>
              </a:spcAft>
              <a:defRPr sz="1000">
                <a:solidFill>
                  <a:srgbClr val="1A1A1A"/>
                </a:solidFill>
                <a:latin typeface="Consolas"/>
              </a:defRPr>
            </a:pPr>
            <a:r>
              <a:t>ajax-renderer        Listens for the fetched event, parses JSON response, and inserts content into a target DOM element</a:t>
            </a:r>
          </a:p>
          <a:p>
            <a:pPr>
              <a:spcAft>
                <a:spcPts val="100"/>
              </a:spcAft>
              <a:defRPr sz="1000">
                <a:solidFill>
                  <a:srgbClr val="1A1A1A"/>
                </a:solidFill>
                <a:latin typeface="Consolas"/>
              </a:defRPr>
            </a:pPr>
            <a:r>
              <a:t>ajax-loader          Shows/hides a spinner during the request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 JSON Response Contract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800"/>
              </a:spcAft>
              <a:defRPr sz="1600">
                <a:solidFill>
                  <a:srgbClr val="1A1A1A"/>
                </a:solidFill>
              </a:defRPr>
            </a:pPr>
            <a:r>
              <a:t>Async controllers return JsonResponse with this structure:</a:t>
            </a:r>
          </a:p>
          <a:p>
            <a:pPr>
              <a:spcBef>
                <a:spcPts val="0"/>
              </a:spcBef>
              <a:spcAft>
                <a:spcPts val="0"/>
              </a:spcAft>
            </a:pP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"messages"</a:t>
            </a:r>
            <a:r>
              <a:rPr sz="900">
                <a:solidFill>
                  <a:srgbClr val="06287E"/>
                </a:solidFill>
                <a:latin typeface="Consolas"/>
              </a:rPr>
              <a:t>:</a:t>
            </a:r>
            <a:r>
              <a:rPr sz="900">
                <a:solidFill>
                  <a:srgbClr val="2D2D2D"/>
                </a:solidFill>
                <a:latin typeface="Consolas"/>
              </a:rPr>
              <a:t> </a:t>
            </a:r>
            <a:r>
              <a:rPr sz="900">
                <a:solidFill>
                  <a:srgbClr val="4070A0"/>
                </a:solidFill>
                <a:latin typeface="Consolas"/>
              </a:rPr>
              <a:t>"&lt;rendered flash message HTML&gt;"</a:t>
            </a:r>
            <a:r>
              <a:rPr sz="900">
                <a:solidFill>
                  <a:srgbClr val="06287E"/>
                </a:solidFill>
                <a:latin typeface="Consolas"/>
              </a:rPr>
              <a:t>,</a:t>
            </a:r>
          </a:p>
          <a:p>
            <a:pPr>
              <a:spcBef>
                <a:spcPts val="0"/>
              </a:spcBef>
              <a:spcAft>
                <a:spcPts val="0"/>
              </a:spcAft>
            </a:pPr>
            <a:r>
              <a:rPr sz="900">
                <a:solidFill>
                  <a:srgbClr val="2D2D2D"/>
                </a:solidFill>
                <a:latin typeface="Consolas"/>
              </a:rPr>
              <a:t>    </a:t>
            </a:r>
            <a:r>
              <a:rPr sz="900">
                <a:solidFill>
                  <a:srgbClr val="902000"/>
                </a:solidFill>
                <a:latin typeface="Consolas"/>
              </a:rPr>
              <a:t>"content"</a:t>
            </a:r>
            <a:r>
              <a:rPr sz="900">
                <a:solidFill>
                  <a:srgbClr val="06287E"/>
                </a:solidFill>
                <a:latin typeface="Consolas"/>
              </a:rPr>
              <a:t>:</a:t>
            </a:r>
            <a:r>
              <a:rPr sz="900">
                <a:solidFill>
                  <a:srgbClr val="2D2D2D"/>
                </a:solidFill>
                <a:latin typeface="Consolas"/>
              </a:rPr>
              <a:t> </a:t>
            </a:r>
            <a:r>
              <a:rPr sz="900">
                <a:solidFill>
                  <a:srgbClr val="4070A0"/>
                </a:solidFill>
                <a:latin typeface="Consolas"/>
              </a:rPr>
              <a:t>"&lt;rendered HTML fragment to replace in the DOM&gt;"</a:t>
            </a:r>
          </a:p>
          <a:p>
            <a:pPr>
              <a:spcBef>
                <a:spcPts val="0"/>
              </a:spcBef>
              <a:spcAft>
                <a:spcPts val="0"/>
              </a:spcAft>
            </a:pPr>
            <a:r>
              <a:rPr sz="900">
                <a:solidFill>
                  <a:srgbClr val="06287E"/>
                </a:solidFill>
                <a:latin typeface="Consolas"/>
              </a:rPr>
              <a:t>}</a:t>
            </a:r>
          </a:p>
          <a:p>
            <a:pPr>
              <a:spcAft>
                <a:spcPts val="400"/>
              </a:spcAft>
              <a:defRPr sz="1500">
                <a:solidFill>
                  <a:srgbClr val="1A1A1A"/>
                </a:solidFill>
              </a:defRPr>
            </a:pPr>
            <a:r>
              <a:t>• messages — Rendered via @ShopUi/components/organisms/flash-message-list/flash-message-list.twig . Dispatched as a DOM event for the flash message component to pick up.</a:t>
            </a:r>
          </a:p>
          <a:p>
            <a:pPr>
              <a:spcAft>
                <a:spcPts val="400"/>
              </a:spcAft>
              <a:defRPr sz="1500">
                <a:solidFill>
                  <a:srgbClr val="1A1A1A"/>
                </a:solidFill>
              </a:defRPr>
            </a:pPr>
            <a:r>
              <a:t>• content — The re-rendered page fragment. The ajax-renderer inserts this into the target element.</a:t>
            </a:r>
          </a:p>
          <a:p>
            <a:pPr>
              <a:spcBef>
                <a:spcPts val="1200"/>
              </a:spcBef>
              <a:spcAft>
                <a:spcPts val="600"/>
              </a:spcAft>
              <a:defRPr sz="2000" b="1">
                <a:solidFill>
                  <a:srgbClr val="1A1A1A"/>
                </a:solidFill>
              </a:defRPr>
            </a:pPr>
            <a:r>
              <a:t>Twig Integration</a:t>
            </a:r>
          </a:p>
          <a:p>
            <a:pPr>
              <a:spcAft>
                <a:spcPts val="800"/>
              </a:spcAft>
              <a:defRPr sz="1600">
                <a:solidFill>
                  <a:srgbClr val="1A1A1A"/>
                </a:solidFill>
              </a:defRPr>
            </a:pPr>
            <a:r>
              <a:t>The template includes the AJAX trio after the content wrapper:</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The JSON Response Contract (cont.)</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Bef>
                <a:spcPts val="0"/>
              </a:spcBef>
              <a:spcAft>
                <a:spcPts val="0"/>
              </a:spcAft>
            </a:pPr>
            <a:r>
              <a:rPr sz="900">
                <a:solidFill>
                  <a:srgbClr val="2D2D2D"/>
                </a:solidFill>
                <a:latin typeface="Consolas"/>
              </a:rPr>
              <a:t>{# Content area that gets replaced #}</a:t>
            </a:r>
          </a:p>
          <a:p>
            <a:pPr>
              <a:spcBef>
                <a:spcPts val="0"/>
              </a:spcBef>
              <a:spcAft>
                <a:spcPts val="0"/>
              </a:spcAft>
            </a:pPr>
            <a:r>
              <a:rPr sz="900">
                <a:solidFill>
                  <a:srgbClr val="2D2D2D"/>
                </a:solidFill>
                <a:latin typeface="Consolas"/>
              </a:rPr>
              <a:t>&lt;div class="{{ ajaxContentClass }}"&gt;</a:t>
            </a:r>
          </a:p>
          <a:p>
            <a:pPr>
              <a:spcBef>
                <a:spcPts val="0"/>
              </a:spcBef>
              <a:spcAft>
                <a:spcPts val="0"/>
              </a:spcAft>
            </a:pPr>
            <a:r>
              <a:rPr sz="900">
                <a:solidFill>
                  <a:srgbClr val="2D2D2D"/>
                </a:solidFill>
                <a:latin typeface="Consolas"/>
              </a:rPr>
              <a:t>    {# ... table, form, loader ... #}</a:t>
            </a:r>
          </a:p>
          <a:p>
            <a:pPr>
              <a:spcBef>
                <a:spcPts val="0"/>
              </a:spcBef>
              <a:spcAft>
                <a:spcPts val="0"/>
              </a:spcAft>
            </a:pPr>
            <a:r>
              <a:rPr sz="900">
                <a:solidFill>
                  <a:srgbClr val="2D2D2D"/>
                </a:solidFill>
                <a:latin typeface="Consolas"/>
              </a:rPr>
              <a:t>&lt;/div&gt;</a:t>
            </a:r>
          </a:p>
          <a:p>
            <a:pPr>
              <a:spcBef>
                <a:spcPts val="0"/>
              </a:spcBef>
              <a:spcAft>
                <a:spcPts val="0"/>
              </a:spcAft>
            </a:pPr>
            <a:r>
              <a:rPr sz="900">
                <a:latin typeface="Consolas"/>
              </a:rPr>
              <a:t> </a:t>
            </a:r>
          </a:p>
          <a:p>
            <a:pPr>
              <a:spcBef>
                <a:spcPts val="0"/>
              </a:spcBef>
              <a:spcAft>
                <a:spcPts val="0"/>
              </a:spcAft>
            </a:pPr>
            <a:r>
              <a:rPr sz="900">
                <a:solidFill>
                  <a:srgbClr val="2D2D2D"/>
                </a:solidFill>
                <a:latin typeface="Consolas"/>
              </a:rPr>
              <a:t>{# AJAX components #}</a:t>
            </a:r>
          </a:p>
          <a:p>
            <a:pPr>
              <a:spcBef>
                <a:spcPts val="0"/>
              </a:spcBef>
              <a:spcAft>
                <a:spcPts val="0"/>
              </a:spcAft>
            </a:pPr>
            <a:r>
              <a:rPr sz="900">
                <a:solidFill>
                  <a:srgbClr val="2D2D2D"/>
                </a:solidFill>
                <a:latin typeface="Consolas"/>
              </a:rPr>
              <a:t>{% include molecule('ajax-provider') with { class: ajaxProviderClass, attributes: { method: 'POST' } } only %}</a:t>
            </a:r>
          </a:p>
          <a:p>
            <a:pPr>
              <a:spcBef>
                <a:spcPts val="0"/>
              </a:spcBef>
              <a:spcAft>
                <a:spcPts val="0"/>
              </a:spcAft>
            </a:pPr>
            <a:r>
              <a:rPr sz="900">
                <a:solidFill>
                  <a:srgbClr val="2D2D2D"/>
                </a:solidFill>
                <a:latin typeface="Consolas"/>
              </a:rPr>
              <a:t>{% include molecule('ajax-renderer') with { attributes: { 'provider-class-name': ajaxProviderClass, 'target-class-name': ajaxContentClass, 'mount-after-render': true } } only %}</a:t>
            </a:r>
          </a:p>
          <a:p>
            <a:pPr>
              <a:spcBef>
                <a:spcPts val="0"/>
              </a:spcBef>
              <a:spcAft>
                <a:spcPts val="0"/>
              </a:spcAft>
            </a:pPr>
            <a:r>
              <a:rPr sz="900">
                <a:solidFill>
                  <a:srgbClr val="2D2D2D"/>
                </a:solidFill>
                <a:latin typeface="Consolas"/>
              </a:rPr>
              <a:t>{% include molecule('ajax-form-submitter') with { attributes: { 'trigger-attribute': 'data-contact-request-ajax-submit', 'provider-class-name': ajaxProviderClass } } only %}</a:t>
            </a:r>
          </a:p>
          <a:p>
            <a:pPr>
              <a:spcAft>
                <a:spcPts val="800"/>
              </a:spcAft>
              <a:defRPr sz="1600">
                <a:solidFill>
                  <a:srgbClr val="1A1A1A"/>
                </a:solidFill>
              </a:defRPr>
            </a:pPr>
            <a:r>
              <a:t>Form buttons use data-contact-request-ajax-submit and formaction to point to the async endpoint:</a:t>
            </a:r>
          </a:p>
          <a:p>
            <a:pPr>
              <a:spcBef>
                <a:spcPts val="0"/>
              </a:spcBef>
              <a:spcAft>
                <a:spcPts val="0"/>
              </a:spcAft>
            </a:pPr>
            <a:r>
              <a:rPr sz="900" b="1">
                <a:solidFill>
                  <a:srgbClr val="007020"/>
                </a:solidFill>
                <a:latin typeface="Consolas"/>
              </a:rPr>
              <a:t>&lt;button</a:t>
            </a:r>
            <a:r>
              <a:rPr sz="900">
                <a:solidFill>
                  <a:srgbClr val="007020"/>
                </a:solidFill>
                <a:latin typeface="Consolas"/>
              </a:rPr>
              <a:t> data-contact-request-ajax-submit formaction=</a:t>
            </a:r>
            <a:r>
              <a:rPr sz="900">
                <a:solidFill>
                  <a:srgbClr val="4070A0"/>
                </a:solidFill>
                <a:latin typeface="Consolas"/>
              </a:rPr>
              <a:t>"/customer/contact-requests/async/add"</a:t>
            </a:r>
            <a:r>
              <a:rPr sz="900" b="1">
                <a:solidFill>
                  <a:srgbClr val="007020"/>
                </a:solidFill>
                <a:latin typeface="Consolas"/>
              </a:rPr>
              <a:t>&gt;</a:t>
            </a:r>
            <a:r>
              <a:rPr sz="900">
                <a:solidFill>
                  <a:srgbClr val="2D2D2D"/>
                </a:solidFill>
                <a:latin typeface="Consolas"/>
              </a:rPr>
              <a:t>Add Contact Request</a:t>
            </a:r>
            <a:r>
              <a:rPr sz="900" b="1">
                <a:solidFill>
                  <a:srgbClr val="007020"/>
                </a:solidFill>
                <a:latin typeface="Consolas"/>
              </a:rPr>
              <a:t>&lt;/button&gt;</a:t>
            </a:r>
          </a:p>
          <a:p>
            <a:pPr>
              <a:spcBef>
                <a:spcPts val="0"/>
              </a:spcBef>
              <a:spcAft>
                <a:spcPts val="0"/>
              </a:spcAft>
            </a:pPr>
            <a:r>
              <a:rPr sz="900" b="1">
                <a:solidFill>
                  <a:srgbClr val="007020"/>
                </a:solidFill>
                <a:latin typeface="Consolas"/>
              </a:rPr>
              <a:t>&lt;button</a:t>
            </a:r>
            <a:r>
              <a:rPr sz="900">
                <a:solidFill>
                  <a:srgbClr val="007020"/>
                </a:solidFill>
                <a:latin typeface="Consolas"/>
              </a:rPr>
              <a:t> data-contact-request-ajax-submit formaction=</a:t>
            </a:r>
            <a:r>
              <a:rPr sz="900">
                <a:solidFill>
                  <a:srgbClr val="4070A0"/>
                </a:solidFill>
                <a:latin typeface="Consolas"/>
              </a:rPr>
              <a:t>"/customer/contact-requests/async/delete"</a:t>
            </a:r>
            <a:r>
              <a:rPr sz="900" b="1">
                <a:solidFill>
                  <a:srgbClr val="007020"/>
                </a:solidFill>
                <a:latin typeface="Consolas"/>
              </a:rPr>
              <a:t>&gt;</a:t>
            </a:r>
            <a:r>
              <a:rPr sz="900">
                <a:solidFill>
                  <a:srgbClr val="2D2D2D"/>
                </a:solidFill>
                <a:latin typeface="Consolas"/>
              </a:rPr>
              <a:t>Delete</a:t>
            </a:r>
            <a:r>
              <a:rPr sz="900" b="1">
                <a:solidFill>
                  <a:srgbClr val="007020"/>
                </a:solidFill>
                <a:latin typeface="Consolas"/>
              </a:rPr>
              <a:t>&lt;/button&gt;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881360" cy="731520"/>
          </a:xfrm>
          <a:prstGeom prst="rect">
            <a:avLst/>
          </a:prstGeom>
          <a:noFill/>
        </p:spPr>
        <p:txBody>
          <a:bodyPr wrap="square">
            <a:spAutoFit/>
          </a:bodyPr>
          <a:lstStyle/>
          <a:p>
            <a:pPr>
              <a:defRPr sz="2800" b="1">
                <a:solidFill>
                  <a:srgbClr val="00A89B"/>
                </a:solidFill>
              </a:defRPr>
            </a:pPr>
            <a:r>
              <a:t>Key Additions in the AJAX Version</a:t>
            </a:r>
          </a:p>
        </p:txBody>
      </p:sp>
      <p:sp>
        <p:nvSpPr>
          <p:cNvPr id="3" name="Rectangle 2"/>
          <p:cNvSpPr/>
          <p:nvPr/>
        </p:nvSpPr>
        <p:spPr>
          <a:xfrm>
            <a:off x="640080" y="1051560"/>
            <a:ext cx="1828800" cy="25400"/>
          </a:xfrm>
          <a:prstGeom prst="rect">
            <a:avLst/>
          </a:prstGeom>
          <a:solidFill>
            <a:srgbClr val="00A8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5029200"/>
          </a:xfrm>
          <a:prstGeom prst="rect">
            <a:avLst/>
          </a:prstGeom>
          <a:noFill/>
        </p:spPr>
        <p:txBody>
          <a:bodyPr wrap="square">
            <a:spAutoFit/>
          </a:bodyPr>
          <a:lstStyle/>
          <a:p>
            <a:pPr>
              <a:spcAft>
                <a:spcPts val="400"/>
              </a:spcAft>
              <a:defRPr sz="1500">
                <a:solidFill>
                  <a:srgbClr val="1A1A1A"/>
                </a:solidFill>
              </a:defRPr>
            </a:pPr>
            <a:r>
              <a:t>• ContactRequestAsyncController — addAction() and deleteAction() return JsonResponse instead of redirects</a:t>
            </a:r>
          </a:p>
          <a:p>
            <a:pPr>
              <a:spcAft>
                <a:spcPts val="400"/>
              </a:spcAft>
              <a:defRPr sz="1500">
                <a:solidFill>
                  <a:srgbClr val="1A1A1A"/>
                </a:solidFill>
              </a:defRPr>
            </a:pPr>
            <a:r>
              <a:t>• Async routes: POST /customer/contact-requests/async/add and POST /customer/contact-requests/async/delete</a:t>
            </a:r>
          </a:p>
          <a:p>
            <a:pPr>
              <a:spcAft>
                <a:spcPts val="400"/>
              </a:spcAft>
              <a:defRPr sz="1500">
                <a:solidFill>
                  <a:srgbClr val="1A1A1A"/>
                </a:solidFill>
              </a:defRPr>
            </a:pPr>
            <a:r>
              <a:t>• contact-request-async.twig — Content fragment re-rendered server-side after each operation</a:t>
            </a:r>
          </a:p>
          <a:p>
            <a:pPr>
              <a:spcAft>
                <a:spcPts val="400"/>
              </a:spcAft>
              <a:defRPr sz="1500">
                <a:solidFill>
                  <a:srgbClr val="1A1A1A"/>
                </a:solidFill>
              </a:defRPr>
            </a:pPr>
            <a:r>
              <a:t>• list.twig — Includes the AJAX component trio; uses mount-after-render: true so JS components in new content get re-initialized</a:t>
            </a:r>
          </a:p>
          <a:p>
            <a:pPr>
              <a:spcBef>
                <a:spcPts val="0"/>
              </a:spcBef>
              <a:spcAft>
                <a:spcPts val="0"/>
              </a:spcAft>
            </a:pPr>
            <a:r>
              <a:rPr sz="900">
                <a:solidFill>
                  <a:srgbClr val="2D2D2D"/>
                </a:solidFill>
                <a:latin typeface="Consolas"/>
              </a:rPr>
              <a:t>./exercises/load.sh</a:t>
            </a:r>
            <a:r>
              <a:rPr sz="900">
                <a:solidFill>
                  <a:srgbClr val="2D2D2D"/>
                </a:solidFill>
                <a:latin typeface="Consolas"/>
              </a:rPr>
              <a:t> contact-request basics/extending-core-modules/complete-ajax </a:t>
            </a:r>
            <a:r>
              <a:rPr sz="900">
                <a:solidFill>
                  <a:srgbClr val="2D2D2D"/>
                </a:solidFill>
                <a:latin typeface="Consolas"/>
              </a:rPr>
              <a:t>--run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