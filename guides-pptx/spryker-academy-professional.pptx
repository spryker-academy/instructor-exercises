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Handle entity relationships (many-to-many) during import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Supplier module schema is provided (tables pyz_supplier , pyz_supplier_location , pyz_merchant_to_supplier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files: - src/SprykerAcademy/Zed/Supplier/Persistence/Propel/Schema/pyz_supplier.schema.xml - src/SprykerAcademy/Zed/SupplierLocation/Persistence/Propel/Schema/pyz_supplier_location.schema.xml</a:t>
            </a:r>
          </a:p>
          <a:p>
            <a:pPr>
              <a:spcAft>
                <a:spcPts val="800"/>
              </a:spcAft>
              <a:defRPr sz="1600">
                <a:solidFill>
                  <a:srgbClr val="1A1A1A"/>
                </a:solidFill>
              </a:defRPr>
            </a:pPr>
            <a:r>
              <a:t>These define the tables pyz_supplier (with columns: id_supplier, name, description, status, email, phone) and pyz_supplier_location (with a FK to supplier).</a:t>
            </a:r>
          </a:p>
          <a:p>
            <a:pPr>
              <a:spcAft>
                <a:spcPts val="800"/>
              </a:spcAft>
              <a:defRPr sz="1600">
                <a:solidFill>
                  <a:srgbClr val="1A1A1A"/>
                </a:solidFill>
              </a:defRPr>
            </a:pPr>
            <a:r>
              <a:t>Run propel to create the tables: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a:t>
            </a:r>
          </a:p>
          <a:p>
            <a:pPr>
              <a:spcAft>
                <a:spcPts val="800"/>
              </a:spcAft>
              <a:defRPr sz="1600">
                <a:solidFill>
                  <a:srgbClr val="1A1A1A"/>
                </a:solidFill>
              </a:defRPr>
            </a:pPr>
            <a:r>
              <a:t>The exercise skeleton provides data/import/supplier.csv with 4 supplier rows. Open it and examine the column headers — these will become the keys in the DataSet object during import.</a:t>
            </a:r>
          </a:p>
          <a:p>
            <a:pPr>
              <a:spcAft>
                <a:spcPts val="800"/>
              </a:spcAft>
              <a:defRPr sz="1600">
                <a:solidFill>
                  <a:srgbClr val="1A1A1A"/>
                </a:solidFill>
              </a:defRPr>
            </a:pPr>
            <a:r>
              <a:t>A data/import/supplier_location.csv is also provided for the location import.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The import YAML tells Spryker which CSV file to use for each import type. You need to register the supplier imports.</a:t>
            </a:r>
          </a:p>
          <a:p>
            <a:pPr>
              <a:spcAft>
                <a:spcPts val="800"/>
              </a:spcAft>
              <a:defRPr sz="1600">
                <a:solidFill>
                  <a:srgbClr val="1A1A1A"/>
                </a:solidFill>
              </a:defRPr>
            </a:pPr>
            <a:r>
              <a:t>Coding time:</a:t>
            </a:r>
          </a:p>
          <a:p>
            <a:pPr>
              <a:spcAft>
                <a:spcPts val="800"/>
              </a:spcAft>
              <a:defRPr sz="1600">
                <a:solidFill>
                  <a:srgbClr val="1A1A1A"/>
                </a:solidFill>
              </a:defRPr>
            </a:pPr>
            <a:r>
              <a:t>Open data/import/local/full_EU.yml and add two new entries at the bottom of the actions: list: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One for suppliers: data_entity must match the value of SupplierDataImportConfig::IMPORT_TYPE_SUPPLIER , and source must point to the supplier CSV file path (relative to project root)</a:t>
            </a:r>
          </a:p>
          <a:p>
            <a:pPr>
              <a:spcAft>
                <a:spcPts val="400"/>
              </a:spcAft>
              <a:defRPr sz="1500">
                <a:solidFill>
                  <a:srgbClr val="1A1A1A"/>
                </a:solidFill>
              </a:defRPr>
            </a:pPr>
            <a:r>
              <a:t>• One for supplier locations: data_entity must match SupplierDataImportConfig::IMPORT_TYPE_SUPPLIER_LOCATION , pointing to the location CSV</a:t>
            </a:r>
          </a:p>
          <a:p>
            <a:pPr>
              <a:spcAft>
                <a:spcPts val="800"/>
              </a:spcAft>
              <a:defRPr sz="1600">
                <a:solidFill>
                  <a:srgbClr val="1A1A1A"/>
                </a:solidFill>
              </a:defRPr>
            </a:pPr>
            <a:r>
              <a:t>Look at how the other entities are configured in the same file for the correct format. Be careful with YAML indentation (spaces, not tabs).</a:t>
            </a:r>
          </a:p>
          <a:p>
            <a:pPr>
              <a:spcAft>
                <a:spcPts val="800"/>
              </a:spcAft>
              <a:defRPr sz="1400" i="1">
                <a:solidFill>
                  <a:srgbClr val="888888"/>
                </a:solidFill>
              </a:defRPr>
            </a:pPr>
            <a:r>
              <a:t>❝ How it works: When you run docker/sdk console data:import supplier , Spryker looks up the data_entity: supplier entry in this YAML to find the CSV path, then passes it to the matching DataImportPlugin via the DataImporterConfigurationTransfer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Verify that the constant COLUMN_NAME matches the actual CSV column header. The skeleton may have a mismatch — compare the constant value with the first row of supplier.csv and fix it if needed.</a:t>
            </a:r>
          </a:p>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a:p>
            <a:pPr>
              <a:spcAft>
                <a:spcPts val="400"/>
              </a:spcAft>
              <a:defRPr sz="1500">
                <a:solidFill>
                  <a:srgbClr val="1A1A1A"/>
                </a:solidFill>
              </a:defRPr>
            </a:pPr>
            <a:r>
              <a:t>• Handle merchant relations (bonus). The CSV may contain a merchant_ids column with comma-separated IDs. Think about how to: Parse the comma-separated string into an array of IDs Query existing relations to avoid duplicates Create only the missing relation records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Coding time:</a:t>
            </a:r>
          </a:p>
          <a:p>
            <a:pPr>
              <a:spcAft>
                <a:spcPts val="800"/>
              </a:spcAft>
              <a:defRPr sz="1600">
                <a:solidFill>
                  <a:srgbClr val="1A1A1A"/>
                </a:solidFill>
              </a:defRPr>
            </a:pPr>
            <a:r>
              <a:t>Open src/Pyz/Zed/DataImport/DataImportDependencyProvider.php in the project. Find the getDataImporterPlugins() method and add instances of both SupplierDataImportPlugin and SupplierLocationDataImportPlugin to the returned array.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a:p>
            <a:pPr>
              <a:spcAft>
                <a:spcPts val="800"/>
              </a:spcAft>
              <a:defRPr sz="1600">
                <a:solidFill>
                  <a:srgbClr val="1A1A1A"/>
                </a:solidFill>
              </a:defRPr>
            </a:pPr>
            <a:r>
              <a:t>This will: 1. Read supplier.csv 2. For each row: run DescriptionToLowercaseStep (lowercase description) then SupplierWriterStep (persist to DB) 3. Output a report with the number of imported rows</a:t>
            </a:r>
          </a:p>
          <a:p>
            <a:pPr>
              <a:spcAft>
                <a:spcPts val="800"/>
              </a:spcAft>
              <a:defRPr sz="1600">
                <a:solidFill>
                  <a:srgbClr val="1A1A1A"/>
                </a:solidFill>
              </a:defRPr>
            </a:pPr>
            <a:r>
              <a:t>You can also import supplier locations: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supplier-location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complete solution,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SupplierDataImportDependencyProvider extends DataImportDependencyProvider to inherit all dependencies the DataImport module needs (data reader, data set step broker, etc.). This is a common pattern when creating a module that extends a core module’s functionality.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table has 4 rows 2. Descriptions are lowercase (the DescriptionToLowercaseStep transformed them) 3. Run data:import supplier again — it should NOT create duplicates (idempotent import)</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you should have suppliers in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If you have no supplier data, import it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navigation XML ( config/Zed/navigation.xml ) is provided by the exercise skeleton. It registers the “Suppliers” menu item in the Back Office sidebar with sub-pages for Overview, Create, Edit, and Delete.</a:t>
            </a:r>
          </a:p>
          <a:p>
            <a:pPr>
              <a:spcAft>
                <a:spcPts val="800"/>
              </a:spcAft>
              <a:defRPr sz="1600">
                <a:solidFill>
                  <a:srgbClr val="1A1A1A"/>
                </a:solidFill>
              </a:defRPr>
            </a:pPr>
            <a:r>
              <a:t>After loading the exercise, clear cache to see the navigation: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suppliers must be in the database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src/Pyz/Client/SymfonyMessenger/SymfonyMessengerConfig.php :</a:t>
            </a:r>
          </a:p>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src/Pyz/Zed/Queue/QueueDependencyProvider.php .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'{"type":"page"}' )               Extra parameters — for search, set type to "page"</a:t>
            </a:r>
          </a:p>
          <a:p>
            <a:pPr>
              <a:spcAft>
                <a:spcPts val="800"/>
              </a:spcAft>
              <a:defRPr sz="1600">
                <a:solidFill>
                  <a:srgbClr val="1A1A1A"/>
                </a:solidFill>
              </a:defRPr>
            </a:pPr>
            <a:r>
              <a:t>For the search table, you need all four parameters (including params with type: page for Elasticsearch indexing). For the storage table ( pyz_supplier_storage.schema.xml ), it is already provided.</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src/Pyz/Zed/Publisher/PublisherDependencyProvider.php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a:p>
            <a:pPr>
              <a:spcAft>
                <a:spcPts val="400"/>
              </a:spcAft>
              <a:defRPr sz="1500">
                <a:solidFill>
                  <a:srgbClr val="1A1A1A"/>
                </a:solidFill>
              </a:defRPr>
            </a:pPr>
            <a:r>
              <a:t>• Create a method that returns the Storage publisher plugin mapped to the storage publish queue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files required: Queues must be registered in: 1. SymfonyMessengerConfig — Symfony Messenger transport routing 2. RabbitMqConfig — AMQP queue declaration 3. QueueDependencyProvider — queue message processors The load.sh script handles all three and also creates queues/exchanges via the RabbitMQ management API as a fallback.</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boot deploy.dev.yml to recreate infrastructure, or create queues manually via the RabbitMQ API</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by name and displays the result in the Yves storefront. You will work with Spryker’s Elasticsearch abstraction: query plugins, result formatter plugins, and the SearchClient.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 - Display search results in a Yves storefront page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indexed in Elasticsearch</a:t>
            </a:r>
          </a:p>
          <a:p>
            <a:pPr>
              <a:spcAft>
                <a:spcPts val="400"/>
              </a:spcAft>
              <a:defRPr sz="1500">
                <a:solidFill>
                  <a:srgbClr val="1A1A1A"/>
                </a:solidFill>
              </a:defRPr>
            </a:pPr>
            <a:r>
              <a:t>• Suppliers should exist in the pyz_supplier_search table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search:setup</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a:p>
            <a:pPr>
              <a:spcBef>
                <a:spcPts val="0"/>
              </a:spcBef>
              <a:spcAft>
                <a:spcPts val="0"/>
              </a:spcAft>
            </a:pPr>
            <a:r>
              <a:rPr sz="900">
                <a:solidFill>
                  <a:srgbClr val="2D2D2D"/>
                </a:solidFill>
                <a:latin typeface="Consolas"/>
              </a:rPr>
              <a:t>SupplierSearchClient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a:t>
            </a:r>
          </a:p>
          <a:p>
            <a:pPr>
              <a:spcBef>
                <a:spcPts val="0"/>
              </a:spcBef>
              <a:spcAft>
                <a:spcPts val="0"/>
              </a:spcAft>
            </a:pPr>
            <a:r>
              <a:rPr sz="900">
                <a:solidFill>
                  <a:srgbClr val="2D2D2D"/>
                </a:solidFill>
                <a:latin typeface="Consolas"/>
              </a:rPr>
              <a:t>    ├── createSupplierQueryPlugin(name) → builds Elastica Query</a:t>
            </a:r>
          </a:p>
          <a:p>
            <a:pPr>
              <a:spcBef>
                <a:spcPts val="0"/>
              </a:spcBef>
              <a:spcAft>
                <a:spcPts val="0"/>
              </a:spcAft>
            </a:pPr>
            <a:r>
              <a:rPr sz="900">
                <a:solidFill>
                  <a:srgbClr val="2D2D2D"/>
                </a:solidFill>
                <a:latin typeface="Consolas"/>
              </a:rPr>
              <a:t>    ├── getSearchQueryFormatters()      → result formatter plugins</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SupplierTransfer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“Acm” matches “Acme”)</a:t>
            </a:r>
          </a:p>
          <a:p>
            <a:pPr>
              <a:spcAft>
                <a:spcPts val="400"/>
              </a:spcAft>
              <a:defRPr sz="1500">
                <a:solidFill>
                  <a:srgbClr val="1A1A1A"/>
                </a:solidFill>
              </a:defRPr>
            </a:pPr>
            <a:r>
              <a:t>• The mappings define field types: text for searchable fields, keyword for exact match fields</a:t>
            </a:r>
          </a:p>
          <a:p>
            <a:pPr>
              <a:spcAft>
                <a:spcPts val="800"/>
              </a:spcAft>
              <a:defRPr sz="1600">
                <a:solidFill>
                  <a:srgbClr val="1A1A1A"/>
                </a:solidFill>
              </a:defRPr>
            </a:pPr>
            <a:r>
              <a:t>After loading the exercise, run docker/sdk console search:setup to create the index in Elasticsearch.</a:t>
            </a:r>
          </a:p>
          <a:p>
            <a:pPr>
              <a:spcAft>
                <a:spcPts val="800"/>
              </a:spcAft>
              <a:defRPr sz="1400" i="1">
                <a:solidFill>
                  <a:srgbClr val="888888"/>
                </a:solidFill>
              </a:defRPr>
            </a:pPr>
            <a:r>
              <a:t>❝ Index name whitelisting: The schema filename ( supplier.json ) must be whitelisted in SearchElasticsearchConfig for auto-discovery. Check if this is configured in the project.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 builds the Elastica query that gets sent to Elasticsearch.</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src/SprykerAcademy/Client/SupplierSearch/Plugin/Elasticsearch/Query/SupplierSearchQueryPlugin.php :</a:t>
            </a:r>
          </a:p>
          <a:p>
            <a:pPr>
              <a:spcAft>
                <a:spcPts val="400"/>
              </a:spcAft>
              <a:defRPr sz="1500">
                <a:solidFill>
                  <a:srgbClr val="1A1A1A"/>
                </a:solidFill>
              </a:defRPr>
            </a:pPr>
            <a:r>
              <a:t>• Set the SOURCE_IDENTIFIER constant — this must match the type parameter from the synchronization behavior in pyz_supplier_search.schema.xml</a:t>
            </a:r>
          </a:p>
          <a:p>
            <a:pPr>
              <a:spcAft>
                <a:spcPts val="400"/>
              </a:spcAft>
              <a:defRPr sz="1500">
                <a:solidFill>
                  <a:srgbClr val="1A1A1A"/>
                </a:solidFill>
              </a:defRPr>
            </a:pPr>
            <a:r>
              <a:t>• In getSearchQuery() , build a BoolQuery with two addMust() conditions: An Exists filter ensuring the document has an id_supplier field (only supplier documents) A MatchQuery on the name field with the search term stored in $this-&gt;name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BoolQuery: Elasticsearch’s boolean query combines multiple conditions with must/should/must_not logic. addMust() means ALL conditions must match (AND logic).</a:t>
            </a:r>
          </a:p>
          <a:p>
            <a:pPr>
              <a:spcAft>
                <a:spcPts val="800"/>
              </a:spcAft>
              <a:defRPr sz="1400" i="1">
                <a:solidFill>
                  <a:srgbClr val="888888"/>
                </a:solidFill>
              </a:defRPr>
            </a:pPr>
            <a:r>
              <a:t>❝ SearchContextAwareQueryInterface: The plugin implements this to tell Spryker which Elasticsearch index to query. The SOURCE_IDENTIFIER gets resolved to the actual index name by the search infrastructure.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In formatSearchResult() , iterate through the result set, get the source data from the first document, and create a SupplierTransfer from it.</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400"/>
              </a:spcAft>
              <a:defRPr sz="1500">
                <a:solidFill>
                  <a:srgbClr val="1A1A1A"/>
                </a:solidFill>
              </a:defRPr>
            </a:pPr>
            <a:r>
              <a:t>• In provideServiceLayerDependencies() , call addSearchClient() and addSupplierSearchResultFormatterPlugins()</a:t>
            </a:r>
          </a:p>
          <a:p>
            <a:pPr>
              <a:spcAft>
                <a:spcPts val="400"/>
              </a:spcAft>
              <a:defRPr sz="1500">
                <a:solidFill>
                  <a:srgbClr val="1A1A1A"/>
                </a:solidFill>
              </a:defRPr>
            </a:pPr>
            <a:r>
              <a:t>• In addSearchClient() , provide the core SearchClient via the locator</a:t>
            </a:r>
          </a:p>
          <a:p>
            <a:pPr>
              <a:spcAft>
                <a:spcPts val="400"/>
              </a:spcAft>
              <a:defRPr sz="1500">
                <a:solidFill>
                  <a:srgbClr val="1A1A1A"/>
                </a:solidFill>
              </a:defRPr>
            </a:pPr>
            <a:r>
              <a:t>• In getSupplierSearchResultFormatterPlugins() , return an array containing the SupplierSearchResultFormatterPlugin instance</a:t>
            </a:r>
          </a:p>
          <a:p>
            <a:pPr>
              <a:spcAft>
                <a:spcPts val="800"/>
              </a:spcAft>
              <a:defRPr sz="1400" i="1">
                <a:solidFill>
                  <a:srgbClr val="888888"/>
                </a:solidFill>
              </a:defRPr>
            </a:pPr>
            <a:r>
              <a:t>❝ Client vs Zed DependencyProvider: In the Client layer, the method is provideServiceLayerDependencies() (not provideBusinessLayerDependencies() like in Zed).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400"/>
              </a:spcAft>
              <a:defRPr sz="1500">
                <a:solidFill>
                  <a:srgbClr val="1A1A1A"/>
                </a:solidFill>
              </a:defRPr>
            </a:pPr>
            <a:r>
              <a:t>• getSearchQueryFormatters() — return the formatters from the DependencyProvider</a:t>
            </a:r>
          </a:p>
          <a:p>
            <a:pPr>
              <a:spcAft>
                <a:spcPts val="400"/>
              </a:spcAft>
              <a:defRPr sz="1500">
                <a:solidFill>
                  <a:srgbClr val="1A1A1A"/>
                </a:solidFill>
              </a:defRPr>
            </a:pPr>
            <a:r>
              <a:t>• getSearchClient() — return the SearchClient from the DependencyProvider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orchestrates the search: creates the query, gets the formatters, executes the search, and returns the result.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getSupplierByName() :</a:t>
            </a:r>
          </a:p>
          <a:p>
            <a:pPr>
              <a:spcAft>
                <a:spcPts val="400"/>
              </a:spcAft>
              <a:defRPr sz="1500">
                <a:solidFill>
                  <a:srgbClr val="1A1A1A"/>
                </a:solidFill>
              </a:defRPr>
            </a:pPr>
            <a:r>
              <a:t>• Create the query plugin via the factory (passing the name)</a:t>
            </a:r>
          </a:p>
          <a:p>
            <a:pPr>
              <a:spcAft>
                <a:spcPts val="400"/>
              </a:spcAft>
              <a:defRPr sz="1500">
                <a:solidFill>
                  <a:srgbClr val="1A1A1A"/>
                </a:solidFill>
              </a:defRPr>
            </a:pPr>
            <a:r>
              <a:t>• Get the result formatter plugins via the factory</a:t>
            </a:r>
          </a:p>
          <a:p>
            <a:pPr>
              <a:spcAft>
                <a:spcPts val="400"/>
              </a:spcAft>
              <a:defRPr sz="1500">
                <a:solidFill>
                  <a:srgbClr val="1A1A1A"/>
                </a:solidFill>
              </a:defRPr>
            </a:pPr>
            <a:r>
              <a:t>• Execute the search using the SearchClient’s search() method (passing query + formatters)</a:t>
            </a:r>
          </a:p>
          <a:p>
            <a:pPr>
              <a:spcAft>
                <a:spcPts val="400"/>
              </a:spcAft>
              <a:defRPr sz="1500">
                <a:solidFill>
                  <a:srgbClr val="1A1A1A"/>
                </a:solidFill>
              </a:defRPr>
            </a:pPr>
            <a:r>
              <a:t>• Return the supplier from the results array using the formatter’s NAME constant as key</a:t>
            </a:r>
          </a:p>
          <a:p>
            <a:pPr>
              <a:spcAft>
                <a:spcPts val="800"/>
              </a:spcAft>
              <a:defRPr sz="1400" i="1">
                <a:solidFill>
                  <a:srgbClr val="888888"/>
                </a:solidFill>
              </a:defRPr>
            </a:pPr>
            <a:r>
              <a:t>❝ SearchClient::search() returns an associative array keyed by formatter names. Since our formatter is named 'supplier' , the result is at $results['supplier']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Display in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a SupplierPage Yves module with a route /supplier/{name} . Review these files: - SupplierPageRouteProviderPlugin — registers the route - SupplierPageDependencyProvider — provides the SupplierSearchClient - SupplierPageFactory — accesses the client</a:t>
            </a:r>
          </a:p>
          <a:p>
            <a:pPr>
              <a:spcAft>
                <a:spcPts val="800"/>
              </a:spcAft>
              <a:defRPr sz="1600">
                <a:solidFill>
                  <a:srgbClr val="1A1A1A"/>
                </a:solidFill>
              </a:defRPr>
            </a:pPr>
            <a:r>
              <a:t>The controller uses the SupplierSearchClient to find a supplier by name and passes it to the Twig template.</a:t>
            </a:r>
          </a:p>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http://yves.eu.spryker.local/supplier/Acme%20Supplies to see the result.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Visit the Yves page with a known supplier name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Exercises 8-11 (Data Import, Back Office, P&amp;S, Search)</a:t>
            </a:r>
          </a:p>
          <a:p>
            <a:pPr>
              <a:spcAft>
                <a:spcPts val="400"/>
              </a:spcAft>
              <a:defRPr sz="1500">
                <a:solidFill>
                  <a:srgbClr val="1A1A1A"/>
                </a:solidFill>
              </a:defRPr>
            </a:pPr>
            <a:r>
              <a:t>• Suppliers should exist in the database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Register Custom Namespace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source directories configured in config/GlueStorefront/packages/spryker_api_platform.php . By default, only src/Spryker , src/SprykerFeature , and src/Pyz are registered.</a:t>
            </a:r>
          </a:p>
          <a:p>
            <a:pPr>
              <a:spcAft>
                <a:spcPts val="800"/>
              </a:spcAft>
              <a:defRPr sz="1600">
                <a:solidFill>
                  <a:srgbClr val="1A1A1A"/>
                </a:solidFill>
              </a:defRPr>
            </a:pPr>
            <a:r>
              <a:t>Since our code lives in src/SprykerAcademy/ , we need to add it:</a:t>
            </a:r>
          </a:p>
          <a:p>
            <a:pPr>
              <a:spcBef>
                <a:spcPts val="0"/>
              </a:spcBef>
              <a:spcAft>
                <a:spcPts val="0"/>
              </a:spcAft>
            </a:pPr>
            <a:r>
              <a:rPr sz="900" i="1">
                <a:solidFill>
                  <a:srgbClr val="60A0B0"/>
                </a:solidFill>
                <a:latin typeface="Consolas"/>
              </a:rPr>
              <a:t>// config/GlueStorefront/packages/spryker_api_platform.php</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'src/SprykerFeature'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&lt;-- Add this</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Backend API: If you also need to expose resources via the Backend API, add src/SprykerAcademy to config/GlueBackend/packages/spryker_api_platform.php as well.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Register Custom Namespace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the source directory, generate the API resources: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Aft>
                <a:spcPts val="800"/>
              </a:spcAft>
              <a:defRPr sz="1400" i="1">
                <a:solidFill>
                  <a:srgbClr val="888888"/>
                </a:solidFill>
              </a:defRPr>
            </a:pPr>
            <a:r>
              <a:t>❝ Important: You must specify the Glue application via the GLUE_APPLICATION environment variable. Without it, the command doesn’t know which API type to generate for and may fail or generate for the wrong application.</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GLUE_APPLICATION=GLUE_STOREFRONT glue api:generate                        Generate Storefront API resources              </a:t>
            </a:r>
          </a:p>
          <a:p>
            <a:pPr>
              <a:spcAft>
                <a:spcPts val="100"/>
              </a:spcAft>
              <a:defRPr sz="1000">
                <a:solidFill>
                  <a:srgbClr val="1A1A1A"/>
                </a:solidFill>
                <a:latin typeface="Consolas"/>
              </a:defRPr>
            </a:pPr>
            <a:r>
              <a:t>GLUE_APPLICATION=GLUE_BACKEND glue api:generate                           Generate Backend API resources                 </a:t>
            </a:r>
          </a:p>
          <a:p>
            <a:pPr>
              <a:spcAft>
                <a:spcPts val="100"/>
              </a:spcAft>
              <a:defRPr sz="1000">
                <a:solidFill>
                  <a:srgbClr val="1A1A1A"/>
                </a:solidFill>
                <a:latin typeface="Consolas"/>
              </a:defRPr>
            </a:pPr>
            <a:r>
              <a:t>GLUE_APPLICATION=GLUE_STOREFRONT glue api:generate --dry-run              Preview what would be generated without writing</a:t>
            </a:r>
          </a:p>
          <a:p>
            <a:pPr>
              <a:spcAft>
                <a:spcPts val="100"/>
              </a:spcAft>
              <a:defRPr sz="1000">
                <a:solidFill>
                  <a:srgbClr val="1A1A1A"/>
                </a:solidFill>
                <a:latin typeface="Consolas"/>
              </a:defRPr>
            </a:pPr>
            <a:r>
              <a:t>GLUE_APPLICATION=GLUE_STOREFRONT glue api:generate --validate-only        Validate schemas without generating            </a:t>
            </a:r>
          </a:p>
          <a:p>
            <a:pPr>
              <a:spcAft>
                <a:spcPts val="100"/>
              </a:spcAft>
              <a:defRPr sz="1000">
                <a:solidFill>
                  <a:srgbClr val="1A1A1A"/>
                </a:solidFill>
                <a:latin typeface="Consolas"/>
              </a:defRPr>
            </a:pPr>
            <a:r>
              <a:t>GLUE_APPLICATION=GLUE_STOREFRONT glue api:generate -r suppliers           Generate only the suppliers resource           </a:t>
            </a:r>
          </a:p>
          <a:p>
            <a:pPr>
              <a:spcAft>
                <a:spcPts val="100"/>
              </a:spcAft>
              <a:defRPr sz="1000">
                <a:solidFill>
                  <a:srgbClr val="1A1A1A"/>
                </a:solidFill>
                <a:latin typeface="Consolas"/>
              </a:defRPr>
            </a:pPr>
            <a:r>
              <a:t>GLUE_APPLICATION=GLUE_STOREFRONT glue api:debug --list                    List all registered resources                  </a:t>
            </a:r>
          </a:p>
          <a:p>
            <a:pPr>
              <a:spcAft>
                <a:spcPts val="100"/>
              </a:spcAft>
              <a:defRPr sz="1000">
                <a:solidFill>
                  <a:srgbClr val="1A1A1A"/>
                </a:solidFill>
                <a:latin typeface="Consolas"/>
              </a:defRPr>
            </a:pPr>
            <a:r>
              <a:t>GLUE_APPLICATION=GLUE_STOREFRONT glue api:debug suppliers                 Inspect a specific resource’s merged schema    </a:t>
            </a:r>
          </a:p>
          <a:p>
            <a:pPr>
              <a:spcAft>
                <a:spcPts val="100"/>
              </a:spcAft>
              <a:defRPr sz="1000">
                <a:solidFill>
                  <a:srgbClr val="1A1A1A"/>
                </a:solidFill>
                <a:latin typeface="Consolas"/>
              </a:defRPr>
            </a:pPr>
            <a:r>
              <a:t>GLUE_APPLICATION=GLUE_STOREFRONT glue api:debug suppliers --show-sources  Show all source files with priority            </a:t>
            </a:r>
          </a:p>
          <a:p>
            <a:pPr>
              <a:spcAft>
                <a:spcPts val="100"/>
              </a:spcAft>
              <a:defRPr sz="1000">
                <a:solidFill>
                  <a:srgbClr val="1A1A1A"/>
                </a:solidFill>
                <a:latin typeface="Consolas"/>
              </a:defRPr>
            </a:pPr>
            <a:r>
              <a:t>GLUE_APPLICATION=GLUE_STOREFRONT glue api:debug suppliers --show-merged   Display the final merged YAML schema</a:t>
            </a:r>
          </a:p>
          <a:p>
            <a:pPr>
              <a:spcAft>
                <a:spcPts val="800"/>
              </a:spcAft>
              <a:defRPr sz="1400" i="1">
                <a:solidFill>
                  <a:srgbClr val="888888"/>
                </a:solidFill>
              </a:defRPr>
            </a:pPr>
            <a:r>
              <a:t>❝ Tip: All glue CLI commands require the GLUE_APPLICATION env var. Prefix every command with GLUE_APPLICATION=GLUE_STOREFRONT or GLUE_APPLICATION=GLUE_BACKEND as needed.</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src/SprykerAcademy/Glue/SuppliersApi/resources/api/storefront/suppliers.resource.yml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src/SprykerAcademy/Glue/SuppliersApi/Api/Storefront/Provider/SuppliersStorefrontProvider.php . The class implements ApiPlatform\State\ProviderInterface . In the provide() method:</a:t>
            </a:r>
          </a:p>
          <a:p>
            <a:pPr>
              <a:spcAft>
                <a:spcPts val="400"/>
              </a:spcAft>
              <a:defRPr sz="1500">
                <a:solidFill>
                  <a:srgbClr val="1A1A1A"/>
                </a:solidFill>
              </a:defRPr>
            </a:pPr>
            <a:r>
              <a:t>• Read the supplier identifier from $uriVariables — the key name must match the identifier property in the YAML</a:t>
            </a:r>
          </a:p>
          <a:p>
            <a:pPr>
              <a:spcAft>
                <a:spcPts val="400"/>
              </a:spcAft>
              <a:defRPr sz="1500">
                <a:solidFill>
                  <a:srgbClr val="1A1A1A"/>
                </a:solidFill>
              </a:defRPr>
            </a:pPr>
            <a:r>
              <a:t>• If the identifier is null, this is a collection request — return an array of mapped resources (load all suppliers via the Client)</a:t>
            </a:r>
          </a:p>
          <a:p>
            <a:pPr>
              <a:spcAft>
                <a:spcPts val="400"/>
              </a:spcAft>
              <a:defRPr sz="1500">
                <a:solidFill>
                  <a:srgbClr val="1A1A1A"/>
                </a:solidFill>
              </a:defRPr>
            </a:pPr>
            <a:r>
              <a:t>• If the identifier is present, load the single supplier by ID via the Client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supplier is not found, return null (API Platform handles the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src/SprykerAcademy/Glue/SuppliersApi/Processor/Mapper/SupplierMapper.php and review how it maps transfers to API resources.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'http://glue-storefront.eu.spryker.local/suppliers/1'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collection:</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'http://glue-storefront.eu.spryker.local/suppliers'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response format: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a:t>
            </a:r>
          </a:p>
          <a:p>
            <a:pPr>
              <a:spcBef>
                <a:spcPts val="1200"/>
              </a:spcBef>
              <a:spcAft>
                <a:spcPts val="600"/>
              </a:spcAft>
              <a:defRPr sz="2000" b="1">
                <a:solidFill>
                  <a:srgbClr val="1A1A1A"/>
                </a:solidFill>
              </a:defRPr>
            </a:pPr>
            <a:r>
              <a:t>Provider Pattern</a:t>
            </a:r>
          </a:p>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a:t>
            </a:r>
          </a:p>
          <a:p>
            <a:pPr>
              <a:spcAft>
                <a:spcPts val="800"/>
              </a:spcAft>
              <a:defRPr sz="1600">
                <a:solidFill>
                  <a:srgbClr val="1A1A1A"/>
                </a:solidFill>
              </a:defRPr>
            </a:pPr>
            <a:r>
              <a:t>Coding time:</a:t>
            </a:r>
          </a:p>
          <a:p>
            <a:pPr>
              <a:spcAft>
                <a:spcPts val="800"/>
              </a:spcAft>
              <a:defRPr sz="1600">
                <a:solidFill>
                  <a:srgbClr val="1A1A1A"/>
                </a:solidFill>
              </a:defRPr>
            </a:pPr>
            <a:r>
              <a:t>Open config/Shared/common/config_oms-development.php :</a:t>
            </a:r>
          </a:p>
          <a:p>
            <a:pPr>
              <a:spcAft>
                <a:spcPts val="400"/>
              </a:spcAft>
              <a:defRPr sz="1500">
                <a:solidFill>
                  <a:srgbClr val="1A1A1A"/>
                </a:solidFill>
              </a:defRPr>
            </a:pPr>
            <a:r>
              <a:t>• Add the state machine name to the list of active processes. The name must match the XML filename without the .xml extension (e.g., 'Demo01' ).</a:t>
            </a:r>
          </a:p>
          <a:p>
            <a:pPr>
              <a:spcAft>
                <a:spcPts val="400"/>
              </a:spcAft>
              <a:defRPr sz="1500">
                <a:solidFill>
                  <a:srgbClr val="1A1A1A"/>
                </a:solidFill>
              </a:defRPr>
            </a:pPr>
            <a:r>
              <a:t>• Map the state machine to the invoice payment method by replacing the current process name with your new one.</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07-storage-client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synchronized to Redis</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 mysql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run data import and trigger P&amp;S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a:p>
            <a:pPr>
              <a:spcBef>
                <a:spcPts val="1200"/>
              </a:spcBef>
              <a:spcAft>
                <a:spcPts val="600"/>
              </a:spcAft>
              <a:defRPr sz="2000" b="1">
                <a:solidFill>
                  <a:srgbClr val="1A1A1A"/>
                </a:solidFill>
              </a:defRPr>
            </a:pPr>
            <a:r>
              <a:t>Test via Debug Console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Open CLI</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PHP one-liner to test</a:t>
            </a:r>
          </a:p>
          <a:p>
            <a:pPr>
              <a:spcBef>
                <a:spcPts val="0"/>
              </a:spcBef>
              <a:spcAft>
                <a:spcPts val="0"/>
              </a:spcAft>
            </a:pPr>
            <a:r>
              <a:rPr sz="900">
                <a:solidFill>
                  <a:srgbClr val="2D2D2D"/>
                </a:solidFill>
                <a:latin typeface="Consolas"/>
              </a:rPr>
              <a:t>php</a:t>
            </a:r>
            <a:r>
              <a:rPr sz="900">
                <a:solidFill>
                  <a:srgbClr val="2D2D2D"/>
                </a:solidFill>
                <a:latin typeface="Consolas"/>
              </a:rPr>
              <a:t>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902000"/>
                </a:solidFill>
                <a:latin typeface="Consolas"/>
              </a:rPr>
              <a:t>\$</a:t>
            </a:r>
            <a:r>
              <a:rPr sz="900">
                <a:solidFill>
                  <a:srgbClr val="4070A0"/>
                </a:solidFill>
                <a:latin typeface="Consolas"/>
              </a:rPr>
              <a:t>client = \Spryker\Client\Kernel\Locator::getInstance()-&gt;supplierStorage()-&gt;client();</a:t>
            </a:r>
          </a:p>
          <a:p>
            <a:pPr>
              <a:spcBef>
                <a:spcPts val="0"/>
              </a:spcBef>
              <a:spcAft>
                <a:spcPts val="0"/>
              </a:spcAft>
            </a:pPr>
            <a:r>
              <a:rPr sz="900">
                <a:solidFill>
                  <a:srgbClr val="902000"/>
                </a:solidFill>
                <a:latin typeface="Consolas"/>
              </a:rPr>
              <a:t>\$</a:t>
            </a:r>
            <a:r>
              <a:rPr sz="900">
                <a:solidFill>
                  <a:srgbClr val="4070A0"/>
                </a:solidFill>
                <a:latin typeface="Consolas"/>
              </a:rPr>
              <a:t>supplier = </a:t>
            </a:r>
            <a:r>
              <a:rPr sz="900">
                <a:solidFill>
                  <a:srgbClr val="902000"/>
                </a:solidFill>
                <a:latin typeface="Consolas"/>
              </a:rPr>
              <a:t>\$</a:t>
            </a:r>
            <a:r>
              <a:rPr sz="900">
                <a:solidFill>
                  <a:srgbClr val="4070A0"/>
                </a:solidFill>
                <a:latin typeface="Consolas"/>
              </a:rPr>
              <a:t>client-&gt;findSupplierById(1);</a:t>
            </a:r>
          </a:p>
          <a:p>
            <a:pPr>
              <a:spcBef>
                <a:spcPts val="0"/>
              </a:spcBef>
              <a:spcAft>
                <a:spcPts val="0"/>
              </a:spcAft>
            </a:pPr>
            <a:r>
              <a:rPr sz="900">
                <a:solidFill>
                  <a:srgbClr val="4070A0"/>
                </a:solidFill>
                <a:latin typeface="Consolas"/>
              </a:rPr>
              <a:t>var_dump(</a:t>
            </a:r>
            <a:r>
              <a:rPr sz="900">
                <a:solidFill>
                  <a:srgbClr val="902000"/>
                </a:solidFill>
                <a:latin typeface="Consolas"/>
              </a:rPr>
              <a:t>\$</a:t>
            </a:r>
            <a:r>
              <a:rPr sz="900">
                <a:solidFill>
                  <a:srgbClr val="4070A0"/>
                </a:solidFill>
                <a:latin typeface="Consolas"/>
              </a:rPr>
              <a:t>supplier);</a:t>
            </a:r>
          </a:p>
          <a:p>
            <a:pPr>
              <a:spcBef>
                <a:spcPts val="0"/>
              </a:spcBef>
              <a:spcAft>
                <a:spcPts val="0"/>
              </a:spcAft>
            </a:pPr>
            <a:r>
              <a:rPr sz="900">
                <a:solidFill>
                  <a:srgbClr val="4070A0"/>
                </a:solidFill>
                <a:latin typeface="Consolas"/>
              </a:rPr>
              <a: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Connect to Redis</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Get a supplier</a:t>
            </a:r>
          </a:p>
          <a:p>
            <a:pPr>
              <a:spcBef>
                <a:spcPts val="0"/>
              </a:spcBef>
              <a:spcAft>
                <a:spcPts val="0"/>
              </a:spcAft>
            </a:pPr>
            <a:r>
              <a:rPr sz="900">
                <a:solidFill>
                  <a:srgbClr val="2D2D2D"/>
                </a:solidFill>
                <a:latin typeface="Consolas"/>
              </a:rPr>
              <a:t>GET</a:t>
            </a:r>
            <a:r>
              <a:rPr sz="900">
                <a:solidFill>
                  <a:srgbClr val="2D2D2D"/>
                </a:solidFill>
                <a:latin typeface="Consolas"/>
              </a:rPr>
              <a:t> </a:t>
            </a:r>
            <a:r>
              <a:rPr sz="900">
                <a:solidFill>
                  <a:srgbClr val="4070A0"/>
                </a:solidFill>
                <a:latin typeface="Consolas"/>
              </a:rPr>
              <a:t>"supplier:1"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08-merchant-portal-table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9 (Back Office) — supplier facade, repository, and entity manager must exist</a:t>
            </a:r>
          </a:p>
          <a:p>
            <a:pPr>
              <a:spcAft>
                <a:spcPts val="400"/>
              </a:spcAft>
              <a:defRPr sz="1500">
                <a:solidFill>
                  <a:srgbClr val="1A1A1A"/>
                </a:solidFill>
              </a:defRPr>
            </a:pPr>
            <a:r>
              <a:t>• Suppliers assigned to a merchant via pyz_merchant_to_supplier</a:t>
            </a:r>
          </a:p>
          <a:p>
            <a:pPr>
              <a:spcAft>
                <a:spcPts val="400"/>
              </a:spcAft>
              <a:defRPr sz="1500">
                <a:solidFill>
                  <a:srgbClr val="1A1A1A"/>
                </a:solidFill>
              </a:defRPr>
            </a:pPr>
            <a:r>
              <a:t>• Logged in as a demo merchant user</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and ACL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skeleton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navigation is in config/Zed/navigation-main-merchant-portal.xml (separate from the Back Office navigation.xml ). The supplier entry is automatically merged by load.sh .</a:t>
            </a:r>
          </a:p>
          <a:p>
            <a:pPr>
              <a:spcBef>
                <a:spcPts val="1200"/>
              </a:spcBef>
              <a:spcAft>
                <a:spcPts val="600"/>
              </a:spcAft>
              <a:defRPr sz="2000" b="1">
                <a:solidFill>
                  <a:srgbClr val="1A1A1A"/>
                </a:solidFill>
              </a:defRPr>
            </a:pPr>
            <a:r>
              <a:t>ACL (Access Control)</a:t>
            </a:r>
          </a:p>
          <a:p>
            <a:pPr>
              <a:spcAft>
                <a:spcPts val="800"/>
              </a:spcAft>
              <a:defRPr sz="1600">
                <a:solidFill>
                  <a:srgbClr val="1A1A1A"/>
                </a:solidFill>
              </a:defRPr>
            </a:pPr>
            <a:r>
              <a:t>Every Merchant Portal module must register ACL rules so merchant users can access its controllers. The skeleton includes:</a:t>
            </a:r>
          </a:p>
          <a:p>
            <a:pPr>
              <a:spcAft>
                <a:spcPts val="400"/>
              </a:spcAft>
              <a:defRPr sz="1500">
                <a:solidFill>
                  <a:srgbClr val="1A1A1A"/>
                </a:solidFill>
              </a:defRPr>
            </a:pPr>
            <a:r>
              <a:t>• SupplierMerchantPortalGuiMerchantAclRuleExpanderPlugin — allows all routes in the supplier-merchant-portal-gui bundle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and ACL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AclMerchantPortalDependencyProvider override — registers the plugin via SprykerAcademy namespace</a:t>
            </a:r>
          </a:p>
          <a:p>
            <a:pPr>
              <a:spcAft>
                <a:spcPts val="800"/>
              </a:spcAft>
              <a:defRPr sz="1400" i="1">
                <a:solidFill>
                  <a:srgbClr val="888888"/>
                </a:solidFill>
              </a:defRPr>
            </a:pPr>
            <a:r>
              <a:t>❝ Why ACL? The Merchant Portal is multi-tenant. Each merchant user can only access modules explicitly allowed by ACL rules. Without the ACL plugin, all routes return 403 Forbidden.</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09-merchant-portal-form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15 (Merchant Portal Table)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renders form HTML as JsonResponse</a:t>
            </a:r>
          </a:p>
          <a:p>
            <a:pPr>
              <a:spcBef>
                <a:spcPts val="0"/>
              </a:spcBef>
              <a:spcAft>
                <a:spcPts val="0"/>
              </a:spcAft>
            </a:pPr>
            <a:r>
              <a:rPr sz="900">
                <a:solidFill>
                  <a:srgbClr val="2D2D2D"/>
                </a:solidFill>
                <a:latin typeface="Consolas"/>
              </a:rPr>
              <a:t>    → Angular opens drawer with the HTML content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re-rendered form HTML with errors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and the response contains either rendered HTML (for the form) or a ZedUI action payload (after successful submit).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$this -&gt;getFactory()-&gt;getZedUiFactory() -&gt;createZedUiFormResponseBuilder() -&gt;addSuccessNotification( 'Supplier created successfully.' ) -&gt;addActionCloseDrawer() -&gt;addActionRefreshTable() -&gt;createResponse() ;</a:t>
            </a:r>
          </a:p>
          <a:p>
            <a:pPr>
              <a:spcAft>
                <a:spcPts val="400"/>
              </a:spcAft>
              <a:defRPr sz="1500">
                <a:solidFill>
                  <a:srgbClr val="1A1A1A"/>
                </a:solidFill>
              </a:defRPr>
            </a:pPr>
            <a:r>
              <a:t>• Otherwise: render the form template as JsonResponse</a:t>
            </a:r>
          </a:p>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10-merchant-portal-locations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16 (Merchant Portal Form)</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inputs: supplierForm[locations][0][city], etc.</a:t>
            </a:r>
          </a:p>
          <a:p>
            <a:pPr>
              <a:spcAft>
                <a:spcPts val="800"/>
              </a:spcAft>
              <a:defRPr sz="1600">
                <a:solidFill>
                  <a:srgbClr val="1A1A1A"/>
                </a:solidFill>
              </a:defRPr>
            </a:pPr>
            <a:r>
              <a:t>When the form is submitted, the table data is sent as nested form fields. A data transformer converts between the transfer objects and the array format the table uses.</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Editable columns render as form inputs (text, checkbox, select) instead of plain text.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array format (editable table rows).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ArrayObject&lt;SupplierLocationTransfer&gt; to array of arrays. Each array has: idSupplierLocation , city , country , address , zipCode , isDefault .</a:t>
            </a:r>
          </a:p>
          <a:p>
            <a:pPr>
              <a:spcAft>
                <a:spcPts val="400"/>
              </a:spcAft>
              <a:defRPr sz="1500">
                <a:solidFill>
                  <a:srgbClr val="1A1A1A"/>
                </a:solidFill>
              </a:defRPr>
            </a:pPr>
            <a:r>
              <a:t>• reverseTransform() — convert submitted array data back to ArrayObject&lt;SupplierLocationTransfer&gt; . Create a SupplierLocationTransfer for each row.</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11-yves-storefront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Create a Yves Controller with multiple actions - Register routes using the RouteProviderPlugin - Create Twig templates for the storefront - Wire dependencies through the Yves DependencyProvider and Factory - Access the SearchClient from the Yves layer - Handle request parameters and redirects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11 (Search) — suppliers must be indexed in Elasticsearch</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uses AbstractController from Spryker\Yves\Kernel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src/SprykerAcademy/Yves/SupplierPage/Plugin/Router/SupplierPageRouteProviderPlugin.php :</a:t>
            </a:r>
          </a:p>
          <a:p>
            <a:pPr>
              <a:spcAft>
                <a:spcPts val="400"/>
              </a:spcAft>
              <a:defRPr sz="1500">
                <a:solidFill>
                  <a:srgbClr val="1A1A1A"/>
                </a:solidFill>
              </a:defRPr>
            </a:pPr>
            <a:r>
              <a:t>• Add two constants: ROUTE_NAME_SUPPLIER_INDEX = 'supplier-index' ROUTE_NAME_SUPPLIER_DETAIL = 'supplier-detail'</a:t>
            </a:r>
          </a:p>
          <a:p>
            <a:pPr>
              <a:spcAft>
                <a:spcPts val="400"/>
              </a:spcAft>
              <a:defRPr sz="1500">
                <a:solidFill>
                  <a:srgbClr val="1A1A1A"/>
                </a:solidFill>
              </a:defRPr>
            </a:pPr>
            <a:r>
              <a:t>• In addRoutes() , call both private methods to add routes to the collection</a:t>
            </a:r>
          </a:p>
          <a:p>
            <a:pPr>
              <a:spcAft>
                <a:spcPts val="400"/>
              </a:spcAft>
              <a:defRPr sz="1500">
                <a:solidFill>
                  <a:srgbClr val="1A1A1A"/>
                </a:solidFill>
              </a:defRPr>
            </a:pPr>
            <a:r>
              <a:t>• Implement addSupplierIndexRoute() : Use $this-&gt;buildRoute('/supplier', 'SupplierPage', 'Index', 'indexAction') Set method to GET: $route-&gt;setMethods(['GET']) Add to collection with the index route name constant</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addSupplierDetailRoute() : Use $this-&gt;buildRoute('/supplier/detail', 'SupplierPage', 'Index', 'detailAction') Set method to GET Add to collection with the detail route name constant</a:t>
            </a:r>
          </a:p>
          <a:p>
            <a:pPr>
              <a:spcAft>
                <a:spcPts val="800"/>
              </a:spcAft>
              <a:defRPr sz="1400" i="1">
                <a:solidFill>
                  <a:srgbClr val="888888"/>
                </a:solidFill>
              </a:defRPr>
            </a:pPr>
            <a:r>
              <a:t>❝ buildRoute() parameters: path, module, controller, action</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HTTP requests and returns data for templates.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src/SprykerAcademy/Yves/SupplierPage/Controller/IndexController.php :</a:t>
            </a:r>
          </a:p>
          <a:p>
            <a:pPr>
              <a:spcBef>
                <a:spcPts val="800"/>
              </a:spcBef>
              <a:spcAft>
                <a:spcPts val="400"/>
              </a:spcAft>
              <a:defRPr sz="1700" b="1">
                <a:solidFill>
                  <a:srgbClr val="1A1A1A"/>
                </a:solidFill>
              </a:defRPr>
            </a:pPr>
            <a:r>
              <a:t>4.1 indexAction - List All Suppliers</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1. Get the client from factory</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Pass empty array for no filters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2. Return array for template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searchSuppliers([]): The empty array means no search filters — returns all suppliers.</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1. Get ID from query parameter</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-&gt;query-&gt;getInt(</a:t>
            </a:r>
            <a:r>
              <a:rPr sz="900">
                <a:solidFill>
                  <a:srgbClr val="4070A0"/>
                </a:solidFill>
                <a:latin typeface="Consolas"/>
              </a:rPr>
              <a:t>'id'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2. Validate ID exists</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$idSupplier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'Supplier ID is required.'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3. Fetch supplier</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4. Handle not found</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$supplier</a:t>
            </a:r>
            <a:r>
              <a:rPr sz="900">
                <a:solidFill>
                  <a:srgbClr val="2D2D2D"/>
                </a:solidFill>
                <a:latin typeface="Consolas"/>
              </a:rPr>
              <a:t>) {</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'Supplier not found.'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5. Return for template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Request parameters: Use $request-&gt;query-&gt;getInt('id') for URL query params (e.g., /supplier/detail?id=1 ) Flash messages: addErrorMessage() shows a toast notification that persists through redirects Redirect: redirectResponse() returns a Response object for redirects</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controllers.</a:t>
            </a:r>
          </a:p>
          <a:p>
            <a:pPr>
              <a:spcBef>
                <a:spcPts val="800"/>
              </a:spcBef>
              <a:spcAft>
                <a:spcPts val="400"/>
              </a:spcAft>
              <a:defRPr sz="1700" b="1">
                <a:solidFill>
                  <a:srgbClr val="1A1A1A"/>
                </a:solidFill>
              </a:defRPr>
            </a:pPr>
            <a:r>
              <a:t>5.1 List Template (index.twig)</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src/SprykerAcademy/Yves/SupplierPage/Theme/default/templates/index/index.twig :</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extends template('page-layout-main')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title %}{{ 'Suppliers' | trans }}{% endblock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&lt;div class="container"&gt;</a:t>
            </a:r>
          </a:p>
          <a:p>
            <a:pPr>
              <a:spcBef>
                <a:spcPts val="0"/>
              </a:spcBef>
              <a:spcAft>
                <a:spcPts val="0"/>
              </a:spcAft>
            </a:pPr>
            <a:r>
              <a:rPr sz="900">
                <a:solidFill>
                  <a:srgbClr val="2D2D2D"/>
                </a:solidFill>
                <a:latin typeface="Consolas"/>
              </a:rPr>
              <a:t>        &lt;h1&gt;{{ 'Suppliers' | trans }}&lt;/h1&gt;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 if suppliers is empty %}</a:t>
            </a:r>
          </a:p>
          <a:p>
            <a:pPr>
              <a:spcBef>
                <a:spcPts val="0"/>
              </a:spcBef>
              <a:spcAft>
                <a:spcPts val="0"/>
              </a:spcAft>
            </a:pPr>
            <a:r>
              <a:rPr sz="900">
                <a:solidFill>
                  <a:srgbClr val="2D2D2D"/>
                </a:solidFill>
                <a:latin typeface="Consolas"/>
              </a:rPr>
              <a:t>            &lt;div class="alert alert-info"&gt;{{ 'No suppliers found.' | trans }}&lt;/div&gt;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&lt;table class="table table-striped"&gt;</a:t>
            </a:r>
          </a:p>
          <a:p>
            <a:pPr>
              <a:spcBef>
                <a:spcPts val="0"/>
              </a:spcBef>
              <a:spcAft>
                <a:spcPts val="0"/>
              </a:spcAft>
            </a:pPr>
            <a:r>
              <a:rPr sz="900">
                <a:solidFill>
                  <a:srgbClr val="2D2D2D"/>
                </a:solidFill>
                <a:latin typeface="Consolas"/>
              </a:rPr>
              <a:t>                &lt;thead&gt;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&lt;th&gt;{{ 'ID' | trans }}&lt;/th&gt;</a:t>
            </a:r>
          </a:p>
          <a:p>
            <a:pPr>
              <a:spcBef>
                <a:spcPts val="0"/>
              </a:spcBef>
              <a:spcAft>
                <a:spcPts val="0"/>
              </a:spcAft>
            </a:pPr>
            <a:r>
              <a:rPr sz="900">
                <a:solidFill>
                  <a:srgbClr val="2D2D2D"/>
                </a:solidFill>
                <a:latin typeface="Consolas"/>
              </a:rPr>
              <a:t>                        &lt;th&gt;{{ 'Name' | trans }}&lt;/th&gt;</a:t>
            </a:r>
          </a:p>
          <a:p>
            <a:pPr>
              <a:spcBef>
                <a:spcPts val="0"/>
              </a:spcBef>
              <a:spcAft>
                <a:spcPts val="0"/>
              </a:spcAft>
            </a:pPr>
            <a:r>
              <a:rPr sz="900">
                <a:solidFill>
                  <a:srgbClr val="2D2D2D"/>
                </a:solidFill>
                <a:latin typeface="Consolas"/>
              </a:rPr>
              <a:t>                        &lt;th&gt;{{ 'Email' | trans }}&lt;/th&gt;</a:t>
            </a:r>
          </a:p>
          <a:p>
            <a:pPr>
              <a:spcBef>
                <a:spcPts val="0"/>
              </a:spcBef>
              <a:spcAft>
                <a:spcPts val="0"/>
              </a:spcAft>
            </a:pPr>
            <a:r>
              <a:rPr sz="900">
                <a:solidFill>
                  <a:srgbClr val="2D2D2D"/>
                </a:solidFill>
                <a:latin typeface="Consolas"/>
              </a:rPr>
              <a:t>                        &lt;th&gt;{{ 'Phone' | trans }}&lt;/th&gt;</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&lt;th&gt;{{ 'Status' | trans }}&lt;/th&gt;</a:t>
            </a:r>
          </a:p>
          <a:p>
            <a:pPr>
              <a:spcBef>
                <a:spcPts val="0"/>
              </a:spcBef>
              <a:spcAft>
                <a:spcPts val="0"/>
              </a:spcAft>
            </a:pPr>
            <a:r>
              <a:rPr sz="900">
                <a:solidFill>
                  <a:srgbClr val="2D2D2D"/>
                </a:solidFill>
                <a:latin typeface="Consolas"/>
              </a:rPr>
              <a:t>                        &lt;th&gt;{{ 'Actions' | trans }}&lt;/th&gt;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&lt;/thead&gt;</a:t>
            </a:r>
          </a:p>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 for supplier in suppliers %}</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&lt;td&gt;{{ supplier.idSupplier }}&lt;/td&gt;</a:t>
            </a:r>
          </a:p>
          <a:p>
            <a:pPr>
              <a:spcBef>
                <a:spcPts val="0"/>
              </a:spcBef>
              <a:spcAft>
                <a:spcPts val="0"/>
              </a:spcAft>
            </a:pPr>
            <a:r>
              <a:rPr sz="900">
                <a:solidFill>
                  <a:srgbClr val="2D2D2D"/>
                </a:solidFill>
                <a:latin typeface="Consolas"/>
              </a:rPr>
              <a:t>                            &lt;td&gt;{{ supplier.name }}&lt;/td&gt;</a:t>
            </a:r>
          </a:p>
          <a:p>
            <a:pPr>
              <a:spcBef>
                <a:spcPts val="0"/>
              </a:spcBef>
              <a:spcAft>
                <a:spcPts val="0"/>
              </a:spcAft>
            </a:pPr>
            <a:r>
              <a:rPr sz="900">
                <a:solidFill>
                  <a:srgbClr val="2D2D2D"/>
                </a:solidFill>
                <a:latin typeface="Consolas"/>
              </a:rPr>
              <a:t>                            &lt;td&gt;{{ supplier.email }}&lt;/td&gt;</a:t>
            </a:r>
          </a:p>
          <a:p>
            <a:pPr>
              <a:spcBef>
                <a:spcPts val="0"/>
              </a:spcBef>
              <a:spcAft>
                <a:spcPts val="0"/>
              </a:spcAft>
            </a:pPr>
            <a:r>
              <a:rPr sz="900">
                <a:solidFill>
                  <a:srgbClr val="2D2D2D"/>
                </a:solidFill>
                <a:latin typeface="Consolas"/>
              </a:rPr>
              <a:t>                            &lt;td&gt;{{ supplier.phone }}&lt;/td&gt;</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 if supplier.status == 1 %}</a:t>
            </a:r>
          </a:p>
          <a:p>
            <a:pPr>
              <a:spcBef>
                <a:spcPts val="0"/>
              </a:spcBef>
              <a:spcAft>
                <a:spcPts val="0"/>
              </a:spcAft>
            </a:pPr>
            <a:r>
              <a:rPr sz="900">
                <a:solidFill>
                  <a:srgbClr val="2D2D2D"/>
                </a:solidFill>
                <a:latin typeface="Consolas"/>
              </a:rPr>
              <a:t>                                    &lt;span class="badge badge-success"&gt;{{ 'Active' | trans }}&lt;/span&gt;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&lt;span class="badge badge-secondary"&gt;{{ 'Inactive' | trans }}&lt;/span&gt;</a:t>
            </a:r>
          </a:p>
          <a:p>
            <a:pPr>
              <a:spcBef>
                <a:spcPts val="0"/>
              </a:spcBef>
              <a:spcAft>
                <a:spcPts val="0"/>
              </a:spcAft>
            </a:pPr>
            <a:r>
              <a:rPr sz="900">
                <a:solidFill>
                  <a:srgbClr val="2D2D2D"/>
                </a:solidFill>
                <a:latin typeface="Consolas"/>
              </a:rPr>
              <a:t>                                {% endif %}</a:t>
            </a:r>
          </a:p>
          <a:p>
            <a:pPr>
              <a:spcBef>
                <a:spcPts val="0"/>
              </a:spcBef>
              <a:spcAft>
                <a:spcPts val="0"/>
              </a:spcAft>
            </a:pPr>
            <a:r>
              <a:rPr sz="900">
                <a:solidFill>
                  <a:srgbClr val="2D2D2D"/>
                </a:solidFill>
                <a:latin typeface="Consolas"/>
              </a:rPr>
              <a:t>                            &lt;/td&gt;</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&lt;a href="{{ url('supplier-detail', {id: supplier.idSupplier}) }}" class="btn btn-sm btn-primary"&gt;</a:t>
            </a:r>
          </a:p>
          <a:p>
            <a:pPr>
              <a:spcBef>
                <a:spcPts val="0"/>
              </a:spcBef>
              <a:spcAft>
                <a:spcPts val="0"/>
              </a:spcAft>
            </a:pPr>
            <a:r>
              <a:rPr sz="900">
                <a:solidFill>
                  <a:srgbClr val="2D2D2D"/>
                </a:solidFill>
                <a:latin typeface="Consolas"/>
              </a:rPr>
              <a:t>                                    {{ 'View' | trans }}</a:t>
            </a:r>
          </a:p>
          <a:p>
            <a:pPr>
              <a:spcBef>
                <a:spcPts val="0"/>
              </a:spcBef>
              <a:spcAft>
                <a:spcPts val="0"/>
              </a:spcAft>
            </a:pPr>
            <a:r>
              <a:rPr sz="900">
                <a:solidFill>
                  <a:srgbClr val="2D2D2D"/>
                </a:solidFill>
                <a:latin typeface="Consolas"/>
              </a:rPr>
              <a:t>                                &lt;/a&gt;</a:t>
            </a:r>
          </a:p>
          <a:p>
            <a:pPr>
              <a:spcBef>
                <a:spcPts val="0"/>
              </a:spcBef>
              <a:spcAft>
                <a:spcPts val="0"/>
              </a:spcAft>
            </a:pPr>
            <a:r>
              <a:rPr sz="900">
                <a:solidFill>
                  <a:srgbClr val="2D2D2D"/>
                </a:solidFill>
                <a:latin typeface="Consolas"/>
              </a:rPr>
              <a:t>... (continued)</a:t>
            </a:r>
          </a:p>
          <a:p>
            <a:pPr>
              <a:spcAft>
                <a:spcPts val="800"/>
              </a:spcAft>
              <a:defRPr sz="1400" i="1">
                <a:solidFill>
                  <a:srgbClr val="888888"/>
                </a:solidFill>
              </a:defRPr>
            </a:pPr>
            <a:r>
              <a:t>❝ template(‘page-layout-main’): The base layout for Yves storefront pages url(): Generates URLs using route names: {{ url('supplier-detail', {id: 1}) }} → /supplier/detail?id=1 supplier.idSupplier: Access transfer properties using camelCase (idSupplier, not id_supplier)</a:t>
            </a:r>
          </a:p>
          <a:p>
            <a:pPr>
              <a:spcBef>
                <a:spcPts val="800"/>
              </a:spcBef>
              <a:spcAft>
                <a:spcPts val="400"/>
              </a:spcAft>
              <a:defRPr sz="1700" b="1">
                <a:solidFill>
                  <a:srgbClr val="1A1A1A"/>
                </a:solidFill>
              </a:defRPr>
            </a:pPr>
            <a:r>
              <a:t>5.2 Detail Template (detail.twig)</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src/SprykerAcademy/Yves/SupplierPage/Theme/default/templates/index/detail.twig :</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extends template('page-layout-main')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title %}{{ supplier.name }}{% endblock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&lt;div class="container"&gt;</a:t>
            </a:r>
          </a:p>
          <a:p>
            <a:pPr>
              <a:spcBef>
                <a:spcPts val="0"/>
              </a:spcBef>
              <a:spcAft>
                <a:spcPts val="0"/>
              </a:spcAft>
            </a:pPr>
            <a:r>
              <a:rPr sz="900">
                <a:solidFill>
                  <a:srgbClr val="2D2D2D"/>
                </a:solidFill>
                <a:latin typeface="Consolas"/>
              </a:rPr>
              <a:t>        &lt;nav aria-label="breadcrumb"&gt;</a:t>
            </a:r>
          </a:p>
          <a:p>
            <a:pPr>
              <a:spcBef>
                <a:spcPts val="0"/>
              </a:spcBef>
              <a:spcAft>
                <a:spcPts val="0"/>
              </a:spcAft>
            </a:pPr>
            <a:r>
              <a:rPr sz="900">
                <a:solidFill>
                  <a:srgbClr val="2D2D2D"/>
                </a:solidFill>
                <a:latin typeface="Consolas"/>
              </a:rPr>
              <a:t>            &lt;ol class="breadcrumb"&gt;</a:t>
            </a:r>
          </a:p>
          <a:p>
            <a:pPr>
              <a:spcBef>
                <a:spcPts val="0"/>
              </a:spcBef>
              <a:spcAft>
                <a:spcPts val="0"/>
              </a:spcAft>
            </a:pPr>
            <a:r>
              <a:rPr sz="900">
                <a:solidFill>
                  <a:srgbClr val="2D2D2D"/>
                </a:solidFill>
                <a:latin typeface="Consolas"/>
              </a:rPr>
              <a:t>                &lt;li class="breadcrumb-item"&gt;&lt;a href="{{ url('supplier-index') }}"&gt;{{ 'Suppliers' | trans }}&lt;/a&gt;&lt;/li&gt;</a:t>
            </a:r>
          </a:p>
          <a:p>
            <a:pPr>
              <a:spcBef>
                <a:spcPts val="0"/>
              </a:spcBef>
              <a:spcAft>
                <a:spcPts val="0"/>
              </a:spcAft>
            </a:pPr>
            <a:r>
              <a:rPr sz="900">
                <a:solidFill>
                  <a:srgbClr val="2D2D2D"/>
                </a:solidFill>
                <a:latin typeface="Consolas"/>
              </a:rPr>
              <a:t>                &lt;li class="breadcrumb-item active" aria-current="page"&gt;{{ supplier.name }}&lt;/li&gt;</a:t>
            </a:r>
          </a:p>
          <a:p>
            <a:pPr>
              <a:spcBef>
                <a:spcPts val="0"/>
              </a:spcBef>
              <a:spcAft>
                <a:spcPts val="0"/>
              </a:spcAft>
            </a:pPr>
            <a:r>
              <a:rPr sz="900">
                <a:solidFill>
                  <a:srgbClr val="2D2D2D"/>
                </a:solidFill>
                <a:latin typeface="Consolas"/>
              </a:rPr>
              <a:t>            &lt;/ol&gt;</a:t>
            </a:r>
          </a:p>
          <a:p>
            <a:pPr>
              <a:spcBef>
                <a:spcPts val="0"/>
              </a:spcBef>
              <a:spcAft>
                <a:spcPts val="0"/>
              </a:spcAft>
            </a:pPr>
            <a:r>
              <a:rPr sz="900">
                <a:solidFill>
                  <a:srgbClr val="2D2D2D"/>
                </a:solidFill>
                <a:latin typeface="Consolas"/>
              </a:rPr>
              <a:t>        &lt;/nav&gt;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&lt;h1&gt;{{ supplier.name }}&lt;/h1&gt;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&lt;div class="card"&gt;</a:t>
            </a:r>
          </a:p>
          <a:p>
            <a:pPr>
              <a:spcBef>
                <a:spcPts val="0"/>
              </a:spcBef>
              <a:spcAft>
                <a:spcPts val="0"/>
              </a:spcAft>
            </a:pPr>
            <a:r>
              <a:rPr sz="900">
                <a:solidFill>
                  <a:srgbClr val="2D2D2D"/>
                </a:solidFill>
                <a:latin typeface="Consolas"/>
              </a:rPr>
              <a:t>            &lt;div class="card-body"&gt;</a:t>
            </a:r>
          </a:p>
          <a:p>
            <a:pPr>
              <a:spcBef>
                <a:spcPts val="0"/>
              </a:spcBef>
              <a:spcAft>
                <a:spcPts val="0"/>
              </a:spcAft>
            </a:pPr>
            <a:r>
              <a:rPr sz="900">
                <a:solidFill>
                  <a:srgbClr val="2D2D2D"/>
                </a:solidFill>
                <a:latin typeface="Consolas"/>
              </a:rPr>
              <a:t>                &lt;table class="table table-borderless"&gt;</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&lt;tr&gt;&lt;th&gt;ID&lt;/th&gt;&lt;td&gt;{{ supplier.idSupplier }}&lt;/td&gt;&lt;/tr&gt;</a:t>
            </a:r>
          </a:p>
          <a:p>
            <a:pPr>
              <a:spcBef>
                <a:spcPts val="0"/>
              </a:spcBef>
              <a:spcAft>
                <a:spcPts val="0"/>
              </a:spcAft>
            </a:pPr>
            <a:r>
              <a:rPr sz="900">
                <a:solidFill>
                  <a:srgbClr val="2D2D2D"/>
                </a:solidFill>
                <a:latin typeface="Consolas"/>
              </a:rPr>
              <a:t>                        &lt;tr&gt;&lt;th&gt;Name&lt;/th&gt;&lt;td&gt;{{ supplier.name }}&lt;/td&gt;&lt;/tr&gt;</a:t>
            </a:r>
          </a:p>
          <a:p>
            <a:pPr>
              <a:spcBef>
                <a:spcPts val="0"/>
              </a:spcBef>
              <a:spcAft>
                <a:spcPts val="0"/>
              </a:spcAft>
            </a:pPr>
            <a:r>
              <a:rPr sz="900">
                <a:solidFill>
                  <a:srgbClr val="2D2D2D"/>
                </a:solidFill>
                <a:latin typeface="Consolas"/>
              </a:rPr>
              <a:t>                        &lt;tr&gt;&lt;th&gt;Description&lt;/th&gt;&lt;td&gt;{{ supplier.description }}&lt;/td&gt;&lt;/tr&gt;</a:t>
            </a:r>
          </a:p>
          <a:p>
            <a:pPr>
              <a:spcBef>
                <a:spcPts val="0"/>
              </a:spcBef>
              <a:spcAft>
                <a:spcPts val="0"/>
              </a:spcAft>
            </a:pPr>
            <a:r>
              <a:rPr sz="900">
                <a:solidFill>
                  <a:srgbClr val="2D2D2D"/>
                </a:solidFill>
                <a:latin typeface="Consolas"/>
              </a:rPr>
              <a:t>                        &lt;tr&gt;&lt;th&gt;Email&lt;/th&gt;&lt;td&gt;{{ supplier.email }}&lt;/td&gt;&lt;/tr&gt;</a:t>
            </a:r>
          </a:p>
          <a:p>
            <a:pPr>
              <a:spcBef>
                <a:spcPts val="0"/>
              </a:spcBef>
              <a:spcAft>
                <a:spcPts val="0"/>
              </a:spcAft>
            </a:pPr>
            <a:r>
              <a:rPr sz="900">
                <a:solidFill>
                  <a:srgbClr val="2D2D2D"/>
                </a:solidFill>
                <a:latin typeface="Consolas"/>
              </a:rPr>
              <a:t>                        &lt;tr&gt;&lt;th&gt;Phone&lt;/th&gt;&lt;td&gt;{{ supplier.phone }}&lt;/td&gt;&lt;/tr&gt;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&lt;th&gt;Status&lt;/th&gt;</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 if supplier.status == 1 %}</a:t>
            </a:r>
          </a:p>
          <a:p>
            <a:pPr>
              <a:spcBef>
                <a:spcPts val="0"/>
              </a:spcBef>
              <a:spcAft>
                <a:spcPts val="0"/>
              </a:spcAft>
            </a:pPr>
            <a:r>
              <a:rPr sz="900">
                <a:solidFill>
                  <a:srgbClr val="2D2D2D"/>
                </a:solidFill>
                <a:latin typeface="Consolas"/>
              </a:rPr>
              <a:t>                                    &lt;span class="badge badge-success"&gt;{{ 'Active' | trans }}&lt;/span&gt;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&lt;span class="badge badge-secondary"&gt;{{ 'Inactive' | trans }}&lt;/span&gt;</a:t>
            </a:r>
          </a:p>
          <a:p>
            <a:pPr>
              <a:spcBef>
                <a:spcPts val="0"/>
              </a:spcBef>
              <a:spcAft>
                <a:spcPts val="0"/>
              </a:spcAft>
            </a:pPr>
            <a:r>
              <a:rPr sz="900">
                <a:solidFill>
                  <a:srgbClr val="2D2D2D"/>
                </a:solidFill>
                <a:latin typeface="Consolas"/>
              </a:rPr>
              <a:t>                                {% endif %}</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&lt;/table&gt;</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&lt;/div&gt;</a:t>
            </a:r>
          </a:p>
          <a:p>
            <a:pPr>
              <a:spcBef>
                <a:spcPts val="0"/>
              </a:spcBef>
              <a:spcAft>
                <a:spcPts val="0"/>
              </a:spcAft>
            </a:pPr>
            <a:r>
              <a:rPr sz="900">
                <a:solidFill>
                  <a:srgbClr val="2D2D2D"/>
                </a:solidFill>
                <a:latin typeface="Consolas"/>
              </a:rPr>
              <a:t>            &lt;div class="card-footer"&gt;</a:t>
            </a:r>
          </a:p>
          <a:p>
            <a:pPr>
              <a:spcBef>
                <a:spcPts val="0"/>
              </a:spcBef>
              <a:spcAft>
                <a:spcPts val="0"/>
              </a:spcAft>
            </a:pPr>
            <a:r>
              <a:rPr sz="900">
                <a:solidFill>
                  <a:srgbClr val="2D2D2D"/>
                </a:solidFill>
                <a:latin typeface="Consolas"/>
              </a:rPr>
              <a:t>                &lt;a href="{{ url('supplier-index') }}" class="btn btn-secondary"&gt;</a:t>
            </a:r>
          </a:p>
          <a:p>
            <a:pPr>
              <a:spcBef>
                <a:spcPts val="0"/>
              </a:spcBef>
              <a:spcAft>
                <a:spcPts val="0"/>
              </a:spcAft>
            </a:pPr>
            <a:r>
              <a:rPr sz="900">
                <a:solidFill>
                  <a:srgbClr val="2D2D2D"/>
                </a:solidFill>
                <a:latin typeface="Consolas"/>
              </a:rPr>
              <a:t>                    {{ 'Back to List' | trans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a:t>
            </a:r>
          </a:p>
          <a:p>
            <a:pPr>
              <a:spcAft>
                <a:spcPts val="400"/>
              </a:spcAft>
              <a:defRPr sz="1500">
                <a:solidFill>
                  <a:srgbClr val="1A1A1A"/>
                </a:solidFill>
              </a:defRPr>
            </a:pPr>
            <a:r>
              <a:t>• Visit the list page: http://yves.eu.spryker.local/supplier</a:t>
            </a:r>
          </a:p>
          <a:p>
            <a:pPr>
              <a:spcAft>
                <a:spcPts val="400"/>
              </a:spcAft>
              <a:defRPr sz="1500">
                <a:solidFill>
                  <a:srgbClr val="1A1A1A"/>
                </a:solidFill>
              </a:defRPr>
            </a:pPr>
            <a:r>
              <a:t>• Click “View” on a supplier to see the detail page: http://yves.eu.spryker.local/supplier/detail?id=1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AbstractController (Kernel)  AbstractController (Kernel)</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array     Renders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Query parameters: /supplier/detail?id=1</a:t>
            </a:r>
          </a:p>
          <a:p>
            <a:pPr>
              <a:spcBef>
                <a:spcPts val="0"/>
              </a:spcBef>
              <a:spcAft>
                <a:spcPts val="0"/>
              </a:spcAft>
            </a:pPr>
            <a:r>
              <a:rPr sz="900">
                <a:solidFill>
                  <a:srgbClr val="19177C"/>
                </a:solidFill>
                <a:latin typeface="Consolas"/>
              </a:rPr>
              <a:t>$id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-&gt;query-&gt;getInt(</a:t>
            </a:r>
            <a:r>
              <a:rPr sz="900">
                <a:solidFill>
                  <a:srgbClr val="4070A0"/>
                </a:solidFill>
                <a:latin typeface="Consolas"/>
              </a:rPr>
              <a:t>'id'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