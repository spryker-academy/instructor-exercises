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 id="518" r:id="rId269"/>
    <p:sldId id="519" r:id="rId270"/>
    <p:sldId id="520" r:id="rId271"/>
    <p:sldId id="521" r:id="rId272"/>
    <p:sldId id="522" r:id="rId273"/>
    <p:sldId id="523" r:id="rId274"/>
    <p:sldId id="524" r:id="rId275"/>
    <p:sldId id="525" r:id="rId276"/>
    <p:sldId id="526" r:id="rId277"/>
    <p:sldId id="527" r:id="rId278"/>
    <p:sldId id="528" r:id="rId279"/>
    <p:sldId id="529" r:id="rId280"/>
    <p:sldId id="530" r:id="rId281"/>
    <p:sldId id="531" r:id="rId282"/>
    <p:sldId id="532" r:id="rId283"/>
    <p:sldId id="533" r:id="rId284"/>
    <p:sldId id="534" r:id="rId285"/>
    <p:sldId id="535" r:id="rId286"/>
    <p:sldId id="536" r:id="rId28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slide" Target="slides/slide247.xml"/><Relationship Id="rId254" Type="http://schemas.openxmlformats.org/officeDocument/2006/relationships/slide" Target="slides/slide248.xml"/><Relationship Id="rId255" Type="http://schemas.openxmlformats.org/officeDocument/2006/relationships/slide" Target="slides/slide249.xml"/><Relationship Id="rId256" Type="http://schemas.openxmlformats.org/officeDocument/2006/relationships/slide" Target="slides/slide250.xml"/><Relationship Id="rId257" Type="http://schemas.openxmlformats.org/officeDocument/2006/relationships/slide" Target="slides/slide251.xml"/><Relationship Id="rId258" Type="http://schemas.openxmlformats.org/officeDocument/2006/relationships/slide" Target="slides/slide252.xml"/><Relationship Id="rId259" Type="http://schemas.openxmlformats.org/officeDocument/2006/relationships/slide" Target="slides/slide253.xml"/><Relationship Id="rId260" Type="http://schemas.openxmlformats.org/officeDocument/2006/relationships/slide" Target="slides/slide254.xml"/><Relationship Id="rId261" Type="http://schemas.openxmlformats.org/officeDocument/2006/relationships/slide" Target="slides/slide255.xml"/><Relationship Id="rId262" Type="http://schemas.openxmlformats.org/officeDocument/2006/relationships/slide" Target="slides/slide256.xml"/><Relationship Id="rId263" Type="http://schemas.openxmlformats.org/officeDocument/2006/relationships/slide" Target="slides/slide257.xml"/><Relationship Id="rId264" Type="http://schemas.openxmlformats.org/officeDocument/2006/relationships/slide" Target="slides/slide258.xml"/><Relationship Id="rId265" Type="http://schemas.openxmlformats.org/officeDocument/2006/relationships/slide" Target="slides/slide259.xml"/><Relationship Id="rId266" Type="http://schemas.openxmlformats.org/officeDocument/2006/relationships/slide" Target="slides/slide260.xml"/><Relationship Id="rId267" Type="http://schemas.openxmlformats.org/officeDocument/2006/relationships/slide" Target="slides/slide261.xml"/><Relationship Id="rId268" Type="http://schemas.openxmlformats.org/officeDocument/2006/relationships/slide" Target="slides/slide262.xml"/><Relationship Id="rId269" Type="http://schemas.openxmlformats.org/officeDocument/2006/relationships/slide" Target="slides/slide263.xml"/><Relationship Id="rId270" Type="http://schemas.openxmlformats.org/officeDocument/2006/relationships/slide" Target="slides/slide264.xml"/><Relationship Id="rId271" Type="http://schemas.openxmlformats.org/officeDocument/2006/relationships/slide" Target="slides/slide265.xml"/><Relationship Id="rId272" Type="http://schemas.openxmlformats.org/officeDocument/2006/relationships/slide" Target="slides/slide266.xml"/><Relationship Id="rId273" Type="http://schemas.openxmlformats.org/officeDocument/2006/relationships/slide" Target="slides/slide267.xml"/><Relationship Id="rId274" Type="http://schemas.openxmlformats.org/officeDocument/2006/relationships/slide" Target="slides/slide268.xml"/><Relationship Id="rId275" Type="http://schemas.openxmlformats.org/officeDocument/2006/relationships/slide" Target="slides/slide269.xml"/><Relationship Id="rId276" Type="http://schemas.openxmlformats.org/officeDocument/2006/relationships/slide" Target="slides/slide270.xml"/><Relationship Id="rId277" Type="http://schemas.openxmlformats.org/officeDocument/2006/relationships/slide" Target="slides/slide271.xml"/><Relationship Id="rId278" Type="http://schemas.openxmlformats.org/officeDocument/2006/relationships/slide" Target="slides/slide272.xml"/><Relationship Id="rId279" Type="http://schemas.openxmlformats.org/officeDocument/2006/relationships/slide" Target="slides/slide273.xml"/><Relationship Id="rId280" Type="http://schemas.openxmlformats.org/officeDocument/2006/relationships/slide" Target="slides/slide274.xml"/><Relationship Id="rId281" Type="http://schemas.openxmlformats.org/officeDocument/2006/relationships/slide" Target="slides/slide275.xml"/><Relationship Id="rId282" Type="http://schemas.openxmlformats.org/officeDocument/2006/relationships/slide" Target="slides/slide276.xml"/><Relationship Id="rId283" Type="http://schemas.openxmlformats.org/officeDocument/2006/relationships/slide" Target="slides/slide277.xml"/><Relationship Id="rId284" Type="http://schemas.openxmlformats.org/officeDocument/2006/relationships/slide" Target="slides/slide278.xml"/><Relationship Id="rId285" Type="http://schemas.openxmlformats.org/officeDocument/2006/relationships/slide" Target="slides/slide279.xml"/><Relationship Id="rId286" Type="http://schemas.openxmlformats.org/officeDocument/2006/relationships/slide" Target="slides/slide280.xml"/><Relationship Id="rId287" Type="http://schemas.openxmlformats.org/officeDocument/2006/relationships/slide" Target="slides/slide28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011680"/>
            <a:ext cx="10362895" cy="1371600"/>
          </a:xfrm>
          <a:prstGeom prst="rect">
            <a:avLst/>
          </a:prstGeom>
          <a:noFill/>
        </p:spPr>
        <p:txBody>
          <a:bodyPr wrap="square">
            <a:spAutoFit/>
          </a:bodyPr>
          <a:lstStyle/>
          <a:p>
            <a:pPr algn="ctr">
              <a:defRPr sz="4000" b="1">
                <a:solidFill>
                  <a:srgbClr val="00A89B"/>
                </a:solidFill>
              </a:defRPr>
            </a:pPr>
            <a:r>
              <a:t>Spryker Academy — Professional Exercises</a:t>
            </a:r>
          </a:p>
        </p:txBody>
      </p:sp>
      <p:sp>
        <p:nvSpPr>
          <p:cNvPr id="3" name="TextBox 2"/>
          <p:cNvSpPr txBox="1"/>
          <p:nvPr/>
        </p:nvSpPr>
        <p:spPr>
          <a:xfrm>
            <a:off x="914400" y="3474720"/>
            <a:ext cx="10362895" cy="914400"/>
          </a:xfrm>
          <a:prstGeom prst="rect">
            <a:avLst/>
          </a:prstGeom>
          <a:noFill/>
        </p:spPr>
        <p:txBody>
          <a:bodyPr wrap="square">
            <a:spAutoFit/>
          </a:bodyPr>
          <a:lstStyle/>
          <a:p>
            <a:pPr algn="ctr">
              <a:defRPr sz="2000">
                <a:solidFill>
                  <a:srgbClr val="888888"/>
                </a:solidFill>
              </a:defRPr>
            </a:pPr>
            <a:r>
              <a:t>Instructor-Led Training | Advanced Spryker Development</a:t>
            </a:r>
          </a:p>
        </p:txBody>
      </p:sp>
      <p:sp>
        <p:nvSpPr>
          <p:cNvPr id="4" name="Rectangle 3"/>
          <p:cNvSpPr/>
          <p:nvPr/>
        </p:nvSpPr>
        <p:spPr>
          <a:xfrm>
            <a:off x="3657600" y="4754880"/>
            <a:ext cx="4876495" cy="381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822960"/>
          </a:xfrm>
          <a:prstGeom prst="rect">
            <a:avLst/>
          </a:prstGeom>
          <a:noFill/>
        </p:spPr>
        <p:txBody>
          <a:bodyPr wrap="square">
            <a:spAutoFit/>
          </a:bodyPr>
          <a:lstStyle/>
          <a:p>
            <a:pPr>
              <a:defRPr sz="3200" b="1">
                <a:solidFill>
                  <a:srgbClr val="00A89B"/>
                </a:solidFill>
              </a:defRPr>
            </a:pPr>
            <a:r>
              <a:t>What You Will Learn</a:t>
            </a:r>
          </a:p>
        </p:txBody>
      </p:sp>
      <p:sp>
        <p:nvSpPr>
          <p:cNvPr id="3" name="Rectangle 2"/>
          <p:cNvSpPr/>
          <p:nvPr/>
        </p:nvSpPr>
        <p:spPr>
          <a:xfrm>
            <a:off x="640080" y="1143000"/>
            <a:ext cx="27432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554480"/>
            <a:ext cx="5029200" cy="4572000"/>
          </a:xfrm>
          <a:prstGeom prst="rect">
            <a:avLst/>
          </a:prstGeom>
          <a:noFill/>
        </p:spPr>
        <p:txBody>
          <a:bodyPr wrap="square">
            <a:spAutoFit/>
          </a:bodyPr>
          <a:lstStyle/>
          <a:p>
            <a:pPr>
              <a:spcAft>
                <a:spcPts val="1000"/>
              </a:spcAft>
            </a:pPr>
            <a:r>
              <a:rPr sz="1600" b="1">
                <a:solidFill>
                  <a:srgbClr val="00A89B"/>
                </a:solidFill>
              </a:rPr>
              <a:t>✓  </a:t>
            </a:r>
            <a:r>
              <a:rPr sz="1500">
                <a:solidFill>
                  <a:srgbClr val="1A1A1A"/>
                </a:solidFill>
              </a:rPr>
              <a:t>Import structured data using Spryker's Data Import framework</a:t>
            </a:r>
          </a:p>
          <a:p>
            <a:pPr>
              <a:spcAft>
                <a:spcPts val="1000"/>
              </a:spcAft>
            </a:pPr>
            <a:r>
              <a:rPr sz="1600" b="1">
                <a:solidFill>
                  <a:srgbClr val="00A89B"/>
                </a:solidFill>
              </a:rPr>
              <a:t>✓  </a:t>
            </a:r>
            <a:r>
              <a:rPr sz="1500">
                <a:solidFill>
                  <a:srgbClr val="1A1A1A"/>
                </a:solidFill>
              </a:rPr>
              <a:t>Build advanced Back Office interfaces with tables, forms, and CRUD</a:t>
            </a:r>
          </a:p>
          <a:p>
            <a:pPr>
              <a:spcAft>
                <a:spcPts val="1000"/>
              </a:spcAft>
            </a:pPr>
            <a:r>
              <a:rPr sz="1600" b="1">
                <a:solidFill>
                  <a:srgbClr val="00A89B"/>
                </a:solidFill>
              </a:rPr>
              <a:t>✓  </a:t>
            </a:r>
            <a:r>
              <a:rPr sz="1500">
                <a:solidFill>
                  <a:srgbClr val="1A1A1A"/>
                </a:solidFill>
              </a:rPr>
              <a:t>Implement Publish &amp; Synchronize for real-time data projection</a:t>
            </a:r>
          </a:p>
          <a:p>
            <a:pPr>
              <a:spcAft>
                <a:spcPts val="1000"/>
              </a:spcAft>
            </a:pPr>
            <a:r>
              <a:rPr sz="1600" b="1">
                <a:solidFill>
                  <a:srgbClr val="00A89B"/>
                </a:solidFill>
              </a:rPr>
              <a:t>✓  </a:t>
            </a:r>
            <a:r>
              <a:rPr sz="1500">
                <a:solidFill>
                  <a:srgbClr val="1A1A1A"/>
                </a:solidFill>
              </a:rPr>
              <a:t>Integrate Elasticsearch for product and content search</a:t>
            </a:r>
          </a:p>
          <a:p>
            <a:pPr>
              <a:spcAft>
                <a:spcPts val="1000"/>
              </a:spcAft>
            </a:pPr>
            <a:r>
              <a:rPr sz="1600" b="1">
                <a:solidFill>
                  <a:srgbClr val="00A89B"/>
                </a:solidFill>
              </a:rPr>
              <a:t>✓  </a:t>
            </a:r>
            <a:r>
              <a:rPr sz="1500">
                <a:solidFill>
                  <a:srgbClr val="1A1A1A"/>
                </a:solidFill>
              </a:rPr>
              <a:t>Design RESTful Glue Storefront APIs with resource routing</a:t>
            </a:r>
          </a:p>
        </p:txBody>
      </p:sp>
      <p:sp>
        <p:nvSpPr>
          <p:cNvPr id="5" name="TextBox 4"/>
          <p:cNvSpPr txBox="1"/>
          <p:nvPr/>
        </p:nvSpPr>
        <p:spPr>
          <a:xfrm>
            <a:off x="6217920" y="1554480"/>
            <a:ext cx="5029200" cy="4572000"/>
          </a:xfrm>
          <a:prstGeom prst="rect">
            <a:avLst/>
          </a:prstGeom>
          <a:noFill/>
        </p:spPr>
        <p:txBody>
          <a:bodyPr wrap="square">
            <a:spAutoFit/>
          </a:bodyPr>
          <a:lstStyle/>
          <a:p>
            <a:pPr>
              <a:spcAft>
                <a:spcPts val="1000"/>
              </a:spcAft>
            </a:pPr>
            <a:r>
              <a:rPr sz="1600" b="1">
                <a:solidFill>
                  <a:srgbClr val="00A89B"/>
                </a:solidFill>
              </a:rPr>
              <a:t>✓  </a:t>
            </a:r>
            <a:r>
              <a:rPr sz="1500">
                <a:solidFill>
                  <a:srgbClr val="1A1A1A"/>
                </a:solidFill>
              </a:rPr>
              <a:t>Model order workflows using the Order Management System (OMS)</a:t>
            </a:r>
          </a:p>
          <a:p>
            <a:pPr>
              <a:spcAft>
                <a:spcPts val="1000"/>
              </a:spcAft>
            </a:pPr>
            <a:r>
              <a:rPr sz="1600" b="1">
                <a:solidFill>
                  <a:srgbClr val="00A89B"/>
                </a:solidFill>
              </a:rPr>
              <a:t>✓  </a:t>
            </a:r>
            <a:r>
              <a:rPr sz="1500">
                <a:solidFill>
                  <a:srgbClr val="1A1A1A"/>
                </a:solidFill>
              </a:rPr>
              <a:t>Read from Storage (Redis) using the Client layer</a:t>
            </a:r>
          </a:p>
          <a:p>
            <a:pPr>
              <a:spcAft>
                <a:spcPts val="1000"/>
              </a:spcAft>
            </a:pPr>
            <a:r>
              <a:rPr sz="1600" b="1">
                <a:solidFill>
                  <a:srgbClr val="00A89B"/>
                </a:solidFill>
              </a:rPr>
              <a:t>✓  </a:t>
            </a:r>
            <a:r>
              <a:rPr sz="1500">
                <a:solidFill>
                  <a:srgbClr val="1A1A1A"/>
                </a:solidFill>
              </a:rPr>
              <a:t>Build Yves Storefront pages with Twig, routing, and controllers</a:t>
            </a:r>
          </a:p>
          <a:p>
            <a:pPr>
              <a:spcAft>
                <a:spcPts val="1000"/>
              </a:spcAft>
            </a:pPr>
            <a:r>
              <a:rPr sz="1600" b="1">
                <a:solidFill>
                  <a:srgbClr val="00A89B"/>
                </a:solidFill>
              </a:rPr>
              <a:t>✓  </a:t>
            </a:r>
            <a:r>
              <a:rPr sz="1500">
                <a:solidFill>
                  <a:srgbClr val="1A1A1A"/>
                </a:solidFill>
              </a:rPr>
              <a:t>Extend the Merchant Portal with tables, forms, and nested tables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spAutoFit/>
          </a:bodyPr>
          <a:lstStyle/>
          <a:p>
            <a:pPr algn="ctr">
              <a:defRPr sz="3600" b="1">
                <a:solidFill>
                  <a:srgbClr val="00A89B"/>
                </a:solidFill>
              </a:defRPr>
            </a:pPr>
            <a:r>
              <a:t>Exercise 8: Data Import - Supplier</a:t>
            </a:r>
          </a:p>
        </p:txBody>
      </p:sp>
      <p:sp>
        <p:nvSpPr>
          <p:cNvPr id="3" name="Rectangle 2"/>
          <p:cNvSpPr/>
          <p:nvPr/>
        </p:nvSpPr>
        <p:spPr>
          <a:xfrm>
            <a:off x="3657600" y="2286000"/>
            <a:ext cx="4876495" cy="381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Exercise 8: Data Import - Supplier</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In this exercise, you will create a data import pipeline to populate the database with suppliers from a CSV file. You will learn how Spryker’s DataImport module works: reading CSV files, processing data through steps, and persisting entities.</a:t>
            </a:r>
          </a:p>
          <a:p>
            <a:pPr>
              <a:spcAft>
                <a:spcPts val="800"/>
              </a:spcAft>
              <a:defRPr sz="1600">
                <a:solidFill>
                  <a:srgbClr val="1A1A1A"/>
                </a:solidFill>
              </a:defRPr>
            </a:pPr>
            <a:r>
              <a:t>You will learn how to: - Create and configure CSV data sources - Map import types to YAML configuration - Implement DataImportStepInterface for data processing and writing - Chain steps through the DataSetStepBroker - Expose the import through a Facade and Plugin - Register the plugin in Spryker’s data import stack - Understand how a related supplier-location import is wired (the location writer is provided as supporting code)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Prerequisites</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400"/>
              </a:spcAft>
              <a:defRPr sz="1500">
                <a:solidFill>
                  <a:srgbClr val="1A1A1A"/>
                </a:solidFill>
              </a:defRPr>
            </a:pPr>
            <a:r>
              <a:t>• Completed the basics exercises (1-7)</a:t>
            </a:r>
          </a:p>
          <a:p>
            <a:pPr>
              <a:spcAft>
                <a:spcPts val="400"/>
              </a:spcAft>
              <a:defRPr sz="1500">
                <a:solidFill>
                  <a:srgbClr val="1A1A1A"/>
                </a:solidFill>
              </a:defRPr>
            </a:pPr>
            <a:r>
              <a:t>• The exercise branch includes the Propel schemas for pyz_supplier , pyz_supplier_location , and pyz_merchant_to_supplier . Loading the branch copies the schemas into the project; running propel:install is still required to generate the Propel classes and create/update the database tables.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Loading the Exercise</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./exercises/load.sh</a:t>
            </a:r>
            <a:r>
              <a:rPr sz="900">
                <a:solidFill>
                  <a:srgbClr val="2D2D2D"/>
                </a:solidFill>
                <a:latin typeface="Consolas"/>
              </a:rPr>
              <a:t> supplier intermediate/data-import/skeleton </a:t>
            </a:r>
            <a:r>
              <a:rPr sz="900">
                <a:solidFill>
                  <a:srgbClr val="2D2D2D"/>
                </a:solidFill>
                <a:latin typeface="Consolas"/>
              </a:rPr>
              <a:t>--run</a:t>
            </a:r>
          </a:p>
          <a:p>
            <a:pPr>
              <a:spcAft>
                <a:spcPts val="800"/>
              </a:spcAft>
              <a:defRPr sz="1600">
                <a:solidFill>
                  <a:srgbClr val="1A1A1A"/>
                </a:solidFill>
              </a:defRPr>
            </a:pPr>
            <a:r>
              <a:t>--run also runs the commands the loader lists after loading (cache, Propel, transfers and whatever this exercise needs, such as queues or Glue resources) and stops at the first one that fails. Leave it out to run them yourself.</a:t>
            </a:r>
          </a:p>
          <a:p>
            <a:pPr>
              <a:spcAft>
                <a:spcPts val="800"/>
              </a:spcAft>
              <a:defRPr sz="1600">
                <a:solidFill>
                  <a:srgbClr val="1A1A1A"/>
                </a:solidFill>
              </a:defRPr>
            </a:pPr>
            <a:r>
              <a:t>propel:install creates the supplier tables. If you run the commands yourself, keep the order the loader prints: c:e deletes Propel’s generated database map, which propel:install writes again.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Background: Spryker Data Import Architecture</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Spryker’s data import system processes external data (typically CSV files) through a pipeline of steps:</a:t>
            </a:r>
          </a:p>
          <a:p>
            <a:pPr>
              <a:spcBef>
                <a:spcPts val="0"/>
              </a:spcBef>
              <a:spcAft>
                <a:spcPts val="0"/>
              </a:spcAft>
            </a:pPr>
            <a:r>
              <a:rPr sz="900">
                <a:solidFill>
                  <a:srgbClr val="2D2D2D"/>
                </a:solidFill>
                <a:latin typeface="Consolas"/>
              </a:rPr>
              <a:t>CSV File → DataImporter → DataSetStepBroker → [Step1] → [Step2] → [WriterStep] → Database</a:t>
            </a:r>
          </a:p>
          <a:p>
            <a:pPr>
              <a:spcAft>
                <a:spcPts val="800"/>
              </a:spcAft>
              <a:defRPr sz="1600">
                <a:solidFill>
                  <a:srgbClr val="1A1A1A"/>
                </a:solidFill>
              </a:defRPr>
            </a:pPr>
            <a:r>
              <a:t>Key components:</a:t>
            </a:r>
          </a:p>
          <a:p>
            <a:pPr>
              <a:spcAft>
                <a:spcPts val="100"/>
              </a:spcAft>
              <a:defRPr sz="1000">
                <a:solidFill>
                  <a:srgbClr val="1A1A1A"/>
                </a:solidFill>
                <a:latin typeface="Consolas"/>
              </a:defRPr>
            </a:pPr>
            <a:r>
              <a:t>Component                          Role                                          </a:t>
            </a:r>
          </a:p>
          <a:p>
            <a:pPr>
              <a:spcAft>
                <a:spcPts val="100"/>
              </a:spcAft>
              <a:defRPr sz="1000">
                <a:solidFill>
                  <a:srgbClr val="1A1A1A"/>
                </a:solidFill>
                <a:latin typeface="Consolas"/>
              </a:defRPr>
            </a:pPr>
            <a:r>
              <a:t>---------------------------------  ----------------------------------------------</a:t>
            </a:r>
          </a:p>
          <a:p>
            <a:pPr>
              <a:spcAft>
                <a:spcPts val="100"/>
              </a:spcAft>
              <a:defRPr sz="1000">
                <a:solidFill>
                  <a:srgbClr val="1A1A1A"/>
                </a:solidFill>
                <a:latin typeface="Consolas"/>
              </a:defRPr>
            </a:pPr>
            <a:r>
              <a:t>DataImporterConfigurationTransfer  Holds the CSV file path and import type       </a:t>
            </a:r>
          </a:p>
          <a:p>
            <a:pPr>
              <a:spcAft>
                <a:spcPts val="100"/>
              </a:spcAft>
              <a:defRPr sz="1000">
                <a:solidFill>
                  <a:srgbClr val="1A1A1A"/>
                </a:solidFill>
                <a:latin typeface="Consolas"/>
              </a:defRPr>
            </a:pPr>
            <a:r>
              <a:t>DataImporter                       Reads CSV rows into DataSet objects           </a:t>
            </a:r>
          </a:p>
          <a:p>
            <a:pPr>
              <a:spcAft>
                <a:spcPts val="100"/>
              </a:spcAft>
              <a:defRPr sz="1000">
                <a:solidFill>
                  <a:srgbClr val="1A1A1A"/>
                </a:solidFill>
                <a:latin typeface="Consolas"/>
              </a:defRPr>
            </a:pPr>
            <a:r>
              <a:t>DataSetStepBroker                  Orchestrates the execution of steps in order  </a:t>
            </a:r>
          </a:p>
          <a:p>
            <a:pPr>
              <a:spcAft>
                <a:spcPts val="100"/>
              </a:spcAft>
              <a:defRPr sz="1000">
                <a:solidFill>
                  <a:srgbClr val="1A1A1A"/>
                </a:solidFill>
                <a:latin typeface="Consolas"/>
              </a:defRPr>
            </a:pPr>
            <a:r>
              <a:t>DataImportStepInterface            Each step processes or writes one DataSet row </a:t>
            </a:r>
          </a:p>
          <a:p>
            <a:pPr>
              <a:spcAft>
                <a:spcPts val="100"/>
              </a:spcAft>
              <a:defRPr sz="1000">
                <a:solidFill>
                  <a:srgbClr val="1A1A1A"/>
                </a:solidFill>
                <a:latin typeface="Consolas"/>
              </a:defRPr>
            </a:pPr>
            <a:r>
              <a:t>DataImportPluginInterface          Registers the import in Spryker’s plugin stack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Background: Spryker Data Import Architecture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The DataSet is an ArrayAccess object where keys match the CSV column headers. For example, if your CSV has columns name,description,status , then inside a step you access them as $dataSet['name'] , $dataSet['description'] , etc. — but you should use constants instead of literal strings.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Working on the Exercise</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1200"/>
              </a:spcBef>
              <a:spcAft>
                <a:spcPts val="600"/>
              </a:spcAft>
              <a:defRPr sz="2000" b="1">
                <a:solidFill>
                  <a:srgbClr val="1A1A1A"/>
                </a:solidFill>
              </a:defRPr>
            </a:pPr>
            <a:r>
              <a:t>Part 1: Database Structure</a:t>
            </a:r>
          </a:p>
          <a:p>
            <a:pPr>
              <a:spcAft>
                <a:spcPts val="800"/>
              </a:spcAft>
              <a:defRPr sz="1600">
                <a:solidFill>
                  <a:srgbClr val="1A1A1A"/>
                </a:solidFill>
              </a:defRPr>
            </a:pPr>
            <a:r>
              <a:t>The exercise provides the schema files: - src/SprykerAcademy/Zed/Supplier/Persistence/Propel/Schema/pyz_supplier.schema.xml (also defines pyz_merchant_to_supplier ) - src/SprykerAcademy/Zed/SupplierLocation/Persistence/Propel/Schema/pyz_supplier_location.schema.xml</a:t>
            </a:r>
          </a:p>
          <a:p>
            <a:pPr>
              <a:spcAft>
                <a:spcPts val="800"/>
              </a:spcAft>
              <a:defRPr sz="1600">
                <a:solidFill>
                  <a:srgbClr val="1A1A1A"/>
                </a:solidFill>
              </a:defRPr>
            </a:pPr>
            <a:r>
              <a:t>They define pyz_supplier (id_supplier, name, description, status, email, phone) and pyz_supplier_location (with a foreign key to pyz_supplier ). propel:install , which the loader ran, created the tables. If you change a schema, run it again:</a:t>
            </a:r>
          </a:p>
          <a:p>
            <a:pPr>
              <a:spcBef>
                <a:spcPts val="0"/>
              </a:spcBef>
              <a:spcAft>
                <a:spcPts val="0"/>
              </a:spcAft>
            </a:pPr>
            <a:r>
              <a:rPr sz="900">
                <a:solidFill>
                  <a:srgbClr val="2D2D2D"/>
                </a:solidFill>
                <a:latin typeface="Consolas"/>
              </a:rPr>
              <a:t>docker/sdk</a:t>
            </a:r>
            <a:r>
              <a:rPr sz="900">
                <a:solidFill>
                  <a:srgbClr val="2D2D2D"/>
                </a:solidFill>
                <a:latin typeface="Consolas"/>
              </a:rPr>
              <a:t> console propel:install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2: Data Source</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800"/>
              </a:spcBef>
              <a:spcAft>
                <a:spcPts val="400"/>
              </a:spcAft>
              <a:defRPr sz="1700" b="1">
                <a:solidFill>
                  <a:srgbClr val="1A1A1A"/>
                </a:solidFill>
              </a:defRPr>
            </a:pPr>
            <a:r>
              <a:t>2.1 Review the CSV Files</a:t>
            </a:r>
          </a:p>
          <a:p>
            <a:pPr>
              <a:spcAft>
                <a:spcPts val="800"/>
              </a:spcAft>
              <a:defRPr sz="1600">
                <a:solidFill>
                  <a:srgbClr val="1A1A1A"/>
                </a:solidFill>
              </a:defRPr>
            </a:pPr>
            <a:r>
              <a:t>The exercise ships data/import/supplier.csv (4 suppliers) and data/import/supplier_location.csv (their locations); the loader copies them into the project. Open them and look at the column headers - they become the keys of the DataSet object during import. Locations refer to suppliers by name, so suppliers must be imported first.</a:t>
            </a:r>
          </a:p>
          <a:p>
            <a:pPr>
              <a:spcBef>
                <a:spcPts val="800"/>
              </a:spcBef>
              <a:spcAft>
                <a:spcPts val="400"/>
              </a:spcAft>
              <a:defRPr sz="1700" b="1">
                <a:solidFill>
                  <a:srgbClr val="1A1A1A"/>
                </a:solidFill>
              </a:defRPr>
            </a:pPr>
            <a:r>
              <a:t>2.2 Configure the Import YAML</a:t>
            </a:r>
          </a:p>
          <a:p>
            <a:pPr>
              <a:spcAft>
                <a:spcPts val="800"/>
              </a:spcAft>
              <a:defRPr sz="1600">
                <a:solidFill>
                  <a:srgbClr val="1A1A1A"/>
                </a:solidFill>
              </a:defRPr>
            </a:pPr>
            <a:r>
              <a:t>An import configuration tells Spryker which CSV file to read for which importer. The demo shop’s full import is data/import/local/full_EU.yml ; the exercise brings its own, data/import/local/supplier_import.yml , so it never has to change a project file.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2: Data Source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Coding time:</a:t>
            </a:r>
          </a:p>
          <a:p>
            <a:pPr>
              <a:spcAft>
                <a:spcPts val="800"/>
              </a:spcAft>
              <a:defRPr sz="1600">
                <a:solidFill>
                  <a:srgbClr val="1A1A1A"/>
                </a:solidFill>
              </a:defRPr>
            </a:pPr>
            <a:r>
              <a:t>Open data/import/local/supplier_import.yml and add two entries to actions: , suppliers first:</a:t>
            </a:r>
          </a:p>
          <a:p>
            <a:pPr>
              <a:spcAft>
                <a:spcPts val="400"/>
              </a:spcAft>
              <a:defRPr sz="1500">
                <a:solidFill>
                  <a:srgbClr val="1A1A1A"/>
                </a:solidFill>
              </a:defRPr>
            </a:pPr>
            <a:r>
              <a:t>• data_entity must match the value of SupplierDataImportConfig::IMPORT_TYPE_SUPPLIER , source is the supplier CSV (path relative to the project root)</a:t>
            </a:r>
          </a:p>
          <a:p>
            <a:pPr>
              <a:spcAft>
                <a:spcPts val="400"/>
              </a:spcAft>
              <a:defRPr sz="1500">
                <a:solidFill>
                  <a:srgbClr val="1A1A1A"/>
                </a:solidFill>
              </a:defRPr>
            </a:pPr>
            <a:r>
              <a:t>• data_entity must match SupplierDataImportConfig::IMPORT_TYPE_SUPPLIER_LOCATION , pointing to the location CSV</a:t>
            </a:r>
          </a:p>
          <a:p>
            <a:pPr>
              <a:spcAft>
                <a:spcPts val="800"/>
              </a:spcAft>
              <a:defRPr sz="1600">
                <a:solidFill>
                  <a:srgbClr val="1A1A1A"/>
                </a:solidFill>
              </a:defRPr>
            </a:pPr>
            <a:r>
              <a:t>Look at data/import/local/full_EU.yml for the format. Be careful with YAML indentation (spaces, not tabs).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2: Data Source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400" i="1">
                <a:solidFill>
                  <a:srgbClr val="888888"/>
                </a:solidFill>
              </a:defRPr>
            </a:pPr>
            <a:r>
              <a:t>❝ How it works: docker/sdk console data:import --config=data/import/local/supplier_import.yml runs every action of the file in order; data:import supplier --config=... only the one with data_entity: supplier . For each action Spryker passes the CSV path to the DataImportPlugin whose getImportType() equals the data_entity , inside a DataImporterConfigurationTransfer . In a real project you would add the two entries to full_EU.yml instead.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3: The SupplierDataImport Module</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The module SprykerAcademy\Zed\SupplierDataImport follows Spryker’s naming convention: &lt;ModuleName&gt;DataImport . The exercise focuses on completing the supplier import; the location importer is included as working supporting code so you can compare a second import pipeline.</a:t>
            </a:r>
          </a:p>
          <a:p>
            <a:pPr>
              <a:spcBef>
                <a:spcPts val="800"/>
              </a:spcBef>
              <a:spcAft>
                <a:spcPts val="400"/>
              </a:spcAft>
              <a:defRPr sz="1700" b="1">
                <a:solidFill>
                  <a:srgbClr val="1A1A1A"/>
                </a:solidFill>
              </a:defRPr>
            </a:pPr>
            <a:r>
              <a:t>3.1 Constants for Column Mapping</a:t>
            </a:r>
          </a:p>
          <a:p>
            <a:pPr>
              <a:spcAft>
                <a:spcPts val="800"/>
              </a:spcAft>
              <a:defRPr sz="1600">
                <a:solidFill>
                  <a:srgbClr val="1A1A1A"/>
                </a:solidFill>
              </a:defRPr>
            </a:pPr>
            <a:r>
              <a:t>Review the provided file src/SprykerAcademy/Zed/SupplierDataImport/Business/DataSet/SupplierDataSetInterface.php . It defines constants that map to the CSV column names.</a:t>
            </a:r>
          </a:p>
          <a:p>
            <a:pPr>
              <a:spcAft>
                <a:spcPts val="800"/>
              </a:spcAft>
              <a:defRPr sz="1600">
                <a:solidFill>
                  <a:srgbClr val="1A1A1A"/>
                </a:solidFill>
              </a:defRPr>
            </a:pPr>
            <a:r>
              <a:t>Compare the constants with the CSV header row. In the supplied file, COLUMN_NAME should be name ; keep constants aligned with the actual headers if you customize the CSV.</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3: The SupplierDataImport Module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400" i="1">
                <a:solidFill>
                  <a:srgbClr val="888888"/>
                </a:solidFill>
              </a:defRPr>
            </a:pPr>
            <a:r>
              <a:t>❝ Best practice: Always use constants for column names. Never use literal strings like $dataSet['name'] directly — use $dataSet[SupplierDataSetInterface::COLUMN_NAME] instead.</a:t>
            </a:r>
          </a:p>
          <a:p>
            <a:pPr>
              <a:spcBef>
                <a:spcPts val="800"/>
              </a:spcBef>
              <a:spcAft>
                <a:spcPts val="400"/>
              </a:spcAft>
              <a:defRPr sz="1700" b="1">
                <a:solidFill>
                  <a:srgbClr val="1A1A1A"/>
                </a:solidFill>
              </a:defRPr>
            </a:pPr>
            <a:r>
              <a:t>3.2 Implement the SupplierWriterStep</a:t>
            </a:r>
          </a:p>
          <a:p>
            <a:pPr>
              <a:spcAft>
                <a:spcPts val="800"/>
              </a:spcAft>
              <a:defRPr sz="1600">
                <a:solidFill>
                  <a:srgbClr val="1A1A1A"/>
                </a:solidFill>
              </a:defRPr>
            </a:pPr>
            <a:r>
              <a:t>The SupplierWriterStep is where each CSV row gets persisted to the database. It receives a DataSet for each row.</a:t>
            </a:r>
          </a:p>
          <a:p>
            <a:pPr>
              <a:spcAft>
                <a:spcPts val="800"/>
              </a:spcAft>
              <a:defRPr sz="1600">
                <a:solidFill>
                  <a:srgbClr val="1A1A1A"/>
                </a:solidFill>
              </a:defRPr>
            </a:pPr>
            <a:r>
              <a:t>Coding time:</a:t>
            </a:r>
          </a:p>
          <a:p>
            <a:pPr>
              <a:spcAft>
                <a:spcPts val="800"/>
              </a:spcAft>
              <a:defRPr sz="1600">
                <a:solidFill>
                  <a:srgbClr val="1A1A1A"/>
                </a:solidFill>
              </a:defRPr>
            </a:pPr>
            <a:r>
              <a:t>Open src/SprykerAcademy/Zed/SupplierDataImport/Business/DataImportStep/SupplierWriterStep.php and implement the execute() method following the TODO steps: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3: The SupplierDataImport Module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400"/>
              </a:spcAft>
              <a:defRPr sz="1500">
                <a:solidFill>
                  <a:srgbClr val="1A1A1A"/>
                </a:solidFill>
              </a:defRPr>
            </a:pPr>
            <a:r>
              <a:t>• Find or create the supplier entity. Propel query classes have a static create() method that returns a query builder. You can chain filterBy&lt;ColumnName&gt;() to build your query, then call findOneOrCreate() to either fetch an existing record or create a fresh (unsaved) entity.</a:t>
            </a:r>
          </a:p>
          <a:p>
            <a:pPr>
              <a:spcAft>
                <a:spcPts val="400"/>
              </a:spcAft>
              <a:defRPr sz="1500">
                <a:solidFill>
                  <a:srgbClr val="1A1A1A"/>
                </a:solidFill>
              </a:defRPr>
            </a:pPr>
            <a:r>
              <a:t>• Assign fields from the dataset to the entity. Use the entity’s setter methods ( setDescription() , setStatus() , etc.) and read values from $dataSet using the constants from SupplierDataSetInterface .</a:t>
            </a:r>
          </a:p>
          <a:p>
            <a:pPr>
              <a:spcAft>
                <a:spcPts val="400"/>
              </a:spcAft>
              <a:defRPr sz="1500">
                <a:solidFill>
                  <a:srgbClr val="1A1A1A"/>
                </a:solidFill>
              </a:defRPr>
            </a:pPr>
            <a:r>
              <a:t>• Save conditionally. Only persist the entity if it’s actually new or has been modified. Propel entities provide isNew() and isModified() methods for this check.</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3: The SupplierDataImport Module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400"/>
              </a:spcAft>
              <a:defRPr sz="1500">
                <a:solidFill>
                  <a:srgbClr val="1A1A1A"/>
                </a:solidFill>
              </a:defRPr>
            </a:pPr>
            <a:r>
              <a:t>• Optional extension — merchant relations. The supplied supplier.csv does not contain a merchant_ids column, so this is not part of the standard import exercise. If you add that column and provide valid existing merchant IDs, you can extend the writer to parse the IDs, avoid duplicate relations, and create only missing records.</a:t>
            </a:r>
          </a:p>
          <a:p>
            <a:pPr>
              <a:spcAft>
                <a:spcPts val="800"/>
              </a:spcAft>
              <a:defRPr sz="1400" i="1">
                <a:solidFill>
                  <a:srgbClr val="888888"/>
                </a:solidFill>
              </a:defRPr>
            </a:pPr>
            <a:r>
              <a:t>❝ Why Propel in the Business Layer? Data importers are one exception to the “no Propel in Business Layer” rule. Imports often process thousands of rows, so direct ORM access avoids the overhead of going through Repository/EntityManager for each row.</a:t>
            </a:r>
          </a:p>
          <a:p>
            <a:pPr>
              <a:spcAft>
                <a:spcPts val="800"/>
              </a:spcAft>
              <a:defRPr sz="1400" i="1">
                <a:solidFill>
                  <a:srgbClr val="888888"/>
                </a:solidFill>
              </a:defRPr>
            </a:pPr>
            <a:r>
              <a:t>❝ Hint: Look at the generated class src/Orm/Zed/Supplier/Persistence/Base/PyzSupplierQuery.php to see all available filter and finder methods.</a:t>
            </a:r>
          </a:p>
          <a:p>
            <a:pPr>
              <a:spcBef>
                <a:spcPts val="800"/>
              </a:spcBef>
              <a:spcAft>
                <a:spcPts val="400"/>
              </a:spcAft>
              <a:defRPr sz="1700" b="1">
                <a:solidFill>
                  <a:srgbClr val="1A1A1A"/>
                </a:solidFill>
              </a:defRPr>
            </a:pPr>
            <a:r>
              <a:t>3.3 Implement the DescriptionToLowercaseStep</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3: The SupplierDataImport Module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Before writing data to the database, we often need to normalize or transform it. The DescriptionToLowercaseStep is a data processor step — it transforms data without writing to the database.</a:t>
            </a:r>
          </a:p>
          <a:p>
            <a:pPr>
              <a:spcAft>
                <a:spcPts val="800"/>
              </a:spcAft>
              <a:defRPr sz="1600">
                <a:solidFill>
                  <a:srgbClr val="1A1A1A"/>
                </a:solidFill>
              </a:defRPr>
            </a:pPr>
            <a:r>
              <a:t>Coding time:</a:t>
            </a:r>
          </a:p>
          <a:p>
            <a:pPr>
              <a:spcAft>
                <a:spcPts val="800"/>
              </a:spcAft>
              <a:defRPr sz="1600">
                <a:solidFill>
                  <a:srgbClr val="1A1A1A"/>
                </a:solidFill>
              </a:defRPr>
            </a:pPr>
            <a:r>
              <a:t>Open src/SprykerAcademy/Zed/SupplierDataImport/Business/DataImportStep/DescriptionToLowercaseStep.php . The class implements DataImportStepInterface and its execute() method receives a DataSet for each CSV row. Your task:</a:t>
            </a:r>
          </a:p>
          <a:p>
            <a:pPr>
              <a:spcAft>
                <a:spcPts val="400"/>
              </a:spcAft>
              <a:defRPr sz="1500">
                <a:solidFill>
                  <a:srgbClr val="1A1A1A"/>
                </a:solidFill>
              </a:defRPr>
            </a:pPr>
            <a:r>
              <a:t>• Read the description value from the dataset using the appropriate constant</a:t>
            </a:r>
          </a:p>
          <a:p>
            <a:pPr>
              <a:spcAft>
                <a:spcPts val="400"/>
              </a:spcAft>
              <a:defRPr sz="1500">
                <a:solidFill>
                  <a:srgbClr val="1A1A1A"/>
                </a:solidFill>
              </a:defRPr>
            </a:pPr>
            <a:r>
              <a:t>• Transform it to lowercase</a:t>
            </a:r>
          </a:p>
          <a:p>
            <a:pPr>
              <a:spcAft>
                <a:spcPts val="400"/>
              </a:spcAft>
              <a:defRPr sz="1500">
                <a:solidFill>
                  <a:srgbClr val="1A1A1A"/>
                </a:solidFill>
              </a:defRPr>
            </a:pPr>
            <a:r>
              <a:t>• Write the result back to the same dataset key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3: The SupplierDataImport Module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This is a one-liner, but it demonstrates the processor step pattern: modify the DataSet in-place so the next step receives the transformed data.</a:t>
            </a:r>
          </a:p>
          <a:p>
            <a:pPr>
              <a:spcAft>
                <a:spcPts val="800"/>
              </a:spcAft>
              <a:defRPr sz="1400" i="1">
                <a:solidFill>
                  <a:srgbClr val="888888"/>
                </a:solidFill>
              </a:defRPr>
            </a:pPr>
            <a:r>
              <a:t>❝ This step runs before the WriterStep. Steps are executed in the order they’re added to the broker.</a:t>
            </a:r>
          </a:p>
          <a:p>
            <a:pPr>
              <a:spcBef>
                <a:spcPts val="800"/>
              </a:spcBef>
              <a:spcAft>
                <a:spcPts val="400"/>
              </a:spcAft>
              <a:defRPr sz="1700" b="1">
                <a:solidFill>
                  <a:srgbClr val="1A1A1A"/>
                </a:solidFill>
              </a:defRPr>
            </a:pPr>
            <a:r>
              <a:t>3.4 Wire Steps in the BusinessFactory</a:t>
            </a:r>
          </a:p>
          <a:p>
            <a:pPr>
              <a:spcAft>
                <a:spcPts val="800"/>
              </a:spcAft>
              <a:defRPr sz="1600">
                <a:solidFill>
                  <a:srgbClr val="1A1A1A"/>
                </a:solidFill>
              </a:defRPr>
            </a:pPr>
            <a:r>
              <a:t>The SupplierDataImportBusinessFactory creates the DataImporter and wires all steps together.</a:t>
            </a:r>
          </a:p>
          <a:p>
            <a:pPr>
              <a:spcAft>
                <a:spcPts val="800"/>
              </a:spcAft>
              <a:defRPr sz="1600">
                <a:solidFill>
                  <a:srgbClr val="1A1A1A"/>
                </a:solidFill>
              </a:defRPr>
            </a:pPr>
            <a:r>
              <a:t>Coding time:</a:t>
            </a:r>
          </a:p>
          <a:p>
            <a:pPr>
              <a:spcAft>
                <a:spcPts val="800"/>
              </a:spcAft>
              <a:defRPr sz="1600">
                <a:solidFill>
                  <a:srgbClr val="1A1A1A"/>
                </a:solidFill>
              </a:defRPr>
            </a:pPr>
            <a:r>
              <a:t>Open src/SprykerAcademy/Zed/SupplierDataImport/Business/SupplierDataImportBusinessFactory.php . In the getSupplierDataImport() method, you need to:</a:t>
            </a:r>
          </a:p>
          <a:p>
            <a:pPr>
              <a:spcAft>
                <a:spcPts val="400"/>
              </a:spcAft>
              <a:defRPr sz="1500">
                <a:solidFill>
                  <a:srgbClr val="1A1A1A"/>
                </a:solidFill>
              </a:defRPr>
            </a:pPr>
            <a:r>
              <a:t>• Add the processor step to the $dataSetStepBroker</a:t>
            </a:r>
          </a:p>
          <a:p>
            <a:pPr>
              <a:spcAft>
                <a:spcPts val="400"/>
              </a:spcAft>
              <a:defRPr sz="1500">
                <a:solidFill>
                  <a:srgbClr val="1A1A1A"/>
                </a:solidFill>
              </a:defRPr>
            </a:pPr>
            <a:r>
              <a:t>• Add the writer step to the $dataSetStepBroker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3: The SupplierDataImport Module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400"/>
              </a:spcAft>
              <a:defRPr sz="1500">
                <a:solidFill>
                  <a:srgbClr val="1A1A1A"/>
                </a:solidFill>
              </a:defRPr>
            </a:pPr>
            <a:r>
              <a:t>• Add the step broker to the $dataImporter</a:t>
            </a:r>
          </a:p>
          <a:p>
            <a:pPr>
              <a:spcAft>
                <a:spcPts val="800"/>
              </a:spcAft>
              <a:defRPr sz="1600">
                <a:solidFill>
                  <a:srgbClr val="1A1A1A"/>
                </a:solidFill>
              </a:defRPr>
            </a:pPr>
            <a:r>
              <a:t>The broker has an addStep() method. The importer has an addDataSetStepBroker() method. The factory already has create*Step() methods you can call.</a:t>
            </a:r>
          </a:p>
          <a:p>
            <a:pPr>
              <a:spcAft>
                <a:spcPts val="800"/>
              </a:spcAft>
              <a:defRPr sz="1400" i="1">
                <a:solidFill>
                  <a:srgbClr val="888888"/>
                </a:solidFill>
              </a:defRPr>
            </a:pPr>
            <a:r>
              <a:t>❝ Step ordering matters: Processor steps (lowercase, validation, enrichment) must be added first. The WriterStep must be last — it persists the final, transformed data.</a:t>
            </a:r>
          </a:p>
          <a:p>
            <a:pPr>
              <a:spcBef>
                <a:spcPts val="800"/>
              </a:spcBef>
              <a:spcAft>
                <a:spcPts val="400"/>
              </a:spcAft>
              <a:defRPr sz="1700" b="1">
                <a:solidFill>
                  <a:srgbClr val="1A1A1A"/>
                </a:solidFill>
              </a:defRPr>
            </a:pPr>
            <a:r>
              <a:t>3.5 Implement the Facade</a:t>
            </a:r>
          </a:p>
          <a:p>
            <a:pPr>
              <a:spcAft>
                <a:spcPts val="800"/>
              </a:spcAft>
              <a:defRPr sz="1600">
                <a:solidFill>
                  <a:srgbClr val="1A1A1A"/>
                </a:solidFill>
              </a:defRPr>
            </a:pPr>
            <a:r>
              <a:t>The Facade exposes the import functionality to other modules and plugins.</a:t>
            </a:r>
          </a:p>
          <a:p>
            <a:pPr>
              <a:spcAft>
                <a:spcPts val="800"/>
              </a:spcAft>
              <a:defRPr sz="1600">
                <a:solidFill>
                  <a:srgbClr val="1A1A1A"/>
                </a:solidFill>
              </a:defRPr>
            </a:pPr>
            <a:r>
              <a:t>Coding time: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3: The SupplierDataImport Module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Open src/SprykerAcademy/Zed/SupplierDataImport/Business/SupplierDataImportFacade.php . In importSupplier() :</a:t>
            </a:r>
          </a:p>
          <a:p>
            <a:pPr>
              <a:spcAft>
                <a:spcPts val="400"/>
              </a:spcAft>
              <a:defRPr sz="1500">
                <a:solidFill>
                  <a:srgbClr val="1A1A1A"/>
                </a:solidFill>
              </a:defRPr>
            </a:pPr>
            <a:r>
              <a:t>• Use $this-&gt;getFactory() to access the Business Factory</a:t>
            </a:r>
          </a:p>
          <a:p>
            <a:pPr>
              <a:spcAft>
                <a:spcPts val="400"/>
              </a:spcAft>
              <a:defRPr sz="1500">
                <a:solidFill>
                  <a:srgbClr val="1A1A1A"/>
                </a:solidFill>
              </a:defRPr>
            </a:pPr>
            <a:r>
              <a:t>• The factory has a method that returns a configured DataImporter for suppliers</a:t>
            </a:r>
          </a:p>
          <a:p>
            <a:pPr>
              <a:spcAft>
                <a:spcPts val="400"/>
              </a:spcAft>
              <a:defRPr sz="1500">
                <a:solidFill>
                  <a:srgbClr val="1A1A1A"/>
                </a:solidFill>
              </a:defRPr>
            </a:pPr>
            <a:r>
              <a:t>• The DataImporter has an import() method that accepts the configuration transfer and returns a report</a:t>
            </a:r>
          </a:p>
          <a:p>
            <a:pPr>
              <a:spcAft>
                <a:spcPts val="800"/>
              </a:spcAft>
              <a:defRPr sz="1600">
                <a:solidFill>
                  <a:srgbClr val="1A1A1A"/>
                </a:solidFill>
              </a:defRPr>
            </a:pPr>
            <a:r>
              <a:t>Remember to pass the $dataImporterConfigurationTransfer parameter through the chain.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4: Pluginization</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The plugin makes the import available through Spryker’s standard data:import console command.</a:t>
            </a:r>
          </a:p>
          <a:p>
            <a:pPr>
              <a:spcBef>
                <a:spcPts val="800"/>
              </a:spcBef>
              <a:spcAft>
                <a:spcPts val="400"/>
              </a:spcAft>
              <a:defRPr sz="1700" b="1">
                <a:solidFill>
                  <a:srgbClr val="1A1A1A"/>
                </a:solidFill>
              </a:defRPr>
            </a:pPr>
            <a:r>
              <a:t>4.1 Implement the DataImportPlugin</a:t>
            </a:r>
          </a:p>
          <a:p>
            <a:pPr>
              <a:spcAft>
                <a:spcPts val="800"/>
              </a:spcAft>
              <a:defRPr sz="1600">
                <a:solidFill>
                  <a:srgbClr val="1A1A1A"/>
                </a:solidFill>
              </a:defRPr>
            </a:pPr>
            <a:r>
              <a:t>Coding time:</a:t>
            </a:r>
          </a:p>
          <a:p>
            <a:pPr>
              <a:spcAft>
                <a:spcPts val="800"/>
              </a:spcAft>
              <a:defRPr sz="1600">
                <a:solidFill>
                  <a:srgbClr val="1A1A1A"/>
                </a:solidFill>
              </a:defRPr>
            </a:pPr>
            <a:r>
              <a:t>Open src/SprykerAcademy/Zed/SupplierDataImport/Communication/Plugin/DataImport/SupplierDataImportPlugin.php . This class implements DataImportPluginInterface which requires two methods:</a:t>
            </a:r>
          </a:p>
          <a:p>
            <a:pPr>
              <a:spcAft>
                <a:spcPts val="400"/>
              </a:spcAft>
              <a:defRPr sz="1500">
                <a:solidFill>
                  <a:srgbClr val="1A1A1A"/>
                </a:solidFill>
              </a:defRPr>
            </a:pPr>
            <a:r>
              <a:t>• import() — should delegate to the module’s Facade. The plugin extends AbstractPlugin which provides getFacade() to access SupplierDataImportFacade .</a:t>
            </a:r>
          </a:p>
          <a:p>
            <a:pPr>
              <a:spcAft>
                <a:spcPts val="400"/>
              </a:spcAft>
              <a:defRPr sz="1500">
                <a:solidFill>
                  <a:srgbClr val="1A1A1A"/>
                </a:solidFill>
              </a:defRPr>
            </a:pPr>
            <a:r>
              <a:t>• getImportType() — should return the import type string. Look at SupplierDataImportConfig for the right constant.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4: Pluginization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400" i="1">
                <a:solidFill>
                  <a:srgbClr val="888888"/>
                </a:solidFill>
              </a:defRPr>
            </a:pPr>
            <a:r>
              <a:t>❝ Plugin pattern: Plugins are the “glue” between modules. They live in the Communication layer and bridge the module’s Facade to another module’s plugin stack. They should contain no business logic — only delegation.</a:t>
            </a:r>
          </a:p>
          <a:p>
            <a:pPr>
              <a:spcBef>
                <a:spcPts val="800"/>
              </a:spcBef>
              <a:spcAft>
                <a:spcPts val="400"/>
              </a:spcAft>
              <a:defRPr sz="1700" b="1">
                <a:solidFill>
                  <a:srgbClr val="1A1A1A"/>
                </a:solidFill>
              </a:defRPr>
            </a:pPr>
            <a:r>
              <a:t>4.2 Register the Plugin</a:t>
            </a:r>
          </a:p>
          <a:p>
            <a:pPr>
              <a:spcAft>
                <a:spcPts val="800"/>
              </a:spcAft>
              <a:defRPr sz="1600">
                <a:solidFill>
                  <a:srgbClr val="1A1A1A"/>
                </a:solidFill>
              </a:defRPr>
            </a:pPr>
            <a:r>
              <a:t>The DataImport module collects the importers from its dependency provider. The project’s is src/Pyz/Zed/DataImport/DataImportDependencyProvider.php .</a:t>
            </a:r>
          </a:p>
          <a:p>
            <a:pPr>
              <a:spcAft>
                <a:spcPts val="800"/>
              </a:spcAft>
              <a:defRPr sz="1600">
                <a:solidFill>
                  <a:srgbClr val="1A1A1A"/>
                </a:solidFill>
              </a:defRPr>
            </a:pPr>
            <a:r>
              <a:t>Coding time: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4: Pluginization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Open src/SprykerAcademy/Zed/DataImport/DataImportDependencyProvider.php . It extends the project’s provider, and because SprykerAcademy comes before Pyz in KernelConstants::PROJECT_NAMESPACES , the kernel uses it instead of the Pyz one. In getDataImporterPlugins() , add a SupplierDataImportPlugin and a SupplierLocationDataImportPlugin to the plugins returned by parent::getDataImporterPlugins() .</a:t>
            </a:r>
          </a:p>
          <a:p>
            <a:pPr>
              <a:spcAft>
                <a:spcPts val="800"/>
              </a:spcAft>
              <a:defRPr sz="1400" i="1">
                <a:solidFill>
                  <a:srgbClr val="888888"/>
                </a:solidFill>
              </a:defRPr>
            </a:pPr>
            <a:r>
              <a:t>❝ In a real project you would add the two plugins to src/Pyz/Zed/DataImport/DataImportDependencyProvider.php directly. The exercises extend the Pyz classes from src/SprykerAcademy instead, so that loading a solution never changes a project file - you will see the same pattern for the publisher, queue and OMS providers later.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5: Run the Import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docker/sdk</a:t>
            </a:r>
            <a:r>
              <a:rPr sz="900">
                <a:solidFill>
                  <a:srgbClr val="2D2D2D"/>
                </a:solidFill>
                <a:latin typeface="Consolas"/>
              </a:rPr>
              <a:t> console data:import </a:t>
            </a:r>
            <a:r>
              <a:rPr sz="900">
                <a:solidFill>
                  <a:srgbClr val="2D2D2D"/>
                </a:solidFill>
                <a:latin typeface="Consolas"/>
              </a:rPr>
              <a:t>--config</a:t>
            </a:r>
            <a:r>
              <a:rPr sz="900">
                <a:solidFill>
                  <a:srgbClr val="666666"/>
                </a:solidFill>
                <a:latin typeface="Consolas"/>
              </a:rPr>
              <a:t>=</a:t>
            </a:r>
            <a:r>
              <a:rPr sz="900">
                <a:solidFill>
                  <a:srgbClr val="2D2D2D"/>
                </a:solidFill>
                <a:latin typeface="Consolas"/>
              </a:rPr>
              <a:t>data/import/local/supplier_import.yml</a:t>
            </a:r>
          </a:p>
          <a:p>
            <a:pPr>
              <a:spcAft>
                <a:spcPts val="800"/>
              </a:spcAft>
              <a:defRPr sz="1600">
                <a:solidFill>
                  <a:srgbClr val="1A1A1A"/>
                </a:solidFill>
              </a:defRPr>
            </a:pPr>
            <a:r>
              <a:t>This will, for every action of the file: 1. Read the CSV file ( supplier.csv first) 2. For each row: run DescriptionToLowercaseStep (lowercase description), then SupplierWriterStep (persist to DB) 3. Output a report with the number of imported rows</a:t>
            </a:r>
          </a:p>
          <a:p>
            <a:pPr>
              <a:spcAft>
                <a:spcPts val="800"/>
              </a:spcAft>
              <a:defRPr sz="1600">
                <a:solidFill>
                  <a:srgbClr val="1A1A1A"/>
                </a:solidFill>
              </a:defRPr>
            </a:pPr>
            <a:r>
              <a:t>The location import uses the provided SupplierLocationWriterStep and its factory, facade and plugin. To run one importer only:</a:t>
            </a:r>
          </a:p>
          <a:p>
            <a:pPr>
              <a:spcBef>
                <a:spcPts val="0"/>
              </a:spcBef>
              <a:spcAft>
                <a:spcPts val="0"/>
              </a:spcAft>
            </a:pPr>
            <a:r>
              <a:rPr sz="900">
                <a:solidFill>
                  <a:srgbClr val="2D2D2D"/>
                </a:solidFill>
                <a:latin typeface="Consolas"/>
              </a:rPr>
              <a:t>docker/sdk</a:t>
            </a:r>
            <a:r>
              <a:rPr sz="900">
                <a:solidFill>
                  <a:srgbClr val="2D2D2D"/>
                </a:solidFill>
                <a:latin typeface="Consolas"/>
              </a:rPr>
              <a:t> console data:import supplier </a:t>
            </a:r>
            <a:r>
              <a:rPr sz="900">
                <a:solidFill>
                  <a:srgbClr val="2D2D2D"/>
                </a:solidFill>
                <a:latin typeface="Consolas"/>
              </a:rPr>
              <a:t>--config</a:t>
            </a:r>
            <a:r>
              <a:rPr sz="900">
                <a:solidFill>
                  <a:srgbClr val="666666"/>
                </a:solidFill>
                <a:latin typeface="Consolas"/>
              </a:rPr>
              <a:t>=</a:t>
            </a:r>
            <a:r>
              <a:rPr sz="900">
                <a:solidFill>
                  <a:srgbClr val="2D2D2D"/>
                </a:solidFill>
                <a:latin typeface="Consolas"/>
              </a:rPr>
              <a:t>data/import/local/supplier_import.yml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5: Run the Import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400" i="1">
                <a:solidFill>
                  <a:srgbClr val="888888"/>
                </a:solidFill>
              </a:defRPr>
            </a:pPr>
            <a:r>
              <a:t>❝ Always pass --config . Without it, data:import reads the shop’s default list data/import/local/full_EU.yml , which has no supplier entry, and stops with Requested import type “supplier” was not found in /data/data/import/local/full_EU.yml . The supplier import is defined only in the exercise’s own data/import/local/supplier_import.yml .</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Key Concepts Summary</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1200"/>
              </a:spcBef>
              <a:spcAft>
                <a:spcPts val="600"/>
              </a:spcAft>
              <a:defRPr sz="2000" b="1">
                <a:solidFill>
                  <a:srgbClr val="1A1A1A"/>
                </a:solidFill>
              </a:defRPr>
            </a:pPr>
            <a:r>
              <a:t>Step Pipeline</a:t>
            </a:r>
          </a:p>
          <a:p>
            <a:pPr>
              <a:spcBef>
                <a:spcPts val="0"/>
              </a:spcBef>
              <a:spcAft>
                <a:spcPts val="0"/>
              </a:spcAft>
            </a:pPr>
            <a:r>
              <a:rPr sz="900">
                <a:solidFill>
                  <a:srgbClr val="2D2D2D"/>
                </a:solidFill>
                <a:latin typeface="Consolas"/>
              </a:rPr>
              <a:t>CSV Row → DescriptionToLowercaseStep → SupplierWriterStep → Database</a:t>
            </a:r>
          </a:p>
          <a:p>
            <a:pPr>
              <a:spcBef>
                <a:spcPts val="0"/>
              </a:spcBef>
              <a:spcAft>
                <a:spcPts val="0"/>
              </a:spcAft>
            </a:pPr>
            <a:r>
              <a:rPr sz="900">
                <a:solidFill>
                  <a:srgbClr val="2D2D2D"/>
                </a:solidFill>
                <a:latin typeface="Consolas"/>
              </a:rPr>
              <a:t>            (processor: transforms)      (writer: persists)</a:t>
            </a:r>
          </a:p>
          <a:p>
            <a:pPr>
              <a:spcAft>
                <a:spcPts val="400"/>
              </a:spcAft>
              <a:defRPr sz="1500">
                <a:solidFill>
                  <a:srgbClr val="1A1A1A"/>
                </a:solidFill>
              </a:defRPr>
            </a:pPr>
            <a:r>
              <a:t>• Processor steps modify the DataSet in-place (lowercase, trim, validate, enrich)</a:t>
            </a:r>
          </a:p>
          <a:p>
            <a:pPr>
              <a:spcAft>
                <a:spcPts val="400"/>
              </a:spcAft>
              <a:defRPr sz="1500">
                <a:solidFill>
                  <a:srgbClr val="1A1A1A"/>
                </a:solidFill>
              </a:defRPr>
            </a:pPr>
            <a:r>
              <a:t>• Writer steps persist the DataSet to the database (Propel entities)</a:t>
            </a:r>
          </a:p>
          <a:p>
            <a:pPr>
              <a:spcAft>
                <a:spcPts val="400"/>
              </a:spcAft>
              <a:defRPr sz="1500">
                <a:solidFill>
                  <a:srgbClr val="1A1A1A"/>
                </a:solidFill>
              </a:defRPr>
            </a:pPr>
            <a:r>
              <a:t>• Steps are chained via DataSetStepBroker::addStep() in the Factory</a:t>
            </a:r>
          </a:p>
          <a:p>
            <a:pPr>
              <a:spcBef>
                <a:spcPts val="1200"/>
              </a:spcBef>
              <a:spcAft>
                <a:spcPts val="600"/>
              </a:spcAft>
              <a:defRPr sz="2000" b="1">
                <a:solidFill>
                  <a:srgbClr val="1A1A1A"/>
                </a:solidFill>
              </a:defRPr>
            </a:pPr>
            <a:r>
              <a:t>PublishAwareStep (Preview of Publish &amp; Synchronize)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Key Concepts Summary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From Exercise 10 on, SupplierWriterStep extends PublishAwareStep instead of implementing DataImportStepInterface directly. This enables triggering publish events after saving, which feeds the Publish &amp; Synchronize pipeline (next exercise). This is how imported data flows through the entire Spryker architecture:</a:t>
            </a:r>
          </a:p>
          <a:p>
            <a:pPr>
              <a:spcBef>
                <a:spcPts val="0"/>
              </a:spcBef>
              <a:spcAft>
                <a:spcPts val="0"/>
              </a:spcAft>
            </a:pPr>
            <a:r>
              <a:rPr sz="900">
                <a:solidFill>
                  <a:srgbClr val="2D2D2D"/>
                </a:solidFill>
                <a:latin typeface="Consolas"/>
              </a:rPr>
              <a:t>CSV → DataImport → Database → Event → Publisher → Search/Storage Table → Queue → Elasticsearch/Redis</a:t>
            </a:r>
          </a:p>
          <a:p>
            <a:pPr>
              <a:spcAft>
                <a:spcPts val="800"/>
              </a:spcAft>
              <a:defRPr sz="1600">
                <a:solidFill>
                  <a:srgbClr val="1A1A1A"/>
                </a:solidFill>
              </a:defRPr>
            </a:pPr>
            <a:r>
              <a:t>We will explore this in detail in the Publish &amp; Synchronize exercise.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DependencyProvider Inheritance</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Two dependency providers take part, with different jobs:</a:t>
            </a:r>
          </a:p>
          <a:p>
            <a:pPr>
              <a:spcAft>
                <a:spcPts val="400"/>
              </a:spcAft>
              <a:defRPr sz="1500">
                <a:solidFill>
                  <a:srgbClr val="1A1A1A"/>
                </a:solidFill>
              </a:defRPr>
            </a:pPr>
            <a:r>
              <a:t>• SupplierDataImportDependencyProvider extends the core DataImportDependencyProvider to inherit what every importer module needs (data reader, step broker, …). It does not register anything.</a:t>
            </a:r>
          </a:p>
          <a:p>
            <a:pPr>
              <a:spcAft>
                <a:spcPts val="400"/>
              </a:spcAft>
              <a:defRPr sz="1500">
                <a:solidFill>
                  <a:srgbClr val="1A1A1A"/>
                </a:solidFill>
              </a:defRPr>
            </a:pPr>
            <a:r>
              <a:t>• The importers are registered in the DataImport module’s provider. The project’s is src/Pyz/Zed/DataImport/DataImportDependencyProvider.php ; the exercise extends it in src/SprykerAcademy/Zed/DataImport/DataImportDependencyProvider.php , which the kernel resolves first.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Verify Your Work</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After importing, check: 1. pyz_supplier has 4 rows and the descriptions are lowercase (the DescriptionToLowercaseStep transformed them). 2. pyz_supplier_location has 6 rows, each pointing to one of the suppliers. 3. Run the import again - it must not create duplicates (idempotent import). 4. Run the tests: docker/sdk cli vendor/bin/codecept run -c tests/SprykerAcademyTest/Zed/Supplier/</a:t>
            </a:r>
          </a:p>
          <a:p>
            <a:pPr>
              <a:spcAft>
                <a:spcPts val="800"/>
              </a:spcAft>
              <a:defRPr sz="1600">
                <a:solidFill>
                  <a:srgbClr val="1A1A1A"/>
                </a:solidFill>
              </a:defRPr>
            </a:pPr>
            <a:r>
              <a:t>Use any database client (DBeaver, TablePlus, CLI) to connect and verify. Connection credentials are in deploy.dev.yml (typically host: localhost , port: 3306 or 5432 , user: spryker , password: secret ).</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Solution</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./exercises/load.sh</a:t>
            </a:r>
            <a:r>
              <a:rPr sz="900">
                <a:solidFill>
                  <a:srgbClr val="2D2D2D"/>
                </a:solidFill>
                <a:latin typeface="Consolas"/>
              </a:rPr>
              <a:t> supplier intermediate/data-import/complete </a:t>
            </a:r>
            <a:r>
              <a:rPr sz="900">
                <a:solidFill>
                  <a:srgbClr val="2D2D2D"/>
                </a:solidFill>
                <a:latin typeface="Consolas"/>
              </a:rPr>
              <a:t>--run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spAutoFit/>
          </a:bodyPr>
          <a:lstStyle/>
          <a:p>
            <a:pPr algn="ctr">
              <a:defRPr sz="3600" b="1">
                <a:solidFill>
                  <a:srgbClr val="00A89B"/>
                </a:solidFill>
              </a:defRPr>
            </a:pPr>
            <a:r>
              <a:t>Exercise 9: Back Office - Supplier CRUD</a:t>
            </a:r>
          </a:p>
        </p:txBody>
      </p:sp>
      <p:sp>
        <p:nvSpPr>
          <p:cNvPr id="3" name="Rectangle 2"/>
          <p:cNvSpPr/>
          <p:nvPr/>
        </p:nvSpPr>
        <p:spPr>
          <a:xfrm>
            <a:off x="3657600" y="2286000"/>
            <a:ext cx="4876495" cy="381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Exercise 9: Back Office - Supplier CRUD</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In this exercise, you will build a complete Back Office interface for managing suppliers: a sortable/searchable table to list them, a form to create new suppliers, and edit/delete functionality. You will use Spryker’s Gui module framework for tables and Symfony forms for data entry.</a:t>
            </a:r>
          </a:p>
          <a:p>
            <a:pPr>
              <a:spcAft>
                <a:spcPts val="800"/>
              </a:spcAft>
              <a:defRPr sz="1600">
                <a:solidFill>
                  <a:srgbClr val="1A1A1A"/>
                </a:solidFill>
              </a:defRPr>
            </a:pPr>
            <a:r>
              <a:t>You will learn how to: - Create a Back Office table extending AbstractTable with sorting, searching, and AJAX loading - Build Symfony forms with validation for the Back Office - Wire dependencies through the DependencyProvider and CommunicationFactory - Implement full CRUD controllers (Index, Create, Edit, Delete) - Register navigation items for the Back Office sidebar - Use the castId() pattern for safe ID handling</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Prerequisites</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400"/>
              </a:spcAft>
              <a:defRPr sz="1500">
                <a:solidFill>
                  <a:srgbClr val="1A1A1A"/>
                </a:solidFill>
              </a:defRPr>
            </a:pPr>
            <a:r>
              <a:t>• You do not need your own solutions of the earlier exercises. The branch contains them, and load.sh --run imports the sample suppliers (Exercise 8’s import) into the database.</a:t>
            </a:r>
          </a:p>
          <a:p>
            <a:pPr>
              <a:spcAft>
                <a:spcPts val="400"/>
              </a:spcAft>
              <a:defRPr sz="1500">
                <a:solidFill>
                  <a:srgbClr val="1A1A1A"/>
                </a:solidFill>
              </a:defRPr>
            </a:pPr>
            <a:r>
              <a:t>• Understanding of the Facade pattern and DependencyProvider</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Loading the Exercise</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./exercises/load.sh</a:t>
            </a:r>
            <a:r>
              <a:rPr sz="900">
                <a:solidFill>
                  <a:srgbClr val="2D2D2D"/>
                </a:solidFill>
                <a:latin typeface="Consolas"/>
              </a:rPr>
              <a:t> supplier intermediate/back-office/skeleton </a:t>
            </a:r>
            <a:r>
              <a:rPr sz="900">
                <a:solidFill>
                  <a:srgbClr val="2D2D2D"/>
                </a:solidFill>
                <a:latin typeface="Consolas"/>
              </a:rPr>
              <a:t>--run</a:t>
            </a:r>
          </a:p>
          <a:p>
            <a:pPr>
              <a:spcAft>
                <a:spcPts val="800"/>
              </a:spcAft>
              <a:defRPr sz="1600">
                <a:solidFill>
                  <a:srgbClr val="1A1A1A"/>
                </a:solidFill>
              </a:defRPr>
            </a:pPr>
            <a:r>
              <a:t>--run also runs the commands the loader lists after loading (cache, Propel, transfers and whatever this exercise needs, such as queues or Glue resources) and stops at the first one that fails. Leave it out to run them yourself.</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Background: Spryker Back Office Architecture</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Back Office modules in Spryker follow the naming convention &lt;ModuleName&gt;Gui (e.g., SupplierGui ). They live in the Communication layer and depend on the core module’s Facade for business logic.</a:t>
            </a:r>
          </a:p>
          <a:p>
            <a:pPr>
              <a:spcBef>
                <a:spcPts val="0"/>
              </a:spcBef>
              <a:spcAft>
                <a:spcPts val="0"/>
              </a:spcAft>
            </a:pPr>
            <a:r>
              <a:rPr sz="900">
                <a:solidFill>
                  <a:srgbClr val="2D2D2D"/>
                </a:solidFill>
                <a:latin typeface="Consolas"/>
              </a:rPr>
              <a:t>SupplierGui (Communication)  →  Supplier (Business)  →  Supplier (Persistence)</a:t>
            </a:r>
          </a:p>
          <a:p>
            <a:pPr>
              <a:spcBef>
                <a:spcPts val="0"/>
              </a:spcBef>
              <a:spcAft>
                <a:spcPts val="0"/>
              </a:spcAft>
            </a:pPr>
            <a:r>
              <a:rPr sz="900">
                <a:solidFill>
                  <a:srgbClr val="2D2D2D"/>
                </a:solidFill>
                <a:latin typeface="Consolas"/>
              </a:rPr>
              <a:t>  Controllers                      Facade                   Repository</a:t>
            </a:r>
          </a:p>
          <a:p>
            <a:pPr>
              <a:spcBef>
                <a:spcPts val="0"/>
              </a:spcBef>
              <a:spcAft>
                <a:spcPts val="0"/>
              </a:spcAft>
            </a:pPr>
            <a:r>
              <a:rPr sz="900">
                <a:solidFill>
                  <a:srgbClr val="2D2D2D"/>
                </a:solidFill>
                <a:latin typeface="Consolas"/>
              </a:rPr>
              <a:t>  Tables                           Reader/Writer            EntityManager</a:t>
            </a:r>
          </a:p>
          <a:p>
            <a:pPr>
              <a:spcBef>
                <a:spcPts val="0"/>
              </a:spcBef>
              <a:spcAft>
                <a:spcPts val="0"/>
              </a:spcAft>
            </a:pPr>
            <a:r>
              <a:rPr sz="900">
                <a:solidFill>
                  <a:srgbClr val="2D2D2D"/>
                </a:solidFill>
                <a:latin typeface="Consolas"/>
              </a:rPr>
              <a:t>  Forms                            Deleter</a:t>
            </a:r>
          </a:p>
          <a:p>
            <a:pPr>
              <a:spcBef>
                <a:spcPts val="0"/>
              </a:spcBef>
              <a:spcAft>
                <a:spcPts val="0"/>
              </a:spcAft>
            </a:pPr>
            <a:r>
              <a:rPr sz="900">
                <a:solidFill>
                  <a:srgbClr val="2D2D2D"/>
                </a:solidFill>
                <a:latin typeface="Consolas"/>
              </a:rPr>
              <a:t>  Factory</a:t>
            </a:r>
          </a:p>
          <a:p>
            <a:pPr>
              <a:spcAft>
                <a:spcPts val="800"/>
              </a:spcAft>
              <a:defRPr sz="1600">
                <a:solidFill>
                  <a:srgbClr val="1A1A1A"/>
                </a:solidFill>
              </a:defRPr>
            </a:pPr>
            <a:r>
              <a:t>Key classes:</a:t>
            </a:r>
          </a:p>
          <a:p>
            <a:pPr>
              <a:spcAft>
                <a:spcPts val="100"/>
              </a:spcAft>
              <a:defRPr sz="1000">
                <a:solidFill>
                  <a:srgbClr val="1A1A1A"/>
                </a:solidFill>
                <a:latin typeface="Consolas"/>
              </a:defRPr>
            </a:pPr>
            <a:r>
              <a:t>Class                 Role                                                                    </a:t>
            </a:r>
          </a:p>
          <a:p>
            <a:pPr>
              <a:spcAft>
                <a:spcPts val="100"/>
              </a:spcAft>
              <a:defRPr sz="1000">
                <a:solidFill>
                  <a:srgbClr val="1A1A1A"/>
                </a:solidFill>
                <a:latin typeface="Consolas"/>
              </a:defRPr>
            </a:pPr>
            <a:r>
              <a:t>--------------------  ------------------------------------------------------------------------</a:t>
            </a:r>
          </a:p>
          <a:p>
            <a:pPr>
              <a:spcAft>
                <a:spcPts val="100"/>
              </a:spcAft>
              <a:defRPr sz="1000">
                <a:solidFill>
                  <a:srgbClr val="1A1A1A"/>
                </a:solidFill>
                <a:latin typeface="Consolas"/>
              </a:defRPr>
            </a:pPr>
            <a:r>
              <a:t>AbstractTable         Base for sortable/searchable Back Office tables                         </a:t>
            </a:r>
          </a:p>
          <a:p>
            <a:pPr>
              <a:spcAft>
                <a:spcPts val="100"/>
              </a:spcAft>
              <a:defRPr sz="1000">
                <a:solidFill>
                  <a:srgbClr val="1A1A1A"/>
                </a:solidFill>
                <a:latin typeface="Consolas"/>
              </a:defRPr>
            </a:pPr>
            <a:r>
              <a:t>AbstractController    Provides viewResponse() , jsonResponse() , castId() , redirectResponse()</a:t>
            </a:r>
          </a:p>
          <a:p>
            <a:pPr>
              <a:spcAft>
                <a:spcPts val="100"/>
              </a:spcAft>
              <a:defRPr sz="1000">
                <a:solidFill>
                  <a:srgbClr val="1A1A1A"/>
                </a:solidFill>
                <a:latin typeface="Consolas"/>
              </a:defRPr>
            </a:pPr>
            <a:r>
              <a:t>AbstractType          Symfony form base for Back Office forms                                 </a:t>
            </a:r>
          </a:p>
          <a:p>
            <a:pPr>
              <a:spcAft>
                <a:spcPts val="100"/>
              </a:spcAft>
              <a:defRPr sz="1000">
                <a:solidFill>
                  <a:srgbClr val="1A1A1A"/>
                </a:solidFill>
                <a:latin typeface="Consolas"/>
              </a:defRPr>
            </a:pPr>
            <a:r>
              <a:t>CommunicationFactory  Creates tables, forms; accesses provided dependencies                   </a:t>
            </a:r>
          </a:p>
          <a:p>
            <a:pPr>
              <a:spcAft>
                <a:spcPts val="100"/>
              </a:spcAft>
              <a:defRPr sz="1000">
                <a:solidFill>
                  <a:srgbClr val="1A1A1A"/>
                </a:solidFill>
                <a:latin typeface="Consolas"/>
              </a:defRPr>
            </a:pPr>
            <a:r>
              <a:t>DependencyProvider    Injects Facade and Propel queries into the module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Working on the Exercise</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1200"/>
              </a:spcBef>
              <a:spcAft>
                <a:spcPts val="600"/>
              </a:spcAft>
              <a:defRPr sz="2000" b="1">
                <a:solidFill>
                  <a:srgbClr val="1A1A1A"/>
                </a:solidFill>
              </a:defRPr>
            </a:pPr>
            <a:r>
              <a:t>Part 1: Database Structure</a:t>
            </a:r>
          </a:p>
          <a:p>
            <a:pPr>
              <a:spcAft>
                <a:spcPts val="800"/>
              </a:spcAft>
              <a:defRPr sz="1600">
                <a:solidFill>
                  <a:srgbClr val="1A1A1A"/>
                </a:solidFill>
              </a:defRPr>
            </a:pPr>
            <a:r>
              <a:t>The exercise skeleton provides the Supplier module with the schema for pyz_supplier (columns: id_supplier, name, description, status, email, phone). A SupplierTransfer DTO is also provided.</a:t>
            </a:r>
          </a:p>
          <a:p>
            <a:pPr>
              <a:spcAft>
                <a:spcPts val="800"/>
              </a:spcAft>
              <a:defRPr sz="1600">
                <a:solidFill>
                  <a:srgbClr val="1A1A1A"/>
                </a:solidFill>
              </a:defRPr>
            </a:pPr>
            <a:r>
              <a:t>If you haven’t already, create the tables and generate transfers:</a:t>
            </a:r>
          </a:p>
          <a:p>
            <a:pPr>
              <a:spcBef>
                <a:spcPts val="0"/>
              </a:spcBef>
              <a:spcAft>
                <a:spcPts val="0"/>
              </a:spcAft>
            </a:pPr>
            <a:r>
              <a:rPr sz="900">
                <a:solidFill>
                  <a:srgbClr val="2D2D2D"/>
                </a:solidFill>
                <a:latin typeface="Consolas"/>
              </a:rPr>
              <a:t>docker/sdk</a:t>
            </a:r>
            <a:r>
              <a:rPr sz="900">
                <a:solidFill>
                  <a:srgbClr val="2D2D2D"/>
                </a:solidFill>
                <a:latin typeface="Consolas"/>
              </a:rPr>
              <a:t> console propel:install</a:t>
            </a:r>
          </a:p>
          <a:p>
            <a:pPr>
              <a:spcBef>
                <a:spcPts val="0"/>
              </a:spcBef>
              <a:spcAft>
                <a:spcPts val="0"/>
              </a:spcAft>
            </a:pPr>
            <a:r>
              <a:rPr sz="900">
                <a:solidFill>
                  <a:srgbClr val="2D2D2D"/>
                </a:solidFill>
                <a:latin typeface="Consolas"/>
              </a:rPr>
              <a:t>docker/sdk</a:t>
            </a:r>
            <a:r>
              <a:rPr sz="900">
                <a:solidFill>
                  <a:srgbClr val="2D2D2D"/>
                </a:solidFill>
                <a:latin typeface="Consolas"/>
              </a:rPr>
              <a:t> console transfer:generate</a:t>
            </a:r>
          </a:p>
          <a:p>
            <a:pPr>
              <a:spcAft>
                <a:spcPts val="800"/>
              </a:spcAft>
              <a:defRPr sz="1600">
                <a:solidFill>
                  <a:srgbClr val="1A1A1A"/>
                </a:solidFill>
              </a:defRPr>
            </a:pPr>
            <a:r>
              <a:t>load.sh --run already imported the sample suppliers. To import them again:</a:t>
            </a:r>
          </a:p>
          <a:p>
            <a:pPr>
              <a:spcBef>
                <a:spcPts val="0"/>
              </a:spcBef>
              <a:spcAft>
                <a:spcPts val="0"/>
              </a:spcAft>
            </a:pPr>
            <a:r>
              <a:rPr sz="900">
                <a:solidFill>
                  <a:srgbClr val="2D2D2D"/>
                </a:solidFill>
                <a:latin typeface="Consolas"/>
              </a:rPr>
              <a:t>docker/sdk</a:t>
            </a:r>
            <a:r>
              <a:rPr sz="900">
                <a:solidFill>
                  <a:srgbClr val="2D2D2D"/>
                </a:solidFill>
                <a:latin typeface="Consolas"/>
              </a:rPr>
              <a:t> console data:import </a:t>
            </a:r>
            <a:r>
              <a:rPr sz="900">
                <a:solidFill>
                  <a:srgbClr val="2D2D2D"/>
                </a:solidFill>
                <a:latin typeface="Consolas"/>
              </a:rPr>
              <a:t>--config</a:t>
            </a:r>
            <a:r>
              <a:rPr sz="900">
                <a:solidFill>
                  <a:srgbClr val="666666"/>
                </a:solidFill>
                <a:latin typeface="Consolas"/>
              </a:rPr>
              <a:t>=</a:t>
            </a:r>
            <a:r>
              <a:rPr sz="900">
                <a:solidFill>
                  <a:srgbClr val="2D2D2D"/>
                </a:solidFill>
                <a:latin typeface="Consolas"/>
              </a:rPr>
              <a:t>data/import/local/supplier_import.yml</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Working on the Exercise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400" i="1">
                <a:solidFill>
                  <a:srgbClr val="888888"/>
                </a:solidFill>
              </a:defRPr>
            </a:pPr>
            <a:r>
              <a:t>❝ Always pass --config . Without it, data:import reads the shop’s default list data/import/local/full_EU.yml , which has no supplier entry, and stops with Requested import type “supplier” was not found in /data/data/import/local/full_EU.yml . The supplier import is defined only in the exercise’s own data/import/local/supplier_import.yml .</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2: Create the Supplier Table</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The table displays suppliers in the Back Office with sorting, searching, and action buttons (Edit/Delete).</a:t>
            </a:r>
          </a:p>
          <a:p>
            <a:pPr>
              <a:spcBef>
                <a:spcPts val="800"/>
              </a:spcBef>
              <a:spcAft>
                <a:spcPts val="400"/>
              </a:spcAft>
              <a:defRPr sz="1700" b="1">
                <a:solidFill>
                  <a:srgbClr val="1A1A1A"/>
                </a:solidFill>
              </a:defRPr>
            </a:pPr>
            <a:r>
              <a:t>2.1 Configure the Table</a:t>
            </a:r>
          </a:p>
          <a:p>
            <a:pPr>
              <a:spcAft>
                <a:spcPts val="800"/>
              </a:spcAft>
              <a:defRPr sz="1600">
                <a:solidFill>
                  <a:srgbClr val="1A1A1A"/>
                </a:solidFill>
              </a:defRPr>
            </a:pPr>
            <a:r>
              <a:t>Coding time:</a:t>
            </a:r>
          </a:p>
          <a:p>
            <a:pPr>
              <a:spcAft>
                <a:spcPts val="800"/>
              </a:spcAft>
              <a:defRPr sz="1600">
                <a:solidFill>
                  <a:srgbClr val="1A1A1A"/>
                </a:solidFill>
              </a:defRPr>
            </a:pPr>
            <a:r>
              <a:t>Open src/SprykerAcademy/Zed/SupplierGui/Communication/Table/SupplierTable.php . The class extends AbstractTable and has two methods to implement: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2: Create the Supplier Table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In configure() : 1. TODO-1: Set the table headers using $config-&gt;setHeader() — pass an associative array mapping column constants to display labels. Include COL_ACTIONS =&gt; 'Actions' for the action buttons column. 2. TODO-2: Set sortable columns using $config-&gt;setSortable() — pass an array of column constants (all data columns except Actions) 3. TODO-3: Set searchable columns using $config-&gt;setSearchable() — same pattern, but only text columns that make sense to search (name, description, email, phone) 4. TODO-4: Mark the Actions column as a raw column using $config-&gt;setRawColumns() — this allows HTML content (buttons) to render instead of being escaped</a:t>
            </a:r>
          </a:p>
          <a:p>
            <a:pPr>
              <a:spcAft>
                <a:spcPts val="800"/>
              </a:spcAft>
              <a:defRPr sz="1400" i="1">
                <a:solidFill>
                  <a:srgbClr val="888888"/>
                </a:solidFill>
              </a:defRPr>
            </a:pPr>
            <a:r>
              <a:t>❝ Hint: The class already has constants like COL_ID_SUPPLIER , COL_NAME , COL_ACTIONS , etc. Use these as array keys.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2: Create the Supplier Table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In prepareData() : 5. TODO-5: Fetch the supplier data using $this-&gt;runQuery() . This method accepts the Propel query (injected via constructor), the $config , and a boolean true to get raw results. Then map the results using the provided mapReturns() method.</a:t>
            </a:r>
          </a:p>
          <a:p>
            <a:pPr>
              <a:spcAft>
                <a:spcPts val="800"/>
              </a:spcAft>
              <a:defRPr sz="1600">
                <a:solidFill>
                  <a:srgbClr val="1A1A1A"/>
                </a:solidFill>
              </a:defRPr>
            </a:pPr>
            <a:r>
              <a:t>In mapReturns() : 6. TODO-6: Add an actions column entry to each row’s array that calls $this-&gt;buildActionButtons() with the supplier ID. Use static::COL_ACTIONS as the key.</a:t>
            </a:r>
          </a:p>
          <a:p>
            <a:pPr>
              <a:spcAft>
                <a:spcPts val="800"/>
              </a:spcAft>
              <a:defRPr sz="1600">
                <a:solidFill>
                  <a:srgbClr val="1A1A1A"/>
                </a:solidFill>
              </a:defRPr>
            </a:pPr>
            <a:r>
              <a:t>In buildActionButtons() : 7. TODO-7: Build the Edit and Delete action buttons. Spryker’s AbstractTable provides built-in helper methods for generating table row buttons: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2: Create the Supplier Table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400" i="1">
                <a:solidFill>
                  <a:srgbClr val="888888"/>
                </a:solidFill>
              </a:defRPr>
            </a:pPr>
            <a:r>
              <a:t>❝ // Available in any class extending AbstractTable: $this -&gt;generateEditButton( $url , 'Edit' ) $this -&gt;generateRemoveButton( $url , 'Delete' ) $this -&gt;generateViewButton( $url , 'View' ) $this -&gt;generateCreateButton( $url , 'Create' ) Use Url::generate() from Spryker\Service\UtilText\Model\Url\Url to build URLs with query parameters: $url = U rl::generate( '/supplier-gui/edit' , [ E ditController:: REQUEST_PARAM_ID_SUPPLIER =&gt; $idSupplier , ]) ; Combine multiple buttons with implode(' ', [...]) and assign to the Actions column. The skeleton already provides the constants URL_SUPPLIER_EDIT and URL_SUPPLIER_DELETE as well as imports for EditController and DeleteController .</a:t>
            </a:r>
          </a:p>
          <a:p>
            <a:pPr>
              <a:spcAft>
                <a:spcPts val="800"/>
              </a:spcAft>
              <a:defRPr sz="1400" i="1">
                <a:solidFill>
                  <a:srgbClr val="888888"/>
                </a:solidFill>
              </a:defRPr>
            </a:pPr>
            <a:r>
              <a:t>❝ About Propel in the Communication layer: Tables are an exception to the “no Propel outside Persistence” rule. The AbstractTable class handles pagination, sorting, and filtering internally through the Propel query.</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2: Create the Supplier Table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800"/>
              </a:spcBef>
              <a:spcAft>
                <a:spcPts val="400"/>
              </a:spcAft>
              <a:defRPr sz="1700" b="1">
                <a:solidFill>
                  <a:srgbClr val="1A1A1A"/>
                </a:solidFill>
              </a:defRPr>
            </a:pPr>
            <a:r>
              <a:t>2.2 Wire the DependencyProvider</a:t>
            </a:r>
          </a:p>
          <a:p>
            <a:pPr>
              <a:spcAft>
                <a:spcPts val="800"/>
              </a:spcAft>
              <a:defRPr sz="1600">
                <a:solidFill>
                  <a:srgbClr val="1A1A1A"/>
                </a:solidFill>
              </a:defRPr>
            </a:pPr>
            <a:r>
              <a:t>Every external dependency must be provided through the DependencyProvider .</a:t>
            </a:r>
          </a:p>
          <a:p>
            <a:pPr>
              <a:spcAft>
                <a:spcPts val="800"/>
              </a:spcAft>
              <a:defRPr sz="1600">
                <a:solidFill>
                  <a:srgbClr val="1A1A1A"/>
                </a:solidFill>
              </a:defRPr>
            </a:pPr>
            <a:r>
              <a:t>Coding time:</a:t>
            </a:r>
          </a:p>
          <a:p>
            <a:pPr>
              <a:spcAft>
                <a:spcPts val="800"/>
              </a:spcAft>
              <a:defRPr sz="1600">
                <a:solidFill>
                  <a:srgbClr val="1A1A1A"/>
                </a:solidFill>
              </a:defRPr>
            </a:pPr>
            <a:r>
              <a:t>Open src/SprykerAcademy/Zed/SupplierGui/SupplierGuiDependencyProvider.php :</a:t>
            </a:r>
          </a:p>
          <a:p>
            <a:pPr>
              <a:spcAft>
                <a:spcPts val="400"/>
              </a:spcAft>
              <a:defRPr sz="1500">
                <a:solidFill>
                  <a:srgbClr val="1A1A1A"/>
                </a:solidFill>
              </a:defRPr>
            </a:pPr>
            <a:r>
              <a:t>• Implement addSupplierPropelQuery() — use $container-&gt;set() with the PROPEL_QUERY_SUPPLIER constant. For Propel queries, use $container-&gt;factory() to ensure a fresh instance on every request (not a singleton).</a:t>
            </a:r>
          </a:p>
          <a:p>
            <a:pPr>
              <a:spcAft>
                <a:spcPts val="800"/>
              </a:spcAft>
              <a:defRPr sz="1400" i="1">
                <a:solidFill>
                  <a:srgbClr val="888888"/>
                </a:solidFill>
              </a:defRPr>
            </a:pPr>
            <a:r>
              <a:t>❝ Important: Always use $container-&gt;factory(fn () =&gt; PyzSupplierQuery::create()) for Propel queries. A shared query instance would carry state between requests.</a:t>
            </a:r>
          </a:p>
          <a:p>
            <a:pPr>
              <a:spcAft>
                <a:spcPts val="400"/>
              </a:spcAft>
              <a:defRPr sz="1500">
                <a:solidFill>
                  <a:srgbClr val="1A1A1A"/>
                </a:solidFill>
              </a:defRPr>
            </a:pPr>
            <a:r>
              <a:t>• Call addSupplierPropelQuery() in provideCommunicationLayerDependencies() .</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2: Create the Supplier Table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800"/>
              </a:spcBef>
              <a:spcAft>
                <a:spcPts val="400"/>
              </a:spcAft>
              <a:defRPr sz="1700" b="1">
                <a:solidFill>
                  <a:srgbClr val="1A1A1A"/>
                </a:solidFill>
              </a:defRPr>
            </a:pPr>
            <a:r>
              <a:t>2.3 Wire the Factory</a:t>
            </a:r>
          </a:p>
          <a:p>
            <a:pPr>
              <a:spcAft>
                <a:spcPts val="800"/>
              </a:spcAft>
              <a:defRPr sz="1600">
                <a:solidFill>
                  <a:srgbClr val="1A1A1A"/>
                </a:solidFill>
              </a:defRPr>
            </a:pPr>
            <a:r>
              <a:t>Coding time:</a:t>
            </a:r>
          </a:p>
          <a:p>
            <a:pPr>
              <a:spcAft>
                <a:spcPts val="800"/>
              </a:spcAft>
              <a:defRPr sz="1600">
                <a:solidFill>
                  <a:srgbClr val="1A1A1A"/>
                </a:solidFill>
              </a:defRPr>
            </a:pPr>
            <a:r>
              <a:t>Open src/SprykerAcademy/Zed/SupplierGui/Communication/SupplierGuiCommunicationFactory.php :</a:t>
            </a:r>
          </a:p>
          <a:p>
            <a:pPr>
              <a:spcAft>
                <a:spcPts val="400"/>
              </a:spcAft>
              <a:defRPr sz="1500">
                <a:solidFill>
                  <a:srgbClr val="1A1A1A"/>
                </a:solidFill>
              </a:defRPr>
            </a:pPr>
            <a:r>
              <a:t>• Implement getSupplierQuery() — use getProvidedDependency() with the appropriate constant to retrieve the Propel query</a:t>
            </a:r>
          </a:p>
          <a:p>
            <a:pPr>
              <a:spcAft>
                <a:spcPts val="400"/>
              </a:spcAft>
              <a:defRPr sz="1500">
                <a:solidFill>
                  <a:srgbClr val="1A1A1A"/>
                </a:solidFill>
              </a:defRPr>
            </a:pPr>
            <a:r>
              <a:t>• Implement createSupplierTable() — instantiate SupplierTable passing the Propel query as constructor argument</a:t>
            </a:r>
          </a:p>
          <a:p>
            <a:pPr>
              <a:spcAft>
                <a:spcPts val="800"/>
              </a:spcAft>
              <a:defRPr sz="1400" i="1">
                <a:solidFill>
                  <a:srgbClr val="888888"/>
                </a:solidFill>
              </a:defRPr>
            </a:pPr>
            <a:r>
              <a:t>❝ Naming convention: get*() for retrieving provided dependencies, create*() for instantiating new objects.</a:t>
            </a:r>
          </a:p>
          <a:p>
            <a:pPr>
              <a:spcBef>
                <a:spcPts val="800"/>
              </a:spcBef>
              <a:spcAft>
                <a:spcPts val="400"/>
              </a:spcAft>
              <a:defRPr sz="1700" b="1">
                <a:solidFill>
                  <a:srgbClr val="1A1A1A"/>
                </a:solidFill>
              </a:defRPr>
            </a:pPr>
            <a:r>
              <a:t>2.4 Implement the IndexController</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2: Create the Supplier Table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Coding time:</a:t>
            </a:r>
          </a:p>
          <a:p>
            <a:pPr>
              <a:spcAft>
                <a:spcPts val="800"/>
              </a:spcAft>
              <a:defRPr sz="1600">
                <a:solidFill>
                  <a:srgbClr val="1A1A1A"/>
                </a:solidFill>
              </a:defRPr>
            </a:pPr>
            <a:r>
              <a:t>Open src/SprykerAcademy/Zed/SupplierGui/Communication/Controller/IndexController.php :</a:t>
            </a:r>
          </a:p>
          <a:p>
            <a:pPr>
              <a:spcAft>
                <a:spcPts val="800"/>
              </a:spcAft>
              <a:defRPr sz="1600">
                <a:solidFill>
                  <a:srgbClr val="1A1A1A"/>
                </a:solidFill>
              </a:defRPr>
            </a:pPr>
            <a:r>
              <a:t>The controller needs two actions:</a:t>
            </a:r>
          </a:p>
          <a:p>
            <a:pPr>
              <a:spcAft>
                <a:spcPts val="400"/>
              </a:spcAft>
              <a:defRPr sz="1500">
                <a:solidFill>
                  <a:srgbClr val="1A1A1A"/>
                </a:solidFill>
              </a:defRPr>
            </a:pPr>
            <a:r>
              <a:t>• indexAction() — Gets the table from the factory, calls render() on it, and returns a viewResponse() with the rendered HTML. The template variable should be supplierTable .</a:t>
            </a:r>
          </a:p>
          <a:p>
            <a:pPr>
              <a:spcAft>
                <a:spcPts val="400"/>
              </a:spcAft>
              <a:defRPr sz="1500">
                <a:solidFill>
                  <a:srgbClr val="1A1A1A"/>
                </a:solidFill>
              </a:defRPr>
            </a:pPr>
            <a:r>
              <a:t>• tableAction() — Gets the table from the factory, calls fetchData() on it, and returns a jsonResponse() . This is called via AJAX by the table’s built-in JavaScript.</a:t>
            </a:r>
          </a:p>
          <a:p>
            <a:pPr>
              <a:spcAft>
                <a:spcPts val="800"/>
              </a:spcAft>
              <a:defRPr sz="1400" i="1">
                <a:solidFill>
                  <a:srgbClr val="888888"/>
                </a:solidFill>
              </a:defRPr>
            </a:pPr>
            <a:r>
              <a:t>❝ Two-action pattern: Every Back Office table needs both: indexAction() renders the HTML container, tableAction() returns JSON data via AJAX. The AbstractTable handles the AJAX logic automatically.</a:t>
            </a:r>
          </a:p>
          <a:p>
            <a:pPr>
              <a:spcBef>
                <a:spcPts val="800"/>
              </a:spcBef>
              <a:spcAft>
                <a:spcPts val="400"/>
              </a:spcAft>
              <a:defRPr sz="1700" b="1">
                <a:solidFill>
                  <a:srgbClr val="1A1A1A"/>
                </a:solidFill>
              </a:defRPr>
            </a:pPr>
            <a:r>
              <a:t>2.5 Add the Twig Template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2: Create the Supplier Table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Coding time:</a:t>
            </a:r>
          </a:p>
          <a:p>
            <a:pPr>
              <a:spcAft>
                <a:spcPts val="800"/>
              </a:spcAft>
              <a:defRPr sz="1600">
                <a:solidFill>
                  <a:srgbClr val="1A1A1A"/>
                </a:solidFill>
              </a:defRPr>
            </a:pPr>
            <a:r>
              <a:t>Open src/SprykerAcademy/Zed/SupplierGui/Presentation/Index/index.twig : 1. Add a “Create Supplier” button linking to /supplier-gui/create 2. Render the supplierTable variable using the raw filter</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2: Create the Supplier Table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400" i="1">
                <a:solidFill>
                  <a:srgbClr val="888888"/>
                </a:solidFill>
              </a:defRPr>
            </a:pPr>
            <a:r>
              <a:t>❝ Buttons in Spryker Back Office Twig templates: Spryker registers Twig helper functions for consistent button rendering. Use these instead of raw HTML: {# Action buttons (page-level) — rendered above forms/tables #} {{ createActionButton('/supplier-gui/create', 'Create Supplier') }} {{ editActionButton('/supplier-gui/edit?id-supplier=' ~ id, 'Edit') }} {{ backActionButton(backUrl, 'Back') }} {{ removeActionButton('/supplier-gui/delete?id-supplier=' ~ id, 'Delete') }} These functions are provided by the Gui module’s Twig plugins ( CreateActionButtonTwigPlugin , etc.) and automatically apply the correct CSS classes and styling. Rendering raw HTML: The controller passes pre-rendered HTML from $table-&gt;render() . Use the raw filter to prevent Twig from escaping it: {{ supplierTable | raw }} Without | raw , Twig would escape the HTML tags and you’d see raw &lt;table&gt; markup as text.</a:t>
            </a:r>
          </a:p>
          <a:p>
            <a:pPr>
              <a:spcAft>
                <a:spcPts val="800"/>
              </a:spcAft>
              <a:defRPr sz="1600">
                <a:solidFill>
                  <a:srgbClr val="1A1A1A"/>
                </a:solidFill>
              </a:defRPr>
            </a:pPr>
            <a:r>
              <a:t>Clear cache: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2: Create the Supplier Table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docker/sdk</a:t>
            </a:r>
            <a:r>
              <a:rPr sz="900">
                <a:solidFill>
                  <a:srgbClr val="2D2D2D"/>
                </a:solidFill>
                <a:latin typeface="Consolas"/>
              </a:rPr>
              <a:t> console cache:empty-all</a:t>
            </a:r>
          </a:p>
          <a:p>
            <a:pPr>
              <a:spcBef>
                <a:spcPts val="0"/>
              </a:spcBef>
              <a:spcAft>
                <a:spcPts val="0"/>
              </a:spcAft>
            </a:pPr>
            <a:r>
              <a:rPr sz="900">
                <a:solidFill>
                  <a:srgbClr val="2D2D2D"/>
                </a:solidFill>
                <a:latin typeface="Consolas"/>
              </a:rPr>
              <a:t>docker/sdk</a:t>
            </a:r>
            <a:r>
              <a:rPr sz="900">
                <a:solidFill>
                  <a:srgbClr val="2D2D2D"/>
                </a:solidFill>
                <a:latin typeface="Consolas"/>
              </a:rPr>
              <a:t> console propel:model:build</a:t>
            </a:r>
          </a:p>
          <a:p>
            <a:pPr>
              <a:spcAft>
                <a:spcPts val="800"/>
              </a:spcAft>
              <a:defRPr sz="1600">
                <a:solidFill>
                  <a:srgbClr val="1A1A1A"/>
                </a:solidFill>
              </a:defRPr>
            </a:pPr>
            <a:r>
              <a:t>Visit http://backoffice.eu.spryker.local/supplier-gui to see the table.</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3: Create the Supplier Form</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800"/>
              </a:spcBef>
              <a:spcAft>
                <a:spcPts val="400"/>
              </a:spcAft>
              <a:defRPr sz="1700" b="1">
                <a:solidFill>
                  <a:srgbClr val="1A1A1A"/>
                </a:solidFill>
              </a:defRPr>
            </a:pPr>
            <a:r>
              <a:t>3.1 Build the Form Class</a:t>
            </a:r>
          </a:p>
          <a:p>
            <a:pPr>
              <a:spcAft>
                <a:spcPts val="800"/>
              </a:spcAft>
              <a:defRPr sz="1600">
                <a:solidFill>
                  <a:srgbClr val="1A1A1A"/>
                </a:solidFill>
              </a:defRPr>
            </a:pPr>
            <a:r>
              <a:t>Coding time:</a:t>
            </a:r>
          </a:p>
          <a:p>
            <a:pPr>
              <a:spcAft>
                <a:spcPts val="800"/>
              </a:spcAft>
              <a:defRPr sz="1600">
                <a:solidFill>
                  <a:srgbClr val="1A1A1A"/>
                </a:solidFill>
              </a:defRPr>
            </a:pPr>
            <a:r>
              <a:t>Open src/SprykerAcademy/Zed/SupplierGui/Communication/Form/SupplierCreateForm.php . The class extends AbstractType . In the buildForm() method, add fields using the Symfony form builder.</a:t>
            </a:r>
          </a:p>
          <a:p>
            <a:pPr>
              <a:spcAft>
                <a:spcPts val="800"/>
              </a:spcAft>
              <a:defRPr sz="1600">
                <a:solidFill>
                  <a:srgbClr val="1A1A1A"/>
                </a:solidFill>
              </a:defRPr>
            </a:pPr>
            <a:r>
              <a:t>TODO-1: Add fields using $builder-&gt;add() . Each call takes a field name, a field type class, and an options array. You can chain multiple -&gt;add() calls: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3: Create the Supplier Form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19177C"/>
                </a:solidFill>
                <a:latin typeface="Consolas"/>
              </a:rPr>
              <a:t>$builder</a:t>
            </a:r>
          </a:p>
          <a:p>
            <a:pPr>
              <a:spcBef>
                <a:spcPts val="0"/>
              </a:spcBef>
              <a:spcAft>
                <a:spcPts val="0"/>
              </a:spcAft>
            </a:pPr>
            <a:r>
              <a:rPr sz="900">
                <a:solidFill>
                  <a:srgbClr val="2D2D2D"/>
                </a:solidFill>
                <a:latin typeface="Consolas"/>
              </a:rPr>
              <a:t>    -&gt;add(</a:t>
            </a:r>
            <a:r>
              <a:rPr sz="900" b="1">
                <a:solidFill>
                  <a:srgbClr val="007020"/>
                </a:solidFill>
                <a:latin typeface="Consolas"/>
              </a:rPr>
              <a:t>static</a:t>
            </a:r>
            <a:r>
              <a:rPr sz="900">
                <a:solidFill>
                  <a:srgbClr val="2D2D2D"/>
                </a:solidFill>
                <a:latin typeface="Consolas"/>
              </a:rPr>
              <a:t>::</a:t>
            </a:r>
            <a:r>
              <a:rPr sz="900">
                <a:solidFill>
                  <a:srgbClr val="880000"/>
                </a:solidFill>
                <a:latin typeface="Consolas"/>
              </a:rPr>
              <a:t>FIELD_NAME</a:t>
            </a:r>
            <a:r>
              <a:rPr sz="900">
                <a:solidFill>
                  <a:srgbClr val="007020"/>
                </a:solidFill>
                <a:latin typeface="Consolas"/>
              </a:rPr>
              <a:t>,</a:t>
            </a:r>
            <a:r>
              <a:rPr sz="900">
                <a:solidFill>
                  <a:srgbClr val="2D2D2D"/>
                </a:solidFill>
                <a:latin typeface="Consolas"/>
              </a:rPr>
              <a:t> </a:t>
            </a:r>
            <a:r>
              <a:rPr sz="900">
                <a:solidFill>
                  <a:srgbClr val="880000"/>
                </a:solidFill>
                <a:latin typeface="Consolas"/>
              </a:rPr>
              <a:t>T</a:t>
            </a:r>
            <a:r>
              <a:rPr sz="900">
                <a:solidFill>
                  <a:srgbClr val="2D2D2D"/>
                </a:solidFill>
                <a:latin typeface="Consolas"/>
              </a:rPr>
              <a:t>extType::</a:t>
            </a:r>
            <a:r>
              <a:rPr sz="900" b="1">
                <a:solidFill>
                  <a:srgbClr val="007020"/>
                </a:solidFill>
                <a:latin typeface="Consolas"/>
              </a:rPr>
              <a:t>class</a:t>
            </a:r>
            <a:r>
              <a:rPr sz="900">
                <a:solidFill>
                  <a:srgbClr val="007020"/>
                </a:solidFill>
                <a:latin typeface="Consolas"/>
              </a:rPr>
              <a:t>,</a:t>
            </a:r>
            <a:r>
              <a:rPr sz="900">
                <a:solidFill>
                  <a:srgbClr val="2D2D2D"/>
                </a:solidFill>
                <a:latin typeface="Consolas"/>
              </a:rPr>
              <a:t> [</a:t>
            </a:r>
          </a:p>
          <a:p>
            <a:pPr>
              <a:spcBef>
                <a:spcPts val="0"/>
              </a:spcBef>
              <a:spcAft>
                <a:spcPts val="0"/>
              </a:spcAft>
            </a:pPr>
            <a:r>
              <a:rPr sz="900">
                <a:solidFill>
                  <a:srgbClr val="2D2D2D"/>
                </a:solidFill>
                <a:latin typeface="Consolas"/>
              </a:rPr>
              <a:t>        </a:t>
            </a:r>
            <a:r>
              <a:rPr sz="900">
                <a:solidFill>
                  <a:srgbClr val="4070A0"/>
                </a:solidFill>
                <a:latin typeface="Consolas"/>
              </a:rPr>
              <a:t>'label'</a:t>
            </a:r>
            <a:r>
              <a:rPr sz="900">
                <a:solidFill>
                  <a:srgbClr val="2D2D2D"/>
                </a:solidFill>
                <a:latin typeface="Consolas"/>
              </a:rPr>
              <a:t> =&gt; </a:t>
            </a:r>
            <a:r>
              <a:rPr sz="900">
                <a:solidFill>
                  <a:srgbClr val="4070A0"/>
                </a:solidFill>
                <a:latin typeface="Consolas"/>
              </a:rPr>
              <a:t>'Name'</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4070A0"/>
                </a:solidFill>
                <a:latin typeface="Consolas"/>
              </a:rPr>
              <a:t>'constraints'</a:t>
            </a:r>
            <a:r>
              <a:rPr sz="900">
                <a:solidFill>
                  <a:srgbClr val="2D2D2D"/>
                </a:solidFill>
                <a:latin typeface="Consolas"/>
              </a:rPr>
              <a:t> =&gt; [</a:t>
            </a:r>
          </a:p>
          <a:p>
            <a:pPr>
              <a:spcBef>
                <a:spcPts val="0"/>
              </a:spcBef>
              <a:spcAft>
                <a:spcPts val="0"/>
              </a:spcAft>
            </a:pPr>
            <a:r>
              <a:rPr sz="900">
                <a:solidFill>
                  <a:srgbClr val="2D2D2D"/>
                </a:solidFill>
                <a:latin typeface="Consolas"/>
              </a:rPr>
              <a:t>            </a:t>
            </a:r>
            <a:r>
              <a:rPr sz="900">
                <a:solidFill>
                  <a:srgbClr val="19177C"/>
                </a:solidFill>
                <a:latin typeface="Consolas"/>
              </a:rPr>
              <a:t>$this</a:t>
            </a:r>
            <a:r>
              <a:rPr sz="900">
                <a:solidFill>
                  <a:srgbClr val="2D2D2D"/>
                </a:solidFill>
                <a:latin typeface="Consolas"/>
              </a:rPr>
              <a:t>-&gt;createNotBlankConstraint()</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007020"/>
                </a:solidFill>
                <a:latin typeface="Consolas"/>
              </a:rPr>
              <a:t>,</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    -&gt;add(</a:t>
            </a:r>
            <a:r>
              <a:rPr sz="900" b="1">
                <a:solidFill>
                  <a:srgbClr val="007020"/>
                </a:solidFill>
                <a:latin typeface="Consolas"/>
              </a:rPr>
              <a:t>static</a:t>
            </a:r>
            <a:r>
              <a:rPr sz="900">
                <a:solidFill>
                  <a:srgbClr val="2D2D2D"/>
                </a:solidFill>
                <a:latin typeface="Consolas"/>
              </a:rPr>
              <a:t>::</a:t>
            </a:r>
            <a:r>
              <a:rPr sz="900">
                <a:solidFill>
                  <a:srgbClr val="880000"/>
                </a:solidFill>
                <a:latin typeface="Consolas"/>
              </a:rPr>
              <a:t>FIELD_DESCRIPTION</a:t>
            </a:r>
            <a:r>
              <a:rPr sz="900">
                <a:solidFill>
                  <a:srgbClr val="007020"/>
                </a:solidFill>
                <a:latin typeface="Consolas"/>
              </a:rPr>
              <a:t>,</a:t>
            </a:r>
            <a:r>
              <a:rPr sz="900">
                <a:solidFill>
                  <a:srgbClr val="2D2D2D"/>
                </a:solidFill>
                <a:latin typeface="Consolas"/>
              </a:rPr>
              <a:t> </a:t>
            </a:r>
            <a:r>
              <a:rPr sz="900">
                <a:solidFill>
                  <a:srgbClr val="880000"/>
                </a:solidFill>
                <a:latin typeface="Consolas"/>
              </a:rPr>
              <a:t>T</a:t>
            </a:r>
            <a:r>
              <a:rPr sz="900">
                <a:solidFill>
                  <a:srgbClr val="2D2D2D"/>
                </a:solidFill>
                <a:latin typeface="Consolas"/>
              </a:rPr>
              <a:t>extType::</a:t>
            </a:r>
            <a:r>
              <a:rPr sz="900" b="1">
                <a:solidFill>
                  <a:srgbClr val="007020"/>
                </a:solidFill>
                <a:latin typeface="Consolas"/>
              </a:rPr>
              <a:t>class</a:t>
            </a:r>
            <a:r>
              <a:rPr sz="900">
                <a:solidFill>
                  <a:srgbClr val="007020"/>
                </a:solidFill>
                <a:latin typeface="Consolas"/>
              </a:rPr>
              <a:t>,</a:t>
            </a:r>
            <a:r>
              <a:rPr sz="900">
                <a:solidFill>
                  <a:srgbClr val="2D2D2D"/>
                </a:solidFill>
                <a:latin typeface="Consolas"/>
              </a:rPr>
              <a:t> [</a:t>
            </a:r>
          </a:p>
          <a:p>
            <a:pPr>
              <a:spcBef>
                <a:spcPts val="0"/>
              </a:spcBef>
              <a:spcAft>
                <a:spcPts val="0"/>
              </a:spcAft>
            </a:pPr>
            <a:r>
              <a:rPr sz="900">
                <a:solidFill>
                  <a:srgbClr val="2D2D2D"/>
                </a:solidFill>
                <a:latin typeface="Consolas"/>
              </a:rPr>
              <a:t>        </a:t>
            </a:r>
            <a:r>
              <a:rPr sz="900">
                <a:solidFill>
                  <a:srgbClr val="4070A0"/>
                </a:solidFill>
                <a:latin typeface="Consolas"/>
              </a:rPr>
              <a:t>'label'</a:t>
            </a:r>
            <a:r>
              <a:rPr sz="900">
                <a:solidFill>
                  <a:srgbClr val="2D2D2D"/>
                </a:solidFill>
                <a:latin typeface="Consolas"/>
              </a:rPr>
              <a:t> =&gt; </a:t>
            </a:r>
            <a:r>
              <a:rPr sz="900">
                <a:solidFill>
                  <a:srgbClr val="4070A0"/>
                </a:solidFill>
                <a:latin typeface="Consolas"/>
              </a:rPr>
              <a:t>'Description'</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4070A0"/>
                </a:solidFill>
                <a:latin typeface="Consolas"/>
              </a:rPr>
              <a:t>'constraints'</a:t>
            </a:r>
            <a:r>
              <a:rPr sz="900">
                <a:solidFill>
                  <a:srgbClr val="2D2D2D"/>
                </a:solidFill>
                <a:latin typeface="Consolas"/>
              </a:rPr>
              <a:t> =&gt; [...]</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007020"/>
                </a:solidFill>
                <a:latin typeface="Consolas"/>
              </a:rPr>
              <a:t>;</a:t>
            </a:r>
          </a:p>
          <a:p>
            <a:pPr>
              <a:spcAft>
                <a:spcPts val="800"/>
              </a:spcAft>
              <a:defRPr sz="1600">
                <a:solidFill>
                  <a:srgbClr val="1A1A1A"/>
                </a:solidFill>
              </a:defRPr>
            </a:pPr>
            <a:r>
              <a:t>Fields to add:</a:t>
            </a:r>
          </a:p>
          <a:p>
            <a:pPr>
              <a:spcAft>
                <a:spcPts val="400"/>
              </a:spcAft>
              <a:defRPr sz="1500">
                <a:solidFill>
                  <a:srgbClr val="1A1A1A"/>
                </a:solidFill>
              </a:defRPr>
            </a:pPr>
            <a:r>
              <a:t>• FIELD_NAME — TextType with a NotBlank constraint</a:t>
            </a:r>
          </a:p>
          <a:p>
            <a:pPr>
              <a:spcAft>
                <a:spcPts val="400"/>
              </a:spcAft>
              <a:defRPr sz="1500">
                <a:solidFill>
                  <a:srgbClr val="1A1A1A"/>
                </a:solidFill>
              </a:defRPr>
            </a:pPr>
            <a:r>
              <a:t>• FIELD_DESCRIPTION — TextType with a NotBlank constraint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3: Create the Supplier Form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400"/>
              </a:spcAft>
              <a:defRPr sz="1500">
                <a:solidFill>
                  <a:srgbClr val="1A1A1A"/>
                </a:solidFill>
              </a:defRPr>
            </a:pPr>
            <a:r>
              <a:t>• FIELD_IS_ACTIVE — CheckboxType , unmapped ( 'mapped' =&gt; false ), not required, with default value from form options ( 'data' =&gt; (bool)$options[static::FIELD_IS_ACTIVE] )</a:t>
            </a:r>
          </a:p>
          <a:p>
            <a:pPr>
              <a:spcAft>
                <a:spcPts val="400"/>
              </a:spcAft>
              <a:defRPr sz="1500">
                <a:solidFill>
                  <a:srgbClr val="1A1A1A"/>
                </a:solidFill>
              </a:defRPr>
            </a:pPr>
            <a:r>
              <a:t>• FIELD_EMAIL — TextType with a NotBlank constraint</a:t>
            </a:r>
          </a:p>
          <a:p>
            <a:pPr>
              <a:spcAft>
                <a:spcPts val="400"/>
              </a:spcAft>
              <a:defRPr sz="1500">
                <a:solidFill>
                  <a:srgbClr val="1A1A1A"/>
                </a:solidFill>
              </a:defRPr>
            </a:pPr>
            <a:r>
              <a:t>• FIELD_PHONE — TextType with a NotBlank constraint</a:t>
            </a:r>
          </a:p>
          <a:p>
            <a:pPr>
              <a:spcAft>
                <a:spcPts val="800"/>
              </a:spcAft>
              <a:defRPr sz="1400" i="1">
                <a:solidFill>
                  <a:srgbClr val="888888"/>
                </a:solidFill>
              </a:defRPr>
            </a:pPr>
            <a:r>
              <a:t>❝ Unmapped fields: The isActive checkbox doesn’t map directly to the SupplierTransfer (which has a numeric status field). Use 'mapped' =&gt; false to exclude it from automatic data binding. The controller will manually convert the boolean to a status integer.</a:t>
            </a:r>
          </a:p>
          <a:p>
            <a:pPr>
              <a:spcAft>
                <a:spcPts val="800"/>
              </a:spcAft>
              <a:defRPr sz="1600">
                <a:solidFill>
                  <a:srgbClr val="1A1A1A"/>
                </a:solidFill>
              </a:defRPr>
            </a:pPr>
            <a:r>
              <a:t>TODO-2: Override configureOptions() to set data_class and define defaults for custom options: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3: Create the Supplier Form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b="1">
                <a:solidFill>
                  <a:srgbClr val="007020"/>
                </a:solidFill>
                <a:latin typeface="Consolas"/>
              </a:rPr>
              <a:t>public</a:t>
            </a:r>
            <a:r>
              <a:rPr sz="900">
                <a:solidFill>
                  <a:srgbClr val="2D2D2D"/>
                </a:solidFill>
                <a:latin typeface="Consolas"/>
              </a:rPr>
              <a:t> </a:t>
            </a:r>
            <a:r>
              <a:rPr sz="900" b="1">
                <a:solidFill>
                  <a:srgbClr val="007020"/>
                </a:solidFill>
                <a:latin typeface="Consolas"/>
              </a:rPr>
              <a:t>function</a:t>
            </a:r>
            <a:r>
              <a:rPr sz="900">
                <a:solidFill>
                  <a:srgbClr val="2D2D2D"/>
                </a:solidFill>
                <a:latin typeface="Consolas"/>
              </a:rPr>
              <a:t> configureOptions(</a:t>
            </a:r>
            <a:r>
              <a:rPr sz="900">
                <a:solidFill>
                  <a:srgbClr val="880000"/>
                </a:solidFill>
                <a:latin typeface="Consolas"/>
              </a:rPr>
              <a:t>O</a:t>
            </a:r>
            <a:r>
              <a:rPr sz="900">
                <a:solidFill>
                  <a:srgbClr val="2D2D2D"/>
                </a:solidFill>
                <a:latin typeface="Consolas"/>
              </a:rPr>
              <a:t>ptionsResolver </a:t>
            </a:r>
            <a:r>
              <a:rPr sz="900">
                <a:solidFill>
                  <a:srgbClr val="19177C"/>
                </a:solidFill>
                <a:latin typeface="Consolas"/>
              </a:rPr>
              <a:t>$resolver</a:t>
            </a:r>
            <a:r>
              <a:rPr sz="900">
                <a:solidFill>
                  <a:srgbClr val="2D2D2D"/>
                </a:solidFill>
                <a:latin typeface="Consolas"/>
              </a:rPr>
              <a:t>)</a:t>
            </a:r>
            <a:r>
              <a:rPr sz="900">
                <a:solidFill>
                  <a:srgbClr val="007020"/>
                </a:solidFill>
                <a:latin typeface="Consolas"/>
              </a:rPr>
              <a:t>:</a:t>
            </a:r>
            <a:r>
              <a:rPr sz="900">
                <a:solidFill>
                  <a:srgbClr val="2D2D2D"/>
                </a:solidFill>
                <a:latin typeface="Consolas"/>
              </a:rPr>
              <a:t> </a:t>
            </a:r>
            <a:r>
              <a:rPr sz="900">
                <a:solidFill>
                  <a:srgbClr val="902000"/>
                </a:solidFill>
                <a:latin typeface="Consolas"/>
              </a:rPr>
              <a:t>void</a:t>
            </a:r>
          </a:p>
          <a:p>
            <a:pPr>
              <a:spcBef>
                <a:spcPts val="0"/>
              </a:spcBef>
              <a:spcAft>
                <a:spcPts val="0"/>
              </a:spcAft>
            </a:pPr>
            <a:r>
              <a:rPr sz="900">
                <a:solidFill>
                  <a:srgbClr val="2D2D2D"/>
                </a:solidFill>
                <a:latin typeface="Consolas"/>
              </a:rPr>
              <a:t>{</a:t>
            </a:r>
          </a:p>
          <a:p>
            <a:pPr>
              <a:spcBef>
                <a:spcPts val="0"/>
              </a:spcBef>
              <a:spcAft>
                <a:spcPts val="0"/>
              </a:spcAft>
            </a:pPr>
            <a:r>
              <a:rPr sz="900">
                <a:solidFill>
                  <a:srgbClr val="2D2D2D"/>
                </a:solidFill>
                <a:latin typeface="Consolas"/>
              </a:rPr>
              <a:t>    </a:t>
            </a:r>
            <a:r>
              <a:rPr sz="900">
                <a:solidFill>
                  <a:srgbClr val="19177C"/>
                </a:solidFill>
                <a:latin typeface="Consolas"/>
              </a:rPr>
              <a:t>$resolver</a:t>
            </a:r>
            <a:r>
              <a:rPr sz="900">
                <a:solidFill>
                  <a:srgbClr val="2D2D2D"/>
                </a:solidFill>
                <a:latin typeface="Consolas"/>
              </a:rPr>
              <a:t>-&gt;setDefaults([</a:t>
            </a:r>
          </a:p>
          <a:p>
            <a:pPr>
              <a:spcBef>
                <a:spcPts val="0"/>
              </a:spcBef>
              <a:spcAft>
                <a:spcPts val="0"/>
              </a:spcAft>
            </a:pPr>
            <a:r>
              <a:rPr sz="900">
                <a:solidFill>
                  <a:srgbClr val="2D2D2D"/>
                </a:solidFill>
                <a:latin typeface="Consolas"/>
              </a:rPr>
              <a:t>        </a:t>
            </a:r>
            <a:r>
              <a:rPr sz="900">
                <a:solidFill>
                  <a:srgbClr val="4070A0"/>
                </a:solidFill>
                <a:latin typeface="Consolas"/>
              </a:rPr>
              <a:t>'data_class'</a:t>
            </a:r>
            <a:r>
              <a:rPr sz="900">
                <a:solidFill>
                  <a:srgbClr val="2D2D2D"/>
                </a:solidFill>
                <a:latin typeface="Consolas"/>
              </a:rPr>
              <a:t> =&gt; </a:t>
            </a:r>
            <a:r>
              <a:rPr sz="900">
                <a:solidFill>
                  <a:srgbClr val="4070A0"/>
                </a:solidFill>
                <a:latin typeface="Consolas"/>
              </a:rPr>
              <a:t>'Generated\Shared\Transfer\SupplierTransfer'</a:t>
            </a:r>
            <a:r>
              <a:rPr sz="900">
                <a:solidFill>
                  <a:srgbClr val="007020"/>
                </a:solidFill>
                <a:latin typeface="Consolas"/>
              </a:rPr>
              <a:t>,</a:t>
            </a:r>
          </a:p>
          <a:p>
            <a:pPr>
              <a:spcBef>
                <a:spcPts val="0"/>
              </a:spcBef>
              <a:spcAft>
                <a:spcPts val="0"/>
              </a:spcAft>
            </a:pPr>
            <a:r>
              <a:rPr sz="900">
                <a:solidFill>
                  <a:srgbClr val="2D2D2D"/>
                </a:solidFill>
                <a:latin typeface="Consolas"/>
              </a:rPr>
              <a:t>        </a:t>
            </a:r>
            <a:r>
              <a:rPr sz="900" b="1">
                <a:solidFill>
                  <a:srgbClr val="007020"/>
                </a:solidFill>
                <a:latin typeface="Consolas"/>
              </a:rPr>
              <a:t>static</a:t>
            </a:r>
            <a:r>
              <a:rPr sz="900">
                <a:solidFill>
                  <a:srgbClr val="2D2D2D"/>
                </a:solidFill>
                <a:latin typeface="Consolas"/>
              </a:rPr>
              <a:t>::</a:t>
            </a:r>
            <a:r>
              <a:rPr sz="900">
                <a:solidFill>
                  <a:srgbClr val="880000"/>
                </a:solidFill>
                <a:latin typeface="Consolas"/>
              </a:rPr>
              <a:t>FIELD_IS_ACTIVE</a:t>
            </a:r>
            <a:r>
              <a:rPr sz="900">
                <a:solidFill>
                  <a:srgbClr val="2D2D2D"/>
                </a:solidFill>
                <a:latin typeface="Consolas"/>
              </a:rPr>
              <a:t> =&gt; </a:t>
            </a:r>
            <a:r>
              <a:rPr sz="900" b="1">
                <a:solidFill>
                  <a:srgbClr val="007020"/>
                </a:solidFill>
                <a:latin typeface="Consolas"/>
              </a:rPr>
              <a:t>true</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19177C"/>
                </a:solidFill>
                <a:latin typeface="Consolas"/>
              </a:rPr>
              <a:t>$resolver</a:t>
            </a:r>
            <a:r>
              <a:rPr sz="900">
                <a:solidFill>
                  <a:srgbClr val="2D2D2D"/>
                </a:solidFill>
                <a:latin typeface="Consolas"/>
              </a:rPr>
              <a:t>-&gt;setAllowedTypes(</a:t>
            </a:r>
            <a:r>
              <a:rPr sz="900" b="1">
                <a:solidFill>
                  <a:srgbClr val="007020"/>
                </a:solidFill>
                <a:latin typeface="Consolas"/>
              </a:rPr>
              <a:t>static</a:t>
            </a:r>
            <a:r>
              <a:rPr sz="900">
                <a:solidFill>
                  <a:srgbClr val="2D2D2D"/>
                </a:solidFill>
                <a:latin typeface="Consolas"/>
              </a:rPr>
              <a:t>::</a:t>
            </a:r>
            <a:r>
              <a:rPr sz="900">
                <a:solidFill>
                  <a:srgbClr val="880000"/>
                </a:solidFill>
                <a:latin typeface="Consolas"/>
              </a:rPr>
              <a:t>FIELD_IS_ACTIVE</a:t>
            </a:r>
            <a:r>
              <a:rPr sz="900">
                <a:solidFill>
                  <a:srgbClr val="007020"/>
                </a:solidFill>
                <a:latin typeface="Consolas"/>
              </a:rPr>
              <a:t>,</a:t>
            </a:r>
            <a:r>
              <a:rPr sz="900">
                <a:solidFill>
                  <a:srgbClr val="2D2D2D"/>
                </a:solidFill>
                <a:latin typeface="Consolas"/>
              </a:rPr>
              <a:t> </a:t>
            </a:r>
            <a:r>
              <a:rPr sz="900">
                <a:solidFill>
                  <a:srgbClr val="4070A0"/>
                </a:solidFill>
                <a:latin typeface="Consolas"/>
              </a:rPr>
              <a:t>'bool'</a:t>
            </a:r>
            <a:r>
              <a:rPr sz="900">
                <a:solidFill>
                  <a:srgbClr val="2D2D2D"/>
                </a:solidFill>
                <a:latin typeface="Consolas"/>
              </a:rPr>
              <a:t>)</a:t>
            </a:r>
            <a:r>
              <a:rPr sz="900">
                <a:solidFill>
                  <a:srgbClr val="007020"/>
                </a:solidFill>
                <a:latin typeface="Consolas"/>
              </a:rPr>
              <a:t>;</a:t>
            </a:r>
          </a:p>
          <a:p>
            <a:pPr>
              <a:spcBef>
                <a:spcPts val="0"/>
              </a:spcBef>
              <a:spcAft>
                <a:spcPts val="0"/>
              </a:spcAft>
            </a:pPr>
            <a:r>
              <a:rPr sz="900">
                <a:solidFill>
                  <a:srgbClr val="2D2D2D"/>
                </a:solidFill>
                <a:latin typeface="Consolas"/>
              </a:rPr>
              <a:t>}</a:t>
            </a:r>
          </a:p>
          <a:p>
            <a:pPr>
              <a:spcAft>
                <a:spcPts val="800"/>
              </a:spcAft>
              <a:defRPr sz="1400" i="1">
                <a:solidFill>
                  <a:srgbClr val="888888"/>
                </a:solidFill>
              </a:defRPr>
            </a:pPr>
            <a:r>
              <a:t>❝ Form options: The data_class tells Symfony which object to hydrate with form data. Custom options like isActive let the controller pass dynamic defaults (e.g. the current status when editing).</a:t>
            </a:r>
          </a:p>
          <a:p>
            <a:pPr>
              <a:spcBef>
                <a:spcPts val="800"/>
              </a:spcBef>
              <a:spcAft>
                <a:spcPts val="400"/>
              </a:spcAft>
              <a:defRPr sz="1700" b="1">
                <a:solidFill>
                  <a:srgbClr val="1A1A1A"/>
                </a:solidFill>
              </a:defRPr>
            </a:pPr>
            <a:r>
              <a:t>3.2 Provide the Supplier Facade</a:t>
            </a:r>
          </a:p>
          <a:p>
            <a:pPr>
              <a:spcAft>
                <a:spcPts val="800"/>
              </a:spcAft>
              <a:defRPr sz="1600">
                <a:solidFill>
                  <a:srgbClr val="1A1A1A"/>
                </a:solidFill>
              </a:defRPr>
            </a:pPr>
            <a:r>
              <a:t>Coding time:</a:t>
            </a:r>
          </a:p>
          <a:p>
            <a:pPr>
              <a:spcAft>
                <a:spcPts val="800"/>
              </a:spcAft>
              <a:defRPr sz="1600">
                <a:solidFill>
                  <a:srgbClr val="1A1A1A"/>
                </a:solidFill>
              </a:defRPr>
            </a:pPr>
            <a:r>
              <a:t>Open src/SprykerAcademy/Zed/SupplierGui/SupplierGuiDependencyProvider.php :</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3: Create the Supplier Form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400"/>
              </a:spcAft>
              <a:defRPr sz="1500">
                <a:solidFill>
                  <a:srgbClr val="1A1A1A"/>
                </a:solidFill>
              </a:defRPr>
            </a:pPr>
            <a:r>
              <a:t>• Implement addSupplierFacade() — use $container-&gt;set() with the FACADE_SUPPLIER constant and the locator to retrieve the Supplier facade</a:t>
            </a:r>
          </a:p>
          <a:p>
            <a:pPr>
              <a:spcAft>
                <a:spcPts val="400"/>
              </a:spcAft>
              <a:defRPr sz="1500">
                <a:solidFill>
                  <a:srgbClr val="1A1A1A"/>
                </a:solidFill>
              </a:defRPr>
            </a:pPr>
            <a:r>
              <a:t>• Call it in provideCommunicationLayerDependencies()</a:t>
            </a:r>
          </a:p>
          <a:p>
            <a:pPr>
              <a:spcAft>
                <a:spcPts val="800"/>
              </a:spcAft>
              <a:defRPr sz="1600">
                <a:solidFill>
                  <a:srgbClr val="1A1A1A"/>
                </a:solidFill>
              </a:defRPr>
            </a:pPr>
            <a:r>
              <a:t>Then open src/SprykerAcademy/Zed/SupplierGui/Communication/SupplierGuiCommunicationFactory.php :</a:t>
            </a:r>
          </a:p>
          <a:p>
            <a:pPr>
              <a:spcAft>
                <a:spcPts val="400"/>
              </a:spcAft>
              <a:defRPr sz="1500">
                <a:solidFill>
                  <a:srgbClr val="1A1A1A"/>
                </a:solidFill>
              </a:defRPr>
            </a:pPr>
            <a:r>
              <a:t>• Implement getSupplierFacade() — retrieve using getProvidedDependency()</a:t>
            </a:r>
          </a:p>
          <a:p>
            <a:pPr>
              <a:spcAft>
                <a:spcPts val="800"/>
              </a:spcAft>
              <a:defRPr sz="1400" i="1">
                <a:solidFill>
                  <a:srgbClr val="888888"/>
                </a:solidFill>
              </a:defRPr>
            </a:pPr>
            <a:r>
              <a:t>❝ Locator pattern: $container-&gt;getLocator()-&gt;supplier()-&gt;facade() auto-resolves the Supplier module’s Facade.</a:t>
            </a:r>
          </a:p>
          <a:p>
            <a:pPr>
              <a:spcBef>
                <a:spcPts val="800"/>
              </a:spcBef>
              <a:spcAft>
                <a:spcPts val="400"/>
              </a:spcAft>
              <a:defRPr sz="1700" b="1">
                <a:solidFill>
                  <a:srgbClr val="1A1A1A"/>
                </a:solidFill>
              </a:defRPr>
            </a:pPr>
            <a:r>
              <a:t>3.3 Implement the CreateController</a:t>
            </a:r>
          </a:p>
          <a:p>
            <a:pPr>
              <a:spcAft>
                <a:spcPts val="800"/>
              </a:spcAft>
              <a:defRPr sz="1600">
                <a:solidFill>
                  <a:srgbClr val="1A1A1A"/>
                </a:solidFill>
              </a:defRPr>
            </a:pPr>
            <a:r>
              <a:t>Coding time: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3: Create the Supplier Form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Open src/SprykerAcademy/Zed/SupplierGui/Communication/Controller/CreateController.php . The indexAction() handles both GET (show form) and POST (process submission):</a:t>
            </a:r>
          </a:p>
          <a:p>
            <a:pPr>
              <a:spcAft>
                <a:spcPts val="400"/>
              </a:spcAft>
              <a:defRPr sz="1500">
                <a:solidFill>
                  <a:srgbClr val="1A1A1A"/>
                </a:solidFill>
              </a:defRPr>
            </a:pPr>
            <a:r>
              <a:t>• Create the form via the factory, passing a new SupplierTransfer and default options</a:t>
            </a:r>
          </a:p>
          <a:p>
            <a:pPr>
              <a:spcAft>
                <a:spcPts val="400"/>
              </a:spcAft>
              <a:defRPr sz="1500">
                <a:solidFill>
                  <a:srgbClr val="1A1A1A"/>
                </a:solidFill>
              </a:defRPr>
            </a:pPr>
            <a:r>
              <a:t>• Handle the request with $form-&gt;handleRequest($request)</a:t>
            </a:r>
          </a:p>
          <a:p>
            <a:pPr>
              <a:spcAft>
                <a:spcPts val="400"/>
              </a:spcAft>
              <a:defRPr sz="1500">
                <a:solidFill>
                  <a:srgbClr val="1A1A1A"/>
                </a:solidFill>
              </a:defRPr>
            </a:pPr>
            <a:r>
              <a:t>• If submitted and valid, get the transfer from $form-&gt;getData() , set the status from the checkbox value, persist via the Facade, and redirect to the overview</a:t>
            </a:r>
          </a:p>
          <a:p>
            <a:pPr>
              <a:spcAft>
                <a:spcPts val="400"/>
              </a:spcAft>
              <a:defRPr sz="1500">
                <a:solidFill>
                  <a:srgbClr val="1A1A1A"/>
                </a:solidFill>
              </a:defRPr>
            </a:pPr>
            <a:r>
              <a:t>• If not submitted or invalid, return a viewResponse() with the form view</a:t>
            </a:r>
          </a:p>
          <a:p>
            <a:pPr>
              <a:spcAft>
                <a:spcPts val="800"/>
              </a:spcAft>
              <a:defRPr sz="1400" i="1">
                <a:solidFill>
                  <a:srgbClr val="888888"/>
                </a:solidFill>
              </a:defRPr>
            </a:pPr>
            <a:r>
              <a:t>❝ Duplicate name handling: Before creating, consider checking if a supplier with the same name already exists. You can add a form error with $form-&gt;get('name')-&gt;addError(new FormError('message')) .</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3: Create the Supplier Form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400" i="1">
                <a:solidFill>
                  <a:srgbClr val="888888"/>
                </a:solidFill>
              </a:defRPr>
            </a:pPr>
            <a:r>
              <a:t>❝ Status conversion: The checkbox gives a boolean, but the database expects an integer. Convert in the controller: $supplierTransfer-&gt;setStatus($isActive ? 1 : 0) .</a:t>
            </a:r>
          </a:p>
          <a:p>
            <a:pPr>
              <a:spcAft>
                <a:spcPts val="800"/>
              </a:spcAft>
              <a:defRPr sz="1400" i="1">
                <a:solidFill>
                  <a:srgbClr val="888888"/>
                </a:solidFill>
              </a:defRPr>
            </a:pPr>
            <a:r>
              <a:t>❝ Exception handling: Wrap the Facade createSupplier() call in a try/catch (Throwable) block. Database operations can fail (e.g. duplicate entries, constraint violations). On failure, use $this-&gt;addErrorMessage() to show the error on the overview page, then redirect. The error message constants are already provided in the skeleton ( MESSAGE_SUPPLIER_CREATE_FAILED ). Spryker’s AbstractController flash messages ( addErrorMessage() , addSuccessMessage() ) persist through redirects, so errors will appear on the index page after redirect.</a:t>
            </a:r>
          </a:p>
          <a:p>
            <a:pPr>
              <a:spcBef>
                <a:spcPts val="800"/>
              </a:spcBef>
              <a:spcAft>
                <a:spcPts val="400"/>
              </a:spcAft>
              <a:defRPr sz="1700" b="1">
                <a:solidFill>
                  <a:srgbClr val="1A1A1A"/>
                </a:solidFill>
              </a:defRPr>
            </a:pPr>
            <a:r>
              <a:t>3.4 Implement the EditController</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3: Create the Supplier Form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Coding time:</a:t>
            </a:r>
          </a:p>
          <a:p>
            <a:pPr>
              <a:spcAft>
                <a:spcPts val="800"/>
              </a:spcAft>
              <a:defRPr sz="1600">
                <a:solidFill>
                  <a:srgbClr val="1A1A1A"/>
                </a:solidFill>
              </a:defRPr>
            </a:pPr>
            <a:r>
              <a:t>Open src/SprykerAcademy/Zed/SupplierGui/Communication/Controller/EditController.php :</a:t>
            </a:r>
          </a:p>
          <a:p>
            <a:pPr>
              <a:spcAft>
                <a:spcPts val="400"/>
              </a:spcAft>
              <a:defRPr sz="1500">
                <a:solidFill>
                  <a:srgbClr val="1A1A1A"/>
                </a:solidFill>
              </a:defRPr>
            </a:pPr>
            <a:r>
              <a:t>• Extract the supplier ID from the request using $this-&gt;castId()</a:t>
            </a:r>
          </a:p>
          <a:p>
            <a:pPr>
              <a:spcAft>
                <a:spcPts val="400"/>
              </a:spcAft>
              <a:defRPr sz="1500">
                <a:solidFill>
                  <a:srgbClr val="1A1A1A"/>
                </a:solidFill>
              </a:defRPr>
            </a:pPr>
            <a:r>
              <a:t>• Fetch the existing supplier via the Facade’s findSupplierById()</a:t>
            </a:r>
          </a:p>
          <a:p>
            <a:pPr>
              <a:spcAft>
                <a:spcPts val="400"/>
              </a:spcAft>
              <a:defRPr sz="1500">
                <a:solidFill>
                  <a:srgbClr val="1A1A1A"/>
                </a:solidFill>
              </a:defRPr>
            </a:pPr>
            <a:r>
              <a:t>• Handle the “not found” case with an error message and redirect</a:t>
            </a:r>
          </a:p>
          <a:p>
            <a:pPr>
              <a:spcAft>
                <a:spcPts val="400"/>
              </a:spcAft>
              <a:defRPr sz="1500">
                <a:solidFill>
                  <a:srgbClr val="1A1A1A"/>
                </a:solidFill>
              </a:defRPr>
            </a:pPr>
            <a:r>
              <a:t>• Create the form pre-filled with the fetched SupplierTransfer , passing the current status as the isActive option</a:t>
            </a:r>
          </a:p>
          <a:p>
            <a:pPr>
              <a:spcAft>
                <a:spcPts val="400"/>
              </a:spcAft>
              <a:defRPr sz="1500">
                <a:solidFill>
                  <a:srgbClr val="1A1A1A"/>
                </a:solidFill>
              </a:defRPr>
            </a:pPr>
            <a:r>
              <a:t>• On valid submission, update via the Facade and redirect</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3: Create the Supplier Form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400" i="1">
                <a:solidFill>
                  <a:srgbClr val="888888"/>
                </a:solidFill>
              </a:defRPr>
            </a:pPr>
            <a:r>
              <a:t>❝ Exception handling: Same pattern as Create — wrap updateSupplier() in try/catch (Throwable) . On failure, use $this-&gt;addErrorMessage(static::MESSAGE_SUPPLIER_UPDATE_FAILED) and redirect to the overview. The error will be displayed as a flash message on the index page.</a:t>
            </a:r>
          </a:p>
          <a:p>
            <a:pPr>
              <a:spcBef>
                <a:spcPts val="800"/>
              </a:spcBef>
              <a:spcAft>
                <a:spcPts val="400"/>
              </a:spcAft>
              <a:defRPr sz="1700" b="1">
                <a:solidFill>
                  <a:srgbClr val="1A1A1A"/>
                </a:solidFill>
              </a:defRPr>
            </a:pPr>
            <a:r>
              <a:t>3.5 Implement the DeleteController</a:t>
            </a:r>
          </a:p>
          <a:p>
            <a:pPr>
              <a:spcAft>
                <a:spcPts val="800"/>
              </a:spcAft>
              <a:defRPr sz="1600">
                <a:solidFill>
                  <a:srgbClr val="1A1A1A"/>
                </a:solidFill>
              </a:defRPr>
            </a:pPr>
            <a:r>
              <a:t>Coding time:</a:t>
            </a:r>
          </a:p>
          <a:p>
            <a:pPr>
              <a:spcAft>
                <a:spcPts val="800"/>
              </a:spcAft>
              <a:defRPr sz="1600">
                <a:solidFill>
                  <a:srgbClr val="1A1A1A"/>
                </a:solidFill>
              </a:defRPr>
            </a:pPr>
            <a:r>
              <a:t>Open src/SprykerAcademy/Zed/SupplierGui/Communication/Controller/DeleteController.php :</a:t>
            </a:r>
          </a:p>
          <a:p>
            <a:pPr>
              <a:spcAft>
                <a:spcPts val="400"/>
              </a:spcAft>
              <a:defRPr sz="1500">
                <a:solidFill>
                  <a:srgbClr val="1A1A1A"/>
                </a:solidFill>
              </a:defRPr>
            </a:pPr>
            <a:r>
              <a:t>• Extract and validate the supplier ID using $this-&gt;castId()</a:t>
            </a:r>
          </a:p>
          <a:p>
            <a:pPr>
              <a:spcAft>
                <a:spcPts val="400"/>
              </a:spcAft>
              <a:defRPr sz="1500">
                <a:solidFill>
                  <a:srgbClr val="1A1A1A"/>
                </a:solidFill>
              </a:defRPr>
            </a:pPr>
            <a:r>
              <a:t>• Call the Facade’s deleteSupplier() passing a SupplierTransfer with the ID set</a:t>
            </a:r>
          </a:p>
          <a:p>
            <a:pPr>
              <a:spcAft>
                <a:spcPts val="400"/>
              </a:spcAft>
              <a:defRPr sz="1500">
                <a:solidFill>
                  <a:srgbClr val="1A1A1A"/>
                </a:solidFill>
              </a:defRPr>
            </a:pPr>
            <a:r>
              <a:t>• Add a success message and redirect to the overview</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3: Create the Supplier Form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400" i="1">
                <a:solidFill>
                  <a:srgbClr val="888888"/>
                </a:solidFill>
              </a:defRPr>
            </a:pPr>
            <a:r>
              <a:t>❝ Exception handling: Wrap deleteSupplier() in try/catch (Throwable) — deletion can fail due to foreign key constraints (e.g. if the supplier is referenced by other tables). On failure, use $this-&gt;addErrorMessage(static::MESSAGE_SUPPLIER_DELETE_FAILED) and redirect to the overview.</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4: Navigation</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The menu entry is provided: src/SprykerAcademy/Zed/SupplierGui/Communication/navigation.xml registers “Suppliers” with the sub-pages Overview and Create, and Edit and Delete as hidden pages (they only show up in the breadcrumb). Spryker merges every module’s Communication/navigation.xml into the Back Office menu - the same mechanism the core modules use.</a:t>
            </a:r>
          </a:p>
          <a:p>
            <a:pPr>
              <a:spcAft>
                <a:spcPts val="800"/>
              </a:spcAft>
              <a:defRPr sz="1600">
                <a:solidFill>
                  <a:srgbClr val="1A1A1A"/>
                </a:solidFill>
              </a:defRPr>
            </a:pPr>
            <a:r>
              <a:t>After you changed a navigation.xml , rebuild the menu:</a:t>
            </a:r>
          </a:p>
          <a:p>
            <a:pPr>
              <a:spcBef>
                <a:spcPts val="0"/>
              </a:spcBef>
              <a:spcAft>
                <a:spcPts val="0"/>
              </a:spcAft>
            </a:pPr>
            <a:r>
              <a:rPr sz="900">
                <a:solidFill>
                  <a:srgbClr val="2D2D2D"/>
                </a:solidFill>
                <a:latin typeface="Consolas"/>
              </a:rPr>
              <a:t>docker/sdk</a:t>
            </a:r>
            <a:r>
              <a:rPr sz="900">
                <a:solidFill>
                  <a:srgbClr val="2D2D2D"/>
                </a:solidFill>
                <a:latin typeface="Consolas"/>
              </a:rPr>
              <a:t> console navigation:build-cache</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Key Concepts Summary</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1200"/>
              </a:spcBef>
              <a:spcAft>
                <a:spcPts val="600"/>
              </a:spcAft>
              <a:defRPr sz="2000" b="1">
                <a:solidFill>
                  <a:srgbClr val="1A1A1A"/>
                </a:solidFill>
              </a:defRPr>
            </a:pPr>
            <a:r>
              <a:t>Back Office Table Pattern</a:t>
            </a:r>
          </a:p>
          <a:p>
            <a:pPr>
              <a:spcBef>
                <a:spcPts val="0"/>
              </a:spcBef>
              <a:spcAft>
                <a:spcPts val="0"/>
              </a:spcAft>
            </a:pPr>
            <a:r>
              <a:rPr sz="900">
                <a:solidFill>
                  <a:srgbClr val="2D2D2D"/>
                </a:solidFill>
                <a:latin typeface="Consolas"/>
              </a:rPr>
              <a:t>IndexController::indexAction()  →  render() → HTML page with table container</a:t>
            </a:r>
          </a:p>
          <a:p>
            <a:pPr>
              <a:spcBef>
                <a:spcPts val="0"/>
              </a:spcBef>
              <a:spcAft>
                <a:spcPts val="0"/>
              </a:spcAft>
            </a:pPr>
            <a:r>
              <a:rPr sz="900">
                <a:solidFill>
                  <a:srgbClr val="2D2D2D"/>
                </a:solidFill>
                <a:latin typeface="Consolas"/>
              </a:rPr>
              <a:t>IndexController::tableAction()  →  fetchData() → JSON data via AJAX</a:t>
            </a:r>
          </a:p>
          <a:p>
            <a:pPr>
              <a:spcAft>
                <a:spcPts val="800"/>
              </a:spcAft>
              <a:defRPr sz="1600">
                <a:solidFill>
                  <a:srgbClr val="1A1A1A"/>
                </a:solidFill>
              </a:defRPr>
            </a:pPr>
            <a:r>
              <a:t>The AbstractTable handles pagination, sorting, and search automatically through the Propel query.</a:t>
            </a:r>
          </a:p>
          <a:p>
            <a:pPr>
              <a:spcBef>
                <a:spcPts val="1200"/>
              </a:spcBef>
              <a:spcAft>
                <a:spcPts val="600"/>
              </a:spcAft>
              <a:defRPr sz="2000" b="1">
                <a:solidFill>
                  <a:srgbClr val="1A1A1A"/>
                </a:solidFill>
              </a:defRPr>
            </a:pPr>
            <a:r>
              <a:t>Form Lifecycle</a:t>
            </a:r>
          </a:p>
          <a:p>
            <a:pPr>
              <a:spcBef>
                <a:spcPts val="0"/>
              </a:spcBef>
              <a:spcAft>
                <a:spcPts val="0"/>
              </a:spcAft>
            </a:pPr>
            <a:r>
              <a:rPr sz="900">
                <a:solidFill>
                  <a:srgbClr val="2D2D2D"/>
                </a:solidFill>
                <a:latin typeface="Consolas"/>
              </a:rPr>
              <a:t>GET  → Create form → Pass to viewResponse() → Twig renders form</a:t>
            </a:r>
          </a:p>
          <a:p>
            <a:pPr>
              <a:spcBef>
                <a:spcPts val="0"/>
              </a:spcBef>
              <a:spcAft>
                <a:spcPts val="0"/>
              </a:spcAft>
            </a:pPr>
            <a:r>
              <a:rPr sz="900">
                <a:solidFill>
                  <a:srgbClr val="2D2D2D"/>
                </a:solidFill>
                <a:latin typeface="Consolas"/>
              </a:rPr>
              <a:t>POST → Create form → handleRequest() → isSubmitted() + isValid() → getData() → Facade → redirect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DependencyProvider → Factory → Controller Chain</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DependencyProvider: $container-&gt;set(FACADE_SUPPLIER, locator)</a:t>
            </a:r>
          </a:p>
          <a:p>
            <a:pPr>
              <a:spcBef>
                <a:spcPts val="0"/>
              </a:spcBef>
              <a:spcAft>
                <a:spcPts val="0"/>
              </a:spcAft>
            </a:pPr>
            <a:r>
              <a:rPr sz="900">
                <a:solidFill>
                  <a:srgbClr val="2D2D2D"/>
                </a:solidFill>
                <a:latin typeface="Consolas"/>
              </a:rPr>
              <a:t>                    $container-&gt;factory(fn() =&gt; PyzSupplierQuery::create())</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Factory: getSupplierFacade() → getProvidedDependency(FACADE_SUPPLIER)</a:t>
            </a:r>
          </a:p>
          <a:p>
            <a:pPr>
              <a:spcBef>
                <a:spcPts val="0"/>
              </a:spcBef>
              <a:spcAft>
                <a:spcPts val="0"/>
              </a:spcAft>
            </a:pPr>
            <a:r>
              <a:rPr sz="900">
                <a:solidFill>
                  <a:srgbClr val="2D2D2D"/>
                </a:solidFill>
                <a:latin typeface="Consolas"/>
              </a:rPr>
              <a:t>         createSupplierTable() → new SupplierTable(getSupplierQuery())</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Controller: getFactory()-&gt;createSupplierTable()</a:t>
            </a:r>
          </a:p>
          <a:p>
            <a:pPr>
              <a:spcBef>
                <a:spcPts val="0"/>
              </a:spcBef>
              <a:spcAft>
                <a:spcPts val="0"/>
              </a:spcAft>
            </a:pPr>
            <a:r>
              <a:rPr sz="900">
                <a:solidFill>
                  <a:srgbClr val="2D2D2D"/>
                </a:solidFill>
                <a:latin typeface="Consolas"/>
              </a:rPr>
              <a:t>            getFactory()-&gt;getSupplierFacade()-&gt;createSupplier(...)</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Testing</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Visit the Back Office: 1. http://backoffice.eu.spryker.local/supplier-gui — Table with suppliers 2. Click “Create Supplier” — Fill the form and submit 3. Click “Edit” on a row — Modify and save 4. Click “Delete” on a row — Confirm removal</a:t>
            </a:r>
          </a:p>
          <a:p>
            <a:pPr>
              <a:spcAft>
                <a:spcPts val="800"/>
              </a:spcAft>
              <a:defRPr sz="1600">
                <a:solidFill>
                  <a:srgbClr val="1A1A1A"/>
                </a:solidFill>
              </a:defRPr>
            </a:pPr>
            <a:r>
              <a:t>Run the automated tests:</a:t>
            </a:r>
          </a:p>
          <a:p>
            <a:pPr>
              <a:spcBef>
                <a:spcPts val="0"/>
              </a:spcBef>
              <a:spcAft>
                <a:spcPts val="0"/>
              </a:spcAft>
            </a:pPr>
            <a:r>
              <a:rPr sz="900">
                <a:solidFill>
                  <a:srgbClr val="2D2D2D"/>
                </a:solidFill>
                <a:latin typeface="Consolas"/>
              </a:rPr>
              <a:t>docker/sdk</a:t>
            </a:r>
            <a:r>
              <a:rPr sz="900">
                <a:solidFill>
                  <a:srgbClr val="2D2D2D"/>
                </a:solidFill>
                <a:latin typeface="Consolas"/>
              </a:rPr>
              <a:t> cli vendor/bin/codecept run </a:t>
            </a:r>
            <a:r>
              <a:rPr sz="900">
                <a:solidFill>
                  <a:srgbClr val="2D2D2D"/>
                </a:solidFill>
                <a:latin typeface="Consolas"/>
              </a:rPr>
              <a:t>-c</a:t>
            </a:r>
            <a:r>
              <a:rPr sz="900">
                <a:solidFill>
                  <a:srgbClr val="2D2D2D"/>
                </a:solidFill>
                <a:latin typeface="Consolas"/>
              </a:rPr>
              <a:t> tests/SprykerAcademyTest/Zed/Supplier/ BackOffice</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Solution</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./exercises/load.sh</a:t>
            </a:r>
            <a:r>
              <a:rPr sz="900">
                <a:solidFill>
                  <a:srgbClr val="2D2D2D"/>
                </a:solidFill>
                <a:latin typeface="Consolas"/>
              </a:rPr>
              <a:t> supplier intermediate/back-office/complete </a:t>
            </a:r>
            <a:r>
              <a:rPr sz="900">
                <a:solidFill>
                  <a:srgbClr val="2D2D2D"/>
                </a:solidFill>
                <a:latin typeface="Consolas"/>
              </a:rPr>
              <a:t>--run</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spAutoFit/>
          </a:bodyPr>
          <a:lstStyle/>
          <a:p>
            <a:pPr algn="ctr">
              <a:defRPr sz="3600" b="1">
                <a:solidFill>
                  <a:srgbClr val="00A89B"/>
                </a:solidFill>
              </a:defRPr>
            </a:pPr>
            <a:r>
              <a:t>Exercise 9b: Configure AI Commerce in the Back Office</a:t>
            </a:r>
          </a:p>
        </p:txBody>
      </p:sp>
      <p:sp>
        <p:nvSpPr>
          <p:cNvPr id="3" name="Rectangle 2"/>
          <p:cNvSpPr/>
          <p:nvPr/>
        </p:nvSpPr>
        <p:spPr>
          <a:xfrm>
            <a:off x="3657600" y="2286000"/>
            <a:ext cx="4876495" cy="381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Exercise 9b: Configure AI Commerce in the Back Office</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In Exercise 9 you built Back Office pages by hand. Spryker also generates Back Office pages from YAML: the Configuration module turns setting schemas into the Configuration menu, stores the values in the database and hands them to the code at runtime. The AI Commerce feature of the demo shop is configured entirely this way. In this exercise you connect the shop to OpenAI, try the Smart PIM features on a product, and add a setting of your own.</a:t>
            </a:r>
          </a:p>
          <a:p>
            <a:pPr>
              <a:spcAft>
                <a:spcPts val="800"/>
              </a:spcAft>
              <a:defRPr sz="1600">
                <a:solidFill>
                  <a:srgbClr val="1A1A1A"/>
                </a:solidFill>
              </a:defRPr>
            </a:pPr>
            <a:r>
              <a:t>You will learn how to:</a:t>
            </a:r>
          </a:p>
          <a:p>
            <a:pPr>
              <a:spcAft>
                <a:spcPts val="400"/>
              </a:spcAft>
              <a:defRPr sz="1500">
                <a:solidFill>
                  <a:srgbClr val="1A1A1A"/>
                </a:solidFill>
              </a:defRPr>
            </a:pPr>
            <a:r>
              <a:t>• Read a configuration schema ( *.configuration.yml ): features, tabs, groups, settings, scopes, secrets</a:t>
            </a:r>
          </a:p>
          <a:p>
            <a:pPr>
              <a:spcAft>
                <a:spcPts val="400"/>
              </a:spcAft>
              <a:defRPr sz="1500">
                <a:solidFill>
                  <a:srgbClr val="1A1A1A"/>
                </a:solidFill>
              </a:defRPr>
            </a:pPr>
            <a:r>
              <a:t>• Publish schemas with configuration:sync and edit values in Back Office &gt; Configuration</a:t>
            </a:r>
          </a:p>
          <a:p>
            <a:pPr>
              <a:spcAft>
                <a:spcPts val="400"/>
              </a:spcAft>
              <a:defRPr sz="1500">
                <a:solidFill>
                  <a:srgbClr val="1A1A1A"/>
                </a:solidFill>
              </a:defRPr>
            </a:pPr>
            <a:r>
              <a:t>• Understand the AI configurations in config/Shared/config_ai.php and the configuration:: references</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Exercise 9b: Configure AI Commerce in the Back Office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400"/>
              </a:spcAft>
              <a:defRPr sz="1500">
                <a:solidFill>
                  <a:srgbClr val="1A1A1A"/>
                </a:solidFill>
              </a:defRPr>
            </a:pPr>
            <a:r>
              <a:t>• Use the Smart PIM features of AI Commerce from the product form</a:t>
            </a:r>
          </a:p>
          <a:p>
            <a:pPr>
              <a:spcAft>
                <a:spcPts val="400"/>
              </a:spcAft>
              <a:defRPr sz="1500">
                <a:solidFill>
                  <a:srgbClr val="1A1A1A"/>
                </a:solidFill>
              </a:defRPr>
            </a:pPr>
            <a:r>
              <a:t>• Read a configuration value from code</a:t>
            </a:r>
          </a:p>
          <a:p>
            <a:pPr>
              <a:spcAft>
                <a:spcPts val="800"/>
              </a:spcAft>
              <a:defRPr sz="1600">
                <a:solidFill>
                  <a:srgbClr val="1A1A1A"/>
                </a:solidFill>
              </a:defRPr>
            </a:pPr>
            <a:r>
              <a:t>Official documentation:</a:t>
            </a:r>
          </a:p>
          <a:p>
            <a:pPr>
              <a:spcAft>
                <a:spcPts val="400"/>
              </a:spcAft>
              <a:defRPr sz="1500">
                <a:solidFill>
                  <a:srgbClr val="1A1A1A"/>
                </a:solidFill>
              </a:defRPr>
            </a:pPr>
            <a:r>
              <a:t>• AI Foundation module</a:t>
            </a:r>
          </a:p>
          <a:p>
            <a:pPr>
              <a:spcAft>
                <a:spcPts val="400"/>
              </a:spcAft>
              <a:defRPr sz="1500">
                <a:solidFill>
                  <a:srgbClr val="1A1A1A"/>
                </a:solidFill>
              </a:defRPr>
            </a:pPr>
            <a:r>
              <a:t>• Configuration module</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Prerequisites</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400"/>
              </a:spcAft>
              <a:defRPr sz="1500">
                <a:solidFill>
                  <a:srgbClr val="1A1A1A"/>
                </a:solidFill>
              </a:defRPr>
            </a:pPr>
            <a:r>
              <a:t>• Exercise 9 completed.</a:t>
            </a:r>
          </a:p>
          <a:p>
            <a:pPr>
              <a:spcAft>
                <a:spcPts val="400"/>
              </a:spcAft>
              <a:defRPr sz="1500">
                <a:solidFill>
                  <a:srgbClr val="1A1A1A"/>
                </a:solidFill>
              </a:defRPr>
            </a:pPr>
            <a:r>
              <a:t>• An OpenAI API token. The instructor provides one per participant. Every call to OpenAI costs money, so use the small model named below.</a:t>
            </a:r>
          </a:p>
          <a:p>
            <a:pPr>
              <a:spcAft>
                <a:spcPts val="800"/>
              </a:spcAft>
              <a:defRPr sz="1600">
                <a:solidFill>
                  <a:srgbClr val="1A1A1A"/>
                </a:solidFill>
              </a:defRPr>
            </a:pPr>
            <a:r>
              <a:t>No exercise branch is needed. Everything happens in the demo shop.</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Background: Three Files, One Menu</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100"/>
              </a:spcAft>
              <a:defRPr sz="1000">
                <a:solidFill>
                  <a:srgbClr val="1A1A1A"/>
                </a:solidFill>
                <a:latin typeface="Consolas"/>
              </a:defRPr>
            </a:pPr>
            <a:r>
              <a:t>File                                              Owner    What it is                                                                                                                                                                      </a:t>
            </a:r>
          </a:p>
          <a:p>
            <a:pPr>
              <a:spcAft>
                <a:spcPts val="100"/>
              </a:spcAft>
              <a:defRPr sz="1000">
                <a:solidFill>
                  <a:srgbClr val="1A1A1A"/>
                </a:solidFill>
                <a:latin typeface="Consolas"/>
              </a:defRPr>
            </a:pPr>
            <a:r>
              <a:t>------------------------------------------------  -------  --------------------------------------------------------------------------------------------------------------------------------------------------------------------------------</a:t>
            </a:r>
          </a:p>
          <a:p>
            <a:pPr>
              <a:spcAft>
                <a:spcPts val="100"/>
              </a:spcAft>
              <a:defRPr sz="1000">
                <a:solidFill>
                  <a:srgbClr val="1A1A1A"/>
                </a:solidFill>
                <a:latin typeface="Consolas"/>
              </a:defRPr>
            </a:pPr>
            <a:r>
              <a:t>data/configuration/ai_vendor.configuration.yml    project  Schema of Configuration &gt; AI Vendor : the API tokens of OpenAI, Anthropic and AWS Bedrock. Tokens are secret: true , so they are encrypted in the database and never shown again</a:t>
            </a:r>
          </a:p>
          <a:p>
            <a:pPr>
              <a:spcAft>
                <a:spcPts val="100"/>
              </a:spcAft>
              <a:defRPr sz="1000">
                <a:solidFill>
                  <a:srgbClr val="1A1A1A"/>
                </a:solidFill>
                <a:latin typeface="Consolas"/>
              </a:defRPr>
            </a:pPr>
            <a:r>
              <a:t>data/configuration/ai_commerce.configuration.yml  project  Schema of Configuration &gt; AI Commerce : which AI configuration and which model the Smart PIM features and the Back Office Assistant use                                         </a:t>
            </a:r>
          </a:p>
          <a:p>
            <a:pPr>
              <a:spcAft>
                <a:spcPts val="100"/>
              </a:spcAft>
              <a:defRPr sz="1000">
                <a:solidFill>
                  <a:srgbClr val="1A1A1A"/>
                </a:solidFill>
                <a:latin typeface="Consolas"/>
              </a:defRPr>
            </a:pPr>
            <a:r>
              <a:t>config/Shared/config_ai.php                       project  The AI configurations of AiFoundation: named entries with provider_name , provider_config ( key , model ) and optionally system_prompt</a:t>
            </a:r>
          </a:p>
          <a:p>
            <a:pPr>
              <a:spcAft>
                <a:spcPts val="800"/>
              </a:spcAft>
              <a:defRPr sz="1600">
                <a:solidFill>
                  <a:srgbClr val="1A1A1A"/>
                </a:solidFill>
              </a:defRPr>
            </a:pPr>
            <a:r>
              <a:t>A schema is a tree feature &gt; tab &gt; group &gt; setting . A setting has a type ( string , boolean , radio , color , regex , ...), a default_value , scopes ( global or per store) and secret . The key of a setting is the path through the tree with colons, for example ai_vendor:openai:general:api_token .</a:t>
            </a:r>
          </a:p>
          <a:p>
            <a:pPr>
              <a:spcAft>
                <a:spcPts val="800"/>
              </a:spcAft>
              <a:defRPr sz="1600">
                <a:solidFill>
                  <a:srgbClr val="1A1A1A"/>
                </a:solidFill>
              </a:defRPr>
            </a:pPr>
            <a:r>
              <a:t>docker/sdk console configuration:sync reads every *.configuration.yml of the project and of the vendor modules, merges them and writes the schema to the database. The Back Office renders the menu from that schema. Values are edited in the Back Office, without a deployment.</a:t>
            </a:r>
          </a:p>
          <a:p>
            <a:pPr>
              <a:spcAft>
                <a:spcPts val="800"/>
              </a:spcAft>
              <a:defRPr sz="1600">
                <a:solidFill>
                  <a:srgbClr val="1A1A1A"/>
                </a:solidFill>
              </a:defRPr>
            </a:pPr>
            <a:r>
              <a:t>The AI configurations connect the two worlds. Look at config/Shared/config_ai.php :</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Background: Three Files, One Menu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880000"/>
                </a:solidFill>
                <a:latin typeface="Consolas"/>
              </a:rPr>
              <a:t>A</a:t>
            </a:r>
            <a:r>
              <a:rPr sz="900">
                <a:solidFill>
                  <a:srgbClr val="2D2D2D"/>
                </a:solidFill>
                <a:latin typeface="Consolas"/>
              </a:rPr>
              <a:t>iCommerceConstants::</a:t>
            </a:r>
            <a:r>
              <a:rPr sz="900">
                <a:solidFill>
                  <a:srgbClr val="880000"/>
                </a:solidFill>
                <a:latin typeface="Consolas"/>
              </a:rPr>
              <a:t>AI_CONFIGURATION_SMART_PIM_OPENAI</a:t>
            </a:r>
            <a:r>
              <a:rPr sz="900">
                <a:solidFill>
                  <a:srgbClr val="2D2D2D"/>
                </a:solidFill>
                <a:latin typeface="Consolas"/>
              </a:rPr>
              <a:t> =&gt; [</a:t>
            </a:r>
          </a:p>
          <a:p>
            <a:pPr>
              <a:spcBef>
                <a:spcPts val="0"/>
              </a:spcBef>
              <a:spcAft>
                <a:spcPts val="0"/>
              </a:spcAft>
            </a:pPr>
            <a:r>
              <a:rPr sz="900">
                <a:solidFill>
                  <a:srgbClr val="2D2D2D"/>
                </a:solidFill>
                <a:latin typeface="Consolas"/>
              </a:rPr>
              <a:t>    </a:t>
            </a:r>
            <a:r>
              <a:rPr sz="900">
                <a:solidFill>
                  <a:srgbClr val="4070A0"/>
                </a:solidFill>
                <a:latin typeface="Consolas"/>
              </a:rPr>
              <a:t>'provider_name'</a:t>
            </a:r>
            <a:r>
              <a:rPr sz="900">
                <a:solidFill>
                  <a:srgbClr val="2D2D2D"/>
                </a:solidFill>
                <a:latin typeface="Consolas"/>
              </a:rPr>
              <a:t> =&gt; </a:t>
            </a:r>
            <a:r>
              <a:rPr sz="900">
                <a:solidFill>
                  <a:srgbClr val="880000"/>
                </a:solidFill>
                <a:latin typeface="Consolas"/>
              </a:rPr>
              <a:t>A</a:t>
            </a:r>
            <a:r>
              <a:rPr sz="900">
                <a:solidFill>
                  <a:srgbClr val="2D2D2D"/>
                </a:solidFill>
                <a:latin typeface="Consolas"/>
              </a:rPr>
              <a:t>iFoundationConstants::</a:t>
            </a:r>
            <a:r>
              <a:rPr sz="900">
                <a:solidFill>
                  <a:srgbClr val="880000"/>
                </a:solidFill>
                <a:latin typeface="Consolas"/>
              </a:rPr>
              <a:t>PROVIDER_OPENAI</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4070A0"/>
                </a:solidFill>
                <a:latin typeface="Consolas"/>
              </a:rPr>
              <a:t>'provider_config'</a:t>
            </a:r>
            <a:r>
              <a:rPr sz="900">
                <a:solidFill>
                  <a:srgbClr val="2D2D2D"/>
                </a:solidFill>
                <a:latin typeface="Consolas"/>
              </a:rPr>
              <a:t> =&gt; [</a:t>
            </a:r>
          </a:p>
          <a:p>
            <a:pPr>
              <a:spcBef>
                <a:spcPts val="0"/>
              </a:spcBef>
              <a:spcAft>
                <a:spcPts val="0"/>
              </a:spcAft>
            </a:pPr>
            <a:r>
              <a:rPr sz="900">
                <a:solidFill>
                  <a:srgbClr val="2D2D2D"/>
                </a:solidFill>
                <a:latin typeface="Consolas"/>
              </a:rPr>
              <a:t>        </a:t>
            </a:r>
            <a:r>
              <a:rPr sz="900">
                <a:solidFill>
                  <a:srgbClr val="4070A0"/>
                </a:solidFill>
                <a:latin typeface="Consolas"/>
              </a:rPr>
              <a:t>'key'</a:t>
            </a:r>
            <a:r>
              <a:rPr sz="900">
                <a:solidFill>
                  <a:srgbClr val="2D2D2D"/>
                </a:solidFill>
                <a:latin typeface="Consolas"/>
              </a:rPr>
              <a:t> =&gt; </a:t>
            </a:r>
            <a:r>
              <a:rPr sz="900">
                <a:solidFill>
                  <a:srgbClr val="880000"/>
                </a:solidFill>
                <a:latin typeface="Consolas"/>
              </a:rPr>
              <a:t>A</a:t>
            </a:r>
            <a:r>
              <a:rPr sz="900">
                <a:solidFill>
                  <a:srgbClr val="2D2D2D"/>
                </a:solidFill>
                <a:latin typeface="Consolas"/>
              </a:rPr>
              <a:t>iFoundationConstants::</a:t>
            </a:r>
            <a:r>
              <a:rPr sz="900">
                <a:solidFill>
                  <a:srgbClr val="880000"/>
                </a:solidFill>
                <a:latin typeface="Consolas"/>
              </a:rPr>
              <a:t>CONFIGURATION_REFERENCE_PREFIX</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a:solidFill>
                  <a:srgbClr val="880000"/>
                </a:solidFill>
                <a:latin typeface="Consolas"/>
              </a:rPr>
              <a:t>A</a:t>
            </a:r>
            <a:r>
              <a:rPr sz="900">
                <a:solidFill>
                  <a:srgbClr val="2D2D2D"/>
                </a:solidFill>
                <a:latin typeface="Consolas"/>
              </a:rPr>
              <a:t>iCommerceConstants::</a:t>
            </a:r>
            <a:r>
              <a:rPr sz="900">
                <a:solidFill>
                  <a:srgbClr val="880000"/>
                </a:solidFill>
                <a:latin typeface="Consolas"/>
              </a:rPr>
              <a:t>CONFIGURATION_KEY_OPENAI_API_TOKEN</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4070A0"/>
                </a:solidFill>
                <a:latin typeface="Consolas"/>
              </a:rPr>
              <a:t>'model'</a:t>
            </a:r>
            <a:r>
              <a:rPr sz="900">
                <a:solidFill>
                  <a:srgbClr val="2D2D2D"/>
                </a:solidFill>
                <a:latin typeface="Consolas"/>
              </a:rPr>
              <a:t> =&gt; </a:t>
            </a:r>
            <a:r>
              <a:rPr sz="900">
                <a:solidFill>
                  <a:srgbClr val="880000"/>
                </a:solidFill>
                <a:latin typeface="Consolas"/>
              </a:rPr>
              <a:t>A</a:t>
            </a:r>
            <a:r>
              <a:rPr sz="900">
                <a:solidFill>
                  <a:srgbClr val="2D2D2D"/>
                </a:solidFill>
                <a:latin typeface="Consolas"/>
              </a:rPr>
              <a:t>iFoundationConstants::</a:t>
            </a:r>
            <a:r>
              <a:rPr sz="900">
                <a:solidFill>
                  <a:srgbClr val="880000"/>
                </a:solidFill>
                <a:latin typeface="Consolas"/>
              </a:rPr>
              <a:t>CONFIGURATION_REFERENCE_PREFIX</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a:solidFill>
                  <a:srgbClr val="880000"/>
                </a:solidFill>
                <a:latin typeface="Consolas"/>
              </a:rPr>
              <a:t>A</a:t>
            </a:r>
            <a:r>
              <a:rPr sz="900">
                <a:solidFill>
                  <a:srgbClr val="2D2D2D"/>
                </a:solidFill>
                <a:latin typeface="Consolas"/>
              </a:rPr>
              <a:t>iCommerceConstants::</a:t>
            </a:r>
            <a:r>
              <a:rPr sz="900">
                <a:solidFill>
                  <a:srgbClr val="880000"/>
                </a:solidFill>
                <a:latin typeface="Consolas"/>
              </a:rPr>
              <a:t>CONFIGURATION_KEY_SMART_PIM_OPENAI_MODEL</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007020"/>
                </a:solidFill>
                <a:latin typeface="Consolas"/>
              </a:rPr>
              <a:t>,</a:t>
            </a:r>
          </a:p>
          <a:p>
            <a:pPr>
              <a:spcBef>
                <a:spcPts val="0"/>
              </a:spcBef>
              <a:spcAft>
                <a:spcPts val="0"/>
              </a:spcAft>
            </a:pPr>
            <a:r>
              <a:rPr sz="900">
                <a:solidFill>
                  <a:srgbClr val="2D2D2D"/>
                </a:solidFill>
                <a:latin typeface="Consolas"/>
              </a:rPr>
              <a:t>]</a:t>
            </a:r>
            <a:r>
              <a:rPr sz="900">
                <a:solidFill>
                  <a:srgbClr val="007020"/>
                </a:solidFill>
                <a:latin typeface="Consolas"/>
              </a:rPr>
              <a:t>,</a:t>
            </a:r>
          </a:p>
          <a:p>
            <a:pPr>
              <a:spcAft>
                <a:spcPts val="800"/>
              </a:spcAft>
              <a:defRPr sz="1600">
                <a:solidFill>
                  <a:srgbClr val="1A1A1A"/>
                </a:solidFill>
              </a:defRPr>
            </a:pPr>
            <a:r>
              <a:t>CONFIGURATION_REFERENCE_PREFIX is the string configuration:: . A value with that prefix is not a value but a reference to a setting key : AiFoundation reads ai_vendor:openai:general:api_token from the Configuration module at the moment of the call. A plain string ( 'model' =&gt; 'gpt-4.1-mini' ) is fixed in code. Use references for secrets and for everything an admin should be able to change.</a:t>
            </a:r>
          </a:p>
          <a:p>
            <a:pPr>
              <a:spcAft>
                <a:spcPts val="800"/>
              </a:spcAft>
              <a:defRPr sz="1400" i="1">
                <a:solidFill>
                  <a:srgbClr val="888888"/>
                </a:solidFill>
              </a:defRPr>
            </a:pPr>
            <a:r>
              <a:t>❝ Where is the cache? cache:empty-all deletes data/cache/configuration , the synced schema. After every cache clear run configuration:sync again, otherwise AI calls fail with an unknown setting.</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1: Connect the Shop to OpenAI (5 minutes)</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400"/>
              </a:spcAft>
              <a:defRPr sz="1500">
                <a:solidFill>
                  <a:srgbClr val="1A1A1A"/>
                </a:solidFill>
              </a:defRPr>
            </a:pPr>
            <a:r>
              <a:t>• Log in to the Back Office ( admin@spryker.com / change123 ).</a:t>
            </a:r>
          </a:p>
          <a:p>
            <a:pPr>
              <a:spcAft>
                <a:spcPts val="400"/>
              </a:spcAft>
              <a:defRPr sz="1500">
                <a:solidFill>
                  <a:srgbClr val="1A1A1A"/>
                </a:solidFill>
              </a:defRPr>
            </a:pPr>
            <a:r>
              <a:t>• Open Configuration &gt; AI Vendor &gt; OpenAI and enter your API token. Save. The token is stored encrypted, because the setting is secret: true .</a:t>
            </a:r>
          </a:p>
          <a:p>
            <a:pPr>
              <a:spcAft>
                <a:spcPts val="400"/>
              </a:spcAft>
              <a:defRPr sz="1500">
                <a:solidFill>
                  <a:srgbClr val="1A1A1A"/>
                </a:solidFill>
              </a:defRPr>
            </a:pPr>
            <a:r>
              <a:t>• Open Configuration &gt; AI Commerce &gt; Smart PIM . Keep AI Configuration on OpenAI and set OpenAI Model to gpt-4.1-mini . Save.</a:t>
            </a:r>
          </a:p>
          <a:p>
            <a:pPr>
              <a:spcAft>
                <a:spcPts val="800"/>
              </a:spcAft>
              <a:defRPr sz="1600">
                <a:solidFill>
                  <a:srgbClr val="1A1A1A"/>
                </a:solidFill>
              </a:defRPr>
            </a:pPr>
            <a:r>
              <a:t>Where did those pages come from? Open data/configuration/ai_vendor.configuration.yml and find the api_token setting. Note secret: true and scopes: [global] . Other possible scopes are store , locale , customer_group and customer . Then open ai_commerce.configuration.yml and find the smart_pim tab with the ai_configuration radio and the openai_model string.</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2: Try Smart PIM (10 minutes)</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Smart PIM is the group of AI helpers in the product form. Open Catalog &gt; Products , edit any abstract product, and try:</a:t>
            </a:r>
          </a:p>
          <a:p>
            <a:pPr>
              <a:spcAft>
                <a:spcPts val="400"/>
              </a:spcAft>
              <a:defRPr sz="1500">
                <a:solidFill>
                  <a:srgbClr val="1A1A1A"/>
                </a:solidFill>
              </a:defRPr>
            </a:pPr>
            <a:r>
              <a:t>• Category suggestion : the AI proposes categories from the product name and description.</a:t>
            </a:r>
          </a:p>
          <a:p>
            <a:pPr>
              <a:spcAft>
                <a:spcPts val="400"/>
              </a:spcAft>
              <a:defRPr sz="1500">
                <a:solidFill>
                  <a:srgbClr val="1A1A1A"/>
                </a:solidFill>
              </a:defRPr>
            </a:pPr>
            <a:r>
              <a:t>• Translate : fills the other locale from the one you wrote.</a:t>
            </a:r>
          </a:p>
          <a:p>
            <a:pPr>
              <a:spcAft>
                <a:spcPts val="400"/>
              </a:spcAft>
              <a:defRPr sz="1500">
                <a:solidFill>
                  <a:srgbClr val="1A1A1A"/>
                </a:solidFill>
              </a:defRPr>
            </a:pPr>
            <a:r>
              <a:t>• Content improver : rewrites a description.</a:t>
            </a:r>
          </a:p>
          <a:p>
            <a:pPr>
              <a:spcAft>
                <a:spcPts val="400"/>
              </a:spcAft>
              <a:defRPr sz="1500">
                <a:solidFill>
                  <a:srgbClr val="1A1A1A"/>
                </a:solidFill>
              </a:defRPr>
            </a:pPr>
            <a:r>
              <a:t>• Image alt text : generates alt texts for the product images.</a:t>
            </a:r>
          </a:p>
          <a:p>
            <a:pPr>
              <a:spcAft>
                <a:spcPts val="800"/>
              </a:spcAft>
              <a:defRPr sz="1600">
                <a:solidFill>
                  <a:srgbClr val="1A1A1A"/>
                </a:solidFill>
              </a:defRPr>
            </a:pPr>
            <a:r>
              <a:t>Each button sends a prompt through AiFoundation with the SMART_PIM_OPENAI configuration, so it uses the token and the model you just saved. Change the model to a name that does not exist, save, and try again: the error shows you that the configuration is read at call time, not at deployment.</a:t>
            </a:r>
          </a:p>
          <a:p>
            <a:pPr>
              <a:spcAft>
                <a:spcPts val="800"/>
              </a:spcAft>
              <a:defRPr sz="1600">
                <a:solidFill>
                  <a:srgbClr val="1A1A1A"/>
                </a:solidFill>
              </a:defRPr>
            </a:pPr>
            <a:r>
              <a:t>Set the model back to gpt-4.1-mini .</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3: Add a Setting of Your Own (15 minutes)</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Add a tone of voice setting that a content manager can change. Open data/configuration/ai_commerce.configuration.yml and add a group to the smart_pim tab, after the ai_vendor group:</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3: Add a Setting of Your Own (15 minutes)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                </a:t>
            </a:r>
            <a:r>
              <a:rPr sz="900" b="1">
                <a:solidFill>
                  <a:srgbClr val="007020"/>
                </a:solidFill>
                <a:latin typeface="Consolas"/>
              </a:rPr>
              <a:t>-</a:t>
            </a:r>
            <a:r>
              <a:rPr sz="900">
                <a:solidFill>
                  <a:srgbClr val="2D2D2D"/>
                </a:solidFill>
                <a:latin typeface="Consolas"/>
              </a:rPr>
              <a:t> </a:t>
            </a:r>
            <a:r>
              <a:rPr sz="900">
                <a:solidFill>
                  <a:srgbClr val="06287E"/>
                </a:solidFill>
                <a:latin typeface="Consolas"/>
              </a:rPr>
              <a:t>key</a:t>
            </a:r>
            <a:r>
              <a:rPr sz="900" b="1">
                <a:solidFill>
                  <a:srgbClr val="007020"/>
                </a:solidFill>
                <a:latin typeface="Consolas"/>
              </a:rPr>
              <a:t>:</a:t>
            </a:r>
            <a:r>
              <a:rPr sz="900">
                <a:solidFill>
                  <a:srgbClr val="2D2D2D"/>
                </a:solidFill>
                <a:latin typeface="Consolas"/>
              </a:rPr>
              <a:t> content_style</a:t>
            </a:r>
          </a:p>
          <a:p>
            <a:pPr>
              <a:spcBef>
                <a:spcPts val="0"/>
              </a:spcBef>
              <a:spcAft>
                <a:spcPts val="0"/>
              </a:spcAft>
            </a:pPr>
            <a:r>
              <a:rPr sz="900">
                <a:solidFill>
                  <a:srgbClr val="2D2D2D"/>
                </a:solidFill>
                <a:latin typeface="Consolas"/>
              </a:rPr>
              <a:t>                  </a:t>
            </a:r>
            <a:r>
              <a:rPr sz="900">
                <a:solidFill>
                  <a:srgbClr val="06287E"/>
                </a:solidFill>
                <a:latin typeface="Consolas"/>
              </a:rPr>
              <a:t>name</a:t>
            </a:r>
            <a:r>
              <a:rPr sz="900" b="1">
                <a:solidFill>
                  <a:srgbClr val="007020"/>
                </a:solidFill>
                <a:latin typeface="Consolas"/>
              </a:rPr>
              <a:t>:</a:t>
            </a:r>
            <a:r>
              <a:rPr sz="900">
                <a:solidFill>
                  <a:srgbClr val="2D2D2D"/>
                </a:solidFill>
                <a:latin typeface="Consolas"/>
              </a:rPr>
              <a:t> Content Style</a:t>
            </a:r>
          </a:p>
          <a:p>
            <a:pPr>
              <a:spcBef>
                <a:spcPts val="0"/>
              </a:spcBef>
              <a:spcAft>
                <a:spcPts val="0"/>
              </a:spcAft>
            </a:pPr>
            <a:r>
              <a:rPr sz="900">
                <a:solidFill>
                  <a:srgbClr val="2D2D2D"/>
                </a:solidFill>
                <a:latin typeface="Consolas"/>
              </a:rPr>
              <a:t>                  </a:t>
            </a:r>
            <a:r>
              <a:rPr sz="900">
                <a:solidFill>
                  <a:srgbClr val="06287E"/>
                </a:solidFill>
                <a:latin typeface="Consolas"/>
              </a:rPr>
              <a:t>description</a:t>
            </a:r>
            <a:r>
              <a:rPr sz="900" b="1">
                <a:solidFill>
                  <a:srgbClr val="007020"/>
                </a:solidFill>
                <a:latin typeface="Consolas"/>
              </a:rPr>
              <a:t>:</a:t>
            </a:r>
            <a:r>
              <a:rPr sz="900">
                <a:solidFill>
                  <a:srgbClr val="2D2D2D"/>
                </a:solidFill>
                <a:latin typeface="Consolas"/>
              </a:rPr>
              <a:t> How Smart PIM should write product content.</a:t>
            </a:r>
          </a:p>
          <a:p>
            <a:pPr>
              <a:spcBef>
                <a:spcPts val="0"/>
              </a:spcBef>
              <a:spcAft>
                <a:spcPts val="0"/>
              </a:spcAft>
            </a:pPr>
            <a:r>
              <a:rPr sz="900">
                <a:solidFill>
                  <a:srgbClr val="2D2D2D"/>
                </a:solidFill>
                <a:latin typeface="Consolas"/>
              </a:rPr>
              <a:t>                  </a:t>
            </a:r>
            <a:r>
              <a:rPr sz="900">
                <a:solidFill>
                  <a:srgbClr val="06287E"/>
                </a:solidFill>
                <a:latin typeface="Consolas"/>
              </a:rPr>
              <a:t>enabled</a:t>
            </a:r>
            <a:r>
              <a:rPr sz="900" b="1">
                <a:solidFill>
                  <a:srgbClr val="007020"/>
                </a:solidFill>
                <a:latin typeface="Consolas"/>
              </a:rPr>
              <a:t>:</a:t>
            </a:r>
            <a:r>
              <a:rPr sz="900">
                <a:solidFill>
                  <a:srgbClr val="2D2D2D"/>
                </a:solidFill>
                <a:latin typeface="Consolas"/>
              </a:rPr>
              <a:t> </a:t>
            </a:r>
            <a:r>
              <a:rPr sz="900">
                <a:solidFill>
                  <a:srgbClr val="4070A0"/>
                </a:solidFill>
                <a:latin typeface="Consolas"/>
              </a:rPr>
              <a:t>true</a:t>
            </a:r>
          </a:p>
          <a:p>
            <a:pPr>
              <a:spcBef>
                <a:spcPts val="0"/>
              </a:spcBef>
              <a:spcAft>
                <a:spcPts val="0"/>
              </a:spcAft>
            </a:pPr>
            <a:r>
              <a:rPr sz="900">
                <a:solidFill>
                  <a:srgbClr val="2D2D2D"/>
                </a:solidFill>
                <a:latin typeface="Consolas"/>
              </a:rPr>
              <a:t>                  </a:t>
            </a:r>
            <a:r>
              <a:rPr sz="900">
                <a:solidFill>
                  <a:srgbClr val="06287E"/>
                </a:solidFill>
                <a:latin typeface="Consolas"/>
              </a:rPr>
              <a:t>order</a:t>
            </a:r>
            <a:r>
              <a:rPr sz="900" b="1">
                <a:solidFill>
                  <a:srgbClr val="007020"/>
                </a:solidFill>
                <a:latin typeface="Consolas"/>
              </a:rPr>
              <a:t>:</a:t>
            </a:r>
            <a:r>
              <a:rPr sz="900">
                <a:solidFill>
                  <a:srgbClr val="2D2D2D"/>
                </a:solidFill>
                <a:latin typeface="Consolas"/>
              </a:rPr>
              <a:t> </a:t>
            </a:r>
            <a:r>
              <a:rPr sz="900">
                <a:solidFill>
                  <a:srgbClr val="40A070"/>
                </a:solidFill>
                <a:latin typeface="Consolas"/>
              </a:rPr>
              <a:t>2</a:t>
            </a:r>
          </a:p>
          <a:p>
            <a:pPr>
              <a:spcBef>
                <a:spcPts val="0"/>
              </a:spcBef>
              <a:spcAft>
                <a:spcPts val="0"/>
              </a:spcAft>
            </a:pPr>
            <a:r>
              <a:rPr sz="900">
                <a:solidFill>
                  <a:srgbClr val="2D2D2D"/>
                </a:solidFill>
                <a:latin typeface="Consolas"/>
              </a:rPr>
              <a:t>                  </a:t>
            </a:r>
            <a:r>
              <a:rPr sz="900">
                <a:solidFill>
                  <a:srgbClr val="06287E"/>
                </a:solidFill>
                <a:latin typeface="Consolas"/>
              </a:rPr>
              <a:t>scopes</a:t>
            </a:r>
            <a:r>
              <a:rPr sz="900" b="1">
                <a:solidFill>
                  <a:srgbClr val="007020"/>
                </a:solidFill>
                <a:latin typeface="Consolas"/>
              </a:rPr>
              <a:t>:</a:t>
            </a:r>
          </a:p>
          <a:p>
            <a:pPr>
              <a:spcBef>
                <a:spcPts val="0"/>
              </a:spcBef>
              <a:spcAft>
                <a:spcPts val="0"/>
              </a:spcAft>
            </a:pPr>
            <a:r>
              <a:rPr sz="900">
                <a:solidFill>
                  <a:srgbClr val="2D2D2D"/>
                </a:solidFill>
                <a:latin typeface="Consolas"/>
              </a:rPr>
              <a:t>                      </a:t>
            </a:r>
            <a:r>
              <a:rPr sz="900" b="1">
                <a:solidFill>
                  <a:srgbClr val="007020"/>
                </a:solidFill>
                <a:latin typeface="Consolas"/>
              </a:rPr>
              <a:t>-</a:t>
            </a:r>
            <a:r>
              <a:rPr sz="900">
                <a:solidFill>
                  <a:srgbClr val="2D2D2D"/>
                </a:solidFill>
                <a:latin typeface="Consolas"/>
              </a:rPr>
              <a:t> global</a:t>
            </a:r>
          </a:p>
          <a:p>
            <a:pPr>
              <a:spcBef>
                <a:spcPts val="0"/>
              </a:spcBef>
              <a:spcAft>
                <a:spcPts val="0"/>
              </a:spcAft>
            </a:pPr>
            <a:r>
              <a:rPr sz="900">
                <a:solidFill>
                  <a:srgbClr val="2D2D2D"/>
                </a:solidFill>
                <a:latin typeface="Consolas"/>
              </a:rPr>
              <a:t>                  </a:t>
            </a:r>
            <a:r>
              <a:rPr sz="900">
                <a:solidFill>
                  <a:srgbClr val="06287E"/>
                </a:solidFill>
                <a:latin typeface="Consolas"/>
              </a:rPr>
              <a:t>settings</a:t>
            </a:r>
            <a:r>
              <a:rPr sz="900" b="1">
                <a:solidFill>
                  <a:srgbClr val="007020"/>
                </a:solidFill>
                <a:latin typeface="Consolas"/>
              </a:rPr>
              <a:t>:</a:t>
            </a:r>
          </a:p>
          <a:p>
            <a:pPr>
              <a:spcBef>
                <a:spcPts val="0"/>
              </a:spcBef>
              <a:spcAft>
                <a:spcPts val="0"/>
              </a:spcAft>
            </a:pPr>
            <a:r>
              <a:rPr sz="900">
                <a:solidFill>
                  <a:srgbClr val="2D2D2D"/>
                </a:solidFill>
                <a:latin typeface="Consolas"/>
              </a:rPr>
              <a:t>                      </a:t>
            </a:r>
            <a:r>
              <a:rPr sz="900" b="1">
                <a:solidFill>
                  <a:srgbClr val="007020"/>
                </a:solidFill>
                <a:latin typeface="Consolas"/>
              </a:rPr>
              <a:t>-</a:t>
            </a:r>
            <a:r>
              <a:rPr sz="900">
                <a:solidFill>
                  <a:srgbClr val="2D2D2D"/>
                </a:solidFill>
                <a:latin typeface="Consolas"/>
              </a:rPr>
              <a:t> </a:t>
            </a:r>
            <a:r>
              <a:rPr sz="900">
                <a:solidFill>
                  <a:srgbClr val="06287E"/>
                </a:solidFill>
                <a:latin typeface="Consolas"/>
              </a:rPr>
              <a:t>key</a:t>
            </a:r>
            <a:r>
              <a:rPr sz="900" b="1">
                <a:solidFill>
                  <a:srgbClr val="007020"/>
                </a:solidFill>
                <a:latin typeface="Consolas"/>
              </a:rPr>
              <a:t>:</a:t>
            </a:r>
            <a:r>
              <a:rPr sz="900">
                <a:solidFill>
                  <a:srgbClr val="2D2D2D"/>
                </a:solidFill>
                <a:latin typeface="Consolas"/>
              </a:rPr>
              <a:t> tone</a:t>
            </a:r>
          </a:p>
          <a:p>
            <a:pPr>
              <a:spcBef>
                <a:spcPts val="0"/>
              </a:spcBef>
              <a:spcAft>
                <a:spcPts val="0"/>
              </a:spcAft>
            </a:pPr>
            <a:r>
              <a:rPr sz="900">
                <a:solidFill>
                  <a:srgbClr val="2D2D2D"/>
                </a:solidFill>
                <a:latin typeface="Consolas"/>
              </a:rPr>
              <a:t>                        </a:t>
            </a:r>
            <a:r>
              <a:rPr sz="900">
                <a:solidFill>
                  <a:srgbClr val="06287E"/>
                </a:solidFill>
                <a:latin typeface="Consolas"/>
              </a:rPr>
              <a:t>name</a:t>
            </a:r>
            <a:r>
              <a:rPr sz="900" b="1">
                <a:solidFill>
                  <a:srgbClr val="007020"/>
                </a:solidFill>
                <a:latin typeface="Consolas"/>
              </a:rPr>
              <a:t>:</a:t>
            </a:r>
            <a:r>
              <a:rPr sz="900">
                <a:solidFill>
                  <a:srgbClr val="2D2D2D"/>
                </a:solidFill>
                <a:latin typeface="Consolas"/>
              </a:rPr>
              <a:t> Tone of voice</a:t>
            </a:r>
          </a:p>
          <a:p>
            <a:pPr>
              <a:spcBef>
                <a:spcPts val="0"/>
              </a:spcBef>
              <a:spcAft>
                <a:spcPts val="0"/>
              </a:spcAft>
            </a:pPr>
            <a:r>
              <a:rPr sz="900">
                <a:solidFill>
                  <a:srgbClr val="2D2D2D"/>
                </a:solidFill>
                <a:latin typeface="Consolas"/>
              </a:rPr>
              <a:t>                        </a:t>
            </a:r>
            <a:r>
              <a:rPr sz="900">
                <a:solidFill>
                  <a:srgbClr val="06287E"/>
                </a:solidFill>
                <a:latin typeface="Consolas"/>
              </a:rPr>
              <a:t>description</a:t>
            </a:r>
            <a:r>
              <a:rPr sz="900" b="1">
                <a:solidFill>
                  <a:srgbClr val="007020"/>
                </a:solidFill>
                <a:latin typeface="Consolas"/>
              </a:rPr>
              <a:t>:</a:t>
            </a:r>
            <a:r>
              <a:rPr sz="900">
                <a:solidFill>
                  <a:srgbClr val="2D2D2D"/>
                </a:solidFill>
                <a:latin typeface="Consolas"/>
              </a:rPr>
              <a:t> Adjective the AI uses when it rewrites descriptions, for example "friendly" or "technical".</a:t>
            </a:r>
          </a:p>
          <a:p>
            <a:pPr>
              <a:spcBef>
                <a:spcPts val="0"/>
              </a:spcBef>
              <a:spcAft>
                <a:spcPts val="0"/>
              </a:spcAft>
            </a:pPr>
            <a:r>
              <a:rPr sz="900">
                <a:solidFill>
                  <a:srgbClr val="2D2D2D"/>
                </a:solidFill>
                <a:latin typeface="Consolas"/>
              </a:rPr>
              <a:t>                        </a:t>
            </a:r>
            <a:r>
              <a:rPr sz="900">
                <a:solidFill>
                  <a:srgbClr val="06287E"/>
                </a:solidFill>
                <a:latin typeface="Consolas"/>
              </a:rPr>
              <a:t>type</a:t>
            </a:r>
            <a:r>
              <a:rPr sz="900" b="1">
                <a:solidFill>
                  <a:srgbClr val="007020"/>
                </a:solidFill>
                <a:latin typeface="Consolas"/>
              </a:rPr>
              <a:t>:</a:t>
            </a:r>
            <a:r>
              <a:rPr sz="900">
                <a:solidFill>
                  <a:srgbClr val="2D2D2D"/>
                </a:solidFill>
                <a:latin typeface="Consolas"/>
              </a:rPr>
              <a:t> string</a:t>
            </a:r>
          </a:p>
          <a:p>
            <a:pPr>
              <a:spcBef>
                <a:spcPts val="0"/>
              </a:spcBef>
              <a:spcAft>
                <a:spcPts val="0"/>
              </a:spcAft>
            </a:pPr>
            <a:r>
              <a:rPr sz="900">
                <a:solidFill>
                  <a:srgbClr val="2D2D2D"/>
                </a:solidFill>
                <a:latin typeface="Consolas"/>
              </a:rPr>
              <a:t>                        </a:t>
            </a:r>
            <a:r>
              <a:rPr sz="900">
                <a:solidFill>
                  <a:srgbClr val="06287E"/>
                </a:solidFill>
                <a:latin typeface="Consolas"/>
              </a:rPr>
              <a:t>default_value</a:t>
            </a:r>
            <a:r>
              <a:rPr sz="900" b="1">
                <a:solidFill>
                  <a:srgbClr val="007020"/>
                </a:solidFill>
                <a:latin typeface="Consolas"/>
              </a:rPr>
              <a:t>:</a:t>
            </a:r>
            <a:r>
              <a:rPr sz="900">
                <a:solidFill>
                  <a:srgbClr val="2D2D2D"/>
                </a:solidFill>
                <a:latin typeface="Consolas"/>
              </a:rPr>
              <a:t> </a:t>
            </a:r>
            <a:r>
              <a:rPr sz="900">
                <a:solidFill>
                  <a:srgbClr val="4070A0"/>
                </a:solidFill>
                <a:latin typeface="Consolas"/>
              </a:rPr>
              <a:t>'friendly'</a:t>
            </a:r>
          </a:p>
          <a:p>
            <a:pPr>
              <a:spcBef>
                <a:spcPts val="0"/>
              </a:spcBef>
              <a:spcAft>
                <a:spcPts val="0"/>
              </a:spcAft>
            </a:pPr>
            <a:r>
              <a:rPr sz="900">
                <a:solidFill>
                  <a:srgbClr val="2D2D2D"/>
                </a:solidFill>
                <a:latin typeface="Consolas"/>
              </a:rPr>
              <a:t>                        </a:t>
            </a:r>
            <a:r>
              <a:rPr sz="900">
                <a:solidFill>
                  <a:srgbClr val="06287E"/>
                </a:solidFill>
                <a:latin typeface="Consolas"/>
              </a:rPr>
              <a:t>enabled</a:t>
            </a:r>
            <a:r>
              <a:rPr sz="900" b="1">
                <a:solidFill>
                  <a:srgbClr val="007020"/>
                </a:solidFill>
                <a:latin typeface="Consolas"/>
              </a:rPr>
              <a:t>:</a:t>
            </a:r>
            <a:r>
              <a:rPr sz="900">
                <a:solidFill>
                  <a:srgbClr val="2D2D2D"/>
                </a:solidFill>
                <a:latin typeface="Consolas"/>
              </a:rPr>
              <a:t> </a:t>
            </a:r>
            <a:r>
              <a:rPr sz="900">
                <a:solidFill>
                  <a:srgbClr val="4070A0"/>
                </a:solidFill>
                <a:latin typeface="Consolas"/>
              </a:rPr>
              <a:t>true</a:t>
            </a:r>
          </a:p>
          <a:p>
            <a:pPr>
              <a:spcBef>
                <a:spcPts val="0"/>
              </a:spcBef>
              <a:spcAft>
                <a:spcPts val="0"/>
              </a:spcAft>
            </a:pPr>
            <a:r>
              <a:rPr sz="900">
                <a:solidFill>
                  <a:srgbClr val="2D2D2D"/>
                </a:solidFill>
                <a:latin typeface="Consolas"/>
              </a:rPr>
              <a:t>                        </a:t>
            </a:r>
            <a:r>
              <a:rPr sz="900">
                <a:solidFill>
                  <a:srgbClr val="06287E"/>
                </a:solidFill>
                <a:latin typeface="Consolas"/>
              </a:rPr>
              <a:t>secret</a:t>
            </a:r>
            <a:r>
              <a:rPr sz="900" b="1">
                <a:solidFill>
                  <a:srgbClr val="007020"/>
                </a:solidFill>
                <a:latin typeface="Consolas"/>
              </a:rPr>
              <a:t>:</a:t>
            </a:r>
            <a:r>
              <a:rPr sz="900">
                <a:solidFill>
                  <a:srgbClr val="2D2D2D"/>
                </a:solidFill>
                <a:latin typeface="Consolas"/>
              </a:rPr>
              <a:t> </a:t>
            </a:r>
            <a:r>
              <a:rPr sz="900">
                <a:solidFill>
                  <a:srgbClr val="4070A0"/>
                </a:solidFill>
                <a:latin typeface="Consolas"/>
              </a:rPr>
              <a:t>false</a:t>
            </a:r>
          </a:p>
          <a:p>
            <a:pPr>
              <a:spcBef>
                <a:spcPts val="0"/>
              </a:spcBef>
              <a:spcAft>
                <a:spcPts val="0"/>
              </a:spcAft>
            </a:pPr>
            <a:r>
              <a:rPr sz="900">
                <a:solidFill>
                  <a:srgbClr val="2D2D2D"/>
                </a:solidFill>
                <a:latin typeface="Consolas"/>
              </a:rPr>
              <a:t>                        </a:t>
            </a:r>
            <a:r>
              <a:rPr sz="900">
                <a:solidFill>
                  <a:srgbClr val="06287E"/>
                </a:solidFill>
                <a:latin typeface="Consolas"/>
              </a:rPr>
              <a:t>storefront</a:t>
            </a:r>
            <a:r>
              <a:rPr sz="900" b="1">
                <a:solidFill>
                  <a:srgbClr val="007020"/>
                </a:solidFill>
                <a:latin typeface="Consolas"/>
              </a:rPr>
              <a:t>:</a:t>
            </a:r>
            <a:r>
              <a:rPr sz="900">
                <a:solidFill>
                  <a:srgbClr val="2D2D2D"/>
                </a:solidFill>
                <a:latin typeface="Consolas"/>
              </a:rPr>
              <a:t> </a:t>
            </a:r>
            <a:r>
              <a:rPr sz="900">
                <a:solidFill>
                  <a:srgbClr val="4070A0"/>
                </a:solidFill>
                <a:latin typeface="Consolas"/>
              </a:rPr>
              <a:t>false</a:t>
            </a:r>
          </a:p>
          <a:p>
            <a:pPr>
              <a:spcBef>
                <a:spcPts val="0"/>
              </a:spcBef>
              <a:spcAft>
                <a:spcPts val="0"/>
              </a:spcAft>
            </a:pPr>
            <a:r>
              <a:rPr sz="900">
                <a:solidFill>
                  <a:srgbClr val="2D2D2D"/>
                </a:solidFill>
                <a:latin typeface="Consolas"/>
              </a:rPr>
              <a:t>                        </a:t>
            </a:r>
            <a:r>
              <a:rPr sz="900">
                <a:solidFill>
                  <a:srgbClr val="06287E"/>
                </a:solidFill>
                <a:latin typeface="Consolas"/>
              </a:rPr>
              <a:t>order</a:t>
            </a:r>
            <a:r>
              <a:rPr sz="900" b="1">
                <a:solidFill>
                  <a:srgbClr val="007020"/>
                </a:solidFill>
                <a:latin typeface="Consolas"/>
              </a:rPr>
              <a:t>:</a:t>
            </a:r>
            <a:r>
              <a:rPr sz="900">
                <a:solidFill>
                  <a:srgbClr val="2D2D2D"/>
                </a:solidFill>
                <a:latin typeface="Consolas"/>
              </a:rPr>
              <a:t> </a:t>
            </a:r>
            <a:r>
              <a:rPr sz="900">
                <a:solidFill>
                  <a:srgbClr val="40A070"/>
                </a:solidFill>
                <a:latin typeface="Consolas"/>
              </a:rPr>
              <a:t>1</a:t>
            </a:r>
          </a:p>
          <a:p>
            <a:pPr>
              <a:spcBef>
                <a:spcPts val="0"/>
              </a:spcBef>
              <a:spcAft>
                <a:spcPts val="0"/>
              </a:spcAft>
            </a:pPr>
            <a:r>
              <a:rPr sz="900">
                <a:solidFill>
                  <a:srgbClr val="2D2D2D"/>
                </a:solidFill>
                <a:latin typeface="Consolas"/>
              </a:rPr>
              <a:t>                        </a:t>
            </a:r>
            <a:r>
              <a:rPr sz="900">
                <a:solidFill>
                  <a:srgbClr val="06287E"/>
                </a:solidFill>
                <a:latin typeface="Consolas"/>
              </a:rPr>
              <a:t>scopes</a:t>
            </a:r>
            <a:r>
              <a:rPr sz="900" b="1">
                <a:solidFill>
                  <a:srgbClr val="007020"/>
                </a:solidFill>
                <a:latin typeface="Consolas"/>
              </a:rPr>
              <a:t>:</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3: Add a Setting of Your Own (15 minutes)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                            </a:t>
            </a:r>
            <a:r>
              <a:rPr sz="900" b="1">
                <a:solidFill>
                  <a:srgbClr val="007020"/>
                </a:solidFill>
                <a:latin typeface="Consolas"/>
              </a:rPr>
              <a:t>-</a:t>
            </a:r>
            <a:r>
              <a:rPr sz="900">
                <a:solidFill>
                  <a:srgbClr val="2D2D2D"/>
                </a:solidFill>
                <a:latin typeface="Consolas"/>
              </a:rPr>
              <a:t> global</a:t>
            </a:r>
          </a:p>
          <a:p>
            <a:pPr>
              <a:spcAft>
                <a:spcPts val="800"/>
              </a:spcAft>
              <a:defRPr sz="1600">
                <a:solidFill>
                  <a:srgbClr val="1A1A1A"/>
                </a:solidFill>
              </a:defRPr>
            </a:pPr>
            <a:r>
              <a:t>Indentation matters: - key: content_style sits at the same depth as - key: ai_vendor . Then publish the schema:</a:t>
            </a:r>
          </a:p>
          <a:p>
            <a:pPr>
              <a:spcBef>
                <a:spcPts val="0"/>
              </a:spcBef>
              <a:spcAft>
                <a:spcPts val="0"/>
              </a:spcAft>
            </a:pPr>
            <a:r>
              <a:rPr sz="900">
                <a:solidFill>
                  <a:srgbClr val="2D2D2D"/>
                </a:solidFill>
                <a:latin typeface="Consolas"/>
              </a:rPr>
              <a:t>docker/sdk</a:t>
            </a:r>
            <a:r>
              <a:rPr sz="900">
                <a:solidFill>
                  <a:srgbClr val="2D2D2D"/>
                </a:solidFill>
                <a:latin typeface="Consolas"/>
              </a:rPr>
              <a:t> console configuration:sync</a:t>
            </a:r>
          </a:p>
          <a:p>
            <a:pPr>
              <a:spcAft>
                <a:spcPts val="800"/>
              </a:spcAft>
              <a:defRPr sz="1600">
                <a:solidFill>
                  <a:srgbClr val="1A1A1A"/>
                </a:solidFill>
              </a:defRPr>
            </a:pPr>
            <a:r>
              <a:t>The command reports the number of processed settings. It is one higher than before. Open Configuration &gt; AI Commerce &gt; Smart PIM and find your group. Set the value to technical and save.</a:t>
            </a:r>
          </a:p>
          <a:p>
            <a:pPr>
              <a:spcAft>
                <a:spcPts val="800"/>
              </a:spcAft>
              <a:defRPr sz="1600">
                <a:solidFill>
                  <a:srgbClr val="1A1A1A"/>
                </a:solidFill>
              </a:defRPr>
            </a:pPr>
            <a:r>
              <a:t>Read it from code. The key is ai_commerce:smart_pim:content_style:tone . In Zed:</a:t>
            </a:r>
          </a:p>
          <a:p>
            <a:pPr>
              <a:spcBef>
                <a:spcPts val="0"/>
              </a:spcBef>
              <a:spcAft>
                <a:spcPts val="0"/>
              </a:spcAft>
            </a:pPr>
            <a:r>
              <a:rPr sz="900" b="1">
                <a:solidFill>
                  <a:srgbClr val="007020"/>
                </a:solidFill>
                <a:latin typeface="Consolas"/>
              </a:rPr>
              <a:t>use</a:t>
            </a:r>
            <a:r>
              <a:rPr sz="900">
                <a:solidFill>
                  <a:srgbClr val="2D2D2D"/>
                </a:solidFill>
                <a:latin typeface="Consolas"/>
              </a:rPr>
              <a:t> </a:t>
            </a:r>
            <a:r>
              <a:rPr sz="900">
                <a:solidFill>
                  <a:srgbClr val="880000"/>
                </a:solidFill>
                <a:latin typeface="Consolas"/>
              </a:rPr>
              <a:t>G</a:t>
            </a:r>
            <a:r>
              <a:rPr sz="900">
                <a:solidFill>
                  <a:srgbClr val="2D2D2D"/>
                </a:solidFill>
                <a:latin typeface="Consolas"/>
              </a:rPr>
              <a:t>enerated\</a:t>
            </a:r>
            <a:r>
              <a:rPr sz="900">
                <a:solidFill>
                  <a:srgbClr val="880000"/>
                </a:solidFill>
                <a:latin typeface="Consolas"/>
              </a:rPr>
              <a:t>S</a:t>
            </a:r>
            <a:r>
              <a:rPr sz="900">
                <a:solidFill>
                  <a:srgbClr val="2D2D2D"/>
                </a:solidFill>
                <a:latin typeface="Consolas"/>
              </a:rPr>
              <a:t>hared\</a:t>
            </a:r>
            <a:r>
              <a:rPr sz="900">
                <a:solidFill>
                  <a:srgbClr val="880000"/>
                </a:solidFill>
                <a:latin typeface="Consolas"/>
              </a:rPr>
              <a:t>T</a:t>
            </a:r>
            <a:r>
              <a:rPr sz="900">
                <a:solidFill>
                  <a:srgbClr val="2D2D2D"/>
                </a:solidFill>
                <a:latin typeface="Consolas"/>
              </a:rPr>
              <a:t>ransfer\</a:t>
            </a:r>
            <a:r>
              <a:rPr sz="900">
                <a:solidFill>
                  <a:srgbClr val="880000"/>
                </a:solidFill>
                <a:latin typeface="Consolas"/>
              </a:rPr>
              <a:t>C</a:t>
            </a:r>
            <a:r>
              <a:rPr sz="900">
                <a:solidFill>
                  <a:srgbClr val="2D2D2D"/>
                </a:solidFill>
                <a:latin typeface="Consolas"/>
              </a:rPr>
              <a:t>onfigurationValueRequestTransfer</a:t>
            </a:r>
            <a:r>
              <a:rPr sz="900">
                <a:solidFill>
                  <a:srgbClr val="007020"/>
                </a:solidFill>
                <a:latin typeface="Consolas"/>
              </a:rPr>
              <a:t>;</a:t>
            </a:r>
          </a:p>
          <a:p>
            <a:pPr>
              <a:spcBef>
                <a:spcPts val="0"/>
              </a:spcBef>
              <a:spcAft>
                <a:spcPts val="0"/>
              </a:spcAft>
            </a:pPr>
            <a:r>
              <a:rPr sz="900">
                <a:latin typeface="Consolas"/>
              </a:rPr>
              <a:t> </a:t>
            </a:r>
          </a:p>
          <a:p>
            <a:pPr>
              <a:spcBef>
                <a:spcPts val="0"/>
              </a:spcBef>
              <a:spcAft>
                <a:spcPts val="0"/>
              </a:spcAft>
            </a:pPr>
            <a:r>
              <a:rPr sz="900">
                <a:solidFill>
                  <a:srgbClr val="19177C"/>
                </a:solidFill>
                <a:latin typeface="Consolas"/>
              </a:rPr>
              <a:t>$tone</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a:solidFill>
                  <a:srgbClr val="19177C"/>
                </a:solidFill>
                <a:latin typeface="Consolas"/>
              </a:rPr>
              <a:t>$this</a:t>
            </a:r>
            <a:r>
              <a:rPr sz="900">
                <a:solidFill>
                  <a:srgbClr val="2D2D2D"/>
                </a:solidFill>
                <a:latin typeface="Consolas"/>
              </a:rPr>
              <a:t>-&gt;getFactory()-&gt;getConfigurationFacade()-&gt;getConfigurationValue(</a:t>
            </a:r>
          </a:p>
          <a:p>
            <a:pPr>
              <a:spcBef>
                <a:spcPts val="0"/>
              </a:spcBef>
              <a:spcAft>
                <a:spcPts val="0"/>
              </a:spcAft>
            </a:pPr>
            <a:r>
              <a:rPr sz="900">
                <a:solidFill>
                  <a:srgbClr val="2D2D2D"/>
                </a:solidFill>
                <a:latin typeface="Consolas"/>
              </a:rPr>
              <a:t>    (</a:t>
            </a:r>
            <a:r>
              <a:rPr sz="900" b="1">
                <a:solidFill>
                  <a:srgbClr val="007020"/>
                </a:solidFill>
                <a:latin typeface="Consolas"/>
              </a:rPr>
              <a:t>new</a:t>
            </a:r>
            <a:r>
              <a:rPr sz="900">
                <a:solidFill>
                  <a:srgbClr val="2D2D2D"/>
                </a:solidFill>
                <a:latin typeface="Consolas"/>
              </a:rPr>
              <a:t> </a:t>
            </a:r>
            <a:r>
              <a:rPr sz="900">
                <a:solidFill>
                  <a:srgbClr val="880000"/>
                </a:solidFill>
                <a:latin typeface="Consolas"/>
              </a:rPr>
              <a:t>C</a:t>
            </a:r>
            <a:r>
              <a:rPr sz="900">
                <a:solidFill>
                  <a:srgbClr val="2D2D2D"/>
                </a:solidFill>
                <a:latin typeface="Consolas"/>
              </a:rPr>
              <a:t>onfigurationValueRequestTransfer())-&gt;setKey(</a:t>
            </a:r>
            <a:r>
              <a:rPr sz="900">
                <a:solidFill>
                  <a:srgbClr val="4070A0"/>
                </a:solidFill>
                <a:latin typeface="Consolas"/>
              </a:rPr>
              <a:t>'ai_commerce:smart_pim:content_style:tone'</a:t>
            </a:r>
            <a:r>
              <a:rPr sz="900">
                <a:solidFill>
                  <a:srgbClr val="2D2D2D"/>
                </a:solidFill>
                <a:latin typeface="Consolas"/>
              </a:rPr>
              <a:t>)</a:t>
            </a:r>
            <a:r>
              <a:rPr sz="900">
                <a:solidFill>
                  <a:srgbClr val="007020"/>
                </a:solidFill>
                <a:latin typeface="Consolas"/>
              </a:rPr>
              <a:t>,</a:t>
            </a:r>
          </a:p>
          <a:p>
            <a:pPr>
              <a:spcBef>
                <a:spcPts val="0"/>
              </a:spcBef>
              <a:spcAft>
                <a:spcPts val="0"/>
              </a:spcAft>
            </a:pPr>
            <a:r>
              <a:rPr sz="900">
                <a:solidFill>
                  <a:srgbClr val="2D2D2D"/>
                </a:solidFill>
                <a:latin typeface="Consolas"/>
              </a:rPr>
              <a:t>)</a:t>
            </a:r>
            <a:r>
              <a:rPr sz="900">
                <a:solidFill>
                  <a:srgbClr val="007020"/>
                </a:solidFill>
                <a:latin typeface="Consolas"/>
              </a:rPr>
              <a:t>;</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3: Add a Setting of Your Own (15 minutes)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The facade resolves the scope, decrypts secrets and casts the value to the type of the setting. Try it in a quick way: add the three lines to indexAction() of your SupplierGui IndexController from Exercise 9, inject the Configuration facade through the DependencyProvider as you learned, and dump the value with dd($tone) . Remove it again.</a:t>
            </a:r>
          </a:p>
          <a:p>
            <a:pPr>
              <a:spcAft>
                <a:spcPts val="800"/>
              </a:spcAft>
              <a:defRPr sz="1600">
                <a:solidFill>
                  <a:srgbClr val="1A1A1A"/>
                </a:solidFill>
              </a:defRPr>
            </a:pPr>
            <a:r>
              <a:t>Bonus. Reference the setting from an AI configuration. In config/Shared/config_ai.php add to the Smart PIM OpenAI entry:</a:t>
            </a:r>
          </a:p>
          <a:p>
            <a:pPr>
              <a:spcBef>
                <a:spcPts val="0"/>
              </a:spcBef>
              <a:spcAft>
                <a:spcPts val="0"/>
              </a:spcAft>
            </a:pPr>
            <a:r>
              <a:rPr sz="900">
                <a:solidFill>
                  <a:srgbClr val="4070A0"/>
                </a:solidFill>
                <a:latin typeface="Consolas"/>
              </a:rPr>
              <a:t>'system_prompt'</a:t>
            </a:r>
            <a:r>
              <a:rPr sz="900">
                <a:solidFill>
                  <a:srgbClr val="2D2D2D"/>
                </a:solidFill>
                <a:latin typeface="Consolas"/>
              </a:rPr>
              <a:t> =&gt; </a:t>
            </a:r>
            <a:r>
              <a:rPr sz="900">
                <a:solidFill>
                  <a:srgbClr val="4070A0"/>
                </a:solidFill>
                <a:latin typeface="Consolas"/>
              </a:rPr>
              <a:t>'Write in a '</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a:solidFill>
                  <a:srgbClr val="880000"/>
                </a:solidFill>
                <a:latin typeface="Consolas"/>
              </a:rPr>
              <a:t>A</a:t>
            </a:r>
            <a:r>
              <a:rPr sz="900">
                <a:solidFill>
                  <a:srgbClr val="2D2D2D"/>
                </a:solidFill>
                <a:latin typeface="Consolas"/>
              </a:rPr>
              <a:t>iFoundationConstants::</a:t>
            </a:r>
            <a:r>
              <a:rPr sz="900">
                <a:solidFill>
                  <a:srgbClr val="880000"/>
                </a:solidFill>
                <a:latin typeface="Consolas"/>
              </a:rPr>
              <a:t>CONFIGURATION_REFERENCE_PREFIX</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a:solidFill>
                  <a:srgbClr val="4070A0"/>
                </a:solidFill>
                <a:latin typeface="Consolas"/>
              </a:rPr>
              <a:t>'ai_commerce:smart_pim:content_style:tone'</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a:solidFill>
                  <a:srgbClr val="4070A0"/>
                </a:solidFill>
                <a:latin typeface="Consolas"/>
              </a:rPr>
              <a:t>' tone.'</a:t>
            </a:r>
            <a:r>
              <a:rPr sz="900">
                <a:solidFill>
                  <a:srgbClr val="007020"/>
                </a:solidFill>
                <a:latin typeface="Consolas"/>
              </a:rPr>
              <a:t>,</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3: Add a Setting of Your Own (15 minutes)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This does not work: a reference must be the whole value, not part of a string. Replace it with a reference to a new system_prompt setting of type string that holds the complete sentence, sync, and try the content improver again. That is the pattern the Back Office Assistant uses for all its system prompts (see guides/advanced/01-back-office-assistant-setup.md ).</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Testing</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400"/>
              </a:spcAft>
              <a:defRPr sz="1500">
                <a:solidFill>
                  <a:srgbClr val="1A1A1A"/>
                </a:solidFill>
              </a:defRPr>
            </a:pPr>
            <a:r>
              <a:t>• Configuration &gt; AI Vendor &gt; OpenAI shows the token field empty after saving; a Smart PIM action returns a result.</a:t>
            </a:r>
          </a:p>
          <a:p>
            <a:pPr>
              <a:spcAft>
                <a:spcPts val="400"/>
              </a:spcAft>
              <a:defRPr sz="1500">
                <a:solidFill>
                  <a:srgbClr val="1A1A1A"/>
                </a:solidFill>
              </a:defRPr>
            </a:pPr>
            <a:r>
              <a:t>• A wrong model name makes the Smart PIM action fail with a provider error; the correct name fixes it without a deployment.</a:t>
            </a:r>
          </a:p>
          <a:p>
            <a:pPr>
              <a:spcAft>
                <a:spcPts val="400"/>
              </a:spcAft>
              <a:defRPr sz="1500">
                <a:solidFill>
                  <a:srgbClr val="1A1A1A"/>
                </a:solidFill>
              </a:defRPr>
            </a:pPr>
            <a:r>
              <a:t>• After configuration:sync , the Content Style group appears under Smart PIM and its value survives a page reload.</a:t>
            </a:r>
          </a:p>
          <a:p>
            <a:pPr>
              <a:spcAft>
                <a:spcPts val="400"/>
              </a:spcAft>
              <a:defRPr sz="1500">
                <a:solidFill>
                  <a:srgbClr val="1A1A1A"/>
                </a:solidFill>
              </a:defRPr>
            </a:pPr>
            <a:r>
              <a:t>• The dumped value in the controller is the string you saved, or friendly if you saved nothing.</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Cleanup</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Remove the dd() from the controller and, if you did the bonus, keep or remove the system_prompt entry as you prefer. Leave your token in place: the AI Development course uses it.</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Going Further</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400"/>
              </a:spcAft>
              <a:defRPr sz="1500">
                <a:solidFill>
                  <a:srgbClr val="1A1A1A"/>
                </a:solidFill>
              </a:defRPr>
            </a:pPr>
            <a:r>
              <a:t>• Give the tone setting scopes: [store] and see how the Back Office lets you set it per store.</a:t>
            </a:r>
          </a:p>
          <a:p>
            <a:pPr>
              <a:spcAft>
                <a:spcPts val="400"/>
              </a:spcAft>
              <a:defRPr sz="1500">
                <a:solidFill>
                  <a:srgbClr val="1A1A1A"/>
                </a:solidFill>
              </a:defRPr>
            </a:pPr>
            <a:r>
              <a:t>• Look at how the Back Office Assistant guide (advanced, Exercise 21 prerequisites) adds a whole tab with the same mechanics.</a:t>
            </a:r>
          </a:p>
          <a:p>
            <a:pPr>
              <a:spcAft>
                <a:spcPts val="400"/>
              </a:spcAft>
              <a:defRPr sz="1500">
                <a:solidFill>
                  <a:srgbClr val="1A1A1A"/>
                </a:solidFill>
              </a:defRPr>
            </a:pPr>
            <a:r>
              <a:t>• Exercise 19 of the AI Development course registers an AI configuration of your own with a configuration:: reference for the key and a plain string for the model.</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spAutoFit/>
          </a:bodyPr>
          <a:lstStyle/>
          <a:p>
            <a:pPr algn="ctr">
              <a:defRPr sz="3600" b="1">
                <a:solidFill>
                  <a:srgbClr val="00A89B"/>
                </a:solidFill>
              </a:defRPr>
            </a:pPr>
            <a:r>
              <a:t>Exercise 10: Publish &amp; Synchronize - Supplier</a:t>
            </a:r>
          </a:p>
        </p:txBody>
      </p:sp>
      <p:sp>
        <p:nvSpPr>
          <p:cNvPr id="3" name="Rectangle 2"/>
          <p:cNvSpPr/>
          <p:nvPr/>
        </p:nvSpPr>
        <p:spPr>
          <a:xfrm>
            <a:off x="3657600" y="2286000"/>
            <a:ext cx="4876495" cy="381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Exercise 10: Publish &amp; Synchronize - Supplier</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In this exercise, you will make supplier data available in Elasticsearch (search) and Redis (storage) using Spryker’s Publish &amp; Synchronize (P&amp;S) pattern. This is a two-step process: first you publish data from the main database into intermediate tables, then the synchronization behavior automatically pushes that data to the storefront storages.</a:t>
            </a:r>
          </a:p>
          <a:p>
            <a:pPr>
              <a:spcAft>
                <a:spcPts val="800"/>
              </a:spcAft>
              <a:defRPr sz="1600">
                <a:solidFill>
                  <a:srgbClr val="1A1A1A"/>
                </a:solidFill>
              </a:defRPr>
            </a:pPr>
            <a:r>
              <a:t>You will learn how to: - Configure publish and synchronize queues in RabbitMQ - Set up queue message processors to handle events - Add Propel behaviors (event + synchronization) to trigger and sync data - Register publisher plugins that react to entity events - Implement publisher plugins that delegate to business logic - Build writers that process events in bulk - Trigger publish events manually from data import</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Prerequisites</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400"/>
              </a:spcAft>
              <a:defRPr sz="1500">
                <a:solidFill>
                  <a:srgbClr val="1A1A1A"/>
                </a:solidFill>
              </a:defRPr>
            </a:pPr>
            <a:r>
              <a:t>• You do not need your own solutions of the earlier exercises. The branch contains them, and load.sh --run imports the sample suppliers into the database. Publishing them to Redis and Elasticsearch is this exercise.</a:t>
            </a:r>
          </a:p>
          <a:p>
            <a:pPr>
              <a:spcAft>
                <a:spcPts val="400"/>
              </a:spcAft>
              <a:defRPr sz="1500">
                <a:solidFill>
                  <a:srgbClr val="1A1A1A"/>
                </a:solidFill>
              </a:defRPr>
            </a:pPr>
            <a:r>
              <a:t>• Understanding of the Facade, DependencyProvider, and Factory patterns</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Loading the Exercise</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./exercises/load.sh</a:t>
            </a:r>
            <a:r>
              <a:rPr sz="900">
                <a:solidFill>
                  <a:srgbClr val="2D2D2D"/>
                </a:solidFill>
                <a:latin typeface="Consolas"/>
              </a:rPr>
              <a:t> supplier intermediate/publish-synchronize/skeleton </a:t>
            </a:r>
            <a:r>
              <a:rPr sz="900">
                <a:solidFill>
                  <a:srgbClr val="2D2D2D"/>
                </a:solidFill>
                <a:latin typeface="Consolas"/>
              </a:rPr>
              <a:t>--run</a:t>
            </a:r>
          </a:p>
          <a:p>
            <a:pPr>
              <a:spcAft>
                <a:spcPts val="800"/>
              </a:spcAft>
              <a:defRPr sz="1600">
                <a:solidFill>
                  <a:srgbClr val="1A1A1A"/>
                </a:solidFill>
              </a:defRPr>
            </a:pPr>
            <a:r>
              <a:t>--run also runs the commands the loader lists after loading (cache, Propel, transfers and whatever this exercise needs, such as queues or Glue resources) and stops at the first one that fails. Leave it out to run them yourself.</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Background: Publish &amp; Synchronize Architecture</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Spryker uses a two-step process to move data from the Zed database to the storefront storages (Elasticsearch, Redis):</a:t>
            </a:r>
          </a:p>
          <a:p>
            <a:pPr>
              <a:spcBef>
                <a:spcPts val="0"/>
              </a:spcBef>
              <a:spcAft>
                <a:spcPts val="0"/>
              </a:spcAft>
            </a:pPr>
            <a:r>
              <a:rPr sz="900">
                <a:solidFill>
                  <a:srgbClr val="2D2D2D"/>
                </a:solidFill>
                <a:latin typeface="Consolas"/>
              </a:rPr>
              <a:t>Step 1: PUBLISH                          Step 2: SYNCHRONIZE</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Entity change                            Synchronization behavior</a:t>
            </a:r>
          </a:p>
          <a:p>
            <a:pPr>
              <a:spcBef>
                <a:spcPts val="0"/>
              </a:spcBef>
              <a:spcAft>
                <a:spcPts val="0"/>
              </a:spcAft>
            </a:pPr>
            <a:r>
              <a:rPr sz="900">
                <a:solidFill>
                  <a:srgbClr val="2D2D2D"/>
                </a:solidFill>
                <a:latin typeface="Consolas"/>
              </a:rPr>
              <a:t>    ↓                                        ↓</a:t>
            </a:r>
          </a:p>
          <a:p>
            <a:pPr>
              <a:spcBef>
                <a:spcPts val="0"/>
              </a:spcBef>
              <a:spcAft>
                <a:spcPts val="0"/>
              </a:spcAft>
            </a:pPr>
            <a:r>
              <a:rPr sz="900">
                <a:solidFill>
                  <a:srgbClr val="2D2D2D"/>
                </a:solidFill>
                <a:latin typeface="Consolas"/>
              </a:rPr>
              <a:t>Event (entity.create/update)             Auto-triggers on table write</a:t>
            </a:r>
          </a:p>
          <a:p>
            <a:pPr>
              <a:spcBef>
                <a:spcPts val="0"/>
              </a:spcBef>
              <a:spcAft>
                <a:spcPts val="0"/>
              </a:spcAft>
            </a:pPr>
            <a:r>
              <a:rPr sz="900">
                <a:solidFill>
                  <a:srgbClr val="2D2D2D"/>
                </a:solidFill>
                <a:latin typeface="Consolas"/>
              </a:rPr>
              <a:t>    ↓                                        ↓</a:t>
            </a:r>
          </a:p>
          <a:p>
            <a:pPr>
              <a:spcBef>
                <a:spcPts val="0"/>
              </a:spcBef>
              <a:spcAft>
                <a:spcPts val="0"/>
              </a:spcAft>
            </a:pPr>
            <a:r>
              <a:rPr sz="900">
                <a:solidFill>
                  <a:srgbClr val="2D2D2D"/>
                </a:solidFill>
                <a:latin typeface="Consolas"/>
              </a:rPr>
              <a:t>Publish queue                            Sync queue</a:t>
            </a:r>
          </a:p>
          <a:p>
            <a:pPr>
              <a:spcBef>
                <a:spcPts val="0"/>
              </a:spcBef>
              <a:spcAft>
                <a:spcPts val="0"/>
              </a:spcAft>
            </a:pPr>
            <a:r>
              <a:rPr sz="900">
                <a:solidFill>
                  <a:srgbClr val="2D2D2D"/>
                </a:solidFill>
                <a:latin typeface="Consolas"/>
              </a:rPr>
              <a:t>    ↓                                        ↓</a:t>
            </a:r>
          </a:p>
          <a:p>
            <a:pPr>
              <a:spcBef>
                <a:spcPts val="0"/>
              </a:spcBef>
              <a:spcAft>
                <a:spcPts val="0"/>
              </a:spcAft>
            </a:pPr>
            <a:r>
              <a:rPr sz="900">
                <a:solidFill>
                  <a:srgbClr val="2D2D2D"/>
                </a:solidFill>
                <a:latin typeface="Consolas"/>
              </a:rPr>
              <a:t>Queue processor → Publisher Plugin       Queue processor → Sync plugin</a:t>
            </a:r>
          </a:p>
          <a:p>
            <a:pPr>
              <a:spcBef>
                <a:spcPts val="0"/>
              </a:spcBef>
              <a:spcAft>
                <a:spcPts val="0"/>
              </a:spcAft>
            </a:pPr>
            <a:r>
              <a:rPr sz="900">
                <a:solidFill>
                  <a:srgbClr val="2D2D2D"/>
                </a:solidFill>
                <a:latin typeface="Consolas"/>
              </a:rPr>
              <a:t>    ↓                                        ↓</a:t>
            </a:r>
          </a:p>
          <a:p>
            <a:pPr>
              <a:spcBef>
                <a:spcPts val="0"/>
              </a:spcBef>
              <a:spcAft>
                <a:spcPts val="0"/>
              </a:spcAft>
            </a:pPr>
            <a:r>
              <a:rPr sz="900">
                <a:solidFill>
                  <a:srgbClr val="2D2D2D"/>
                </a:solidFill>
                <a:latin typeface="Consolas"/>
              </a:rPr>
              <a:t>Writer (business logic)                  Elasticsearch / Redis</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Insert/Update pyz_*_search/storage</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Background: Publish &amp; Synchronize Architecture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Why two modules? Spryker separates the logic by target storage: - SupplierSearch — publishes to Elasticsearch (for full-text search) - SupplierStorage — publishes to Redis (for key-value lookups)</a:t>
            </a:r>
          </a:p>
          <a:p>
            <a:pPr>
              <a:spcAft>
                <a:spcPts val="800"/>
              </a:spcAft>
              <a:defRPr sz="1600">
                <a:solidFill>
                  <a:srgbClr val="1A1A1A"/>
                </a:solidFill>
              </a:defRPr>
            </a:pPr>
            <a:r>
              <a:t>Both follow the same pattern but write to different intermediate tables.</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Working on the Exercise</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1200"/>
              </a:spcBef>
              <a:spcAft>
                <a:spcPts val="600"/>
              </a:spcAft>
              <a:defRPr sz="2000" b="1">
                <a:solidFill>
                  <a:srgbClr val="1A1A1A"/>
                </a:solidFill>
              </a:defRPr>
            </a:pPr>
            <a:r>
              <a:t>Part 1: Understand the Constants</a:t>
            </a:r>
          </a:p>
          <a:p>
            <a:pPr>
              <a:spcAft>
                <a:spcPts val="800"/>
              </a:spcAft>
              <a:defRPr sz="1600">
                <a:solidFill>
                  <a:srgbClr val="1A1A1A"/>
                </a:solidFill>
              </a:defRPr>
            </a:pPr>
            <a:r>
              <a:t>Open src/SprykerAcademy/Shared/SupplierSearch/SupplierSearchConfig.php and review the constants:</a:t>
            </a:r>
          </a:p>
          <a:p>
            <a:pPr>
              <a:spcAft>
                <a:spcPts val="100"/>
              </a:spcAft>
              <a:defRPr sz="1000">
                <a:solidFill>
                  <a:srgbClr val="1A1A1A"/>
                </a:solidFill>
                <a:latin typeface="Consolas"/>
              </a:defRPr>
            </a:pPr>
            <a:r>
              <a:t>Constant                                  Purpose                                </a:t>
            </a:r>
          </a:p>
          <a:p>
            <a:pPr>
              <a:spcAft>
                <a:spcPts val="100"/>
              </a:spcAft>
              <a:defRPr sz="1000">
                <a:solidFill>
                  <a:srgbClr val="1A1A1A"/>
                </a:solidFill>
                <a:latin typeface="Consolas"/>
              </a:defRPr>
            </a:pPr>
            <a:r>
              <a:t>----------------------------------------  ---------------------------------------</a:t>
            </a:r>
          </a:p>
          <a:p>
            <a:pPr>
              <a:spcAft>
                <a:spcPts val="100"/>
              </a:spcAft>
              <a:defRPr sz="1000">
                <a:solidFill>
                  <a:srgbClr val="1A1A1A"/>
                </a:solidFill>
                <a:latin typeface="Consolas"/>
              </a:defRPr>
            </a:pPr>
            <a:r>
              <a:t>SUPPLIER_PUBLISH_SEARCH_QUEUE             Queue name for publish events (step 1) </a:t>
            </a:r>
          </a:p>
          <a:p>
            <a:pPr>
              <a:spcAft>
                <a:spcPts val="100"/>
              </a:spcAft>
              <a:defRPr sz="1000">
                <a:solidFill>
                  <a:srgbClr val="1A1A1A"/>
                </a:solidFill>
                <a:latin typeface="Consolas"/>
              </a:defRPr>
            </a:pPr>
            <a:r>
              <a:t>SUPPLIER_SYNC_SEARCH_QUEUE                Queue name for sync events (step 2)    </a:t>
            </a:r>
          </a:p>
          <a:p>
            <a:pPr>
              <a:spcAft>
                <a:spcPts val="100"/>
              </a:spcAft>
              <a:defRPr sz="1000">
                <a:solidFill>
                  <a:srgbClr val="1A1A1A"/>
                </a:solidFill>
                <a:latin typeface="Consolas"/>
              </a:defRPr>
            </a:pPr>
            <a:r>
              <a:t>ENTITY_PYZ_SUPPLIER_CREATE/UPDATE/DELETE  Events fired by Propel’s event behavior</a:t>
            </a:r>
          </a:p>
          <a:p>
            <a:pPr>
              <a:spcAft>
                <a:spcPts val="100"/>
              </a:spcAft>
              <a:defRPr sz="1000">
                <a:solidFill>
                  <a:srgbClr val="1A1A1A"/>
                </a:solidFill>
                <a:latin typeface="Consolas"/>
              </a:defRPr>
            </a:pPr>
            <a:r>
              <a:t>SUPPLIER_PUBLISH                          Manual publish event (fired from code)</a:t>
            </a:r>
          </a:p>
          <a:p>
            <a:pPr>
              <a:spcAft>
                <a:spcPts val="800"/>
              </a:spcAft>
              <a:defRPr sz="1600">
                <a:solidFill>
                  <a:srgbClr val="1A1A1A"/>
                </a:solidFill>
              </a:defRPr>
            </a:pPr>
            <a:r>
              <a:t>Similar constants exist in SupplierStorageConfig for the Redis pipeline. You’ll use these constants throughout the exercise — never use plain strings for queue names or event names.</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2: Set Up the Queues</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P&amp;S uses four queues — two per pipeline (Search + Storage):</a:t>
            </a:r>
          </a:p>
          <a:p>
            <a:pPr>
              <a:spcAft>
                <a:spcPts val="100"/>
              </a:spcAft>
              <a:defRPr sz="1000">
                <a:solidFill>
                  <a:srgbClr val="1A1A1A"/>
                </a:solidFill>
                <a:latin typeface="Consolas"/>
              </a:defRPr>
            </a:pPr>
            <a:r>
              <a:t>Queue                     Purpose                                 Step       </a:t>
            </a:r>
          </a:p>
          <a:p>
            <a:pPr>
              <a:spcAft>
                <a:spcPts val="100"/>
              </a:spcAft>
              <a:defRPr sz="1000">
                <a:solidFill>
                  <a:srgbClr val="1A1A1A"/>
                </a:solidFill>
                <a:latin typeface="Consolas"/>
              </a:defRPr>
            </a:pPr>
            <a:r>
              <a:t>------------------------  --------------------------------------  -----------</a:t>
            </a:r>
          </a:p>
          <a:p>
            <a:pPr>
              <a:spcAft>
                <a:spcPts val="100"/>
              </a:spcAft>
              <a:defRPr sz="1000">
                <a:solidFill>
                  <a:srgbClr val="1A1A1A"/>
                </a:solidFill>
                <a:latin typeface="Consolas"/>
              </a:defRPr>
            </a:pPr>
            <a:r>
              <a:t>publish.search.supplier   Carries publish events for search       Publish    </a:t>
            </a:r>
          </a:p>
          <a:p>
            <a:pPr>
              <a:spcAft>
                <a:spcPts val="100"/>
              </a:spcAft>
              <a:defRPr sz="1000">
                <a:solidFill>
                  <a:srgbClr val="1A1A1A"/>
                </a:solidFill>
                <a:latin typeface="Consolas"/>
              </a:defRPr>
            </a:pPr>
            <a:r>
              <a:t>sync.search.supplier      Carries sync messages to Elasticsearch  Synchronize</a:t>
            </a:r>
          </a:p>
          <a:p>
            <a:pPr>
              <a:spcAft>
                <a:spcPts val="100"/>
              </a:spcAft>
              <a:defRPr sz="1000">
                <a:solidFill>
                  <a:srgbClr val="1A1A1A"/>
                </a:solidFill>
                <a:latin typeface="Consolas"/>
              </a:defRPr>
            </a:pPr>
            <a:r>
              <a:t>publish.storage.supplier  Carries publish events for storage      Publish    </a:t>
            </a:r>
          </a:p>
          <a:p>
            <a:pPr>
              <a:spcAft>
                <a:spcPts val="100"/>
              </a:spcAft>
              <a:defRPr sz="1000">
                <a:solidFill>
                  <a:srgbClr val="1A1A1A"/>
                </a:solidFill>
                <a:latin typeface="Consolas"/>
              </a:defRPr>
            </a:pPr>
            <a:r>
              <a:t>sync.storage.supplier     Carries sync messages to Redis          Synchronize</a:t>
            </a:r>
          </a:p>
          <a:p>
            <a:pPr>
              <a:spcAft>
                <a:spcPts val="800"/>
              </a:spcAft>
              <a:defRPr sz="1600">
                <a:solidFill>
                  <a:srgbClr val="1A1A1A"/>
                </a:solidFill>
              </a:defRPr>
            </a:pPr>
            <a:r>
              <a:t>Coding time:</a:t>
            </a:r>
          </a:p>
          <a:p>
            <a:pPr>
              <a:spcAft>
                <a:spcPts val="800"/>
              </a:spcAft>
              <a:defRPr sz="1600">
                <a:solidFill>
                  <a:srgbClr val="1A1A1A"/>
                </a:solidFill>
              </a:defRPr>
            </a:pPr>
            <a:r>
              <a:t>Open src/SprykerAcademy/Client/SymfonyMessenger/SymfonyMessengerConfig.php . It extends the project’s Pyz\Client\SymfonyMessenger\SymfonyMessengerConfig , and because SprykerAcademy is listed before Pyz in the kernel’s project namespaces, it is the one Spryker uses (the same pattern as the DataImport provider in Exercise 8):</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2: Set Up the Queues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400"/>
              </a:spcAft>
              <a:defRPr sz="1500">
                <a:solidFill>
                  <a:srgbClr val="1A1A1A"/>
                </a:solidFill>
              </a:defRPr>
            </a:pPr>
            <a:r>
              <a:t>• In getPublishQueueConfiguration() , add both publish queue constants ( SupplierSearchConfig::SUPPLIER_PUBLISH and SupplierStorageConfig::SUPPLIER_PUBLISH )</a:t>
            </a:r>
          </a:p>
          <a:p>
            <a:pPr>
              <a:spcAft>
                <a:spcPts val="400"/>
              </a:spcAft>
              <a:defRPr sz="1500">
                <a:solidFill>
                  <a:srgbClr val="1A1A1A"/>
                </a:solidFill>
              </a:defRPr>
            </a:pPr>
            <a:r>
              <a:t>• In getSynchronizationQueueConfiguration() , add both sync queue constants ( SupplierSearchConfig::SUPPLIER_SYNC_SEARCH_QUEUE and SupplierStorageConfig::SUPPLIER_SYNC_STORAGE_QUEUE )</a:t>
            </a:r>
          </a:p>
          <a:p>
            <a:pPr>
              <a:spcAft>
                <a:spcPts val="800"/>
              </a:spcAft>
              <a:defRPr sz="1400" i="1">
                <a:solidFill>
                  <a:srgbClr val="888888"/>
                </a:solidFill>
              </a:defRPr>
            </a:pPr>
            <a:r>
              <a:t>❝ Symfony Messenger: Spryker 202512.0+ uses Symfony Messenger as the queue transport instead of direct RabbitMQ. Queues are configured in SymfonyMessengerConfig and the transport handles queue creation automatically. The queue worker processes messages through the same queue:worker:start command.</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3: Set Up Queue Processors</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Each queue needs a processor to handle its messages. Spryker provides out-of-the-box processor plugins.</a:t>
            </a:r>
          </a:p>
          <a:p>
            <a:pPr>
              <a:spcAft>
                <a:spcPts val="800"/>
              </a:spcAft>
              <a:defRPr sz="1600">
                <a:solidFill>
                  <a:srgbClr val="1A1A1A"/>
                </a:solidFill>
              </a:defRPr>
            </a:pPr>
            <a:r>
              <a:t>Coding time:</a:t>
            </a:r>
          </a:p>
          <a:p>
            <a:pPr>
              <a:spcAft>
                <a:spcPts val="800"/>
              </a:spcAft>
              <a:defRPr sz="1600">
                <a:solidFill>
                  <a:srgbClr val="1A1A1A"/>
                </a:solidFill>
              </a:defRPr>
            </a:pPr>
            <a:r>
              <a:t>Open src/SprykerAcademy/Zed/Queue/QueueDependencyProvider.php (it extends the project’s provider). For each queue, assign the appropriate processor:</a:t>
            </a:r>
          </a:p>
          <a:p>
            <a:pPr>
              <a:spcAft>
                <a:spcPts val="100"/>
              </a:spcAft>
              <a:defRPr sz="1000">
                <a:solidFill>
                  <a:srgbClr val="1A1A1A"/>
                </a:solidFill>
                <a:latin typeface="Consolas"/>
              </a:defRPr>
            </a:pPr>
            <a:r>
              <a:t>Queue                  Processor Plugin                                 </a:t>
            </a:r>
          </a:p>
          <a:p>
            <a:pPr>
              <a:spcAft>
                <a:spcPts val="100"/>
              </a:spcAft>
              <a:defRPr sz="1000">
                <a:solidFill>
                  <a:srgbClr val="1A1A1A"/>
                </a:solidFill>
                <a:latin typeface="Consolas"/>
              </a:defRPr>
            </a:pPr>
            <a:r>
              <a:t>---------------------  -------------------------------------------------</a:t>
            </a:r>
          </a:p>
          <a:p>
            <a:pPr>
              <a:spcAft>
                <a:spcPts val="100"/>
              </a:spcAft>
              <a:defRPr sz="1000">
                <a:solidFill>
                  <a:srgbClr val="1A1A1A"/>
                </a:solidFill>
                <a:latin typeface="Consolas"/>
              </a:defRPr>
            </a:pPr>
            <a:r>
              <a:t>Publish queues (both)  EventQueueMessageProcessorPlugin                 </a:t>
            </a:r>
          </a:p>
          <a:p>
            <a:pPr>
              <a:spcAft>
                <a:spcPts val="100"/>
              </a:spcAft>
              <a:defRPr sz="1000">
                <a:solidFill>
                  <a:srgbClr val="1A1A1A"/>
                </a:solidFill>
                <a:latin typeface="Consolas"/>
              </a:defRPr>
            </a:pPr>
            <a:r>
              <a:t>Search sync queue      SynchronizationSearchQueueMessageProcessorPlugin </a:t>
            </a:r>
          </a:p>
          <a:p>
            <a:pPr>
              <a:spcAft>
                <a:spcPts val="100"/>
              </a:spcAft>
              <a:defRPr sz="1000">
                <a:solidFill>
                  <a:srgbClr val="1A1A1A"/>
                </a:solidFill>
                <a:latin typeface="Consolas"/>
              </a:defRPr>
            </a:pPr>
            <a:r>
              <a:t>Storage sync queue     SynchronizationStorageQueueMessageProcessorPlugin</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3: Set Up Queue Processors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400" i="1">
                <a:solidFill>
                  <a:srgbClr val="888888"/>
                </a:solidFill>
              </a:defRPr>
            </a:pPr>
            <a:r>
              <a:t>❝ How it works: The queue worker reads messages from a queue and passes them to the assigned processor. Publish queues contain “event” messages (processed by EventQueueMessageProcessorPlugin ), while sync queues contain serialized data (processed by Synchronization* plugins that push to Elasticsearch/Redis).</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4: Add Propel Behaviors</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Propel behaviors are declared inside a &lt;table&gt; tag in schema XML files. Each behavior has a name attribute and contains &lt;parameter&gt; child tags that configure it. The general structure is:</a:t>
            </a:r>
          </a:p>
          <a:p>
            <a:pPr>
              <a:spcBef>
                <a:spcPts val="0"/>
              </a:spcBef>
              <a:spcAft>
                <a:spcPts val="0"/>
              </a:spcAft>
            </a:pPr>
            <a:r>
              <a:rPr sz="900" b="1">
                <a:solidFill>
                  <a:srgbClr val="007020"/>
                </a:solidFill>
                <a:latin typeface="Consolas"/>
              </a:rPr>
              <a:t>&lt;table</a:t>
            </a:r>
            <a:r>
              <a:rPr sz="900">
                <a:solidFill>
                  <a:srgbClr val="007020"/>
                </a:solidFill>
                <a:latin typeface="Consolas"/>
              </a:rPr>
              <a:t> name=</a:t>
            </a:r>
            <a:r>
              <a:rPr sz="900">
                <a:solidFill>
                  <a:srgbClr val="4070A0"/>
                </a:solidFill>
                <a:latin typeface="Consolas"/>
              </a:rPr>
              <a:t>"my_table"</a:t>
            </a:r>
            <a:r>
              <a:rPr sz="900" b="1">
                <a:solidFill>
                  <a:srgbClr val="007020"/>
                </a:solidFill>
                <a:latin typeface="Consolas"/>
              </a:rPr>
              <a:t>&gt;</a:t>
            </a:r>
          </a:p>
          <a:p>
            <a:pPr>
              <a:spcBef>
                <a:spcPts val="0"/>
              </a:spcBef>
              <a:spcAft>
                <a:spcPts val="0"/>
              </a:spcAft>
            </a:pPr>
            <a:r>
              <a:rPr sz="900">
                <a:solidFill>
                  <a:srgbClr val="2D2D2D"/>
                </a:solidFill>
                <a:latin typeface="Consolas"/>
              </a:rPr>
              <a:t>    </a:t>
            </a:r>
            <a:r>
              <a:rPr sz="900" b="1">
                <a:solidFill>
                  <a:srgbClr val="007020"/>
                </a:solidFill>
                <a:latin typeface="Consolas"/>
              </a:rPr>
              <a:t>&lt;column</a:t>
            </a:r>
            <a:r>
              <a:rPr sz="900">
                <a:solidFill>
                  <a:srgbClr val="2D2D2D"/>
                </a:solidFill>
                <a:latin typeface="Consolas"/>
              </a:rPr>
              <a:t> </a:t>
            </a:r>
            <a:r>
              <a:rPr sz="900" b="1">
                <a:solidFill>
                  <a:srgbClr val="FF0000"/>
                </a:solidFill>
                <a:latin typeface="Consolas"/>
              </a:rPr>
              <a:t>...</a:t>
            </a:r>
            <a:r>
              <a:rPr sz="900" b="1">
                <a:solidFill>
                  <a:srgbClr val="007020"/>
                </a:solidFill>
                <a:latin typeface="Consolas"/>
              </a:rPr>
              <a:t>/&gt;</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    </a:t>
            </a:r>
            <a:r>
              <a:rPr sz="900" b="1">
                <a:solidFill>
                  <a:srgbClr val="007020"/>
                </a:solidFill>
                <a:latin typeface="Consolas"/>
              </a:rPr>
              <a:t>&lt;behavior</a:t>
            </a:r>
            <a:r>
              <a:rPr sz="900">
                <a:solidFill>
                  <a:srgbClr val="007020"/>
                </a:solidFill>
                <a:latin typeface="Consolas"/>
              </a:rPr>
              <a:t> name=</a:t>
            </a:r>
            <a:r>
              <a:rPr sz="900">
                <a:solidFill>
                  <a:srgbClr val="4070A0"/>
                </a:solidFill>
                <a:latin typeface="Consolas"/>
              </a:rPr>
              <a:t>"behavior_name"</a:t>
            </a:r>
            <a:r>
              <a:rPr sz="900" b="1">
                <a:solidFill>
                  <a:srgbClr val="007020"/>
                </a:solidFill>
                <a:latin typeface="Consolas"/>
              </a:rPr>
              <a:t>&gt;</a:t>
            </a:r>
          </a:p>
          <a:p>
            <a:pPr>
              <a:spcBef>
                <a:spcPts val="0"/>
              </a:spcBef>
              <a:spcAft>
                <a:spcPts val="0"/>
              </a:spcAft>
            </a:pPr>
            <a:r>
              <a:rPr sz="900">
                <a:solidFill>
                  <a:srgbClr val="2D2D2D"/>
                </a:solidFill>
                <a:latin typeface="Consolas"/>
              </a:rPr>
              <a:t>        </a:t>
            </a:r>
            <a:r>
              <a:rPr sz="900" b="1">
                <a:solidFill>
                  <a:srgbClr val="007020"/>
                </a:solidFill>
                <a:latin typeface="Consolas"/>
              </a:rPr>
              <a:t>&lt;parameter</a:t>
            </a:r>
            <a:r>
              <a:rPr sz="900">
                <a:solidFill>
                  <a:srgbClr val="007020"/>
                </a:solidFill>
                <a:latin typeface="Consolas"/>
              </a:rPr>
              <a:t> name=</a:t>
            </a:r>
            <a:r>
              <a:rPr sz="900">
                <a:solidFill>
                  <a:srgbClr val="4070A0"/>
                </a:solidFill>
                <a:latin typeface="Consolas"/>
              </a:rPr>
              <a:t>"param_name"</a:t>
            </a:r>
            <a:r>
              <a:rPr sz="900">
                <a:solidFill>
                  <a:srgbClr val="007020"/>
                </a:solidFill>
                <a:latin typeface="Consolas"/>
              </a:rPr>
              <a:t> value=</a:t>
            </a:r>
            <a:r>
              <a:rPr sz="900">
                <a:solidFill>
                  <a:srgbClr val="4070A0"/>
                </a:solidFill>
                <a:latin typeface="Consolas"/>
              </a:rPr>
              <a:t>"param_value"</a:t>
            </a:r>
            <a:r>
              <a:rPr sz="900" b="1">
                <a:solidFill>
                  <a:srgbClr val="007020"/>
                </a:solidFill>
                <a:latin typeface="Consolas"/>
              </a:rPr>
              <a:t>/&gt;</a:t>
            </a:r>
          </a:p>
          <a:p>
            <a:pPr>
              <a:spcBef>
                <a:spcPts val="0"/>
              </a:spcBef>
              <a:spcAft>
                <a:spcPts val="0"/>
              </a:spcAft>
            </a:pPr>
            <a:r>
              <a:rPr sz="900">
                <a:solidFill>
                  <a:srgbClr val="2D2D2D"/>
                </a:solidFill>
                <a:latin typeface="Consolas"/>
              </a:rPr>
              <a:t>        </a:t>
            </a:r>
            <a:r>
              <a:rPr sz="900" b="1">
                <a:solidFill>
                  <a:srgbClr val="007020"/>
                </a:solidFill>
                <a:latin typeface="Consolas"/>
              </a:rPr>
              <a:t>&lt;parameter</a:t>
            </a:r>
            <a:r>
              <a:rPr sz="900">
                <a:solidFill>
                  <a:srgbClr val="007020"/>
                </a:solidFill>
                <a:latin typeface="Consolas"/>
              </a:rPr>
              <a:t> name=</a:t>
            </a:r>
            <a:r>
              <a:rPr sz="900">
                <a:solidFill>
                  <a:srgbClr val="4070A0"/>
                </a:solidFill>
                <a:latin typeface="Consolas"/>
              </a:rPr>
              <a:t>"another_param"</a:t>
            </a:r>
            <a:r>
              <a:rPr sz="900">
                <a:solidFill>
                  <a:srgbClr val="007020"/>
                </a:solidFill>
                <a:latin typeface="Consolas"/>
              </a:rPr>
              <a:t> value=</a:t>
            </a:r>
            <a:r>
              <a:rPr sz="900">
                <a:solidFill>
                  <a:srgbClr val="4070A0"/>
                </a:solidFill>
                <a:latin typeface="Consolas"/>
              </a:rPr>
              <a:t>"another_value"</a:t>
            </a:r>
            <a:r>
              <a:rPr sz="900" b="1">
                <a:solidFill>
                  <a:srgbClr val="007020"/>
                </a:solidFill>
                <a:latin typeface="Consolas"/>
              </a:rPr>
              <a:t>/&gt;</a:t>
            </a:r>
          </a:p>
          <a:p>
            <a:pPr>
              <a:spcBef>
                <a:spcPts val="0"/>
              </a:spcBef>
              <a:spcAft>
                <a:spcPts val="0"/>
              </a:spcAft>
            </a:pPr>
            <a:r>
              <a:rPr sz="900">
                <a:solidFill>
                  <a:srgbClr val="2D2D2D"/>
                </a:solidFill>
                <a:latin typeface="Consolas"/>
              </a:rPr>
              <a:t>    </a:t>
            </a:r>
            <a:r>
              <a:rPr sz="900" b="1">
                <a:solidFill>
                  <a:srgbClr val="007020"/>
                </a:solidFill>
                <a:latin typeface="Consolas"/>
              </a:rPr>
              <a:t>&lt;/behavior&gt;</a:t>
            </a:r>
          </a:p>
          <a:p>
            <a:pPr>
              <a:spcBef>
                <a:spcPts val="0"/>
              </a:spcBef>
              <a:spcAft>
                <a:spcPts val="0"/>
              </a:spcAft>
            </a:pPr>
            <a:r>
              <a:rPr sz="900" b="1">
                <a:solidFill>
                  <a:srgbClr val="007020"/>
                </a:solidFill>
                <a:latin typeface="Consolas"/>
              </a:rPr>
              <a:t>&lt;/table&gt;</a:t>
            </a:r>
          </a:p>
          <a:p>
            <a:pPr>
              <a:spcAft>
                <a:spcPts val="800"/>
              </a:spcAft>
              <a:defRPr sz="1600">
                <a:solidFill>
                  <a:srgbClr val="1A1A1A"/>
                </a:solidFill>
              </a:defRPr>
            </a:pPr>
            <a:r>
              <a:t>Each &lt;parameter&gt; has a name attribute (what to configure) and a value attribute (the setting). Some parameters also support column instead of value — this is specific to the event behavior.</a:t>
            </a:r>
          </a:p>
          <a:p>
            <a:pPr>
              <a:spcBef>
                <a:spcPts val="800"/>
              </a:spcBef>
              <a:spcAft>
                <a:spcPts val="400"/>
              </a:spcAft>
              <a:defRPr sz="1700" b="1">
                <a:solidFill>
                  <a:srgbClr val="1A1A1A"/>
                </a:solidFill>
              </a:defRPr>
            </a:pPr>
            <a:r>
              <a:t>4.1 Event Behavior — Fire Events on Entity Changes</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4: Add Propel Behaviors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The event behavior makes Propel fire events whenever an entity is created, updated, or deleted. These events are the starting point of the P&amp;S flow.</a:t>
            </a:r>
          </a:p>
          <a:p>
            <a:pPr>
              <a:spcAft>
                <a:spcPts val="800"/>
              </a:spcAft>
              <a:defRPr sz="1600">
                <a:solidFill>
                  <a:srgbClr val="1A1A1A"/>
                </a:solidFill>
              </a:defRPr>
            </a:pPr>
            <a:r>
              <a:t>Coding time:</a:t>
            </a:r>
          </a:p>
          <a:p>
            <a:pPr>
              <a:spcAft>
                <a:spcPts val="800"/>
              </a:spcAft>
              <a:defRPr sz="1600">
                <a:solidFill>
                  <a:srgbClr val="1A1A1A"/>
                </a:solidFill>
              </a:defRPr>
            </a:pPr>
            <a:r>
              <a:t>Open src/SprykerAcademy/Zed/Supplier/Persistence/Propel/Schema/pyz_supplier.schema.xml . Add the event behavior to the pyz_supplier table.</a:t>
            </a:r>
          </a:p>
          <a:p>
            <a:pPr>
              <a:spcAft>
                <a:spcPts val="800"/>
              </a:spcAft>
              <a:defRPr sz="1600">
                <a:solidFill>
                  <a:srgbClr val="1A1A1A"/>
                </a:solidFill>
              </a:defRPr>
            </a:pPr>
            <a:r>
              <a:t>The event behavior uses &lt;parameter&gt; tags where: - name — an arbitrary label, conventionally tablename_all (e.g., pyz_supplier_all ) - column — which columns to watch for changes. Use "*" to watch all columns</a:t>
            </a:r>
          </a:p>
          <a:p>
            <a:pPr>
              <a:spcBef>
                <a:spcPts val="0"/>
              </a:spcBef>
              <a:spcAft>
                <a:spcPts val="0"/>
              </a:spcAft>
            </a:pPr>
            <a:r>
              <a:rPr sz="900" b="1">
                <a:solidFill>
                  <a:srgbClr val="007020"/>
                </a:solidFill>
                <a:latin typeface="Consolas"/>
              </a:rPr>
              <a:t>&lt;behavior</a:t>
            </a:r>
            <a:r>
              <a:rPr sz="900">
                <a:solidFill>
                  <a:srgbClr val="007020"/>
                </a:solidFill>
                <a:latin typeface="Consolas"/>
              </a:rPr>
              <a:t> name=</a:t>
            </a:r>
            <a:r>
              <a:rPr sz="900">
                <a:solidFill>
                  <a:srgbClr val="4070A0"/>
                </a:solidFill>
                <a:latin typeface="Consolas"/>
              </a:rPr>
              <a:t>"event"</a:t>
            </a:r>
            <a:r>
              <a:rPr sz="900" b="1">
                <a:solidFill>
                  <a:srgbClr val="007020"/>
                </a:solidFill>
                <a:latin typeface="Consolas"/>
              </a:rPr>
              <a:t>&gt;</a:t>
            </a:r>
          </a:p>
          <a:p>
            <a:pPr>
              <a:spcBef>
                <a:spcPts val="0"/>
              </a:spcBef>
              <a:spcAft>
                <a:spcPts val="0"/>
              </a:spcAft>
            </a:pPr>
            <a:r>
              <a:rPr sz="900">
                <a:solidFill>
                  <a:srgbClr val="2D2D2D"/>
                </a:solidFill>
                <a:latin typeface="Consolas"/>
              </a:rPr>
              <a:t>    </a:t>
            </a:r>
            <a:r>
              <a:rPr sz="900" b="1">
                <a:solidFill>
                  <a:srgbClr val="007020"/>
                </a:solidFill>
                <a:latin typeface="Consolas"/>
              </a:rPr>
              <a:t>&lt;parameter</a:t>
            </a:r>
            <a:r>
              <a:rPr sz="900">
                <a:solidFill>
                  <a:srgbClr val="007020"/>
                </a:solidFill>
                <a:latin typeface="Consolas"/>
              </a:rPr>
              <a:t> name=</a:t>
            </a:r>
            <a:r>
              <a:rPr sz="900">
                <a:solidFill>
                  <a:srgbClr val="4070A0"/>
                </a:solidFill>
                <a:latin typeface="Consolas"/>
              </a:rPr>
              <a:t>"..."</a:t>
            </a:r>
            <a:r>
              <a:rPr sz="900">
                <a:solidFill>
                  <a:srgbClr val="007020"/>
                </a:solidFill>
                <a:latin typeface="Consolas"/>
              </a:rPr>
              <a:t> column=</a:t>
            </a:r>
            <a:r>
              <a:rPr sz="900">
                <a:solidFill>
                  <a:srgbClr val="4070A0"/>
                </a:solidFill>
                <a:latin typeface="Consolas"/>
              </a:rPr>
              <a:t>"..."</a:t>
            </a:r>
            <a:r>
              <a:rPr sz="900" b="1">
                <a:solidFill>
                  <a:srgbClr val="007020"/>
                </a:solidFill>
                <a:latin typeface="Consolas"/>
              </a:rPr>
              <a:t>/&gt;</a:t>
            </a:r>
          </a:p>
          <a:p>
            <a:pPr>
              <a:spcBef>
                <a:spcPts val="0"/>
              </a:spcBef>
              <a:spcAft>
                <a:spcPts val="0"/>
              </a:spcAft>
            </a:pPr>
            <a:r>
              <a:rPr sz="900" b="1">
                <a:solidFill>
                  <a:srgbClr val="007020"/>
                </a:solidFill>
                <a:latin typeface="Consolas"/>
              </a:rPr>
              <a:t>&lt;/behavior&gt;</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4: Add Propel Behaviors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400" i="1">
                <a:solidFill>
                  <a:srgbClr val="888888"/>
                </a:solidFill>
              </a:defRPr>
            </a:pPr>
            <a:r>
              <a:t>❝ What this triggers: Once added, Propel automatically fires events like Entity.pyz_supplier.create , Entity.pyz_supplier.update , and Entity.pyz_supplier.delete whenever the table is modified.</a:t>
            </a:r>
          </a:p>
          <a:p>
            <a:pPr>
              <a:spcBef>
                <a:spcPts val="800"/>
              </a:spcBef>
              <a:spcAft>
                <a:spcPts val="400"/>
              </a:spcAft>
              <a:defRPr sz="1700" b="1">
                <a:solidFill>
                  <a:srgbClr val="1A1A1A"/>
                </a:solidFill>
              </a:defRPr>
            </a:pPr>
            <a:r>
              <a:t>4.2 Synchronization Behavior — Auto-Sync to Storefront</a:t>
            </a:r>
          </a:p>
          <a:p>
            <a:pPr>
              <a:spcAft>
                <a:spcPts val="800"/>
              </a:spcAft>
              <a:defRPr sz="1600">
                <a:solidFill>
                  <a:srgbClr val="1A1A1A"/>
                </a:solidFill>
              </a:defRPr>
            </a:pPr>
            <a:r>
              <a:t>The synchronization behavior on the intermediate tables ( pyz_supplier_search , pyz_supplier_storage ) automatically pushes data to the sync queue whenever a record is written.</a:t>
            </a:r>
          </a:p>
          <a:p>
            <a:pPr>
              <a:spcAft>
                <a:spcPts val="800"/>
              </a:spcAft>
              <a:defRPr sz="1600">
                <a:solidFill>
                  <a:srgbClr val="1A1A1A"/>
                </a:solidFill>
              </a:defRPr>
            </a:pPr>
            <a:r>
              <a:t>Coding time:</a:t>
            </a:r>
          </a:p>
          <a:p>
            <a:pPr>
              <a:spcAft>
                <a:spcPts val="800"/>
              </a:spcAft>
              <a:defRPr sz="1600">
                <a:solidFill>
                  <a:srgbClr val="1A1A1A"/>
                </a:solidFill>
              </a:defRPr>
            </a:pPr>
            <a:r>
              <a:t>Open src/SprykerAcademy/Zed/SupplierSearch/Persistence/Propel/Schema/pyz_supplier_search.schema.xml . Add the synchronization behavior using &lt;parameter&gt; child tags.</a:t>
            </a:r>
          </a:p>
          <a:p>
            <a:pPr>
              <a:spcAft>
                <a:spcPts val="800"/>
              </a:spcAft>
              <a:defRPr sz="1600">
                <a:solidFill>
                  <a:srgbClr val="1A1A1A"/>
                </a:solidFill>
              </a:defRPr>
            </a:pPr>
            <a:r>
              <a:t>Available parameters for the synchronization behavior:</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4: Add Propel Behaviors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100"/>
              </a:spcAft>
              <a:defRPr sz="1000">
                <a:solidFill>
                  <a:srgbClr val="1A1A1A"/>
                </a:solidFill>
                <a:latin typeface="Consolas"/>
              </a:defRPr>
            </a:pPr>
            <a:r>
              <a:t>Parameter          Value                                                Purpose                                                                                                                       </a:t>
            </a:r>
          </a:p>
          <a:p>
            <a:pPr>
              <a:spcAft>
                <a:spcPts val="100"/>
              </a:spcAft>
              <a:defRPr sz="1000">
                <a:solidFill>
                  <a:srgbClr val="1A1A1A"/>
                </a:solidFill>
                <a:latin typeface="Consolas"/>
              </a:defRPr>
            </a:pPr>
            <a:r>
              <a:t>-----------------  ---------------------------------------------------  ------------------------------------------------------------------------------------------------------------------------------</a:t>
            </a:r>
          </a:p>
          <a:p>
            <a:pPr>
              <a:spcAft>
                <a:spcPts val="100"/>
              </a:spcAft>
              <a:defRPr sz="1000">
                <a:solidFill>
                  <a:srgbClr val="1A1A1A"/>
                </a:solidFill>
                <a:latin typeface="Consolas"/>
              </a:defRPr>
            </a:pPr>
            <a:r>
              <a:t>resource           A resource name string (e.g., "supplier" )           Used to build the storage key (e.g., supplier:1 )                                                                             </a:t>
            </a:r>
          </a:p>
          <a:p>
            <a:pPr>
              <a:spcAft>
                <a:spcPts val="100"/>
              </a:spcAft>
              <a:defRPr sz="1000">
                <a:solidFill>
                  <a:srgbClr val="1A1A1A"/>
                </a:solidFill>
                <a:latin typeface="Consolas"/>
              </a:defRPr>
            </a:pPr>
            <a:r>
              <a:t>key_suffix_column  A column name from the table (e.g., "fk_supplier" )  The column whose value becomes the key suffix                                                                                 </a:t>
            </a:r>
          </a:p>
          <a:p>
            <a:pPr>
              <a:spcAft>
                <a:spcPts val="100"/>
              </a:spcAft>
              <a:defRPr sz="1000">
                <a:solidFill>
                  <a:srgbClr val="1A1A1A"/>
                </a:solidFill>
                <a:latin typeface="Consolas"/>
              </a:defRPr>
            </a:pPr>
            <a:r>
              <a:t>queue_group        A sync queue name (e.g., "sync.search.supplier" )    Which queue receives the sync messages                                                                                        </a:t>
            </a:r>
          </a:p>
          <a:p>
            <a:pPr>
              <a:spcAft>
                <a:spcPts val="100"/>
              </a:spcAft>
              <a:defRPr sz="1000">
                <a:solidFill>
                  <a:srgbClr val="1A1A1A"/>
                </a:solidFill>
                <a:latin typeface="Consolas"/>
              </a:defRPr>
            </a:pPr>
            <a:r>
              <a:t>params             JSON string (e.g., '{"type":"supplier"}' )           Extra parameters — for search, set type to "supplier" (must match the mapping type in supplier.json and the source identifier)</a:t>
            </a:r>
          </a:p>
          <a:p>
            <a:pPr>
              <a:spcAft>
                <a:spcPts val="800"/>
              </a:spcAft>
              <a:defRPr sz="1600">
                <a:solidFill>
                  <a:srgbClr val="1A1A1A"/>
                </a:solidFill>
              </a:defRPr>
            </a:pPr>
            <a:r>
              <a:t>For the search table, you need all four parameters (including params with type: "supplier" for Elasticsearch indexing). This type value must match: - The mapping type name in supplier.json (the key inside mappings ) - The SOURCE_IDENTIFIER constant in your query plugin - The index name in SearchElasticsearchConfig::SUPPORTED_SOURCE_IDENTIFIERS</a:t>
            </a:r>
          </a:p>
          <a:p>
            <a:pPr>
              <a:spcAft>
                <a:spcPts val="800"/>
              </a:spcAft>
              <a:defRPr sz="1600">
                <a:solidFill>
                  <a:srgbClr val="1A1A1A"/>
                </a:solidFill>
              </a:defRPr>
            </a:pPr>
            <a:r>
              <a:t>For the storage table ( pyz_supplier_storage.schema.xml ), it is already provided.</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4: Add Propel Behaviors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b="1">
                <a:solidFill>
                  <a:srgbClr val="007020"/>
                </a:solidFill>
                <a:latin typeface="Consolas"/>
              </a:rPr>
              <a:t>&lt;behavior</a:t>
            </a:r>
            <a:r>
              <a:rPr sz="900">
                <a:solidFill>
                  <a:srgbClr val="007020"/>
                </a:solidFill>
                <a:latin typeface="Consolas"/>
              </a:rPr>
              <a:t> name=</a:t>
            </a:r>
            <a:r>
              <a:rPr sz="900">
                <a:solidFill>
                  <a:srgbClr val="4070A0"/>
                </a:solidFill>
                <a:latin typeface="Consolas"/>
              </a:rPr>
              <a:t>"synchronization"</a:t>
            </a:r>
            <a:r>
              <a:rPr sz="900" b="1">
                <a:solidFill>
                  <a:srgbClr val="007020"/>
                </a:solidFill>
                <a:latin typeface="Consolas"/>
              </a:rPr>
              <a:t>&gt;</a:t>
            </a:r>
          </a:p>
          <a:p>
            <a:pPr>
              <a:spcBef>
                <a:spcPts val="0"/>
              </a:spcBef>
              <a:spcAft>
                <a:spcPts val="0"/>
              </a:spcAft>
            </a:pPr>
            <a:r>
              <a:rPr sz="900">
                <a:solidFill>
                  <a:srgbClr val="2D2D2D"/>
                </a:solidFill>
                <a:latin typeface="Consolas"/>
              </a:rPr>
              <a:t>    </a:t>
            </a:r>
            <a:r>
              <a:rPr sz="900" b="1">
                <a:solidFill>
                  <a:srgbClr val="007020"/>
                </a:solidFill>
                <a:latin typeface="Consolas"/>
              </a:rPr>
              <a:t>&lt;parameter</a:t>
            </a:r>
            <a:r>
              <a:rPr sz="900">
                <a:solidFill>
                  <a:srgbClr val="007020"/>
                </a:solidFill>
                <a:latin typeface="Consolas"/>
              </a:rPr>
              <a:t> name=</a:t>
            </a:r>
            <a:r>
              <a:rPr sz="900">
                <a:solidFill>
                  <a:srgbClr val="4070A0"/>
                </a:solidFill>
                <a:latin typeface="Consolas"/>
              </a:rPr>
              <a:t>"..."</a:t>
            </a:r>
            <a:r>
              <a:rPr sz="900">
                <a:solidFill>
                  <a:srgbClr val="007020"/>
                </a:solidFill>
                <a:latin typeface="Consolas"/>
              </a:rPr>
              <a:t> value=</a:t>
            </a:r>
            <a:r>
              <a:rPr sz="900">
                <a:solidFill>
                  <a:srgbClr val="4070A0"/>
                </a:solidFill>
                <a:latin typeface="Consolas"/>
              </a:rPr>
              <a:t>"..."</a:t>
            </a:r>
            <a:r>
              <a:rPr sz="900" b="1">
                <a:solidFill>
                  <a:srgbClr val="007020"/>
                </a:solidFill>
                <a:latin typeface="Consolas"/>
              </a:rPr>
              <a:t>/&gt;</a:t>
            </a:r>
          </a:p>
          <a:p>
            <a:pPr>
              <a:spcBef>
                <a:spcPts val="0"/>
              </a:spcBef>
              <a:spcAft>
                <a:spcPts val="0"/>
              </a:spcAft>
            </a:pPr>
            <a:r>
              <a:rPr sz="900">
                <a:solidFill>
                  <a:srgbClr val="2D2D2D"/>
                </a:solidFill>
                <a:latin typeface="Consolas"/>
              </a:rPr>
              <a:t>    </a:t>
            </a:r>
            <a:r>
              <a:rPr sz="900" b="1">
                <a:solidFill>
                  <a:srgbClr val="007020"/>
                </a:solidFill>
                <a:latin typeface="Consolas"/>
              </a:rPr>
              <a:t>&lt;parameter</a:t>
            </a:r>
            <a:r>
              <a:rPr sz="900">
                <a:solidFill>
                  <a:srgbClr val="007020"/>
                </a:solidFill>
                <a:latin typeface="Consolas"/>
              </a:rPr>
              <a:t> name=</a:t>
            </a:r>
            <a:r>
              <a:rPr sz="900">
                <a:solidFill>
                  <a:srgbClr val="4070A0"/>
                </a:solidFill>
                <a:latin typeface="Consolas"/>
              </a:rPr>
              <a:t>"..."</a:t>
            </a:r>
            <a:r>
              <a:rPr sz="900">
                <a:solidFill>
                  <a:srgbClr val="007020"/>
                </a:solidFill>
                <a:latin typeface="Consolas"/>
              </a:rPr>
              <a:t> value=</a:t>
            </a:r>
            <a:r>
              <a:rPr sz="900">
                <a:solidFill>
                  <a:srgbClr val="4070A0"/>
                </a:solidFill>
                <a:latin typeface="Consolas"/>
              </a:rPr>
              <a:t>"..."</a:t>
            </a:r>
            <a:r>
              <a:rPr sz="900" b="1">
                <a:solidFill>
                  <a:srgbClr val="007020"/>
                </a:solidFill>
                <a:latin typeface="Consolas"/>
              </a:rPr>
              <a:t>/&gt;</a:t>
            </a:r>
          </a:p>
          <a:p>
            <a:pPr>
              <a:spcBef>
                <a:spcPts val="0"/>
              </a:spcBef>
              <a:spcAft>
                <a:spcPts val="0"/>
              </a:spcAft>
            </a:pPr>
            <a:r>
              <a:rPr sz="900">
                <a:solidFill>
                  <a:srgbClr val="2D2D2D"/>
                </a:solidFill>
                <a:latin typeface="Consolas"/>
              </a:rPr>
              <a:t>    </a:t>
            </a:r>
            <a:r>
              <a:rPr sz="900" i="1">
                <a:solidFill>
                  <a:srgbClr val="60A0B0"/>
                </a:solidFill>
                <a:latin typeface="Consolas"/>
              </a:rPr>
              <a:t>&lt;!-- ... --&gt;</a:t>
            </a:r>
          </a:p>
          <a:p>
            <a:pPr>
              <a:spcBef>
                <a:spcPts val="0"/>
              </a:spcBef>
              <a:spcAft>
                <a:spcPts val="0"/>
              </a:spcAft>
            </a:pPr>
            <a:r>
              <a:rPr sz="900" b="1">
                <a:solidFill>
                  <a:srgbClr val="007020"/>
                </a:solidFill>
                <a:latin typeface="Consolas"/>
              </a:rPr>
              <a:t>&lt;/behavior&gt;</a:t>
            </a:r>
          </a:p>
          <a:p>
            <a:pPr>
              <a:spcAft>
                <a:spcPts val="800"/>
              </a:spcAft>
              <a:defRPr sz="1600">
                <a:solidFill>
                  <a:srgbClr val="1A1A1A"/>
                </a:solidFill>
              </a:defRPr>
            </a:pPr>
            <a:r>
              <a:t>After adding the behaviors:</a:t>
            </a:r>
          </a:p>
          <a:p>
            <a:pPr>
              <a:spcBef>
                <a:spcPts val="0"/>
              </a:spcBef>
              <a:spcAft>
                <a:spcPts val="0"/>
              </a:spcAft>
            </a:pPr>
            <a:r>
              <a:rPr sz="900">
                <a:solidFill>
                  <a:srgbClr val="2D2D2D"/>
                </a:solidFill>
                <a:latin typeface="Consolas"/>
              </a:rPr>
              <a:t>docker/sdk</a:t>
            </a:r>
            <a:r>
              <a:rPr sz="900">
                <a:solidFill>
                  <a:srgbClr val="2D2D2D"/>
                </a:solidFill>
                <a:latin typeface="Consolas"/>
              </a:rPr>
              <a:t> console propel:install</a:t>
            </a:r>
          </a:p>
          <a:p>
            <a:pPr>
              <a:spcAft>
                <a:spcPts val="800"/>
              </a:spcAft>
              <a:defRPr sz="1400" i="1">
                <a:solidFill>
                  <a:srgbClr val="888888"/>
                </a:solidFill>
              </a:defRPr>
            </a:pPr>
            <a:r>
              <a:t>❝ What the synchronization behavior does: It auto-adds key , data , created_at , and updated_at columns to the table. When you save an entity to this table, the behavior automatically generates a key (e.g., supplier:1 ), serializes the data as JSON, and emits a message to the sync queue.</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5: Register Publisher Plugins</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Publisher plugins react to entity events and delegate to the business logic. You need to register them so the system knows which plugins handle which events.</a:t>
            </a:r>
          </a:p>
          <a:p>
            <a:pPr>
              <a:spcAft>
                <a:spcPts val="800"/>
              </a:spcAft>
              <a:defRPr sz="1600">
                <a:solidFill>
                  <a:srgbClr val="1A1A1A"/>
                </a:solidFill>
              </a:defRPr>
            </a:pPr>
            <a:r>
              <a:t>Coding time:</a:t>
            </a:r>
          </a:p>
          <a:p>
            <a:pPr>
              <a:spcAft>
                <a:spcPts val="800"/>
              </a:spcAft>
              <a:defRPr sz="1600">
                <a:solidFill>
                  <a:srgbClr val="1A1A1A"/>
                </a:solidFill>
              </a:defRPr>
            </a:pPr>
            <a:r>
              <a:t>Open src/SprykerAcademy/Zed/Publisher/PublisherDependencyProvider.php (it extends the project’s provider) and complete getSupplierPublisherPlugins() . The format maps a queue name to an array of publisher plugins:</a:t>
            </a:r>
          </a:p>
          <a:p>
            <a:pPr>
              <a:spcBef>
                <a:spcPts val="0"/>
              </a:spcBef>
              <a:spcAft>
                <a:spcPts val="0"/>
              </a:spcAft>
            </a:pPr>
            <a:r>
              <a:rPr sz="900" b="1">
                <a:solidFill>
                  <a:srgbClr val="007020"/>
                </a:solidFill>
                <a:latin typeface="Consolas"/>
              </a:rPr>
              <a:t>return</a:t>
            </a:r>
            <a:r>
              <a:rPr sz="900">
                <a:solidFill>
                  <a:srgbClr val="2D2D2D"/>
                </a:solidFill>
                <a:latin typeface="Consolas"/>
              </a:rPr>
              <a:t> [</a:t>
            </a:r>
          </a:p>
          <a:p>
            <a:pPr>
              <a:spcBef>
                <a:spcPts val="0"/>
              </a:spcBef>
              <a:spcAft>
                <a:spcPts val="0"/>
              </a:spcAft>
            </a:pPr>
            <a:r>
              <a:rPr sz="900">
                <a:solidFill>
                  <a:srgbClr val="2D2D2D"/>
                </a:solidFill>
                <a:latin typeface="Consolas"/>
              </a:rPr>
              <a:t>    </a:t>
            </a:r>
            <a:r>
              <a:rPr sz="900">
                <a:solidFill>
                  <a:srgbClr val="880000"/>
                </a:solidFill>
                <a:latin typeface="Consolas"/>
              </a:rPr>
              <a:t>Q</a:t>
            </a:r>
            <a:r>
              <a:rPr sz="900">
                <a:solidFill>
                  <a:srgbClr val="2D2D2D"/>
                </a:solidFill>
                <a:latin typeface="Consolas"/>
              </a:rPr>
              <a:t>ueueName::</a:t>
            </a:r>
            <a:r>
              <a:rPr sz="900">
                <a:solidFill>
                  <a:srgbClr val="06287E"/>
                </a:solidFill>
                <a:latin typeface="Consolas"/>
              </a:rPr>
              <a:t>CONSTANT</a:t>
            </a:r>
            <a:r>
              <a:rPr sz="900">
                <a:solidFill>
                  <a:srgbClr val="2D2D2D"/>
                </a:solidFill>
                <a:latin typeface="Consolas"/>
              </a:rPr>
              <a:t> =&gt; [</a:t>
            </a:r>
          </a:p>
          <a:p>
            <a:pPr>
              <a:spcBef>
                <a:spcPts val="0"/>
              </a:spcBef>
              <a:spcAft>
                <a:spcPts val="0"/>
              </a:spcAft>
            </a:pPr>
            <a:r>
              <a:rPr sz="900">
                <a:solidFill>
                  <a:srgbClr val="2D2D2D"/>
                </a:solidFill>
                <a:latin typeface="Consolas"/>
              </a:rPr>
              <a:t>        </a:t>
            </a:r>
            <a:r>
              <a:rPr sz="900" b="1">
                <a:solidFill>
                  <a:srgbClr val="007020"/>
                </a:solidFill>
                <a:latin typeface="Consolas"/>
              </a:rPr>
              <a:t>new</a:t>
            </a:r>
            <a:r>
              <a:rPr sz="900">
                <a:solidFill>
                  <a:srgbClr val="2D2D2D"/>
                </a:solidFill>
                <a:latin typeface="Consolas"/>
              </a:rPr>
              <a:t> </a:t>
            </a:r>
            <a:r>
              <a:rPr sz="900">
                <a:solidFill>
                  <a:srgbClr val="880000"/>
                </a:solidFill>
                <a:latin typeface="Consolas"/>
              </a:rPr>
              <a:t>M</a:t>
            </a:r>
            <a:r>
              <a:rPr sz="900">
                <a:solidFill>
                  <a:srgbClr val="2D2D2D"/>
                </a:solidFill>
                <a:latin typeface="Consolas"/>
              </a:rPr>
              <a:t>yWritePublisherPlugin()</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007020"/>
                </a:solidFill>
                <a:latin typeface="Consolas"/>
              </a:rPr>
              <a:t>,</a:t>
            </a:r>
          </a:p>
          <a:p>
            <a:pPr>
              <a:spcBef>
                <a:spcPts val="0"/>
              </a:spcBef>
              <a:spcAft>
                <a:spcPts val="0"/>
              </a:spcAft>
            </a:pPr>
            <a:r>
              <a:rPr sz="900">
                <a:solidFill>
                  <a:srgbClr val="2D2D2D"/>
                </a:solidFill>
                <a:latin typeface="Consolas"/>
              </a:rPr>
              <a:t>]</a:t>
            </a:r>
            <a:r>
              <a:rPr sz="900">
                <a:solidFill>
                  <a:srgbClr val="007020"/>
                </a:solidFill>
                <a:latin typeface="Consolas"/>
              </a:rPr>
              <a:t>;</a:t>
            </a:r>
          </a:p>
          <a:p>
            <a:pPr>
              <a:spcAft>
                <a:spcPts val="400"/>
              </a:spcAft>
              <a:defRPr sz="1500">
                <a:solidFill>
                  <a:srgbClr val="1A1A1A"/>
                </a:solidFill>
              </a:defRPr>
            </a:pPr>
            <a:r>
              <a:t>• Create a method that returns the Search publisher plugin mapped to the search publish queue</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5: Register Publisher Plugins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400"/>
              </a:spcAft>
              <a:defRPr sz="1500">
                <a:solidFill>
                  <a:srgbClr val="1A1A1A"/>
                </a:solidFill>
              </a:defRPr>
            </a:pPr>
            <a:r>
              <a:t>• Create a method that returns the Storage publisher plugin mapped to the storage publish queue</a:t>
            </a:r>
          </a:p>
          <a:p>
            <a:pPr>
              <a:spcAft>
                <a:spcPts val="400"/>
              </a:spcAft>
              <a:defRPr sz="1500">
                <a:solidFill>
                  <a:srgbClr val="1A1A1A"/>
                </a:solidFill>
              </a:defRPr>
            </a:pPr>
            <a:r>
              <a:t>• Add both to getPublisherPlugins()</a:t>
            </a:r>
          </a:p>
          <a:p>
            <a:pPr>
              <a:spcAft>
                <a:spcPts val="800"/>
              </a:spcAft>
              <a:defRPr sz="1400" i="1">
                <a:solidFill>
                  <a:srgbClr val="888888"/>
                </a:solidFill>
              </a:defRPr>
            </a:pPr>
            <a:r>
              <a:t>❝ Queue routing: By specifying the queue as the array key, you tell the system: “put events for these plugins on this queue.” If no key is specified, events go to the default publish queue.</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6: Implement Publisher Plugins</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The publisher plugin is the entry point for handling events. It receives a batch of event transfers and delegates to the Facade.</a:t>
            </a:r>
          </a:p>
          <a:p>
            <a:pPr>
              <a:spcAft>
                <a:spcPts val="800"/>
              </a:spcAft>
              <a:defRPr sz="1600">
                <a:solidFill>
                  <a:srgbClr val="1A1A1A"/>
                </a:solidFill>
              </a:defRPr>
            </a:pPr>
            <a:r>
              <a:t>Coding time:</a:t>
            </a:r>
          </a:p>
          <a:p>
            <a:pPr>
              <a:spcAft>
                <a:spcPts val="800"/>
              </a:spcAft>
              <a:defRPr sz="1600">
                <a:solidFill>
                  <a:srgbClr val="1A1A1A"/>
                </a:solidFill>
              </a:defRPr>
            </a:pPr>
            <a:r>
              <a:t>Open src/SprykerAcademy/Zed/SupplierSearch/Communication/Plugin/Publisher/SupplierSearchWritePublisherPlugin.php :</a:t>
            </a:r>
          </a:p>
          <a:p>
            <a:pPr>
              <a:spcAft>
                <a:spcPts val="400"/>
              </a:spcAft>
              <a:defRPr sz="1500">
                <a:solidFill>
                  <a:srgbClr val="1A1A1A"/>
                </a:solidFill>
              </a:defRPr>
            </a:pPr>
            <a:r>
              <a:t>• getSubscribedEvents() — return an array of event names this plugin reacts to. Use constants from SupplierSearchConfig : the manual publish event, plus entity create and update events</a:t>
            </a:r>
          </a:p>
          <a:p>
            <a:pPr>
              <a:spcAft>
                <a:spcPts val="400"/>
              </a:spcAft>
              <a:defRPr sz="1500">
                <a:solidFill>
                  <a:srgbClr val="1A1A1A"/>
                </a:solidFill>
              </a:defRPr>
            </a:pPr>
            <a:r>
              <a:t>• handleBulk() — use $this-&gt;getFacade() to call the write method, passing the event transfers</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6: Implement Publisher Plugins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400" i="1">
                <a:solidFill>
                  <a:srgbClr val="888888"/>
                </a:solidFill>
              </a:defRPr>
            </a:pPr>
            <a:r>
              <a:t>❝ Why subscribe to both manual and entity events? Entity events ( Entity.pyz_supplier.create ) are triggered automatically by the event behavior on pyz_supplier . The manual event ( SupplierSearch.supplier.publish ) is triggered explicitly from code (e.g., data import). The plugin handles both the same way.</a:t>
            </a:r>
          </a:p>
          <a:p>
            <a:pPr>
              <a:spcAft>
                <a:spcPts val="800"/>
              </a:spcAft>
              <a:defRPr sz="1600">
                <a:solidFill>
                  <a:srgbClr val="1A1A1A"/>
                </a:solidFill>
              </a:defRPr>
            </a:pPr>
            <a:r>
              <a:t>Do the same for SupplierStorageWritePublisherPlugin using SupplierStorageConfig constants.</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7: Build the Business Logic Chain</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Now implement the chain that the publisher plugin calls: Facade → Factory → Writer.</a:t>
            </a:r>
          </a:p>
          <a:p>
            <a:pPr>
              <a:spcBef>
                <a:spcPts val="800"/>
              </a:spcBef>
              <a:spcAft>
                <a:spcPts val="400"/>
              </a:spcAft>
              <a:defRPr sz="1700" b="1">
                <a:solidFill>
                  <a:srgbClr val="1A1A1A"/>
                </a:solidFill>
              </a:defRPr>
            </a:pPr>
            <a:r>
              <a:t>7.1 Implement the Writer</a:t>
            </a:r>
          </a:p>
          <a:p>
            <a:pPr>
              <a:spcAft>
                <a:spcPts val="800"/>
              </a:spcAft>
              <a:defRPr sz="1600">
                <a:solidFill>
                  <a:srgbClr val="1A1A1A"/>
                </a:solidFill>
              </a:defRPr>
            </a:pPr>
            <a:r>
              <a:t>The writer is the core business logic. It processes a batch of events in bulk.</a:t>
            </a:r>
          </a:p>
          <a:p>
            <a:pPr>
              <a:spcAft>
                <a:spcPts val="800"/>
              </a:spcAft>
              <a:defRPr sz="1600">
                <a:solidFill>
                  <a:srgbClr val="1A1A1A"/>
                </a:solidFill>
              </a:defRPr>
            </a:pPr>
            <a:r>
              <a:t>Coding time:</a:t>
            </a:r>
          </a:p>
          <a:p>
            <a:pPr>
              <a:spcAft>
                <a:spcPts val="800"/>
              </a:spcAft>
              <a:defRPr sz="1600">
                <a:solidFill>
                  <a:srgbClr val="1A1A1A"/>
                </a:solidFill>
              </a:defRPr>
            </a:pPr>
            <a:r>
              <a:t>Open src/SprykerAcademy/Zed/SupplierSearch/Business/Writer/SupplierSearchWriter.php . The skeleton has the iteration logic. You need to fill in the data-loading methods:</a:t>
            </a:r>
          </a:p>
          <a:p>
            <a:pPr>
              <a:spcAft>
                <a:spcPts val="400"/>
              </a:spcAft>
              <a:defRPr sz="1500">
                <a:solidFill>
                  <a:srgbClr val="1A1A1A"/>
                </a:solidFill>
              </a:defRPr>
            </a:pPr>
            <a:r>
              <a:t>• Create a SupplierCriteriaTransfer , populate it with the supplier IDs, and use the SupplierFacade to load supplier entities</a:t>
            </a:r>
          </a:p>
          <a:p>
            <a:pPr>
              <a:spcAft>
                <a:spcPts val="400"/>
              </a:spcAft>
              <a:defRPr sz="1500">
                <a:solidFill>
                  <a:srgbClr val="1A1A1A"/>
                </a:solidFill>
              </a:defRPr>
            </a:pPr>
            <a:r>
              <a:t>• Create a SupplierSearchCriteriaTransfer , populate it with the same IDs, and use the Repository to load existing search records</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7: Build the Business Logic Chain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400"/>
              </a:spcAft>
              <a:defRPr sz="1500">
                <a:solidFill>
                  <a:srgbClr val="1A1A1A"/>
                </a:solidFill>
              </a:defRPr>
            </a:pPr>
            <a:r>
              <a:t>• The rest of the loop (create/update per supplier) is provided</a:t>
            </a:r>
          </a:p>
          <a:p>
            <a:pPr>
              <a:spcAft>
                <a:spcPts val="800"/>
              </a:spcAft>
              <a:defRPr sz="1400" i="1">
                <a:solidFill>
                  <a:srgbClr val="888888"/>
                </a:solidFill>
              </a:defRPr>
            </a:pPr>
            <a:r>
              <a:t>❝ Bulk processing: Loading all suppliers in one query is critical. The writer receives an array of events (potentially hundreds) — doing one query per event would be extremely slow.</a:t>
            </a:r>
          </a:p>
          <a:p>
            <a:pPr>
              <a:spcAft>
                <a:spcPts val="800"/>
              </a:spcAft>
              <a:defRPr sz="1600">
                <a:solidFill>
                  <a:srgbClr val="1A1A1A"/>
                </a:solidFill>
              </a:defRPr>
            </a:pPr>
            <a:r>
              <a:t>Apply the same pattern to SupplierStorageWriter .</a:t>
            </a:r>
          </a:p>
          <a:p>
            <a:pPr>
              <a:spcBef>
                <a:spcPts val="800"/>
              </a:spcBef>
              <a:spcAft>
                <a:spcPts val="400"/>
              </a:spcAft>
              <a:defRPr sz="1700" b="1">
                <a:solidFill>
                  <a:srgbClr val="1A1A1A"/>
                </a:solidFill>
              </a:defRPr>
            </a:pPr>
            <a:r>
              <a:t>7.2 Provide Module Dependencies</a:t>
            </a:r>
          </a:p>
          <a:p>
            <a:pPr>
              <a:spcAft>
                <a:spcPts val="800"/>
              </a:spcAft>
              <a:defRPr sz="1600">
                <a:solidFill>
                  <a:srgbClr val="1A1A1A"/>
                </a:solidFill>
              </a:defRPr>
            </a:pPr>
            <a:r>
              <a:t>Coding time:</a:t>
            </a:r>
          </a:p>
          <a:p>
            <a:pPr>
              <a:spcAft>
                <a:spcPts val="800"/>
              </a:spcAft>
              <a:defRPr sz="1600">
                <a:solidFill>
                  <a:srgbClr val="1A1A1A"/>
                </a:solidFill>
              </a:defRPr>
            </a:pPr>
            <a:r>
              <a:t>Open src/SprykerAcademy/Zed/SupplierSearch/SupplierSearchDependencyProvider.php :</a:t>
            </a:r>
          </a:p>
          <a:p>
            <a:pPr>
              <a:spcAft>
                <a:spcPts val="400"/>
              </a:spcAft>
              <a:defRPr sz="1500">
                <a:solidFill>
                  <a:srgbClr val="1A1A1A"/>
                </a:solidFill>
              </a:defRPr>
            </a:pPr>
            <a:r>
              <a:t>• Implement addEventBehaviorFacade() — the EventBehaviorFacade provides helpers to extract entity IDs from event transfers. Access via $container-&gt;getLocator()-&gt;eventBehavior()-&gt;facade()</a:t>
            </a:r>
          </a:p>
          <a:p>
            <a:pPr>
              <a:spcAft>
                <a:spcPts val="400"/>
              </a:spcAft>
              <a:defRPr sz="1500">
                <a:solidFill>
                  <a:srgbClr val="1A1A1A"/>
                </a:solidFill>
              </a:defRPr>
            </a:pPr>
            <a:r>
              <a:t>• Implement addSupplierFacade() — the core SupplierFacade for reading supplier data</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7: Build the Business Logic Chain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400"/>
              </a:spcAft>
              <a:defRPr sz="1500">
                <a:solidFill>
                  <a:srgbClr val="1A1A1A"/>
                </a:solidFill>
              </a:defRPr>
            </a:pPr>
            <a:r>
              <a:t>• Call both in provideBusinessLayerDependencies()</a:t>
            </a:r>
          </a:p>
          <a:p>
            <a:pPr>
              <a:spcAft>
                <a:spcPts val="800"/>
              </a:spcAft>
              <a:defRPr sz="1600">
                <a:solidFill>
                  <a:srgbClr val="1A1A1A"/>
                </a:solidFill>
              </a:defRPr>
            </a:pPr>
            <a:r>
              <a:t>Do the same for SupplierStorageDependencyProvider .</a:t>
            </a:r>
          </a:p>
          <a:p>
            <a:pPr>
              <a:spcBef>
                <a:spcPts val="800"/>
              </a:spcBef>
              <a:spcAft>
                <a:spcPts val="400"/>
              </a:spcAft>
              <a:defRPr sz="1700" b="1">
                <a:solidFill>
                  <a:srgbClr val="1A1A1A"/>
                </a:solidFill>
              </a:defRPr>
            </a:pPr>
            <a:r>
              <a:t>7.3 Implement the BusinessFactory</a:t>
            </a:r>
          </a:p>
          <a:p>
            <a:pPr>
              <a:spcAft>
                <a:spcPts val="800"/>
              </a:spcAft>
              <a:defRPr sz="1600">
                <a:solidFill>
                  <a:srgbClr val="1A1A1A"/>
                </a:solidFill>
              </a:defRPr>
            </a:pPr>
            <a:r>
              <a:t>Coding time:</a:t>
            </a:r>
          </a:p>
          <a:p>
            <a:pPr>
              <a:spcAft>
                <a:spcPts val="800"/>
              </a:spcAft>
              <a:defRPr sz="1600">
                <a:solidFill>
                  <a:srgbClr val="1A1A1A"/>
                </a:solidFill>
              </a:defRPr>
            </a:pPr>
            <a:r>
              <a:t>Open src/SprykerAcademy/Zed/SupplierSearch/Business/SupplierSearchBusinessFactory.php :</a:t>
            </a:r>
          </a:p>
          <a:p>
            <a:pPr>
              <a:spcAft>
                <a:spcPts val="400"/>
              </a:spcAft>
              <a:defRPr sz="1500">
                <a:solidFill>
                  <a:srgbClr val="1A1A1A"/>
                </a:solidFill>
              </a:defRPr>
            </a:pPr>
            <a:r>
              <a:t>• Implement getEventBehaviorFacade() and getSupplierFacade() using getProvidedDependency()</a:t>
            </a:r>
          </a:p>
          <a:p>
            <a:pPr>
              <a:spcAft>
                <a:spcPts val="400"/>
              </a:spcAft>
              <a:defRPr sz="1500">
                <a:solidFill>
                  <a:srgbClr val="1A1A1A"/>
                </a:solidFill>
              </a:defRPr>
            </a:pPr>
            <a:r>
              <a:t>• Wire all four dependencies into the Writer constructor: the two facades, plus getRepository() and getEntityManager() (available from the parent class)</a:t>
            </a:r>
          </a:p>
          <a:p>
            <a:pPr>
              <a:spcAft>
                <a:spcPts val="800"/>
              </a:spcAft>
              <a:defRPr sz="1600">
                <a:solidFill>
                  <a:srgbClr val="1A1A1A"/>
                </a:solidFill>
              </a:defRPr>
            </a:pPr>
            <a:r>
              <a:t>Do the same for SupplierStorageBusinessFactory .</a:t>
            </a:r>
          </a:p>
          <a:p>
            <a:pPr>
              <a:spcBef>
                <a:spcPts val="800"/>
              </a:spcBef>
              <a:spcAft>
                <a:spcPts val="400"/>
              </a:spcAft>
              <a:defRPr sz="1700" b="1">
                <a:solidFill>
                  <a:srgbClr val="1A1A1A"/>
                </a:solidFill>
              </a:defRPr>
            </a:pPr>
            <a:r>
              <a:t>7.4 Implement the Facade</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7: Build the Business Logic Chain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Coding time:</a:t>
            </a:r>
          </a:p>
          <a:p>
            <a:pPr>
              <a:spcAft>
                <a:spcPts val="800"/>
              </a:spcAft>
              <a:defRPr sz="1600">
                <a:solidFill>
                  <a:srgbClr val="1A1A1A"/>
                </a:solidFill>
              </a:defRPr>
            </a:pPr>
            <a:r>
              <a:t>Open src/SprykerAcademy/Zed/SupplierSearch/Business/SupplierSearchFacade.php . Delegate writeCollectionBySupplierEvents() to the writer via the factory.</a:t>
            </a:r>
          </a:p>
          <a:p>
            <a:pPr>
              <a:spcAft>
                <a:spcPts val="800"/>
              </a:spcAft>
              <a:defRPr sz="1600">
                <a:solidFill>
                  <a:srgbClr val="1A1A1A"/>
                </a:solidFill>
              </a:defRPr>
            </a:pPr>
            <a:r>
              <a:t>Do the same for SupplierStorageFacade .</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8: Trigger Publish from Data Import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The Propel event behavior is disabled during data import for performance (to avoid millions of events during bulk imports). You need to manually trigger publish events.</a:t>
            </a:r>
          </a:p>
          <a:p>
            <a:pPr>
              <a:spcAft>
                <a:spcPts val="800"/>
              </a:spcAft>
              <a:defRPr sz="1600">
                <a:solidFill>
                  <a:srgbClr val="1A1A1A"/>
                </a:solidFill>
              </a:defRPr>
            </a:pPr>
            <a:r>
              <a:t>Coding time:</a:t>
            </a:r>
          </a:p>
          <a:p>
            <a:pPr>
              <a:spcAft>
                <a:spcPts val="800"/>
              </a:spcAft>
              <a:defRPr sz="1600">
                <a:solidFill>
                  <a:srgbClr val="1A1A1A"/>
                </a:solidFill>
              </a:defRPr>
            </a:pPr>
            <a:r>
              <a:t>Open src/SprykerAcademy/Zed/SupplierDataImport/Business/DataImportStep/SupplierWriterStep.php . The step extends PublishAwareStep which provides addPublishEvents() . After saving a supplier entity (inside the isNew() || isModified() condition), call it twice: - Once for search (using SupplierSearchConfig::SUPPLIER_PUBLISH ) - Once for storage (using SupplierStorageConfig::SUPPLIER_PUBLISH )</a:t>
            </a:r>
          </a:p>
          <a:p>
            <a:pPr>
              <a:spcAft>
                <a:spcPts val="800"/>
              </a:spcAft>
              <a:defRPr sz="1600">
                <a:solidFill>
                  <a:srgbClr val="1A1A1A"/>
                </a:solidFill>
              </a:defRPr>
            </a:pPr>
            <a:r>
              <a:t>Pass the supplier ID as the second parameter.</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The Complete Flow</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After implementing all parts, here’s what happens when a supplier is created or imported:</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The Complete Flow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1. Supplier entity saved</a:t>
            </a:r>
          </a:p>
          <a:p>
            <a:pPr>
              <a:spcBef>
                <a:spcPts val="0"/>
              </a:spcBef>
              <a:spcAft>
                <a:spcPts val="0"/>
              </a:spcAft>
            </a:pPr>
            <a:r>
              <a:rPr sz="900">
                <a:solidFill>
                  <a:srgbClr val="2D2D2D"/>
                </a:solidFill>
                <a:latin typeface="Consolas"/>
              </a:rPr>
              <a:t>   → Event behavior fires Entity.pyz_supplier.create</a:t>
            </a:r>
          </a:p>
          <a:p>
            <a:pPr>
              <a:spcBef>
                <a:spcPts val="0"/>
              </a:spcBef>
              <a:spcAft>
                <a:spcPts val="0"/>
              </a:spcAft>
            </a:pPr>
            <a:r>
              <a:rPr sz="900">
                <a:solidFill>
                  <a:srgbClr val="2D2D2D"/>
                </a:solidFill>
                <a:latin typeface="Consolas"/>
              </a:rPr>
              <a:t>   → (or DataImport fires SupplierSearch.supplier.publish manually)</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2. Event goes to publish.search.supplier queue</a:t>
            </a:r>
          </a:p>
          <a:p>
            <a:pPr>
              <a:spcBef>
                <a:spcPts val="0"/>
              </a:spcBef>
              <a:spcAft>
                <a:spcPts val="0"/>
              </a:spcAft>
            </a:pPr>
            <a:r>
              <a:rPr sz="900">
                <a:solidFill>
                  <a:srgbClr val="2D2D2D"/>
                </a:solidFill>
                <a:latin typeface="Consolas"/>
              </a:rPr>
              <a:t>   → EventQueueMessageProcessorPlugin processes it</a:t>
            </a:r>
          </a:p>
          <a:p>
            <a:pPr>
              <a:spcBef>
                <a:spcPts val="0"/>
              </a:spcBef>
              <a:spcAft>
                <a:spcPts val="0"/>
              </a:spcAft>
            </a:pPr>
            <a:r>
              <a:rPr sz="900">
                <a:solidFill>
                  <a:srgbClr val="2D2D2D"/>
                </a:solidFill>
                <a:latin typeface="Consolas"/>
              </a:rPr>
              <a:t>   → SupplierSearchWritePublisherPlugin.handleBulk() called</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3. Plugin calls Facade → Factory → Writer</a:t>
            </a:r>
          </a:p>
          <a:p>
            <a:pPr>
              <a:spcBef>
                <a:spcPts val="0"/>
              </a:spcBef>
              <a:spcAft>
                <a:spcPts val="0"/>
              </a:spcAft>
            </a:pPr>
            <a:r>
              <a:rPr sz="900">
                <a:solidFill>
                  <a:srgbClr val="2D2D2D"/>
                </a:solidFill>
                <a:latin typeface="Consolas"/>
              </a:rPr>
              <a:t>   → Writer loads supplier data from DB</a:t>
            </a:r>
          </a:p>
          <a:p>
            <a:pPr>
              <a:spcBef>
                <a:spcPts val="0"/>
              </a:spcBef>
              <a:spcAft>
                <a:spcPts val="0"/>
              </a:spcAft>
            </a:pPr>
            <a:r>
              <a:rPr sz="900">
                <a:solidFill>
                  <a:srgbClr val="2D2D2D"/>
                </a:solidFill>
                <a:latin typeface="Consolas"/>
              </a:rPr>
              <a:t>   → Writer inserts/updates pyz_supplier_search row</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4. Synchronization behavior on pyz_supplier_search triggers</a:t>
            </a:r>
          </a:p>
          <a:p>
            <a:pPr>
              <a:spcBef>
                <a:spcPts val="0"/>
              </a:spcBef>
              <a:spcAft>
                <a:spcPts val="0"/>
              </a:spcAft>
            </a:pPr>
            <a:r>
              <a:rPr sz="900">
                <a:solidFill>
                  <a:srgbClr val="2D2D2D"/>
                </a:solidFill>
                <a:latin typeface="Consolas"/>
              </a:rPr>
              <a:t>   → Message goes to sync.search.supplier queue</a:t>
            </a:r>
          </a:p>
          <a:p>
            <a:pPr>
              <a:spcBef>
                <a:spcPts val="0"/>
              </a:spcBef>
              <a:spcAft>
                <a:spcPts val="0"/>
              </a:spcAft>
            </a:pPr>
            <a:r>
              <a:rPr sz="900">
                <a:solidFill>
                  <a:srgbClr val="2D2D2D"/>
                </a:solidFill>
                <a:latin typeface="Consolas"/>
              </a:rPr>
              <a:t>   → SynchronizationSearchQueueMessageProcessorPlugin processes it</a:t>
            </a:r>
          </a:p>
          <a:p>
            <a:pPr>
              <a:spcBef>
                <a:spcPts val="0"/>
              </a:spcBef>
              <a:spcAft>
                <a:spcPts val="0"/>
              </a:spcAft>
            </a:pPr>
            <a:r>
              <a:rPr sz="900">
                <a:solidFill>
                  <a:srgbClr val="2D2D2D"/>
                </a:solidFill>
                <a:latin typeface="Consolas"/>
              </a:rPr>
              <a:t>   → Data pushed to Elasticsearch</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(Same flow in parallel for Storage → Redis)</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Testing the Flow</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1200"/>
              </a:spcBef>
              <a:spcAft>
                <a:spcPts val="600"/>
              </a:spcAft>
              <a:defRPr sz="2000" b="1">
                <a:solidFill>
                  <a:srgbClr val="1A1A1A"/>
                </a:solidFill>
              </a:defRPr>
            </a:pPr>
            <a:r>
              <a:t>Setup: Ensure Queues and Exchanges Exist</a:t>
            </a:r>
          </a:p>
          <a:p>
            <a:pPr>
              <a:spcAft>
                <a:spcPts val="800"/>
              </a:spcAft>
              <a:defRPr sz="1600">
                <a:solidFill>
                  <a:srgbClr val="1A1A1A"/>
                </a:solidFill>
              </a:defRPr>
            </a:pPr>
            <a:r>
              <a:t>After registering queues in the config files, you must create the AMQP infrastructure (queues, exchanges, bindings) in RabbitMQ:</a:t>
            </a:r>
          </a:p>
          <a:p>
            <a:pPr>
              <a:spcBef>
                <a:spcPts val="0"/>
              </a:spcBef>
              <a:spcAft>
                <a:spcPts val="0"/>
              </a:spcAft>
            </a:pPr>
            <a:r>
              <a:rPr sz="900">
                <a:solidFill>
                  <a:srgbClr val="2D2D2D"/>
                </a:solidFill>
                <a:latin typeface="Consolas"/>
              </a:rPr>
              <a:t>docker/sdk</a:t>
            </a:r>
            <a:r>
              <a:rPr sz="900">
                <a:solidFill>
                  <a:srgbClr val="2D2D2D"/>
                </a:solidFill>
                <a:latin typeface="Consolas"/>
              </a:rPr>
              <a:t> console messenger:setup-transports</a:t>
            </a:r>
          </a:p>
          <a:p>
            <a:pPr>
              <a:spcAft>
                <a:spcPts val="800"/>
              </a:spcAft>
              <a:defRPr sz="1600">
                <a:solidFill>
                  <a:srgbClr val="1A1A1A"/>
                </a:solidFill>
              </a:defRPr>
            </a:pPr>
            <a:r>
              <a:t>This reads the SymfonyMessengerConfig::getQueueConfiguration() and creates the corresponding AMQP exchanges and queues. Without this step, messages are silently dropped because the Symfony Messenger transport has no exchange to route them through.</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Testing the Flow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400" i="1">
                <a:solidFill>
                  <a:srgbClr val="888888"/>
                </a:solidFill>
              </a:defRPr>
            </a:pPr>
            <a:r>
              <a:t>❝ Three config classes are involved: Queues must be registered in: 1. SymfonyMessengerConfig — Symfony Messenger transport routing (Part 2) 2. RabbitMqConfig — AMQP queue declaration (provided in src/SprykerAcademy/Client/RabbitMq ) 3. QueueDependencyProvider — queue message processors (Part 3) load.sh --run runs queue:setup and messenger:setup-transports for you. Run them again after you changed the queue configuration.</a:t>
            </a:r>
          </a:p>
          <a:p>
            <a:pPr>
              <a:spcAft>
                <a:spcPts val="800"/>
              </a:spcAft>
              <a:defRPr sz="1600">
                <a:solidFill>
                  <a:srgbClr val="1A1A1A"/>
                </a:solidFill>
              </a:defRPr>
            </a:pPr>
            <a:r>
              <a:t>Verify the queues exist at http://queue.spryker.local (login: spryker / secret ): - publish.search.supplier - publish.storage.supplier - sync.search.supplier - sync.storage.supplier</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Test the Flow</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400"/>
              </a:spcAft>
              <a:defRPr sz="1500">
                <a:solidFill>
                  <a:srgbClr val="1A1A1A"/>
                </a:solidFill>
              </a:defRPr>
            </a:pPr>
            <a:r>
              <a:t>• Add a new supplier to the CSV and import: docker/sdk console data:import supplier --config = data/import/local/supplier_import.yml Only new or changed rows fire publish events. To republish every supplier to search and storage, for example after you emptied the index, use docker/sdk console publish:trigger-events -r supplier .</a:t>
            </a:r>
          </a:p>
          <a:p>
            <a:pPr>
              <a:spcAft>
                <a:spcPts val="400"/>
              </a:spcAft>
              <a:defRPr sz="1500">
                <a:solidFill>
                  <a:srgbClr val="1A1A1A"/>
                </a:solidFill>
              </a:defRPr>
            </a:pPr>
            <a:r>
              <a:t>• Process the event queue first (routes events to publish queues): docker/sdk console queue:worker:start --stop-when-empty</a:t>
            </a:r>
          </a:p>
          <a:p>
            <a:pPr>
              <a:spcAft>
                <a:spcPts val="400"/>
              </a:spcAft>
              <a:defRPr sz="1500">
                <a:solidFill>
                  <a:srgbClr val="1A1A1A"/>
                </a:solidFill>
              </a:defRPr>
            </a:pPr>
            <a:r>
              <a:t>• Process again (handles publish → search/storage tables → sync queues → Elasticsearch/Redis): docker/sdk console queue:worker:start --stop-when-empty You may need to run the worker multiple times — the first run processes publish events (writes to intermediate tables), the second processes sync events (pushes to Elasticsearch/Redis).</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Test the Flow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400"/>
              </a:spcAft>
              <a:defRPr sz="1500">
                <a:solidFill>
                  <a:srgbClr val="1A1A1A"/>
                </a:solidFill>
              </a:defRPr>
            </a:pPr>
            <a:r>
              <a:t>• Check the intermediate tables using any DB client (credentials in deploy.dev.yml ): SELECT count ( * ) FROM pyz_supplier_search; SELECT count ( * ) FROM pyz_supplier_storage;</a:t>
            </a:r>
          </a:p>
          <a:p>
            <a:pPr>
              <a:spcAft>
                <a:spcPts val="400"/>
              </a:spcAft>
              <a:defRPr sz="1500">
                <a:solidFill>
                  <a:srgbClr val="1A1A1A"/>
                </a:solidFill>
              </a:defRPr>
            </a:pPr>
            <a:r>
              <a:t>• Verify Elasticsearch: curl -s 'localhost:9200/_search' -H 'Content-type: application/json' \ -d '{"query":{"exists":{"field":"id_supplier"}}}'</a:t>
            </a:r>
          </a:p>
          <a:p>
            <a:pPr>
              <a:spcAft>
                <a:spcPts val="400"/>
              </a:spcAft>
              <a:defRPr sz="1500">
                <a:solidFill>
                  <a:srgbClr val="1A1A1A"/>
                </a:solidFill>
              </a:defRPr>
            </a:pPr>
            <a:r>
              <a:t>• Creating a supplier via the Back Office also triggers P&amp;S automatically (via the event behavior) — no manual queue processing needed if the scheduler is running.</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Troubleshooting</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400"/>
              </a:spcAft>
              <a:defRPr sz="1500">
                <a:solidFill>
                  <a:srgbClr val="1A1A1A"/>
                </a:solidFill>
              </a:defRPr>
            </a:pPr>
            <a:r>
              <a:t>• No messages in queues after import: Ensure DataImportPublisherPlugin is registered in DataImportDependencyProvider::getDataImportAfterImportHookPlugins()</a:t>
            </a:r>
          </a:p>
          <a:p>
            <a:pPr>
              <a:spcAft>
                <a:spcPts val="400"/>
              </a:spcAft>
              <a:defRPr sz="1500">
                <a:solidFill>
                  <a:srgbClr val="1A1A1A"/>
                </a:solidFill>
              </a:defRPr>
            </a:pPr>
            <a:r>
              <a:t>• Queue not found error: Run docker/sdk console queue:setup and docker/sdk console messenger:setup-transports</a:t>
            </a:r>
          </a:p>
          <a:p>
            <a:pPr>
              <a:spcAft>
                <a:spcPts val="400"/>
              </a:spcAft>
              <a:defRPr sz="1500">
                <a:solidFill>
                  <a:srgbClr val="1A1A1A"/>
                </a:solidFill>
              </a:defRPr>
            </a:pPr>
            <a:r>
              <a:t>• Data in tables but not in Elasticsearch: Process the sync queues with queue:worker:start --stop-when-empty</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Run Automated Tests</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docker/sdk</a:t>
            </a:r>
            <a:r>
              <a:rPr sz="900">
                <a:solidFill>
                  <a:srgbClr val="2D2D2D"/>
                </a:solidFill>
                <a:latin typeface="Consolas"/>
              </a:rPr>
              <a:t> cli vendor/bin/codecept run </a:t>
            </a:r>
            <a:r>
              <a:rPr sz="900">
                <a:solidFill>
                  <a:srgbClr val="2D2D2D"/>
                </a:solidFill>
                <a:latin typeface="Consolas"/>
              </a:rPr>
              <a:t>-c</a:t>
            </a:r>
            <a:r>
              <a:rPr sz="900">
                <a:solidFill>
                  <a:srgbClr val="2D2D2D"/>
                </a:solidFill>
                <a:latin typeface="Consolas"/>
              </a:rPr>
              <a:t> tests/SprykerAcademyTest/Zed/Supplier/ PublishSync</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Solution</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./exercises/load.sh</a:t>
            </a:r>
            <a:r>
              <a:rPr sz="900">
                <a:solidFill>
                  <a:srgbClr val="2D2D2D"/>
                </a:solidFill>
                <a:latin typeface="Consolas"/>
              </a:rPr>
              <a:t> supplier intermediate/publish-synchronize/complete </a:t>
            </a:r>
            <a:r>
              <a:rPr sz="900">
                <a:solidFill>
                  <a:srgbClr val="2D2D2D"/>
                </a:solidFill>
                <a:latin typeface="Consolas"/>
              </a:rPr>
              <a:t>--run</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spAutoFit/>
          </a:bodyPr>
          <a:lstStyle/>
          <a:p>
            <a:pPr algn="ctr">
              <a:defRPr sz="3600" b="1">
                <a:solidFill>
                  <a:srgbClr val="00A89B"/>
                </a:solidFill>
              </a:defRPr>
            </a:pPr>
            <a:r>
              <a:t>Exercise 11: Search - Supplier</a:t>
            </a:r>
          </a:p>
        </p:txBody>
      </p:sp>
      <p:sp>
        <p:nvSpPr>
          <p:cNvPr id="3" name="Rectangle 2"/>
          <p:cNvSpPr/>
          <p:nvPr/>
        </p:nvSpPr>
        <p:spPr>
          <a:xfrm>
            <a:off x="3657600" y="2286000"/>
            <a:ext cx="4876495" cy="381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Exercise 11: Search - Supplier</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In this exercise, you will build a search client that queries Elasticsearch for suppliers. You will work with Spryker’s Elasticsearch abstraction: query plugins, result formatter plugins, and the SearchClient. The storefront page that displays the results is built in Exercise 11 (Yves Storefront).</a:t>
            </a:r>
          </a:p>
          <a:p>
            <a:pPr>
              <a:spcAft>
                <a:spcPts val="800"/>
              </a:spcAft>
              <a:defRPr sz="1600">
                <a:solidFill>
                  <a:srgbClr val="1A1A1A"/>
                </a:solidFill>
              </a:defRPr>
            </a:pPr>
            <a:r>
              <a:t>You will learn how to: - Define an Elasticsearch mapping (analyzer, index schema) - Build a search query plugin using Elastica’s BoolQuery - Build a result formatter plugin to convert Elasticsearch results to Transfer objects - Wire the SearchClient through the DependencyProvider and Factory - Create a Client module that exposes search functionality</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Prerequisites</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400"/>
              </a:spcAft>
              <a:defRPr sz="1500">
                <a:solidFill>
                  <a:srgbClr val="1A1A1A"/>
                </a:solidFill>
              </a:defRPr>
            </a:pPr>
            <a:r>
              <a:t>• You do not need your own solutions of the earlier exercises. The branch contains them, and load.sh --run imports the sample suppliers and publishes them to Redis and Elasticsearch (Exercises 8 and 10).</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Loading the Exercise</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./exercises/load.sh</a:t>
            </a:r>
            <a:r>
              <a:rPr sz="900">
                <a:solidFill>
                  <a:srgbClr val="2D2D2D"/>
                </a:solidFill>
                <a:latin typeface="Consolas"/>
              </a:rPr>
              <a:t> supplier intermediate/search/skeleton </a:t>
            </a:r>
            <a:r>
              <a:rPr sz="900">
                <a:solidFill>
                  <a:srgbClr val="2D2D2D"/>
                </a:solidFill>
                <a:latin typeface="Consolas"/>
              </a:rPr>
              <a:t>--run</a:t>
            </a:r>
          </a:p>
          <a:p>
            <a:pPr>
              <a:spcAft>
                <a:spcPts val="800"/>
              </a:spcAft>
              <a:defRPr sz="1600">
                <a:solidFill>
                  <a:srgbClr val="1A1A1A"/>
                </a:solidFill>
              </a:defRPr>
            </a:pPr>
            <a:r>
              <a:t>--run also runs the commands the loader lists after loading (cache, Propel, transfers and whatever this exercise needs, such as queues or Glue resources) and stops at the first one that fails. Leave it out to run them yourself.</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Background: Search Architecture in Spryker</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Spryker uses Elasticsearch as the search storage. The Client layer provides an abstraction over raw Elasticsearch queries:</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Background: Search Architecture in Spryker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SupplierSearchClient::searchSuppliers()</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SupplierSearchFactory::createSupplierSearchReader()</a:t>
            </a:r>
          </a:p>
          <a:p>
            <a:pPr>
              <a:spcBef>
                <a:spcPts val="0"/>
              </a:spcBef>
              <a:spcAft>
                <a:spcPts val="0"/>
              </a:spcAft>
            </a:pPr>
            <a:r>
              <a:rPr sz="900">
                <a:solidFill>
                  <a:srgbClr val="2D2D2D"/>
                </a:solidFill>
                <a:latin typeface="Consolas"/>
              </a:rPr>
              <a:t>    ├── getSearchClient()                        → Spryker SearchClient</a:t>
            </a:r>
          </a:p>
          <a:p>
            <a:pPr>
              <a:spcBef>
                <a:spcPts val="0"/>
              </a:spcBef>
              <a:spcAft>
                <a:spcPts val="0"/>
              </a:spcAft>
            </a:pPr>
            <a:r>
              <a:rPr sz="900">
                <a:solidFill>
                  <a:srgbClr val="2D2D2D"/>
                </a:solidFill>
                <a:latin typeface="Consolas"/>
              </a:rPr>
              <a:t>    ├── getSupplierSearchQueryPlugin()           → builds the Elastica Query</a:t>
            </a:r>
          </a:p>
          <a:p>
            <a:pPr>
              <a:spcBef>
                <a:spcPts val="0"/>
              </a:spcBef>
              <a:spcAft>
                <a:spcPts val="0"/>
              </a:spcAft>
            </a:pPr>
            <a:r>
              <a:rPr sz="900">
                <a:solidFill>
                  <a:srgbClr val="2D2D2D"/>
                </a:solidFill>
                <a:latin typeface="Consolas"/>
              </a:rPr>
              <a:t>    ├── getSupplierSearchQueryExpanderPlugins()  → optional query expanders (empty here)</a:t>
            </a:r>
          </a:p>
          <a:p>
            <a:pPr>
              <a:spcBef>
                <a:spcPts val="0"/>
              </a:spcBef>
              <a:spcAft>
                <a:spcPts val="0"/>
              </a:spcAft>
            </a:pPr>
            <a:r>
              <a:rPr sz="900">
                <a:solidFill>
                  <a:srgbClr val="2D2D2D"/>
                </a:solidFill>
                <a:latin typeface="Consolas"/>
              </a:rPr>
              <a:t>    └── getSupplierSearchResultFormatterPlugins() → result formatter plugins</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                                   SupplierSearchReader::searchSuppliers()</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                                         Elasticsearch</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                                         ResultSet</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                                    SupplierSearchResultFormatterPlugin</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                                    SupplierCollectionTransfer</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Background: Search Architecture in Spryker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Key components:</a:t>
            </a:r>
          </a:p>
          <a:p>
            <a:pPr>
              <a:spcAft>
                <a:spcPts val="100"/>
              </a:spcAft>
              <a:defRPr sz="1000">
                <a:solidFill>
                  <a:srgbClr val="1A1A1A"/>
                </a:solidFill>
                <a:latin typeface="Consolas"/>
              </a:defRPr>
            </a:pPr>
            <a:r>
              <a:t>Component          Role                                                           </a:t>
            </a:r>
          </a:p>
          <a:p>
            <a:pPr>
              <a:spcAft>
                <a:spcPts val="100"/>
              </a:spcAft>
              <a:defRPr sz="1000">
                <a:solidFill>
                  <a:srgbClr val="1A1A1A"/>
                </a:solidFill>
                <a:latin typeface="Consolas"/>
              </a:defRPr>
            </a:pPr>
            <a:r>
              <a:t>-----------------  ---------------------------------------------------------------</a:t>
            </a:r>
          </a:p>
          <a:p>
            <a:pPr>
              <a:spcAft>
                <a:spcPts val="100"/>
              </a:spcAft>
              <a:defRPr sz="1000">
                <a:solidFill>
                  <a:srgbClr val="1A1A1A"/>
                </a:solidFill>
                <a:latin typeface="Consolas"/>
              </a:defRPr>
            </a:pPr>
            <a:r>
              <a:t>Query Plugin       Builds the Elastica Query with filters and search terms        </a:t>
            </a:r>
          </a:p>
          <a:p>
            <a:pPr>
              <a:spcAft>
                <a:spcPts val="100"/>
              </a:spcAft>
              <a:defRPr sz="1000">
                <a:solidFill>
                  <a:srgbClr val="1A1A1A"/>
                </a:solidFill>
                <a:latin typeface="Consolas"/>
              </a:defRPr>
            </a:pPr>
            <a:r>
              <a:t>Result Formatter   Converts Elastica ResultSet into Transfer objects              </a:t>
            </a:r>
          </a:p>
          <a:p>
            <a:pPr>
              <a:spcAft>
                <a:spcPts val="100"/>
              </a:spcAft>
              <a:defRPr sz="1000">
                <a:solidFill>
                  <a:srgbClr val="1A1A1A"/>
                </a:solidFill>
                <a:latin typeface="Consolas"/>
              </a:defRPr>
            </a:pPr>
            <a:r>
              <a:t>SearchClient       Core Spryker client that executes queries against Elasticsearch</a:t>
            </a:r>
          </a:p>
          <a:p>
            <a:pPr>
              <a:spcAft>
                <a:spcPts val="100"/>
              </a:spcAft>
              <a:defRPr sz="1000">
                <a:solidFill>
                  <a:srgbClr val="1A1A1A"/>
                </a:solidFill>
                <a:latin typeface="Consolas"/>
              </a:defRPr>
            </a:pPr>
            <a:r>
              <a:t>Source Identifier  Maps the query to a specific Elasticsearch index</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Working on the Exercise</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1200"/>
              </a:spcBef>
              <a:spcAft>
                <a:spcPts val="600"/>
              </a:spcAft>
              <a:defRPr sz="2000" b="1">
                <a:solidFill>
                  <a:srgbClr val="1A1A1A"/>
                </a:solidFill>
              </a:defRPr>
            </a:pPr>
            <a:r>
              <a:t>Part 1: Elasticsearch Mapping</a:t>
            </a:r>
          </a:p>
          <a:p>
            <a:pPr>
              <a:spcAft>
                <a:spcPts val="800"/>
              </a:spcAft>
              <a:defRPr sz="1600">
                <a:solidFill>
                  <a:srgbClr val="1A1A1A"/>
                </a:solidFill>
              </a:defRPr>
            </a:pPr>
            <a:r>
              <a:t>The exercise provides an Elasticsearch mapping schema at src/SprykerAcademy/Shared/SupplierSearch/Schema/supplier.json . Open it and review:</a:t>
            </a:r>
          </a:p>
          <a:p>
            <a:pPr>
              <a:spcAft>
                <a:spcPts val="400"/>
              </a:spcAft>
              <a:defRPr sz="1500">
                <a:solidFill>
                  <a:srgbClr val="1A1A1A"/>
                </a:solidFill>
              </a:defRPr>
            </a:pPr>
            <a:r>
              <a:t>• The settings define an edge_ngram analyzer for partial matching (typing “Sup” matches “Supplier”)</a:t>
            </a:r>
          </a:p>
          <a:p>
            <a:pPr>
              <a:spcAft>
                <a:spcPts val="400"/>
              </a:spcAft>
              <a:defRPr sz="1500">
                <a:solidFill>
                  <a:srgbClr val="1A1A1A"/>
                </a:solidFill>
              </a:defRPr>
            </a:pPr>
            <a:r>
              <a:t>• The mappings define the document structure with field types: text for searchable fields ( name , description ) - analyzed and tokenized integer for the status field (matches the Propel schema INTEGER type) keyword for exact match fields ( email , phone ) - not analyzed integer for the supplier ID</a:t>
            </a:r>
          </a:p>
          <a:p>
            <a:pPr>
              <a:spcAft>
                <a:spcPts val="800"/>
              </a:spcAft>
              <a:defRPr sz="1600">
                <a:solidFill>
                  <a:srgbClr val="1A1A1A"/>
                </a:solidFill>
              </a:defRPr>
            </a:pPr>
            <a:r>
              <a:t>Mapping structure:</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Working on the Exercise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06287E"/>
                </a:solidFill>
                <a:latin typeface="Consolas"/>
              </a:rPr>
              <a:t>{</a:t>
            </a:r>
          </a:p>
          <a:p>
            <a:pPr>
              <a:spcBef>
                <a:spcPts val="0"/>
              </a:spcBef>
              <a:spcAft>
                <a:spcPts val="0"/>
              </a:spcAft>
            </a:pPr>
            <a:r>
              <a:rPr sz="900">
                <a:solidFill>
                  <a:srgbClr val="2D2D2D"/>
                </a:solidFill>
                <a:latin typeface="Consolas"/>
              </a:rPr>
              <a:t>    </a:t>
            </a:r>
            <a:r>
              <a:rPr sz="900">
                <a:solidFill>
                  <a:srgbClr val="902000"/>
                </a:solidFill>
                <a:latin typeface="Consolas"/>
              </a:rPr>
              <a:t>"mappings"</a:t>
            </a:r>
            <a:r>
              <a:rPr sz="900">
                <a:solidFill>
                  <a:srgbClr val="06287E"/>
                </a:solidFill>
                <a:latin typeface="Consolas"/>
              </a:rPr>
              <a:t>:</a:t>
            </a:r>
            <a:r>
              <a:rPr sz="900">
                <a:solidFill>
                  <a:srgbClr val="2D2D2D"/>
                </a:solidFill>
                <a:latin typeface="Consolas"/>
              </a:rPr>
              <a:t> </a:t>
            </a:r>
            <a:r>
              <a:rPr sz="900">
                <a:solidFill>
                  <a:srgbClr val="06287E"/>
                </a:solidFill>
                <a:latin typeface="Consolas"/>
              </a:rPr>
              <a:t>{</a:t>
            </a:r>
          </a:p>
          <a:p>
            <a:pPr>
              <a:spcBef>
                <a:spcPts val="0"/>
              </a:spcBef>
              <a:spcAft>
                <a:spcPts val="0"/>
              </a:spcAft>
            </a:pPr>
            <a:r>
              <a:rPr sz="900">
                <a:solidFill>
                  <a:srgbClr val="2D2D2D"/>
                </a:solidFill>
                <a:latin typeface="Consolas"/>
              </a:rPr>
              <a:t>        </a:t>
            </a:r>
            <a:r>
              <a:rPr sz="900">
                <a:solidFill>
                  <a:srgbClr val="902000"/>
                </a:solidFill>
                <a:latin typeface="Consolas"/>
              </a:rPr>
              <a:t>"supplier"</a:t>
            </a:r>
            <a:r>
              <a:rPr sz="900">
                <a:solidFill>
                  <a:srgbClr val="06287E"/>
                </a:solidFill>
                <a:latin typeface="Consolas"/>
              </a:rPr>
              <a:t>:</a:t>
            </a:r>
            <a:r>
              <a:rPr sz="900">
                <a:solidFill>
                  <a:srgbClr val="2D2D2D"/>
                </a:solidFill>
                <a:latin typeface="Consolas"/>
              </a:rPr>
              <a:t> </a:t>
            </a:r>
            <a:r>
              <a:rPr sz="900">
                <a:solidFill>
                  <a:srgbClr val="06287E"/>
                </a:solidFill>
                <a:latin typeface="Consolas"/>
              </a:rPr>
              <a:t>{</a:t>
            </a:r>
          </a:p>
          <a:p>
            <a:pPr>
              <a:spcBef>
                <a:spcPts val="0"/>
              </a:spcBef>
              <a:spcAft>
                <a:spcPts val="0"/>
              </a:spcAft>
            </a:pPr>
            <a:r>
              <a:rPr sz="900">
                <a:solidFill>
                  <a:srgbClr val="2D2D2D"/>
                </a:solidFill>
                <a:latin typeface="Consolas"/>
              </a:rPr>
              <a:t>            </a:t>
            </a:r>
            <a:r>
              <a:rPr sz="900">
                <a:solidFill>
                  <a:srgbClr val="902000"/>
                </a:solidFill>
                <a:latin typeface="Consolas"/>
              </a:rPr>
              <a:t>"properties"</a:t>
            </a:r>
            <a:r>
              <a:rPr sz="900">
                <a:solidFill>
                  <a:srgbClr val="06287E"/>
                </a:solidFill>
                <a:latin typeface="Consolas"/>
              </a:rPr>
              <a:t>:</a:t>
            </a:r>
            <a:r>
              <a:rPr sz="900">
                <a:solidFill>
                  <a:srgbClr val="2D2D2D"/>
                </a:solidFill>
                <a:latin typeface="Consolas"/>
              </a:rPr>
              <a:t> </a:t>
            </a:r>
            <a:r>
              <a:rPr sz="900">
                <a:solidFill>
                  <a:srgbClr val="06287E"/>
                </a:solidFill>
                <a:latin typeface="Consolas"/>
              </a:rPr>
              <a:t>{</a:t>
            </a:r>
          </a:p>
          <a:p>
            <a:pPr>
              <a:spcBef>
                <a:spcPts val="0"/>
              </a:spcBef>
              <a:spcAft>
                <a:spcPts val="0"/>
              </a:spcAft>
            </a:pPr>
            <a:r>
              <a:rPr sz="900">
                <a:solidFill>
                  <a:srgbClr val="2D2D2D"/>
                </a:solidFill>
                <a:latin typeface="Consolas"/>
              </a:rPr>
              <a:t>                </a:t>
            </a:r>
            <a:r>
              <a:rPr sz="900">
                <a:solidFill>
                  <a:srgbClr val="902000"/>
                </a:solidFill>
                <a:latin typeface="Consolas"/>
              </a:rPr>
              <a:t>"id_supplier"</a:t>
            </a:r>
            <a:r>
              <a:rPr sz="900">
                <a:solidFill>
                  <a:srgbClr val="06287E"/>
                </a:solidFill>
                <a:latin typeface="Consolas"/>
              </a:rPr>
              <a:t>:</a:t>
            </a:r>
            <a:r>
              <a:rPr sz="900">
                <a:solidFill>
                  <a:srgbClr val="2D2D2D"/>
                </a:solidFill>
                <a:latin typeface="Consolas"/>
              </a:rPr>
              <a:t> </a:t>
            </a:r>
            <a:r>
              <a:rPr sz="900">
                <a:solidFill>
                  <a:srgbClr val="06287E"/>
                </a:solidFill>
                <a:latin typeface="Consolas"/>
              </a:rPr>
              <a:t>{</a:t>
            </a:r>
            <a:r>
              <a:rPr sz="900">
                <a:solidFill>
                  <a:srgbClr val="2D2D2D"/>
                </a:solidFill>
                <a:latin typeface="Consolas"/>
              </a:rPr>
              <a:t> </a:t>
            </a:r>
            <a:r>
              <a:rPr sz="900">
                <a:solidFill>
                  <a:srgbClr val="902000"/>
                </a:solidFill>
                <a:latin typeface="Consolas"/>
              </a:rPr>
              <a:t>"type"</a:t>
            </a:r>
            <a:r>
              <a:rPr sz="900">
                <a:solidFill>
                  <a:srgbClr val="06287E"/>
                </a:solidFill>
                <a:latin typeface="Consolas"/>
              </a:rPr>
              <a:t>:</a:t>
            </a:r>
            <a:r>
              <a:rPr sz="900">
                <a:solidFill>
                  <a:srgbClr val="2D2D2D"/>
                </a:solidFill>
                <a:latin typeface="Consolas"/>
              </a:rPr>
              <a:t> </a:t>
            </a:r>
            <a:r>
              <a:rPr sz="900">
                <a:solidFill>
                  <a:srgbClr val="4070A0"/>
                </a:solidFill>
                <a:latin typeface="Consolas"/>
              </a:rPr>
              <a:t>"integer"</a:t>
            </a:r>
            <a:r>
              <a:rPr sz="900">
                <a:solidFill>
                  <a:srgbClr val="2D2D2D"/>
                </a:solidFill>
                <a:latin typeface="Consolas"/>
              </a:rPr>
              <a:t> </a:t>
            </a:r>
            <a:r>
              <a:rPr sz="900">
                <a:solidFill>
                  <a:srgbClr val="06287E"/>
                </a:solidFill>
                <a:latin typeface="Consolas"/>
              </a:rPr>
              <a:t>},</a:t>
            </a:r>
          </a:p>
          <a:p>
            <a:pPr>
              <a:spcBef>
                <a:spcPts val="0"/>
              </a:spcBef>
              <a:spcAft>
                <a:spcPts val="0"/>
              </a:spcAft>
            </a:pPr>
            <a:r>
              <a:rPr sz="900">
                <a:solidFill>
                  <a:srgbClr val="2D2D2D"/>
                </a:solidFill>
                <a:latin typeface="Consolas"/>
              </a:rPr>
              <a:t>                </a:t>
            </a:r>
            <a:r>
              <a:rPr sz="900">
                <a:solidFill>
                  <a:srgbClr val="902000"/>
                </a:solidFill>
                <a:latin typeface="Consolas"/>
              </a:rPr>
              <a:t>"name"</a:t>
            </a:r>
            <a:r>
              <a:rPr sz="900">
                <a:solidFill>
                  <a:srgbClr val="06287E"/>
                </a:solidFill>
                <a:latin typeface="Consolas"/>
              </a:rPr>
              <a:t>:</a:t>
            </a:r>
            <a:r>
              <a:rPr sz="900">
                <a:solidFill>
                  <a:srgbClr val="2D2D2D"/>
                </a:solidFill>
                <a:latin typeface="Consolas"/>
              </a:rPr>
              <a:t> </a:t>
            </a:r>
            <a:r>
              <a:rPr sz="900">
                <a:solidFill>
                  <a:srgbClr val="06287E"/>
                </a:solidFill>
                <a:latin typeface="Consolas"/>
              </a:rPr>
              <a:t>{</a:t>
            </a:r>
            <a:r>
              <a:rPr sz="900">
                <a:solidFill>
                  <a:srgbClr val="2D2D2D"/>
                </a:solidFill>
                <a:latin typeface="Consolas"/>
              </a:rPr>
              <a:t> </a:t>
            </a:r>
            <a:r>
              <a:rPr sz="900">
                <a:solidFill>
                  <a:srgbClr val="902000"/>
                </a:solidFill>
                <a:latin typeface="Consolas"/>
              </a:rPr>
              <a:t>"type"</a:t>
            </a:r>
            <a:r>
              <a:rPr sz="900">
                <a:solidFill>
                  <a:srgbClr val="06287E"/>
                </a:solidFill>
                <a:latin typeface="Consolas"/>
              </a:rPr>
              <a:t>:</a:t>
            </a:r>
            <a:r>
              <a:rPr sz="900">
                <a:solidFill>
                  <a:srgbClr val="2D2D2D"/>
                </a:solidFill>
                <a:latin typeface="Consolas"/>
              </a:rPr>
              <a:t> </a:t>
            </a:r>
            <a:r>
              <a:rPr sz="900">
                <a:solidFill>
                  <a:srgbClr val="4070A0"/>
                </a:solidFill>
                <a:latin typeface="Consolas"/>
              </a:rPr>
              <a:t>"text"</a:t>
            </a:r>
            <a:r>
              <a:rPr sz="900">
                <a:solidFill>
                  <a:srgbClr val="06287E"/>
                </a:solidFill>
                <a:latin typeface="Consolas"/>
              </a:rPr>
              <a:t>,</a:t>
            </a:r>
            <a:r>
              <a:rPr sz="900">
                <a:solidFill>
                  <a:srgbClr val="2D2D2D"/>
                </a:solidFill>
                <a:latin typeface="Consolas"/>
              </a:rPr>
              <a:t> </a:t>
            </a:r>
            <a:r>
              <a:rPr sz="900">
                <a:solidFill>
                  <a:srgbClr val="902000"/>
                </a:solidFill>
                <a:latin typeface="Consolas"/>
              </a:rPr>
              <a:t>"analyzer"</a:t>
            </a:r>
            <a:r>
              <a:rPr sz="900">
                <a:solidFill>
                  <a:srgbClr val="06287E"/>
                </a:solidFill>
                <a:latin typeface="Consolas"/>
              </a:rPr>
              <a:t>:</a:t>
            </a:r>
            <a:r>
              <a:rPr sz="900">
                <a:solidFill>
                  <a:srgbClr val="2D2D2D"/>
                </a:solidFill>
                <a:latin typeface="Consolas"/>
              </a:rPr>
              <a:t> </a:t>
            </a:r>
            <a:r>
              <a:rPr sz="900">
                <a:solidFill>
                  <a:srgbClr val="4070A0"/>
                </a:solidFill>
                <a:latin typeface="Consolas"/>
              </a:rPr>
              <a:t>"default_analyzer"</a:t>
            </a:r>
            <a:r>
              <a:rPr sz="900">
                <a:solidFill>
                  <a:srgbClr val="2D2D2D"/>
                </a:solidFill>
                <a:latin typeface="Consolas"/>
              </a:rPr>
              <a:t> </a:t>
            </a:r>
            <a:r>
              <a:rPr sz="900">
                <a:solidFill>
                  <a:srgbClr val="06287E"/>
                </a:solidFill>
                <a:latin typeface="Consolas"/>
              </a:rPr>
              <a:t>},</a:t>
            </a:r>
          </a:p>
          <a:p>
            <a:pPr>
              <a:spcBef>
                <a:spcPts val="0"/>
              </a:spcBef>
              <a:spcAft>
                <a:spcPts val="0"/>
              </a:spcAft>
            </a:pPr>
            <a:r>
              <a:rPr sz="900">
                <a:solidFill>
                  <a:srgbClr val="2D2D2D"/>
                </a:solidFill>
                <a:latin typeface="Consolas"/>
              </a:rPr>
              <a:t>                </a:t>
            </a:r>
            <a:r>
              <a:rPr sz="900">
                <a:solidFill>
                  <a:srgbClr val="902000"/>
                </a:solidFill>
                <a:latin typeface="Consolas"/>
              </a:rPr>
              <a:t>"description"</a:t>
            </a:r>
            <a:r>
              <a:rPr sz="900">
                <a:solidFill>
                  <a:srgbClr val="06287E"/>
                </a:solidFill>
                <a:latin typeface="Consolas"/>
              </a:rPr>
              <a:t>:</a:t>
            </a:r>
            <a:r>
              <a:rPr sz="900">
                <a:solidFill>
                  <a:srgbClr val="2D2D2D"/>
                </a:solidFill>
                <a:latin typeface="Consolas"/>
              </a:rPr>
              <a:t> </a:t>
            </a:r>
            <a:r>
              <a:rPr sz="900">
                <a:solidFill>
                  <a:srgbClr val="06287E"/>
                </a:solidFill>
                <a:latin typeface="Consolas"/>
              </a:rPr>
              <a:t>{</a:t>
            </a:r>
            <a:r>
              <a:rPr sz="900">
                <a:solidFill>
                  <a:srgbClr val="2D2D2D"/>
                </a:solidFill>
                <a:latin typeface="Consolas"/>
              </a:rPr>
              <a:t> </a:t>
            </a:r>
            <a:r>
              <a:rPr sz="900">
                <a:solidFill>
                  <a:srgbClr val="902000"/>
                </a:solidFill>
                <a:latin typeface="Consolas"/>
              </a:rPr>
              <a:t>"type"</a:t>
            </a:r>
            <a:r>
              <a:rPr sz="900">
                <a:solidFill>
                  <a:srgbClr val="06287E"/>
                </a:solidFill>
                <a:latin typeface="Consolas"/>
              </a:rPr>
              <a:t>:</a:t>
            </a:r>
            <a:r>
              <a:rPr sz="900">
                <a:solidFill>
                  <a:srgbClr val="2D2D2D"/>
                </a:solidFill>
                <a:latin typeface="Consolas"/>
              </a:rPr>
              <a:t> </a:t>
            </a:r>
            <a:r>
              <a:rPr sz="900">
                <a:solidFill>
                  <a:srgbClr val="4070A0"/>
                </a:solidFill>
                <a:latin typeface="Consolas"/>
              </a:rPr>
              <a:t>"text"</a:t>
            </a:r>
            <a:r>
              <a:rPr sz="900">
                <a:solidFill>
                  <a:srgbClr val="06287E"/>
                </a:solidFill>
                <a:latin typeface="Consolas"/>
              </a:rPr>
              <a:t>,</a:t>
            </a:r>
            <a:r>
              <a:rPr sz="900">
                <a:solidFill>
                  <a:srgbClr val="2D2D2D"/>
                </a:solidFill>
                <a:latin typeface="Consolas"/>
              </a:rPr>
              <a:t> </a:t>
            </a:r>
            <a:r>
              <a:rPr sz="900">
                <a:solidFill>
                  <a:srgbClr val="902000"/>
                </a:solidFill>
                <a:latin typeface="Consolas"/>
              </a:rPr>
              <a:t>"analyzer"</a:t>
            </a:r>
            <a:r>
              <a:rPr sz="900">
                <a:solidFill>
                  <a:srgbClr val="06287E"/>
                </a:solidFill>
                <a:latin typeface="Consolas"/>
              </a:rPr>
              <a:t>:</a:t>
            </a:r>
            <a:r>
              <a:rPr sz="900">
                <a:solidFill>
                  <a:srgbClr val="2D2D2D"/>
                </a:solidFill>
                <a:latin typeface="Consolas"/>
              </a:rPr>
              <a:t> </a:t>
            </a:r>
            <a:r>
              <a:rPr sz="900">
                <a:solidFill>
                  <a:srgbClr val="4070A0"/>
                </a:solidFill>
                <a:latin typeface="Consolas"/>
              </a:rPr>
              <a:t>"default_analyzer"</a:t>
            </a:r>
            <a:r>
              <a:rPr sz="900">
                <a:solidFill>
                  <a:srgbClr val="2D2D2D"/>
                </a:solidFill>
                <a:latin typeface="Consolas"/>
              </a:rPr>
              <a:t> </a:t>
            </a:r>
            <a:r>
              <a:rPr sz="900">
                <a:solidFill>
                  <a:srgbClr val="06287E"/>
                </a:solidFill>
                <a:latin typeface="Consolas"/>
              </a:rPr>
              <a:t>},</a:t>
            </a:r>
          </a:p>
          <a:p>
            <a:pPr>
              <a:spcBef>
                <a:spcPts val="0"/>
              </a:spcBef>
              <a:spcAft>
                <a:spcPts val="0"/>
              </a:spcAft>
            </a:pPr>
            <a:r>
              <a:rPr sz="900">
                <a:solidFill>
                  <a:srgbClr val="2D2D2D"/>
                </a:solidFill>
                <a:latin typeface="Consolas"/>
              </a:rPr>
              <a:t>                </a:t>
            </a:r>
            <a:r>
              <a:rPr sz="900">
                <a:solidFill>
                  <a:srgbClr val="902000"/>
                </a:solidFill>
                <a:latin typeface="Consolas"/>
              </a:rPr>
              <a:t>"status"</a:t>
            </a:r>
            <a:r>
              <a:rPr sz="900">
                <a:solidFill>
                  <a:srgbClr val="06287E"/>
                </a:solidFill>
                <a:latin typeface="Consolas"/>
              </a:rPr>
              <a:t>:</a:t>
            </a:r>
            <a:r>
              <a:rPr sz="900">
                <a:solidFill>
                  <a:srgbClr val="2D2D2D"/>
                </a:solidFill>
                <a:latin typeface="Consolas"/>
              </a:rPr>
              <a:t> </a:t>
            </a:r>
            <a:r>
              <a:rPr sz="900">
                <a:solidFill>
                  <a:srgbClr val="06287E"/>
                </a:solidFill>
                <a:latin typeface="Consolas"/>
              </a:rPr>
              <a:t>{</a:t>
            </a:r>
            <a:r>
              <a:rPr sz="900">
                <a:solidFill>
                  <a:srgbClr val="2D2D2D"/>
                </a:solidFill>
                <a:latin typeface="Consolas"/>
              </a:rPr>
              <a:t> </a:t>
            </a:r>
            <a:r>
              <a:rPr sz="900">
                <a:solidFill>
                  <a:srgbClr val="902000"/>
                </a:solidFill>
                <a:latin typeface="Consolas"/>
              </a:rPr>
              <a:t>"type"</a:t>
            </a:r>
            <a:r>
              <a:rPr sz="900">
                <a:solidFill>
                  <a:srgbClr val="06287E"/>
                </a:solidFill>
                <a:latin typeface="Consolas"/>
              </a:rPr>
              <a:t>:</a:t>
            </a:r>
            <a:r>
              <a:rPr sz="900">
                <a:solidFill>
                  <a:srgbClr val="2D2D2D"/>
                </a:solidFill>
                <a:latin typeface="Consolas"/>
              </a:rPr>
              <a:t> </a:t>
            </a:r>
            <a:r>
              <a:rPr sz="900">
                <a:solidFill>
                  <a:srgbClr val="4070A0"/>
                </a:solidFill>
                <a:latin typeface="Consolas"/>
              </a:rPr>
              <a:t>"integer"</a:t>
            </a:r>
            <a:r>
              <a:rPr sz="900">
                <a:solidFill>
                  <a:srgbClr val="2D2D2D"/>
                </a:solidFill>
                <a:latin typeface="Consolas"/>
              </a:rPr>
              <a:t> </a:t>
            </a:r>
            <a:r>
              <a:rPr sz="900">
                <a:solidFill>
                  <a:srgbClr val="06287E"/>
                </a:solidFill>
                <a:latin typeface="Consolas"/>
              </a:rPr>
              <a:t>},</a:t>
            </a:r>
          </a:p>
          <a:p>
            <a:pPr>
              <a:spcBef>
                <a:spcPts val="0"/>
              </a:spcBef>
              <a:spcAft>
                <a:spcPts val="0"/>
              </a:spcAft>
            </a:pPr>
            <a:r>
              <a:rPr sz="900">
                <a:solidFill>
                  <a:srgbClr val="2D2D2D"/>
                </a:solidFill>
                <a:latin typeface="Consolas"/>
              </a:rPr>
              <a:t>                </a:t>
            </a:r>
            <a:r>
              <a:rPr sz="900">
                <a:solidFill>
                  <a:srgbClr val="902000"/>
                </a:solidFill>
                <a:latin typeface="Consolas"/>
              </a:rPr>
              <a:t>"email"</a:t>
            </a:r>
            <a:r>
              <a:rPr sz="900">
                <a:solidFill>
                  <a:srgbClr val="06287E"/>
                </a:solidFill>
                <a:latin typeface="Consolas"/>
              </a:rPr>
              <a:t>:</a:t>
            </a:r>
            <a:r>
              <a:rPr sz="900">
                <a:solidFill>
                  <a:srgbClr val="2D2D2D"/>
                </a:solidFill>
                <a:latin typeface="Consolas"/>
              </a:rPr>
              <a:t> </a:t>
            </a:r>
            <a:r>
              <a:rPr sz="900">
                <a:solidFill>
                  <a:srgbClr val="06287E"/>
                </a:solidFill>
                <a:latin typeface="Consolas"/>
              </a:rPr>
              <a:t>{</a:t>
            </a:r>
            <a:r>
              <a:rPr sz="900">
                <a:solidFill>
                  <a:srgbClr val="2D2D2D"/>
                </a:solidFill>
                <a:latin typeface="Consolas"/>
              </a:rPr>
              <a:t> </a:t>
            </a:r>
            <a:r>
              <a:rPr sz="900">
                <a:solidFill>
                  <a:srgbClr val="902000"/>
                </a:solidFill>
                <a:latin typeface="Consolas"/>
              </a:rPr>
              <a:t>"type"</a:t>
            </a:r>
            <a:r>
              <a:rPr sz="900">
                <a:solidFill>
                  <a:srgbClr val="06287E"/>
                </a:solidFill>
                <a:latin typeface="Consolas"/>
              </a:rPr>
              <a:t>:</a:t>
            </a:r>
            <a:r>
              <a:rPr sz="900">
                <a:solidFill>
                  <a:srgbClr val="2D2D2D"/>
                </a:solidFill>
                <a:latin typeface="Consolas"/>
              </a:rPr>
              <a:t> </a:t>
            </a:r>
            <a:r>
              <a:rPr sz="900">
                <a:solidFill>
                  <a:srgbClr val="4070A0"/>
                </a:solidFill>
                <a:latin typeface="Consolas"/>
              </a:rPr>
              <a:t>"keyword"</a:t>
            </a:r>
            <a:r>
              <a:rPr sz="900">
                <a:solidFill>
                  <a:srgbClr val="2D2D2D"/>
                </a:solidFill>
                <a:latin typeface="Consolas"/>
              </a:rPr>
              <a:t> </a:t>
            </a:r>
            <a:r>
              <a:rPr sz="900">
                <a:solidFill>
                  <a:srgbClr val="06287E"/>
                </a:solidFill>
                <a:latin typeface="Consolas"/>
              </a:rPr>
              <a:t>},</a:t>
            </a:r>
          </a:p>
          <a:p>
            <a:pPr>
              <a:spcBef>
                <a:spcPts val="0"/>
              </a:spcBef>
              <a:spcAft>
                <a:spcPts val="0"/>
              </a:spcAft>
            </a:pPr>
            <a:r>
              <a:rPr sz="900">
                <a:solidFill>
                  <a:srgbClr val="2D2D2D"/>
                </a:solidFill>
                <a:latin typeface="Consolas"/>
              </a:rPr>
              <a:t>                </a:t>
            </a:r>
            <a:r>
              <a:rPr sz="900">
                <a:solidFill>
                  <a:srgbClr val="902000"/>
                </a:solidFill>
                <a:latin typeface="Consolas"/>
              </a:rPr>
              <a:t>"phone"</a:t>
            </a:r>
            <a:r>
              <a:rPr sz="900">
                <a:solidFill>
                  <a:srgbClr val="06287E"/>
                </a:solidFill>
                <a:latin typeface="Consolas"/>
              </a:rPr>
              <a:t>:</a:t>
            </a:r>
            <a:r>
              <a:rPr sz="900">
                <a:solidFill>
                  <a:srgbClr val="2D2D2D"/>
                </a:solidFill>
                <a:latin typeface="Consolas"/>
              </a:rPr>
              <a:t> </a:t>
            </a:r>
            <a:r>
              <a:rPr sz="900">
                <a:solidFill>
                  <a:srgbClr val="06287E"/>
                </a:solidFill>
                <a:latin typeface="Consolas"/>
              </a:rPr>
              <a:t>{</a:t>
            </a:r>
            <a:r>
              <a:rPr sz="900">
                <a:solidFill>
                  <a:srgbClr val="2D2D2D"/>
                </a:solidFill>
                <a:latin typeface="Consolas"/>
              </a:rPr>
              <a:t> </a:t>
            </a:r>
            <a:r>
              <a:rPr sz="900">
                <a:solidFill>
                  <a:srgbClr val="902000"/>
                </a:solidFill>
                <a:latin typeface="Consolas"/>
              </a:rPr>
              <a:t>"type"</a:t>
            </a:r>
            <a:r>
              <a:rPr sz="900">
                <a:solidFill>
                  <a:srgbClr val="06287E"/>
                </a:solidFill>
                <a:latin typeface="Consolas"/>
              </a:rPr>
              <a:t>:</a:t>
            </a:r>
            <a:r>
              <a:rPr sz="900">
                <a:solidFill>
                  <a:srgbClr val="2D2D2D"/>
                </a:solidFill>
                <a:latin typeface="Consolas"/>
              </a:rPr>
              <a:t> </a:t>
            </a:r>
            <a:r>
              <a:rPr sz="900">
                <a:solidFill>
                  <a:srgbClr val="4070A0"/>
                </a:solidFill>
                <a:latin typeface="Consolas"/>
              </a:rPr>
              <a:t>"keyword"</a:t>
            </a:r>
            <a:r>
              <a:rPr sz="900">
                <a:solidFill>
                  <a:srgbClr val="2D2D2D"/>
                </a:solidFill>
                <a:latin typeface="Consolas"/>
              </a:rPr>
              <a:t> </a:t>
            </a:r>
            <a:r>
              <a:rPr sz="900">
                <a:solidFill>
                  <a:srgbClr val="06287E"/>
                </a:solidFill>
                <a:latin typeface="Consolas"/>
              </a:rPr>
              <a:t>}</a:t>
            </a:r>
          </a:p>
          <a:p>
            <a:pPr>
              <a:spcBef>
                <a:spcPts val="0"/>
              </a:spcBef>
              <a:spcAft>
                <a:spcPts val="0"/>
              </a:spcAft>
            </a:pPr>
            <a:r>
              <a:rPr sz="900">
                <a:solidFill>
                  <a:srgbClr val="2D2D2D"/>
                </a:solidFill>
                <a:latin typeface="Consolas"/>
              </a:rPr>
              <a:t>            </a:t>
            </a:r>
            <a:r>
              <a:rPr sz="900">
                <a:solidFill>
                  <a:srgbClr val="06287E"/>
                </a:solidFill>
                <a:latin typeface="Consolas"/>
              </a:rPr>
              <a:t>}</a:t>
            </a:r>
          </a:p>
          <a:p>
            <a:pPr>
              <a:spcBef>
                <a:spcPts val="0"/>
              </a:spcBef>
              <a:spcAft>
                <a:spcPts val="0"/>
              </a:spcAft>
            </a:pPr>
            <a:r>
              <a:rPr sz="900">
                <a:solidFill>
                  <a:srgbClr val="2D2D2D"/>
                </a:solidFill>
                <a:latin typeface="Consolas"/>
              </a:rPr>
              <a:t>        </a:t>
            </a:r>
            <a:r>
              <a:rPr sz="900">
                <a:solidFill>
                  <a:srgbClr val="06287E"/>
                </a:solidFill>
                <a:latin typeface="Consolas"/>
              </a:rPr>
              <a:t>}</a:t>
            </a:r>
          </a:p>
          <a:p>
            <a:pPr>
              <a:spcBef>
                <a:spcPts val="0"/>
              </a:spcBef>
              <a:spcAft>
                <a:spcPts val="0"/>
              </a:spcAft>
            </a:pPr>
            <a:r>
              <a:rPr sz="900">
                <a:solidFill>
                  <a:srgbClr val="2D2D2D"/>
                </a:solidFill>
                <a:latin typeface="Consolas"/>
              </a:rPr>
              <a:t>    </a:t>
            </a:r>
            <a:r>
              <a:rPr sz="900">
                <a:solidFill>
                  <a:srgbClr val="06287E"/>
                </a:solidFill>
                <a:latin typeface="Consolas"/>
              </a:rPr>
              <a:t>}</a:t>
            </a:r>
          </a:p>
          <a:p>
            <a:pPr>
              <a:spcBef>
                <a:spcPts val="0"/>
              </a:spcBef>
              <a:spcAft>
                <a:spcPts val="0"/>
              </a:spcAft>
            </a:pPr>
            <a:r>
              <a:rPr sz="900">
                <a:solidFill>
                  <a:srgbClr val="06287E"/>
                </a:solidFill>
                <a:latin typeface="Consolas"/>
              </a:rPr>
              <a:t>}</a:t>
            </a:r>
          </a:p>
          <a:p>
            <a:pPr>
              <a:spcAft>
                <a:spcPts val="800"/>
              </a:spcAft>
              <a:defRPr sz="1600">
                <a:solidFill>
                  <a:srgbClr val="1A1A1A"/>
                </a:solidFill>
              </a:defRPr>
            </a:pPr>
            <a:r>
              <a:t>The mapping type name ( supplier ) must match the type parameter in the synchronization behavior from pyz_supplier_search.schema.xml .</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Working on the Exercise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load.sh --run creates the index in Elasticsearch ( docker/sdk console search:setup:sources ). Run that command again after you changed the mapping.</a:t>
            </a:r>
          </a:p>
          <a:p>
            <a:pPr>
              <a:spcAft>
                <a:spcPts val="800"/>
              </a:spcAft>
              <a:defRPr sz="1400" i="1">
                <a:solidFill>
                  <a:srgbClr val="888888"/>
                </a:solidFill>
              </a:defRPr>
            </a:pPr>
            <a:r>
              <a:t>❝ Index name whitelisting: Spryker only creates indexes for the schema files its SearchElasticsearchConfig lists as source identifiers. The exercise provides src/SprykerAcademy/Shared/SearchElasticsearch/SearchElasticsearchConfig.php , which extends the project’s config and adds supplier - have a look.</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2: Build the Search Query Plugins</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The query plugins build the Elastica queries that get sent to Elasticsearch. There are two plugins:</a:t>
            </a:r>
          </a:p>
          <a:p>
            <a:pPr>
              <a:spcAft>
                <a:spcPts val="100"/>
              </a:spcAft>
              <a:defRPr sz="1000">
                <a:solidFill>
                  <a:srgbClr val="1A1A1A"/>
                </a:solidFill>
                <a:latin typeface="Consolas"/>
              </a:defRPr>
            </a:pPr>
            <a:r>
              <a:t>Plugin                         Purpose                   Elastica Query              </a:t>
            </a:r>
          </a:p>
          <a:p>
            <a:pPr>
              <a:spcAft>
                <a:spcPts val="100"/>
              </a:spcAft>
              <a:defRPr sz="1000">
                <a:solidFill>
                  <a:srgbClr val="1A1A1A"/>
                </a:solidFill>
                <a:latin typeface="Consolas"/>
              </a:defRPr>
            </a:pPr>
            <a:r>
              <a:t>-----------------------------  ------------------------  ----------------------------</a:t>
            </a:r>
          </a:p>
          <a:p>
            <a:pPr>
              <a:spcAft>
                <a:spcPts val="100"/>
              </a:spcAft>
              <a:defRPr sz="1000">
                <a:solidFill>
                  <a:srgbClr val="1A1A1A"/>
                </a:solidFill>
                <a:latin typeface="Consolas"/>
              </a:defRPr>
            </a:pPr>
            <a:r>
              <a:t>SupplierSearchQueryPlugin      Returns all suppliers     Exists('id_supplier')       </a:t>
            </a:r>
          </a:p>
          <a:p>
            <a:pPr>
              <a:spcAft>
                <a:spcPts val="100"/>
              </a:spcAft>
              <a:defRPr sz="1000">
                <a:solidFill>
                  <a:srgbClr val="1A1A1A"/>
                </a:solidFill>
                <a:latin typeface="Consolas"/>
              </a:defRPr>
            </a:pPr>
            <a:r>
              <a:t>SupplierByIdSearchQueryPlugin  Finds one supplier by ID  Term(['id_supplier' =&gt; $id])</a:t>
            </a:r>
          </a:p>
          <a:p>
            <a:pPr>
              <a:spcAft>
                <a:spcPts val="800"/>
              </a:spcAft>
              <a:defRPr sz="1600">
                <a:solidFill>
                  <a:srgbClr val="1A1A1A"/>
                </a:solidFill>
              </a:defRPr>
            </a:pPr>
            <a:r>
              <a:t>Both plugins implement SearchContextAwareQueryInterface with sourceIdentifier = 'supplier' . This tells Spryker which Elasticsearch index to query — since every document in the supplier index is already a supplier, we don’t need a type filter.</a:t>
            </a:r>
          </a:p>
          <a:p>
            <a:pPr>
              <a:spcAft>
                <a:spcPts val="800"/>
              </a:spcAft>
              <a:defRPr sz="1600">
                <a:solidFill>
                  <a:srgbClr val="1A1A1A"/>
                </a:solidFill>
              </a:defRPr>
            </a:pPr>
            <a:r>
              <a:t>Both plugins are provided by the skeleton. Review time:</a:t>
            </a:r>
          </a:p>
          <a:p>
            <a:pPr>
              <a:spcAft>
                <a:spcPts val="800"/>
              </a:spcAft>
              <a:defRPr sz="1600">
                <a:solidFill>
                  <a:srgbClr val="1A1A1A"/>
                </a:solidFill>
              </a:defRPr>
            </a:pPr>
            <a:r>
              <a:t>Open src/SprykerAcademy/Client/SupplierSearch/Plugin/Elasticsearch/Query/SupplierSearchQueryPlugin.php :</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2: Build the Search Query Plugins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400"/>
              </a:spcAft>
              <a:defRPr sz="1500">
                <a:solidFill>
                  <a:srgbClr val="1A1A1A"/>
                </a:solidFill>
              </a:defRPr>
            </a:pPr>
            <a:r>
              <a:t>• createSearchQuery() builds a query using Elastica\Query\Exists on the id_supplier field. This returns all documents that have a supplier ID (i.e., all suppliers in the index).</a:t>
            </a:r>
          </a:p>
          <a:p>
            <a:pPr>
              <a:spcAft>
                <a:spcPts val="400"/>
              </a:spcAft>
              <a:defRPr sz="1500">
                <a:solidFill>
                  <a:srgbClr val="1A1A1A"/>
                </a:solidFill>
              </a:defRPr>
            </a:pPr>
            <a:r>
              <a:t>• getSearchContext() returns a SearchContextTransfer with the source identifier SupplierSearchConfig::SUPPLIER_SOURCE_IDENTIFIER ( 'supplier' ).</a:t>
            </a:r>
          </a:p>
          <a:p>
            <a:pPr>
              <a:spcAft>
                <a:spcPts val="800"/>
              </a:spcAft>
              <a:defRPr sz="1600">
                <a:solidFill>
                  <a:srgbClr val="1A1A1A"/>
                </a:solidFill>
              </a:defRPr>
            </a:pPr>
            <a:r>
              <a:t>Open src/SprykerAcademy/Client/SupplierSearch/Plugin/Elasticsearch/Query/SupplierByIdSearchQueryPlugin.php :</a:t>
            </a:r>
          </a:p>
          <a:p>
            <a:pPr>
              <a:spcAft>
                <a:spcPts val="400"/>
              </a:spcAft>
              <a:defRPr sz="1500">
                <a:solidFill>
                  <a:srgbClr val="1A1A1A"/>
                </a:solidFill>
              </a:defRPr>
            </a:pPr>
            <a:r>
              <a:t>• createSearchQuery() builds a query using Elastica\Query\Term on the id_supplier field with the value from $this-&gt;idSupplier . The Term query performs an exact match — no analysis or tokenization, just a direct value comparison. The query size is 1 since we expect a single result.</a:t>
            </a:r>
          </a:p>
          <a:p>
            <a:pPr>
              <a:spcAft>
                <a:spcPts val="400"/>
              </a:spcAft>
              <a:defRPr sz="1500">
                <a:solidFill>
                  <a:srgbClr val="1A1A1A"/>
                </a:solidFill>
              </a:defRPr>
            </a:pPr>
            <a:r>
              <a:t>• setIdSupplier() stores the ID and resets the cached query (so it rebuilds with the new ID).</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2: Build the Search Query Plugins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400" i="1">
                <a:solidFill>
                  <a:srgbClr val="888888"/>
                </a:solidFill>
              </a:defRPr>
            </a:pPr>
            <a:r>
              <a:t>❝ Exists vs Term vs MatchQuery: - Exists('field') — returns documents where the field is present (any value). Used for “give me all suppliers”. - Term(['field' =&gt; value]) — exact match on a keyword/integer field. Used for “find supplier with ID 5”. No analysis applied. - MatchQuery('field', 'text') — full-text search with analysis and tokenization. Used for searching text fields like name or description. Not suitable for filtering by type or ID. Since the sourceIdentifier already targets the supplier-specific Elasticsearch index, we don’t need a type filter — every document in that index is a supplier.</a:t>
            </a:r>
          </a:p>
          <a:p>
            <a:pPr>
              <a:spcAft>
                <a:spcPts val="800"/>
              </a:spcAft>
              <a:defRPr sz="1400" i="1">
                <a:solidFill>
                  <a:srgbClr val="888888"/>
                </a:solidFill>
              </a:defRPr>
            </a:pPr>
            <a:r>
              <a:t>❝ SearchContextAwareQueryInterface: The plugin implements this to tell Spryker which Elasticsearch index to query. The source identifier 'supplier' gets resolved to the actual index name (e.g., eu_search_supplier ) by the search infrastructure.</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3: Build the Result Formatter Plugin</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The result formatter converts raw Elasticsearch results into Spryker Transfer objects. It is provided by the skeleton.</a:t>
            </a:r>
          </a:p>
          <a:p>
            <a:pPr>
              <a:spcAft>
                <a:spcPts val="800"/>
              </a:spcAft>
              <a:defRPr sz="1600">
                <a:solidFill>
                  <a:srgbClr val="1A1A1A"/>
                </a:solidFill>
              </a:defRPr>
            </a:pPr>
            <a:r>
              <a:t>Review time:</a:t>
            </a:r>
          </a:p>
          <a:p>
            <a:pPr>
              <a:spcAft>
                <a:spcPts val="800"/>
              </a:spcAft>
              <a:defRPr sz="1600">
                <a:solidFill>
                  <a:srgbClr val="1A1A1A"/>
                </a:solidFill>
              </a:defRPr>
            </a:pPr>
            <a:r>
              <a:t>Open src/SprykerAcademy/Client/SupplierSearch/Plugin/Elasticsearch/ResultFormatter/SupplierSearchResultFormatterPlugin.php :</a:t>
            </a:r>
          </a:p>
          <a:p>
            <a:pPr>
              <a:spcAft>
                <a:spcPts val="800"/>
              </a:spcAft>
              <a:defRPr sz="1600">
                <a:solidFill>
                  <a:srgbClr val="1A1A1A"/>
                </a:solidFill>
              </a:defRPr>
            </a:pPr>
            <a:r>
              <a:t>formatSearchResult() iterates through the result set, takes the source data of every document and adds a SupplierTransfer built from it to a SupplierCollectionTransfer . getName() returns the key under which the SearchClient returns this formatted result ( SupplierSearchCollection ).</a:t>
            </a:r>
          </a:p>
          <a:p>
            <a:pPr>
              <a:spcAft>
                <a:spcPts val="800"/>
              </a:spcAft>
              <a:defRPr sz="1400" i="1">
                <a:solidFill>
                  <a:srgbClr val="888888"/>
                </a:solidFill>
              </a:defRPr>
            </a:pPr>
            <a:r>
              <a:t>❝ Document source: Each Elasticsearch result has a _source field containing the original JSON document. Elastica provides it via $document-&gt;getSource() , which returns an array.</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3: Build the Result Formatter Plugin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400" i="1">
                <a:solidFill>
                  <a:srgbClr val="888888"/>
                </a:solidFill>
              </a:defRPr>
            </a:pPr>
            <a:r>
              <a:t>❝ Transfer fromArray(): Spryker transfers can be populated from arrays: (new SupplierTransfer())-&gt;fromArray($sourceArray) . This works because the keys in Elasticsearch match the transfer property names.</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4: Wire the Dependencies</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800"/>
              </a:spcBef>
              <a:spcAft>
                <a:spcPts val="400"/>
              </a:spcAft>
              <a:defRPr sz="1700" b="1">
                <a:solidFill>
                  <a:srgbClr val="1A1A1A"/>
                </a:solidFill>
              </a:defRPr>
            </a:pPr>
            <a:r>
              <a:t>4.1 DependencyProvider</a:t>
            </a:r>
          </a:p>
          <a:p>
            <a:pPr>
              <a:spcAft>
                <a:spcPts val="800"/>
              </a:spcAft>
              <a:defRPr sz="1600">
                <a:solidFill>
                  <a:srgbClr val="1A1A1A"/>
                </a:solidFill>
              </a:defRPr>
            </a:pPr>
            <a:r>
              <a:t>Coding time:</a:t>
            </a:r>
          </a:p>
          <a:p>
            <a:pPr>
              <a:spcAft>
                <a:spcPts val="800"/>
              </a:spcAft>
              <a:defRPr sz="1600">
                <a:solidFill>
                  <a:srgbClr val="1A1A1A"/>
                </a:solidFill>
              </a:defRPr>
            </a:pPr>
            <a:r>
              <a:t>Open src/SprykerAcademy/Client/SupplierSearch/SupplierSearchDependencyProvider.php :</a:t>
            </a:r>
          </a:p>
          <a:p>
            <a:pPr>
              <a:spcAft>
                <a:spcPts val="800"/>
              </a:spcAft>
              <a:defRPr sz="1600">
                <a:solidFill>
                  <a:srgbClr val="1A1A1A"/>
                </a:solidFill>
              </a:defRPr>
            </a:pPr>
            <a:r>
              <a:t>Complete the four TODOs in provideServiceLayerDependencies() . Every dependency is registered with $container-&gt;set(KEY, closure) :</a:t>
            </a:r>
          </a:p>
          <a:p>
            <a:pPr>
              <a:spcAft>
                <a:spcPts val="400"/>
              </a:spcAft>
              <a:defRPr sz="1500">
                <a:solidFill>
                  <a:srgbClr val="1A1A1A"/>
                </a:solidFill>
              </a:defRPr>
            </a:pPr>
            <a:r>
              <a:t>• CLIENT_SEARCH — the core Search client: fn (Container $container) =&gt; $container-&gt;getLocator()-&gt;search()-&gt;client()</a:t>
            </a:r>
          </a:p>
          <a:p>
            <a:pPr>
              <a:spcAft>
                <a:spcPts val="400"/>
              </a:spcAft>
              <a:defRPr sz="1500">
                <a:solidFill>
                  <a:srgbClr val="1A1A1A"/>
                </a:solidFill>
              </a:defRPr>
            </a:pPr>
            <a:r>
              <a:t>• PLUGIN_SUPPLIER_SEARCH_QUERY — a new SupplierSearchQueryPlugin</a:t>
            </a:r>
          </a:p>
          <a:p>
            <a:pPr>
              <a:spcAft>
                <a:spcPts val="400"/>
              </a:spcAft>
              <a:defRPr sz="1500">
                <a:solidFill>
                  <a:srgbClr val="1A1A1A"/>
                </a:solidFill>
              </a:defRPr>
            </a:pPr>
            <a:r>
              <a:t>• PLUGINS_SUPPLIER_SEARCH_RESULT_FORMATTER — an array with a new SupplierSearchResultFormatterPlugin</a:t>
            </a:r>
          </a:p>
          <a:p>
            <a:pPr>
              <a:spcAft>
                <a:spcPts val="400"/>
              </a:spcAft>
              <a:defRPr sz="1500">
                <a:solidFill>
                  <a:srgbClr val="1A1A1A"/>
                </a:solidFill>
              </a:defRPr>
            </a:pPr>
            <a:r>
              <a:t>• PLUGINS_SUPPLIER_SEARCH_QUERY_EXPANDER — an empty array (no query expanders in this exercise)</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4: Wire the Dependencies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400" i="1">
                <a:solidFill>
                  <a:srgbClr val="888888"/>
                </a:solidFill>
              </a:defRPr>
            </a:pPr>
            <a:r>
              <a:t>❝ Client vs Zed DependencyProvider: In the Client layer, the method is provideServiceLayerDependencies() (not provideBusinessLayerDependencies() like in Zed).</a:t>
            </a:r>
          </a:p>
          <a:p>
            <a:pPr>
              <a:spcBef>
                <a:spcPts val="800"/>
              </a:spcBef>
              <a:spcAft>
                <a:spcPts val="400"/>
              </a:spcAft>
              <a:defRPr sz="1700" b="1">
                <a:solidFill>
                  <a:srgbClr val="1A1A1A"/>
                </a:solidFill>
              </a:defRPr>
            </a:pPr>
            <a:r>
              <a:t>4.2 Factory</a:t>
            </a:r>
          </a:p>
          <a:p>
            <a:pPr>
              <a:spcAft>
                <a:spcPts val="800"/>
              </a:spcAft>
              <a:defRPr sz="1600">
                <a:solidFill>
                  <a:srgbClr val="1A1A1A"/>
                </a:solidFill>
              </a:defRPr>
            </a:pPr>
            <a:r>
              <a:t>Coding time:</a:t>
            </a:r>
          </a:p>
          <a:p>
            <a:pPr>
              <a:spcAft>
                <a:spcPts val="800"/>
              </a:spcAft>
              <a:defRPr sz="1600">
                <a:solidFill>
                  <a:srgbClr val="1A1A1A"/>
                </a:solidFill>
              </a:defRPr>
            </a:pPr>
            <a:r>
              <a:t>Open src/SprykerAcademy/Client/SupplierSearch/SupplierSearchFactory.php :</a:t>
            </a:r>
          </a:p>
          <a:p>
            <a:pPr>
              <a:spcAft>
                <a:spcPts val="800"/>
              </a:spcAft>
              <a:defRPr sz="1600">
                <a:solidFill>
                  <a:srgbClr val="1A1A1A"/>
                </a:solidFill>
              </a:defRPr>
            </a:pPr>
            <a:r>
              <a:t>Complete the five TODOs:</a:t>
            </a:r>
          </a:p>
          <a:p>
            <a:pPr>
              <a:spcAft>
                <a:spcPts val="400"/>
              </a:spcAft>
              <a:defRPr sz="1500">
                <a:solidFill>
                  <a:srgbClr val="1A1A1A"/>
                </a:solidFill>
              </a:defRPr>
            </a:pPr>
            <a:r>
              <a:t>• createSupplierSearchReader() — create the SupplierSearchReader with the Search client, the query plugin, the query expander plugins and the result formatter plugins (the skeleton passes empty arrays for the last two)</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4: Wire the Dependencies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400"/>
              </a:spcAft>
              <a:defRPr sz="1500">
                <a:solidFill>
                  <a:srgbClr val="1A1A1A"/>
                </a:solidFill>
              </a:defRPr>
            </a:pPr>
            <a:r>
              <a:t>• getSearchClient() , getSupplierSearchQueryPlugin() , getSupplierSearchQueryExpanderPlugins() , getSupplierSearchResultFormatterPlugins() — return the corresponding provided dependency with $this-&gt;getProvidedDependency(SupplierSearchDependencyProvider::...)</a:t>
            </a:r>
          </a:p>
          <a:p>
            <a:pPr>
              <a:spcAft>
                <a:spcPts val="800"/>
              </a:spcAft>
              <a:defRPr sz="1600">
                <a:solidFill>
                  <a:srgbClr val="1A1A1A"/>
                </a:solidFill>
              </a:defRPr>
            </a:pPr>
            <a:r>
              <a:t>The SupplierSearchReader (provided) runs the search: it expands the query, calls SearchClient::search() with the formatters and returns the SupplierCollectionTransfer the formatter produced. findSupplierById() does the same with the SupplierByIdSearchQueryPlugin .</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5: Implement the SupplierSearchClient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The client is the public entry point of the module and only delegates to the reader.</a:t>
            </a:r>
          </a:p>
          <a:p>
            <a:pPr>
              <a:spcAft>
                <a:spcPts val="800"/>
              </a:spcAft>
              <a:defRPr sz="1600">
                <a:solidFill>
                  <a:srgbClr val="1A1A1A"/>
                </a:solidFill>
              </a:defRPr>
            </a:pPr>
            <a:r>
              <a:t>Coding time:</a:t>
            </a:r>
          </a:p>
          <a:p>
            <a:pPr>
              <a:spcAft>
                <a:spcPts val="800"/>
              </a:spcAft>
              <a:defRPr sz="1600">
                <a:solidFill>
                  <a:srgbClr val="1A1A1A"/>
                </a:solidFill>
              </a:defRPr>
            </a:pPr>
            <a:r>
              <a:t>Open src/SprykerAcademy/Client/SupplierSearch/SupplierSearchClient.php . In searchSuppliers() , replace the empty collection with:</a:t>
            </a:r>
          </a:p>
          <a:p>
            <a:pPr>
              <a:spcBef>
                <a:spcPts val="0"/>
              </a:spcBef>
              <a:spcAft>
                <a:spcPts val="0"/>
              </a:spcAft>
            </a:pPr>
            <a:r>
              <a:rPr sz="900" b="1">
                <a:solidFill>
                  <a:srgbClr val="007020"/>
                </a:solidFill>
                <a:latin typeface="Consolas"/>
              </a:rPr>
              <a:t>return</a:t>
            </a:r>
            <a:r>
              <a:rPr sz="900">
                <a:solidFill>
                  <a:srgbClr val="2D2D2D"/>
                </a:solidFill>
                <a:latin typeface="Consolas"/>
              </a:rPr>
              <a:t> </a:t>
            </a:r>
            <a:r>
              <a:rPr sz="900">
                <a:solidFill>
                  <a:srgbClr val="19177C"/>
                </a:solidFill>
                <a:latin typeface="Consolas"/>
              </a:rPr>
              <a:t>$this</a:t>
            </a:r>
            <a:r>
              <a:rPr sz="900">
                <a:solidFill>
                  <a:srgbClr val="2D2D2D"/>
                </a:solidFill>
                <a:latin typeface="Consolas"/>
              </a:rPr>
              <a:t>-&gt;getFactory()-&gt;createSupplierSearchReader()-&gt;searchSuppliers(</a:t>
            </a:r>
            <a:r>
              <a:rPr sz="900">
                <a:solidFill>
                  <a:srgbClr val="19177C"/>
                </a:solidFill>
                <a:latin typeface="Consolas"/>
              </a:rPr>
              <a:t>$requestParameters</a:t>
            </a:r>
            <a:r>
              <a:rPr sz="900">
                <a:solidFill>
                  <a:srgbClr val="2D2D2D"/>
                </a:solidFill>
                <a:latin typeface="Consolas"/>
              </a:rPr>
              <a:t>)</a:t>
            </a:r>
            <a:r>
              <a:rPr sz="900">
                <a:solidFill>
                  <a:srgbClr val="007020"/>
                </a:solidFill>
                <a:latin typeface="Consolas"/>
              </a:rPr>
              <a:t>;</a:t>
            </a:r>
          </a:p>
          <a:p>
            <a:pPr>
              <a:spcAft>
                <a:spcPts val="800"/>
              </a:spcAft>
              <a:defRPr sz="1400" i="1">
                <a:solidFill>
                  <a:srgbClr val="888888"/>
                </a:solidFill>
              </a:defRPr>
            </a:pPr>
            <a:r>
              <a:t>❝ SearchClient::search() returns an associative array keyed by formatter names. Our formatter is named SupplierSearchCollection , so the reader takes the collection from $result['SupplierSearchCollection'] .</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6: Try it out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After completing all parts:</a:t>
            </a:r>
          </a:p>
          <a:p>
            <a:pPr>
              <a:spcBef>
                <a:spcPts val="0"/>
              </a:spcBef>
              <a:spcAft>
                <a:spcPts val="0"/>
              </a:spcAft>
            </a:pPr>
            <a:r>
              <a:rPr sz="900">
                <a:solidFill>
                  <a:srgbClr val="2D2D2D"/>
                </a:solidFill>
                <a:latin typeface="Consolas"/>
              </a:rPr>
              <a:t>docker/sdk</a:t>
            </a:r>
            <a:r>
              <a:rPr sz="900">
                <a:solidFill>
                  <a:srgbClr val="2D2D2D"/>
                </a:solidFill>
                <a:latin typeface="Consolas"/>
              </a:rPr>
              <a:t> console cache:empty-all</a:t>
            </a:r>
          </a:p>
          <a:p>
            <a:pPr>
              <a:spcBef>
                <a:spcPts val="0"/>
              </a:spcBef>
              <a:spcAft>
                <a:spcPts val="0"/>
              </a:spcAft>
            </a:pPr>
            <a:r>
              <a:rPr sz="900">
                <a:solidFill>
                  <a:srgbClr val="2D2D2D"/>
                </a:solidFill>
                <a:latin typeface="Consolas"/>
              </a:rPr>
              <a:t>docker/sdk</a:t>
            </a:r>
            <a:r>
              <a:rPr sz="900">
                <a:solidFill>
                  <a:srgbClr val="2D2D2D"/>
                </a:solidFill>
                <a:latin typeface="Consolas"/>
              </a:rPr>
              <a:t> console propel:model:build</a:t>
            </a:r>
          </a:p>
          <a:p>
            <a:pPr>
              <a:spcBef>
                <a:spcPts val="0"/>
              </a:spcBef>
              <a:spcAft>
                <a:spcPts val="0"/>
              </a:spcAft>
            </a:pPr>
            <a:r>
              <a:rPr sz="900">
                <a:solidFill>
                  <a:srgbClr val="2D2D2D"/>
                </a:solidFill>
                <a:latin typeface="Consolas"/>
              </a:rPr>
              <a:t>docker/sdk</a:t>
            </a:r>
            <a:r>
              <a:rPr sz="900">
                <a:solidFill>
                  <a:srgbClr val="2D2D2D"/>
                </a:solidFill>
                <a:latin typeface="Consolas"/>
              </a:rPr>
              <a:t> cli vendor/bin/codecept run </a:t>
            </a:r>
            <a:r>
              <a:rPr sz="900">
                <a:solidFill>
                  <a:srgbClr val="2D2D2D"/>
                </a:solidFill>
                <a:latin typeface="Consolas"/>
              </a:rPr>
              <a:t>-c</a:t>
            </a:r>
            <a:r>
              <a:rPr sz="900">
                <a:solidFill>
                  <a:srgbClr val="2D2D2D"/>
                </a:solidFill>
                <a:latin typeface="Consolas"/>
              </a:rPr>
              <a:t> tests/SprykerAcademyTest/Zed/Supplier/ Search</a:t>
            </a:r>
          </a:p>
          <a:p>
            <a:pPr>
              <a:spcAft>
                <a:spcPts val="800"/>
              </a:spcAft>
              <a:defRPr sz="1600">
                <a:solidFill>
                  <a:srgbClr val="1A1A1A"/>
                </a:solidFill>
              </a:defRPr>
            </a:pPr>
            <a:r>
              <a:t>The storefront page that lists the suppliers through this client is built in Exercise 11 (Yves Storefront).</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Testing</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400"/>
              </a:spcAft>
              <a:defRPr sz="1500">
                <a:solidFill>
                  <a:srgbClr val="1A1A1A"/>
                </a:solidFill>
              </a:defRPr>
            </a:pPr>
            <a:r>
              <a:t>• Ensure suppliers are indexed in Elasticsearch: curl -s 'localhost:9200/_search' -H 'Content-type: application/json' \ -d '{"query":{"exists":{"field":"id_supplier"}}}'</a:t>
            </a:r>
          </a:p>
          <a:p>
            <a:pPr>
              <a:spcAft>
                <a:spcPts val="400"/>
              </a:spcAft>
              <a:defRPr sz="1500">
                <a:solidFill>
                  <a:srgbClr val="1A1A1A"/>
                </a:solidFill>
              </a:defRPr>
            </a:pPr>
            <a:r>
              <a:t>• Run the automated tests below</a:t>
            </a:r>
          </a:p>
          <a:p>
            <a:pPr>
              <a:spcAft>
                <a:spcPts val="800"/>
              </a:spcAft>
              <a:defRPr sz="1400" i="1">
                <a:solidFill>
                  <a:srgbClr val="888888"/>
                </a:solidFill>
              </a:defRPr>
            </a:pPr>
            <a:r>
              <a:t>❝ Index empty after you recreated it? Publish &amp; Synchronize only sends a document to Elasticsearch when its pyz_supplier_search row is written. Republishing unchanged suppliers leaves the rows as they are, so a freshly created index stays empty. Delete the rows first, then republish and process the queues: docker/sdk cli "mysql -h database -u spryker -psecret eu-docker -e 'DELETE FROM pyz_supplier_search'" docker/sdk console publish:trigger-events -r supplier docker/sdk console queue:worker:start --stop-when-empty</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Run Automated Tests</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docker/sdk</a:t>
            </a:r>
            <a:r>
              <a:rPr sz="900">
                <a:solidFill>
                  <a:srgbClr val="2D2D2D"/>
                </a:solidFill>
                <a:latin typeface="Consolas"/>
              </a:rPr>
              <a:t> cli vendor/bin/codecept run </a:t>
            </a:r>
            <a:r>
              <a:rPr sz="900">
                <a:solidFill>
                  <a:srgbClr val="2D2D2D"/>
                </a:solidFill>
                <a:latin typeface="Consolas"/>
              </a:rPr>
              <a:t>-c</a:t>
            </a:r>
            <a:r>
              <a:rPr sz="900">
                <a:solidFill>
                  <a:srgbClr val="2D2D2D"/>
                </a:solidFill>
                <a:latin typeface="Consolas"/>
              </a:rPr>
              <a:t> tests/SprykerAcademyTest/Zed/Supplier/ Search</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Solution</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./exercises/load.sh</a:t>
            </a:r>
            <a:r>
              <a:rPr sz="900">
                <a:solidFill>
                  <a:srgbClr val="2D2D2D"/>
                </a:solidFill>
                <a:latin typeface="Consolas"/>
              </a:rPr>
              <a:t> supplier intermediate/search/complete </a:t>
            </a:r>
            <a:r>
              <a:rPr sz="900">
                <a:solidFill>
                  <a:srgbClr val="2D2D2D"/>
                </a:solidFill>
                <a:latin typeface="Consolas"/>
              </a:rPr>
              <a:t>--run</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spAutoFit/>
          </a:bodyPr>
          <a:lstStyle/>
          <a:p>
            <a:pPr algn="ctr">
              <a:defRPr sz="3600" b="1">
                <a:solidFill>
                  <a:srgbClr val="00A89B"/>
                </a:solidFill>
              </a:defRPr>
            </a:pPr>
            <a:r>
              <a:t>Exercise 12: Glue Storefront API - Supplier</a:t>
            </a:r>
          </a:p>
        </p:txBody>
      </p:sp>
      <p:sp>
        <p:nvSpPr>
          <p:cNvPr id="3" name="Rectangle 2"/>
          <p:cNvSpPr/>
          <p:nvPr/>
        </p:nvSpPr>
        <p:spPr>
          <a:xfrm>
            <a:off x="3657600" y="2286000"/>
            <a:ext cx="4876495" cy="381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Exercise 12: Glue Storefront API - Supplier</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In this exercise, you will expose supplier data through a REST API endpoint using Spryker’s API Platform. You will create a Glue Storefront API resource that provides both single-item and collection endpoints for suppliers.</a:t>
            </a:r>
          </a:p>
          <a:p>
            <a:pPr>
              <a:spcAft>
                <a:spcPts val="800"/>
              </a:spcAft>
              <a:defRPr sz="1600">
                <a:solidFill>
                  <a:srgbClr val="1A1A1A"/>
                </a:solidFill>
              </a:defRPr>
            </a:pPr>
            <a:r>
              <a:t>You will learn how to: - Define an API resource using YAML configuration ( .resource.yml ) - Implement a Provider class that fetches and maps data - Map internal Transfer objects to generated API Resource objects - Work with Spryker’s API Platform (not the legacy GlueApplication approach) - Handle both Get (single) and GetCollection (list) operations</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Prerequisites</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400"/>
              </a:spcAft>
              <a:defRPr sz="1500">
                <a:solidFill>
                  <a:srgbClr val="1A1A1A"/>
                </a:solidFill>
              </a:defRPr>
            </a:pPr>
            <a:r>
              <a:t>• You do not need your own solutions of the earlier exercises. The branch contains them, and load.sh --run imports the sample suppliers and publishes them to Redis and Elasticsearch, so /suppliers has data to return.</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Loading the Exercise</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Like every exercise from Exercise 9 on, the branch builds on the solutions of the earlier ones.</a:t>
            </a:r>
          </a:p>
          <a:p>
            <a:pPr>
              <a:spcBef>
                <a:spcPts val="0"/>
              </a:spcBef>
              <a:spcAft>
                <a:spcPts val="0"/>
              </a:spcAft>
            </a:pPr>
            <a:r>
              <a:rPr sz="900">
                <a:solidFill>
                  <a:srgbClr val="2D2D2D"/>
                </a:solidFill>
                <a:latin typeface="Consolas"/>
              </a:rPr>
              <a:t>./exercises/load.sh</a:t>
            </a:r>
            <a:r>
              <a:rPr sz="900">
                <a:solidFill>
                  <a:srgbClr val="2D2D2D"/>
                </a:solidFill>
                <a:latin typeface="Consolas"/>
              </a:rPr>
              <a:t> supplier intermediate/glue-storefront/skeleton </a:t>
            </a:r>
            <a:r>
              <a:rPr sz="900">
                <a:solidFill>
                  <a:srgbClr val="2D2D2D"/>
                </a:solidFill>
                <a:latin typeface="Consolas"/>
              </a:rPr>
              <a:t>--run</a:t>
            </a:r>
          </a:p>
          <a:p>
            <a:pPr>
              <a:spcAft>
                <a:spcPts val="800"/>
              </a:spcAft>
              <a:defRPr sz="1600">
                <a:solidFill>
                  <a:srgbClr val="1A1A1A"/>
                </a:solidFill>
              </a:defRPr>
            </a:pPr>
            <a:r>
              <a:t>--run also runs the commands the loader lists after loading (cache, Propel, transfers and whatever this exercise needs, such as queues or Glue resources) and stops at the first one that fails. Leave it out to run them yourself.</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Setup: The SprykerAcademy Source Directory</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API Platform discovers resource YAML files by scanning the source directories configured per Glue application in config/&lt;Application&gt;/packages/spryker_api_platform.php . The demo shop lists src/Pyz and the vendor directories.</a:t>
            </a:r>
          </a:p>
          <a:p>
            <a:pPr>
              <a:spcAft>
                <a:spcPts val="800"/>
              </a:spcAft>
              <a:defRPr sz="1600">
                <a:solidFill>
                  <a:srgbClr val="1A1A1A"/>
                </a:solidFill>
              </a:defRPr>
            </a:pPr>
            <a:r>
              <a:t>The exercise loader added src/SprykerAcademy to that list when you loaded your first exercise (look at config/Glue/packages/spryker_api_platform.php ):</a:t>
            </a:r>
          </a:p>
          <a:p>
            <a:pPr>
              <a:spcBef>
                <a:spcPts val="0"/>
              </a:spcBef>
              <a:spcAft>
                <a:spcPts val="0"/>
              </a:spcAft>
            </a:pPr>
            <a:r>
              <a:rPr sz="900">
                <a:solidFill>
                  <a:srgbClr val="19177C"/>
                </a:solidFill>
                <a:latin typeface="Consolas"/>
              </a:rPr>
              <a:t>$sprykerApiPlatform</a:t>
            </a:r>
            <a:r>
              <a:rPr sz="900">
                <a:solidFill>
                  <a:srgbClr val="2D2D2D"/>
                </a:solidFill>
                <a:latin typeface="Consolas"/>
              </a:rPr>
              <a:t>-&gt;sourceDirectories([</a:t>
            </a:r>
          </a:p>
          <a:p>
            <a:pPr>
              <a:spcBef>
                <a:spcPts val="0"/>
              </a:spcBef>
              <a:spcAft>
                <a:spcPts val="0"/>
              </a:spcAft>
            </a:pPr>
            <a:r>
              <a:rPr sz="900">
                <a:solidFill>
                  <a:srgbClr val="2D2D2D"/>
                </a:solidFill>
                <a:latin typeface="Consolas"/>
              </a:rPr>
              <a:t>    </a:t>
            </a:r>
            <a:r>
              <a:rPr sz="900">
                <a:solidFill>
                  <a:srgbClr val="4070A0"/>
                </a:solidFill>
                <a:latin typeface="Consolas"/>
              </a:rPr>
              <a:t>'src/Pyz'</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4070A0"/>
                </a:solidFill>
                <a:latin typeface="Consolas"/>
              </a:rPr>
              <a:t>'src/SprykerAcademy'</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4070A0"/>
                </a:solidFill>
                <a:latin typeface="Consolas"/>
              </a:rPr>
              <a:t>'vendor/spryker'</a:t>
            </a:r>
            <a:r>
              <a:rPr sz="900">
                <a:solidFill>
                  <a:srgbClr val="007020"/>
                </a:solidFill>
                <a:latin typeface="Consolas"/>
              </a:rPr>
              <a:t>,</a:t>
            </a:r>
          </a:p>
          <a:p>
            <a:pPr>
              <a:spcBef>
                <a:spcPts val="0"/>
              </a:spcBef>
              <a:spcAft>
                <a:spcPts val="0"/>
              </a:spcAft>
            </a:pPr>
            <a:r>
              <a:rPr sz="900">
                <a:solidFill>
                  <a:srgbClr val="2D2D2D"/>
                </a:solidFill>
                <a:latin typeface="Consolas"/>
              </a:rPr>
              <a:t>    </a:t>
            </a:r>
            <a:r>
              <a:rPr sz="900" i="1">
                <a:solidFill>
                  <a:srgbClr val="60A0B0"/>
                </a:solidFill>
                <a:latin typeface="Consolas"/>
              </a:rPr>
              <a:t>// ...</a:t>
            </a:r>
          </a:p>
          <a:p>
            <a:pPr>
              <a:spcBef>
                <a:spcPts val="0"/>
              </a:spcBef>
              <a:spcAft>
                <a:spcPts val="0"/>
              </a:spcAft>
            </a:pPr>
            <a:r>
              <a:rPr sz="900">
                <a:solidFill>
                  <a:srgbClr val="2D2D2D"/>
                </a:solidFill>
                <a:latin typeface="Consolas"/>
              </a:rPr>
              <a:t>])</a:t>
            </a:r>
            <a:r>
              <a:rPr sz="900">
                <a:solidFill>
                  <a:srgbClr val="007020"/>
                </a:solidFill>
                <a:latin typeface="Consolas"/>
              </a:rPr>
              <a:t>;</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Setup: The SprykerAcademy Source Directory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In this demo shop the storefront API runs in the Glue application ( glue.eu.spryker.local , apiTypes(['storefront']) in config/Glue/packages/spryker_api_platform.php ). Generate its resources with:</a:t>
            </a:r>
          </a:p>
          <a:p>
            <a:pPr>
              <a:spcBef>
                <a:spcPts val="0"/>
              </a:spcBef>
              <a:spcAft>
                <a:spcPts val="0"/>
              </a:spcAft>
            </a:pPr>
            <a:r>
              <a:rPr sz="900">
                <a:solidFill>
                  <a:srgbClr val="2D2D2D"/>
                </a:solidFill>
                <a:latin typeface="Consolas"/>
              </a:rPr>
              <a:t>docker/sdk</a:t>
            </a:r>
            <a:r>
              <a:rPr sz="900">
                <a:solidFill>
                  <a:srgbClr val="2D2D2D"/>
                </a:solidFill>
                <a:latin typeface="Consolas"/>
              </a:rPr>
              <a:t> cli GLUE_APPLICATION=GLUE glue api:generate storefront</a:t>
            </a:r>
          </a:p>
          <a:p>
            <a:pPr>
              <a:spcAft>
                <a:spcPts val="800"/>
              </a:spcAft>
              <a:defRPr sz="1400" i="1">
                <a:solidFill>
                  <a:srgbClr val="888888"/>
                </a:solidFill>
              </a:defRPr>
            </a:pPr>
            <a:r>
              <a:t>❝ Important: You must specify the Glue application via the GLUE_APPLICATION environment variable. Without it, the command doesn’t know which application’s configuration to use. Shops with a separate storefront application ( glue-storefront.* ) use GLUE_APPLICATION=GLUE_STOREFRONT .</a:t>
            </a:r>
          </a:p>
          <a:p>
            <a:pPr>
              <a:spcAft>
                <a:spcPts val="800"/>
              </a:spcAft>
              <a:defRPr sz="1600">
                <a:solidFill>
                  <a:srgbClr val="1A1A1A"/>
                </a:solidFill>
              </a:defRPr>
            </a:pPr>
            <a:r>
              <a:t>This command scans all registered source directories for .resource.yml files and generates PHP Resource classes (e.g., Generated\Api\Storefront\SuppliersStorefrontResource ) in src/Generated/Api/Storefront .</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API Platform Commands Reference</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100"/>
              </a:spcAft>
              <a:defRPr sz="1000">
                <a:solidFill>
                  <a:srgbClr val="1A1A1A"/>
                </a:solidFill>
                <a:latin typeface="Consolas"/>
              </a:defRPr>
            </a:pPr>
            <a:r>
              <a:t>Command                                                        Purpose                                                                                                           </a:t>
            </a:r>
          </a:p>
          <a:p>
            <a:pPr>
              <a:spcAft>
                <a:spcPts val="100"/>
              </a:spcAft>
              <a:defRPr sz="1000">
                <a:solidFill>
                  <a:srgbClr val="1A1A1A"/>
                </a:solidFill>
                <a:latin typeface="Consolas"/>
              </a:defRPr>
            </a:pPr>
            <a:r>
              <a:t>-------------------------------------------------------------  ------------------------------------------------------------------------------------------------------------------</a:t>
            </a:r>
          </a:p>
          <a:p>
            <a:pPr>
              <a:spcAft>
                <a:spcPts val="100"/>
              </a:spcAft>
              <a:defRPr sz="1000">
                <a:solidFill>
                  <a:srgbClr val="1A1A1A"/>
                </a:solidFill>
                <a:latin typeface="Consolas"/>
              </a:defRPr>
            </a:pPr>
            <a:r>
              <a:t>GLUE_APPLICATION=GLUE glue api:generate storefront             Generate Storefront API resources                                                                                 </a:t>
            </a:r>
          </a:p>
          <a:p>
            <a:pPr>
              <a:spcAft>
                <a:spcPts val="100"/>
              </a:spcAft>
              <a:defRPr sz="1000">
                <a:solidFill>
                  <a:srgbClr val="1A1A1A"/>
                </a:solidFill>
                <a:latin typeface="Consolas"/>
              </a:defRPr>
            </a:pPr>
            <a:r>
              <a:t>GLUE_APPLICATION=GLUE_BACKEND glue api:generate backend        Generate Backend API resources                                                                                    </a:t>
            </a:r>
          </a:p>
          <a:p>
            <a:pPr>
              <a:spcAft>
                <a:spcPts val="100"/>
              </a:spcAft>
              <a:defRPr sz="1000">
                <a:solidFill>
                  <a:srgbClr val="1A1A1A"/>
                </a:solidFill>
                <a:latin typeface="Consolas"/>
              </a:defRPr>
            </a:pPr>
            <a:r>
              <a:t>GLUE_APPLICATION=GLUE glue cache:clear                         Delete the compiled Glue container and its metadata cache, so the next request reads the generated resources again</a:t>
            </a:r>
          </a:p>
          <a:p>
            <a:pPr>
              <a:spcAft>
                <a:spcPts val="100"/>
              </a:spcAft>
              <a:defRPr sz="1000">
                <a:solidFill>
                  <a:srgbClr val="1A1A1A"/>
                </a:solidFill>
                <a:latin typeface="Consolas"/>
              </a:defRPr>
            </a:pPr>
            <a:r>
              <a:t>GLUE_APPLICATION=GLUE glue api:generate --dry-run              Preview what would be generated without writing                                                                   </a:t>
            </a:r>
          </a:p>
          <a:p>
            <a:pPr>
              <a:spcAft>
                <a:spcPts val="100"/>
              </a:spcAft>
              <a:defRPr sz="1000">
                <a:solidFill>
                  <a:srgbClr val="1A1A1A"/>
                </a:solidFill>
                <a:latin typeface="Consolas"/>
              </a:defRPr>
            </a:pPr>
            <a:r>
              <a:t>GLUE_APPLICATION=GLUE glue api:generate --validate-only        Validate schemas without generating                                                                               </a:t>
            </a:r>
          </a:p>
          <a:p>
            <a:pPr>
              <a:spcAft>
                <a:spcPts val="100"/>
              </a:spcAft>
              <a:defRPr sz="1000">
                <a:solidFill>
                  <a:srgbClr val="1A1A1A"/>
                </a:solidFill>
                <a:latin typeface="Consolas"/>
              </a:defRPr>
            </a:pPr>
            <a:r>
              <a:t>GLUE_APPLICATION=GLUE glue api:generate -r suppliers           Generate only the suppliers resource                                                                              </a:t>
            </a:r>
          </a:p>
          <a:p>
            <a:pPr>
              <a:spcAft>
                <a:spcPts val="100"/>
              </a:spcAft>
              <a:defRPr sz="1000">
                <a:solidFill>
                  <a:srgbClr val="1A1A1A"/>
                </a:solidFill>
                <a:latin typeface="Consolas"/>
              </a:defRPr>
            </a:pPr>
            <a:r>
              <a:t>GLUE_APPLICATION=GLUE glue api:debug --list                    List all registered resources                                                                                     </a:t>
            </a:r>
          </a:p>
          <a:p>
            <a:pPr>
              <a:spcAft>
                <a:spcPts val="100"/>
              </a:spcAft>
              <a:defRPr sz="1000">
                <a:solidFill>
                  <a:srgbClr val="1A1A1A"/>
                </a:solidFill>
                <a:latin typeface="Consolas"/>
              </a:defRPr>
            </a:pPr>
            <a:r>
              <a:t>GLUE_APPLICATION=GLUE glue api:debug suppliers                 Inspect a specific resource’s merged schema                                                                       </a:t>
            </a:r>
          </a:p>
          <a:p>
            <a:pPr>
              <a:spcAft>
                <a:spcPts val="100"/>
              </a:spcAft>
              <a:defRPr sz="1000">
                <a:solidFill>
                  <a:srgbClr val="1A1A1A"/>
                </a:solidFill>
                <a:latin typeface="Consolas"/>
              </a:defRPr>
            </a:pPr>
            <a:r>
              <a:t>GLUE_APPLICATION=GLUE glue api:debug suppliers --show-sources  Show all source files with priority                                                                               </a:t>
            </a:r>
          </a:p>
          <a:p>
            <a:pPr>
              <a:spcAft>
                <a:spcPts val="100"/>
              </a:spcAft>
              <a:defRPr sz="1000">
                <a:solidFill>
                  <a:srgbClr val="1A1A1A"/>
                </a:solidFill>
                <a:latin typeface="Consolas"/>
              </a:defRPr>
            </a:pPr>
            <a:r>
              <a:t>GLUE_APPLICATION=GLUE glue api:debug suppliers --show-merged   Display the final merged YAML schema</a:t>
            </a:r>
          </a:p>
          <a:p>
            <a:pPr>
              <a:spcAft>
                <a:spcPts val="800"/>
              </a:spcAft>
              <a:defRPr sz="1400" i="1">
                <a:solidFill>
                  <a:srgbClr val="888888"/>
                </a:solidFill>
              </a:defRPr>
            </a:pPr>
            <a:r>
              <a:t>❝ Tip: All glue CLI commands require the GLUE_APPLICATION env var. Prefix every command with GLUE_APPLICATION=GLUE (the storefront API of this shop) or GLUE_APPLICATION=GLUE_BACKEND as needed.</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Why cache:clear Follows api:generate</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The two commands work on different things:</a:t>
            </a:r>
          </a:p>
          <a:p>
            <a:pPr>
              <a:spcAft>
                <a:spcPts val="400"/>
              </a:spcAft>
              <a:defRPr sz="1500">
                <a:solidFill>
                  <a:srgbClr val="1A1A1A"/>
                </a:solidFill>
              </a:defRPr>
            </a:pPr>
            <a:r>
              <a:t>• api:generate reads the *.resource.yml files and writes PHP resource classes to src/Generated/Api/Storefront/ . It only writes files; it clears nothing.</a:t>
            </a:r>
          </a:p>
          <a:p>
            <a:pPr>
              <a:spcAft>
                <a:spcPts val="400"/>
              </a:spcAft>
              <a:defRPr sz="1500">
                <a:solidFill>
                  <a:srgbClr val="1A1A1A"/>
                </a:solidFill>
              </a:defRPr>
            </a:pPr>
            <a:r>
              <a:t>• The running Glue application never reads those files per request. On its first request it compiles a Symfony container into data/cache/Glue/&lt;environment&gt;/ : the API Platform services and source directories are baked into it, and API Platform stores its resource metadata (which classes are resources, their operations and routes, which provider handles them) in the cache pools next to it. Every later request uses that cache.</a:t>
            </a:r>
          </a:p>
          <a:p>
            <a:pPr>
              <a:spcAft>
                <a:spcPts val="800"/>
              </a:spcAft>
              <a:defRPr sz="1600">
                <a:solidFill>
                  <a:srgbClr val="1A1A1A"/>
                </a:solidFill>
              </a:defRPr>
            </a:pPr>
            <a:r>
              <a:t>Nothing invalidates the cache when the generated classes change. So after a generate, Glue keeps answering from the old metadata:</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Why cache:clear Follows api:generate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100"/>
              </a:spcAft>
              <a:defRPr sz="1000">
                <a:solidFill>
                  <a:srgbClr val="1A1A1A"/>
                </a:solidFill>
                <a:latin typeface="Consolas"/>
              </a:defRPr>
            </a:pPr>
            <a:r>
              <a:t>You changed                                                  Without cache:clear                                              </a:t>
            </a:r>
          </a:p>
          <a:p>
            <a:pPr>
              <a:spcAft>
                <a:spcPts val="100"/>
              </a:spcAft>
              <a:defRPr sz="1000">
                <a:solidFill>
                  <a:srgbClr val="1A1A1A"/>
                </a:solidFill>
                <a:latin typeface="Consolas"/>
              </a:defRPr>
            </a:pPr>
            <a:r>
              <a:t>-----------------------------------------------------------  -----------------------------------------------------------------</a:t>
            </a:r>
          </a:p>
          <a:p>
            <a:pPr>
              <a:spcAft>
                <a:spcPts val="100"/>
              </a:spcAft>
              <a:defRPr sz="1000">
                <a:solidFill>
                  <a:srgbClr val="1A1A1A"/>
                </a:solidFill>
                <a:latin typeface="Consolas"/>
              </a:defRPr>
            </a:pPr>
            <a:r>
              <a:t>Added a resource                                             404 : the resource is not in the cached list                     </a:t>
            </a:r>
          </a:p>
          <a:p>
            <a:pPr>
              <a:spcAft>
                <a:spcPts val="100"/>
              </a:spcAft>
              <a:defRPr sz="1000">
                <a:solidFill>
                  <a:srgbClr val="1A1A1A"/>
                </a:solidFill>
                <a:latin typeface="Consolas"/>
              </a:defRPr>
            </a:pPr>
            <a:r>
              <a:t>Renamed or removed a resource, or changed its provider       500 : the cached metadata points at a class that no longer exists</a:t>
            </a:r>
          </a:p>
          <a:p>
            <a:pPr>
              <a:spcAft>
                <a:spcPts val="100"/>
              </a:spcAft>
              <a:defRPr sz="1000">
                <a:solidFill>
                  <a:srgbClr val="1A1A1A"/>
                </a:solidFill>
                <a:latin typeface="Consolas"/>
              </a:defRPr>
            </a:pPr>
            <a:r>
              <a:t>Only the code inside an existing provider method             Works: classes are autoloaded on every request                   </a:t>
            </a:r>
          </a:p>
          <a:p>
            <a:pPr>
              <a:spcAft>
                <a:spcPts val="100"/>
              </a:spcAft>
              <a:defRPr sz="1000">
                <a:solidFill>
                  <a:srgbClr val="1A1A1A"/>
                </a:solidFill>
                <a:latin typeface="Consolas"/>
              </a:defRPr>
            </a:pPr>
            <a:r>
              <a:t>A provider’s constructor, a new service, a source directory  Stale wiring: those are compiled into the container</a:t>
            </a:r>
          </a:p>
          <a:p>
            <a:pPr>
              <a:spcAft>
                <a:spcPts val="800"/>
              </a:spcAft>
              <a:defRPr sz="1600">
                <a:solidFill>
                  <a:srgbClr val="1A1A1A"/>
                </a:solidFill>
              </a:defRPr>
            </a:pPr>
            <a:r>
              <a:t>glue cache:clear deletes that cache, and the next request builds it from the current files. docker/sdk console cache:empty-all does not reach it: it clears the Zed, Yves and console caches, not the per-application Glue container. Rule of thumb: after every change to a resource.yml run both commands, generate first.</a:t>
            </a:r>
          </a:p>
          <a:p>
            <a:pPr>
              <a:spcAft>
                <a:spcPts val="800"/>
              </a:spcAft>
              <a:defRPr sz="1400" i="1">
                <a:solidFill>
                  <a:srgbClr val="888888"/>
                </a:solidFill>
              </a:defRPr>
            </a:pPr>
            <a:r>
              <a:t>❝ Docs: Spryker API Platform Architecture | Resource Schemas</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Background: Spryker API Platform</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Spryker 202512.0+ introduces API Platform as the recommended approach for building new REST APIs. The existing GlueApplication APIs remain retrocompatible (not deprecated) — they continue to work alongside API Platform.</a:t>
            </a:r>
          </a:p>
          <a:p>
            <a:pPr>
              <a:spcAft>
                <a:spcPts val="800"/>
              </a:spcAft>
              <a:defRPr sz="1600">
                <a:solidFill>
                  <a:srgbClr val="1A1A1A"/>
                </a:solidFill>
              </a:defRPr>
            </a:pPr>
            <a:r>
              <a:t>For all new API development, use API Platform.</a:t>
            </a:r>
          </a:p>
          <a:p>
            <a:pPr>
              <a:spcAft>
                <a:spcPts val="100"/>
              </a:spcAft>
              <a:defRPr sz="1000">
                <a:solidFill>
                  <a:srgbClr val="1A1A1A"/>
                </a:solidFill>
                <a:latin typeface="Consolas"/>
              </a:defRPr>
            </a:pPr>
            <a:r>
              <a:t>Aspect                GlueApplication (retrocompatible)                 API Platform (recommended)                   </a:t>
            </a:r>
          </a:p>
          <a:p>
            <a:pPr>
              <a:spcAft>
                <a:spcPts val="100"/>
              </a:spcAft>
              <a:defRPr sz="1000">
                <a:solidFill>
                  <a:srgbClr val="1A1A1A"/>
                </a:solidFill>
                <a:latin typeface="Consolas"/>
              </a:defRPr>
            </a:pPr>
            <a:r>
              <a:t>--------------------  ------------------------------------------------  ---------------------------------------------</a:t>
            </a:r>
          </a:p>
          <a:p>
            <a:pPr>
              <a:spcAft>
                <a:spcPts val="100"/>
              </a:spcAft>
              <a:defRPr sz="1000">
                <a:solidFill>
                  <a:srgbClr val="1A1A1A"/>
                </a:solidFill>
                <a:latin typeface="Consolas"/>
              </a:defRPr>
            </a:pPr>
            <a:r>
              <a:t>Resource definition   PHP plugin classes                                YAML .resource.yml files                     </a:t>
            </a:r>
          </a:p>
          <a:p>
            <a:pPr>
              <a:spcAft>
                <a:spcPts val="100"/>
              </a:spcAft>
              <a:defRPr sz="1000">
                <a:solidFill>
                  <a:srgbClr val="1A1A1A"/>
                </a:solidFill>
                <a:latin typeface="Consolas"/>
              </a:defRPr>
            </a:pPr>
            <a:r>
              <a:t>Controller            Custom controller extending AbstractRestResource  Provider class implementing ProviderInterface</a:t>
            </a:r>
          </a:p>
          <a:p>
            <a:pPr>
              <a:spcAft>
                <a:spcPts val="100"/>
              </a:spcAft>
              <a:defRPr sz="1000">
                <a:solidFill>
                  <a:srgbClr val="1A1A1A"/>
                </a:solidFill>
                <a:latin typeface="Consolas"/>
              </a:defRPr>
            </a:pPr>
            <a:r>
              <a:t>Registration          Plugin registered in DependencyProvider           Provider referenced in YAML config           </a:t>
            </a:r>
          </a:p>
          <a:p>
            <a:pPr>
              <a:spcAft>
                <a:spcPts val="100"/>
              </a:spcAft>
              <a:defRPr sz="1000">
                <a:solidFill>
                  <a:srgbClr val="1A1A1A"/>
                </a:solidFill>
                <a:latin typeface="Consolas"/>
              </a:defRPr>
            </a:pPr>
            <a:r>
              <a:t>Dependency injection  Factory + DependencyProvider                      Constructor injection (auto-wired)           </a:t>
            </a:r>
          </a:p>
          <a:p>
            <a:pPr>
              <a:spcAft>
                <a:spcPts val="100"/>
              </a:spcAft>
              <a:defRPr sz="1000">
                <a:solidFill>
                  <a:srgbClr val="1A1A1A"/>
                </a:solidFill>
                <a:latin typeface="Consolas"/>
              </a:defRPr>
            </a:pPr>
            <a:r>
              <a:t>Response format       Manual RestResource building                      Generated Resource classes</a:t>
            </a:r>
          </a:p>
          <a:p>
            <a:pPr>
              <a:spcAft>
                <a:spcPts val="800"/>
              </a:spcAft>
              <a:defRPr sz="1600">
                <a:solidFill>
                  <a:srgbClr val="1A1A1A"/>
                </a:solidFill>
              </a:defRPr>
            </a:pPr>
            <a:r>
              <a:t>API Platform flow:</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Background: Spryker API Platform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GET /suppliers/1</a:t>
            </a:r>
          </a:p>
          <a:p>
            <a:pPr>
              <a:spcBef>
                <a:spcPts val="0"/>
              </a:spcBef>
              <a:spcAft>
                <a:spcPts val="0"/>
              </a:spcAft>
            </a:pPr>
            <a:r>
              <a:rPr sz="900">
                <a:solidFill>
                  <a:srgbClr val="2D2D2D"/>
                </a:solidFill>
                <a:latin typeface="Consolas"/>
              </a:rPr>
              <a:t>    → YAML resource definition (suppliers.resource.yml)</a:t>
            </a:r>
          </a:p>
          <a:p>
            <a:pPr>
              <a:spcBef>
                <a:spcPts val="0"/>
              </a:spcBef>
              <a:spcAft>
                <a:spcPts val="0"/>
              </a:spcAft>
            </a:pPr>
            <a:r>
              <a:rPr sz="900">
                <a:solidFill>
                  <a:srgbClr val="2D2D2D"/>
                </a:solidFill>
                <a:latin typeface="Consolas"/>
              </a:rPr>
              <a:t>    → Provider::provide($operation, $uriVariables)</a:t>
            </a:r>
          </a:p>
          <a:p>
            <a:pPr>
              <a:spcBef>
                <a:spcPts val="0"/>
              </a:spcBef>
              <a:spcAft>
                <a:spcPts val="0"/>
              </a:spcAft>
            </a:pPr>
            <a:r>
              <a:rPr sz="900">
                <a:solidFill>
                  <a:srgbClr val="2D2D2D"/>
                </a:solidFill>
                <a:latin typeface="Consolas"/>
              </a:rPr>
              <a:t>    → Load data from Client/Facade</a:t>
            </a:r>
          </a:p>
          <a:p>
            <a:pPr>
              <a:spcBef>
                <a:spcPts val="0"/>
              </a:spcBef>
              <a:spcAft>
                <a:spcPts val="0"/>
              </a:spcAft>
            </a:pPr>
            <a:r>
              <a:rPr sz="900">
                <a:solidFill>
                  <a:srgbClr val="2D2D2D"/>
                </a:solidFill>
                <a:latin typeface="Consolas"/>
              </a:rPr>
              <a:t>    → Map Transfer → Generated Resource class</a:t>
            </a:r>
          </a:p>
          <a:p>
            <a:pPr>
              <a:spcBef>
                <a:spcPts val="0"/>
              </a:spcBef>
              <a:spcAft>
                <a:spcPts val="0"/>
              </a:spcAft>
            </a:pPr>
            <a:r>
              <a:rPr sz="900">
                <a:solidFill>
                  <a:srgbClr val="2D2D2D"/>
                </a:solidFill>
                <a:latin typeface="Consolas"/>
              </a:rPr>
              <a:t>    → JSON:API response</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Working on the Exercise</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1200"/>
              </a:spcBef>
              <a:spcAft>
                <a:spcPts val="600"/>
              </a:spcAft>
              <a:defRPr sz="2000" b="1">
                <a:solidFill>
                  <a:srgbClr val="1A1A1A"/>
                </a:solidFill>
              </a:defRPr>
            </a:pPr>
            <a:r>
              <a:t>Part 1: Define the API Resource (YAML)</a:t>
            </a:r>
          </a:p>
          <a:p>
            <a:pPr>
              <a:spcAft>
                <a:spcPts val="800"/>
              </a:spcAft>
              <a:defRPr sz="1600">
                <a:solidFill>
                  <a:srgbClr val="1A1A1A"/>
                </a:solidFill>
              </a:defRPr>
            </a:pPr>
            <a:r>
              <a:t>The API resource definition tells Spryker what endpoints to expose, which Provider handles the requests, and what properties the resource has.</a:t>
            </a:r>
          </a:p>
          <a:p>
            <a:pPr>
              <a:spcAft>
                <a:spcPts val="800"/>
              </a:spcAft>
              <a:defRPr sz="1600">
                <a:solidFill>
                  <a:srgbClr val="1A1A1A"/>
                </a:solidFill>
              </a:defRPr>
            </a:pPr>
            <a:r>
              <a:t>Coding time:</a:t>
            </a:r>
          </a:p>
          <a:p>
            <a:pPr>
              <a:spcAft>
                <a:spcPts val="800"/>
              </a:spcAft>
              <a:defRPr sz="1600">
                <a:solidFill>
                  <a:srgbClr val="1A1A1A"/>
                </a:solidFill>
              </a:defRPr>
            </a:pPr>
            <a:r>
              <a:t>Open src/SprykerAcademy/Glue/Supplier/resources/api/storefront/suppliers.resource.yml :</a:t>
            </a:r>
          </a:p>
          <a:p>
            <a:pPr>
              <a:spcAft>
                <a:spcPts val="400"/>
              </a:spcAft>
              <a:defRPr sz="1500">
                <a:solidFill>
                  <a:srgbClr val="1A1A1A"/>
                </a:solidFill>
              </a:defRPr>
            </a:pPr>
            <a:r>
              <a:t>• Add the provider field pointing to the full class name of the Provider class</a:t>
            </a:r>
          </a:p>
          <a:p>
            <a:pPr>
              <a:spcAft>
                <a:spcPts val="400"/>
              </a:spcAft>
              <a:defRPr sz="1500">
                <a:solidFill>
                  <a:srgbClr val="1A1A1A"/>
                </a:solidFill>
              </a:defRPr>
            </a:pPr>
            <a:r>
              <a:t>• Add the resource properties: name (string), description (string), status (int), email (string), phone (string)</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Working on the Exercise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The skeleton already has the resource name, operations (Get + GetCollection), pagination config, and the idSupplier identifier property.</a:t>
            </a:r>
          </a:p>
          <a:p>
            <a:pPr>
              <a:spcAft>
                <a:spcPts val="800"/>
              </a:spcAft>
              <a:defRPr sz="1400" i="1">
                <a:solidFill>
                  <a:srgbClr val="888888"/>
                </a:solidFill>
              </a:defRPr>
            </a:pPr>
            <a:r>
              <a:t>❝ Resource YAML structure: - provider: — full class name of the PHP Provider that handles requests - operations: — list of HTTP operations (Get, GetCollection, Post, Patch, Delete) - properties: — schema definition with types, descriptions, and identifier flag - identifier: true — marks the property used in the URL path (e.g., /suppliers/{idSupplier} )</a:t>
            </a:r>
          </a:p>
          <a:p>
            <a:pPr>
              <a:spcAft>
                <a:spcPts val="800"/>
              </a:spcAft>
              <a:defRPr sz="1600">
                <a:solidFill>
                  <a:srgbClr val="1A1A1A"/>
                </a:solidFill>
              </a:defRPr>
            </a:pPr>
            <a:r>
              <a:t>After modifying the YAML, regenerate the resource classes:</a:t>
            </a:r>
          </a:p>
          <a:p>
            <a:pPr>
              <a:spcBef>
                <a:spcPts val="0"/>
              </a:spcBef>
              <a:spcAft>
                <a:spcPts val="0"/>
              </a:spcAft>
            </a:pPr>
            <a:r>
              <a:rPr sz="900">
                <a:solidFill>
                  <a:srgbClr val="2D2D2D"/>
                </a:solidFill>
                <a:latin typeface="Consolas"/>
              </a:rPr>
              <a:t>docker/sdk</a:t>
            </a:r>
            <a:r>
              <a:rPr sz="900">
                <a:solidFill>
                  <a:srgbClr val="2D2D2D"/>
                </a:solidFill>
                <a:latin typeface="Consolas"/>
              </a:rPr>
              <a:t> cli GLUE_APPLICATION=GLUE glue api:generate storefront</a:t>
            </a:r>
          </a:p>
          <a:p>
            <a:pPr>
              <a:spcAft>
                <a:spcPts val="800"/>
              </a:spcAft>
              <a:defRPr sz="1600">
                <a:solidFill>
                  <a:srgbClr val="1A1A1A"/>
                </a:solidFill>
              </a:defRPr>
            </a:pPr>
            <a:r>
              <a:t>This generates a SuppliersStorefrontResource class in Generated\Api\Storefront\ that the Provider returns.</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2: Implement the Provider</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The Provider is the core of the API resource. It receives the HTTP request context and returns data. It replaces the controller + reader pattern from the old approach.</a:t>
            </a:r>
          </a:p>
          <a:p>
            <a:pPr>
              <a:spcAft>
                <a:spcPts val="800"/>
              </a:spcAft>
              <a:defRPr sz="1600">
                <a:solidFill>
                  <a:srgbClr val="1A1A1A"/>
                </a:solidFill>
              </a:defRPr>
            </a:pPr>
            <a:r>
              <a:t>Coding time:</a:t>
            </a:r>
          </a:p>
          <a:p>
            <a:pPr>
              <a:spcAft>
                <a:spcPts val="800"/>
              </a:spcAft>
              <a:defRPr sz="1600">
                <a:solidFill>
                  <a:srgbClr val="1A1A1A"/>
                </a:solidFill>
              </a:defRPr>
            </a:pPr>
            <a:r>
              <a:t>Open src/SprykerAcademy/Glue/Supplier/Api/Storefront/Provider/SuppliersStorefrontProvider.php . The class implements ApiPlatform\State\ProviderInterface and receives the SupplierSearchClientInterface of Exercise 11 through its constructor - the storefront reads suppliers from Elasticsearch, not from the database. In the provide() method:</a:t>
            </a:r>
          </a:p>
          <a:p>
            <a:pPr>
              <a:spcAft>
                <a:spcPts val="400"/>
              </a:spcAft>
              <a:defRPr sz="1500">
                <a:solidFill>
                  <a:srgbClr val="1A1A1A"/>
                </a:solidFill>
              </a:defRPr>
            </a:pPr>
            <a:r>
              <a:t>• Read the supplier identifier from $uriVariables — the key name must match the identifier property in the YAML</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2: Implement the Provider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400"/>
              </a:spcAft>
              <a:defRPr sz="1500">
                <a:solidFill>
                  <a:srgbClr val="1A1A1A"/>
                </a:solidFill>
              </a:defRPr>
            </a:pPr>
            <a:r>
              <a:t>• If the identifier is null, call searchSuppliers() to load suppliers. Loop over SupplierCollectionTransfer::getSuppliers() and map each transfer to a resource</a:t>
            </a:r>
          </a:p>
          <a:p>
            <a:pPr>
              <a:spcAft>
                <a:spcPts val="400"/>
              </a:spcAft>
              <a:defRPr sz="1500">
                <a:solidFill>
                  <a:srgbClr val="1A1A1A"/>
                </a:solidFill>
              </a:defRPr>
            </a:pPr>
            <a:r>
              <a:t>• If the identifier is present, call findSupplierById((int)$idSupplier)</a:t>
            </a:r>
          </a:p>
          <a:p>
            <a:pPr>
              <a:spcAft>
                <a:spcPts val="400"/>
              </a:spcAft>
              <a:defRPr sz="1500">
                <a:solidFill>
                  <a:srgbClr val="1A1A1A"/>
                </a:solidFill>
              </a:defRPr>
            </a:pPr>
            <a:r>
              <a:t>• The client returns an empty SupplierTransfer for an unknown id: return null then (API Platform answers with a 404)</a:t>
            </a:r>
          </a:p>
          <a:p>
            <a:pPr>
              <a:spcAft>
                <a:spcPts val="400"/>
              </a:spcAft>
              <a:defRPr sz="1500">
                <a:solidFill>
                  <a:srgbClr val="1A1A1A"/>
                </a:solidFill>
              </a:defRPr>
            </a:pPr>
            <a:r>
              <a:t>• Map the SupplierTransfer to a SuppliersStorefrontResource using the provided Mapper</a:t>
            </a:r>
          </a:p>
          <a:p>
            <a:pPr>
              <a:spcAft>
                <a:spcPts val="800"/>
              </a:spcAft>
              <a:defRPr sz="1400" i="1">
                <a:solidFill>
                  <a:srgbClr val="888888"/>
                </a:solidFill>
              </a:defRPr>
            </a:pPr>
            <a:r>
              <a:t>❝ $uriVariables : For a GET request to /suppliers/5 , this array contains ['idSupplier' =&gt; '5'] . The key name comes from the identifier property in the resource YAML.</a:t>
            </a:r>
          </a:p>
          <a:p>
            <a:pPr>
              <a:spcAft>
                <a:spcPts val="800"/>
              </a:spcAft>
              <a:defRPr sz="1400" i="1">
                <a:solidFill>
                  <a:srgbClr val="888888"/>
                </a:solidFill>
              </a:defRPr>
            </a:pPr>
            <a:r>
              <a:t>❝ Collection vs Single: The provide() method handles both. When idSupplier is null, it’s a GetCollection request; when present, it’s a Get request.</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3: Review the Mapper</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The Mapper converts internal SupplierTransfer objects to generated SuppliersStorefrontResource objects.</a:t>
            </a:r>
          </a:p>
          <a:p>
            <a:pPr>
              <a:spcAft>
                <a:spcPts val="800"/>
              </a:spcAft>
              <a:defRPr sz="1600">
                <a:solidFill>
                  <a:srgbClr val="1A1A1A"/>
                </a:solidFill>
              </a:defRPr>
            </a:pPr>
            <a:r>
              <a:t>Open src/SprykerAcademy/Glue/Supplier/Processor/Mapper/SupplierMapper.php and review how it maps transfers to API resources. Note toArray(false, true) : the generated resource reads camel-cased keys ( idSupplier ), while toArray() without arguments returns snake_case ( id_supplier ) - the resource would miss its identifier and API Platform could not build the links.</a:t>
            </a:r>
          </a:p>
          <a:p>
            <a:pPr>
              <a:spcAft>
                <a:spcPts val="800"/>
              </a:spcAft>
              <a:defRPr sz="1400" i="1">
                <a:solidFill>
                  <a:srgbClr val="888888"/>
                </a:solidFill>
              </a:defRPr>
            </a:pPr>
            <a:r>
              <a:t>❝ Generated Resource classes: API Platform generates PHP classes from the YAML properties. These classes have fromArray() and expose the properties defined in the YAML. The Mapper bridges the internal domain model (Transfer) to the API model (Resource).</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4: Test the Endpoint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After completing all parts, generate the API resources and clear the Glue cache (see Why cache:clear Follows api:generate ):</a:t>
            </a:r>
          </a:p>
          <a:p>
            <a:pPr>
              <a:spcBef>
                <a:spcPts val="0"/>
              </a:spcBef>
              <a:spcAft>
                <a:spcPts val="0"/>
              </a:spcAft>
            </a:pPr>
            <a:r>
              <a:rPr sz="900">
                <a:solidFill>
                  <a:srgbClr val="2D2D2D"/>
                </a:solidFill>
                <a:latin typeface="Consolas"/>
              </a:rPr>
              <a:t>docker/sdk</a:t>
            </a:r>
            <a:r>
              <a:rPr sz="900">
                <a:solidFill>
                  <a:srgbClr val="2D2D2D"/>
                </a:solidFill>
                <a:latin typeface="Consolas"/>
              </a:rPr>
              <a:t> cli GLUE_APPLICATION=GLUE glue api:generate storefront</a:t>
            </a:r>
          </a:p>
          <a:p>
            <a:pPr>
              <a:spcBef>
                <a:spcPts val="0"/>
              </a:spcBef>
              <a:spcAft>
                <a:spcPts val="0"/>
              </a:spcAft>
            </a:pPr>
            <a:r>
              <a:rPr sz="900">
                <a:solidFill>
                  <a:srgbClr val="2D2D2D"/>
                </a:solidFill>
                <a:latin typeface="Consolas"/>
              </a:rPr>
              <a:t>docker/sdk</a:t>
            </a:r>
            <a:r>
              <a:rPr sz="900">
                <a:solidFill>
                  <a:srgbClr val="2D2D2D"/>
                </a:solidFill>
                <a:latin typeface="Consolas"/>
              </a:rPr>
              <a:t> cli GLUE_APPLICATION=GLUE glue cache:clear</a:t>
            </a:r>
          </a:p>
          <a:p>
            <a:pPr>
              <a:spcAft>
                <a:spcPts val="800"/>
              </a:spcAft>
              <a:defRPr sz="1600">
                <a:solidFill>
                  <a:srgbClr val="1A1A1A"/>
                </a:solidFill>
              </a:defRPr>
            </a:pPr>
            <a:r>
              <a:t>Test collection (JSON-LD format):</a:t>
            </a:r>
          </a:p>
          <a:p>
            <a:pPr>
              <a:spcBef>
                <a:spcPts val="0"/>
              </a:spcBef>
              <a:spcAft>
                <a:spcPts val="0"/>
              </a:spcAft>
            </a:pPr>
            <a:r>
              <a:rPr sz="900">
                <a:solidFill>
                  <a:srgbClr val="2D2D2D"/>
                </a:solidFill>
                <a:latin typeface="Consolas"/>
              </a:rPr>
              <a:t>curl</a:t>
            </a:r>
            <a:r>
              <a:rPr sz="900">
                <a:solidFill>
                  <a:srgbClr val="2D2D2D"/>
                </a:solidFill>
                <a:latin typeface="Consolas"/>
              </a:rPr>
              <a:t> </a:t>
            </a:r>
            <a:r>
              <a:rPr sz="900">
                <a:solidFill>
                  <a:srgbClr val="2D2D2D"/>
                </a:solidFill>
                <a:latin typeface="Consolas"/>
              </a:rPr>
              <a:t>-s</a:t>
            </a:r>
            <a:r>
              <a:rPr sz="900">
                <a:solidFill>
                  <a:srgbClr val="2D2D2D"/>
                </a:solidFill>
                <a:latin typeface="Consolas"/>
              </a:rPr>
              <a:t> </a:t>
            </a:r>
            <a:r>
              <a:rPr sz="900">
                <a:solidFill>
                  <a:srgbClr val="4070A0"/>
                </a:solidFill>
                <a:latin typeface="Consolas"/>
              </a:rPr>
              <a:t>'http://glue.eu.spryker.local/suppliers'</a:t>
            </a:r>
            <a:r>
              <a:rPr sz="900">
                <a:solidFill>
                  <a:srgbClr val="2D2D2D"/>
                </a:solidFill>
                <a:latin typeface="Consolas"/>
              </a:rPr>
              <a:t> </a:t>
            </a:r>
            <a:r>
              <a:rPr sz="900">
                <a:solidFill>
                  <a:srgbClr val="902000"/>
                </a:solidFill>
                <a:latin typeface="Consolas"/>
              </a:rPr>
              <a:t>\</a:t>
            </a:r>
          </a:p>
          <a:p>
            <a:pPr>
              <a:spcBef>
                <a:spcPts val="0"/>
              </a:spcBef>
              <a:spcAft>
                <a:spcPts val="0"/>
              </a:spcAft>
            </a:pPr>
            <a:r>
              <a:rPr sz="900">
                <a:solidFill>
                  <a:srgbClr val="2D2D2D"/>
                </a:solidFill>
                <a:latin typeface="Consolas"/>
              </a:rPr>
              <a:t>  </a:t>
            </a:r>
            <a:r>
              <a:rPr sz="900">
                <a:solidFill>
                  <a:srgbClr val="2D2D2D"/>
                </a:solidFill>
                <a:latin typeface="Consolas"/>
              </a:rPr>
              <a:t>-H</a:t>
            </a:r>
            <a:r>
              <a:rPr sz="900">
                <a:solidFill>
                  <a:srgbClr val="2D2D2D"/>
                </a:solidFill>
                <a:latin typeface="Consolas"/>
              </a:rPr>
              <a:t> </a:t>
            </a:r>
            <a:r>
              <a:rPr sz="900">
                <a:solidFill>
                  <a:srgbClr val="4070A0"/>
                </a:solidFill>
                <a:latin typeface="Consolas"/>
              </a:rPr>
              <a:t>'Accept: application/ld+json'</a:t>
            </a:r>
            <a:r>
              <a:rPr sz="900">
                <a:solidFill>
                  <a:srgbClr val="2D2D2D"/>
                </a:solidFill>
                <a:latin typeface="Consolas"/>
              </a:rPr>
              <a:t> </a:t>
            </a:r>
            <a:r>
              <a:rPr sz="900" b="1">
                <a:solidFill>
                  <a:srgbClr val="007020"/>
                </a:solidFill>
                <a:latin typeface="Consolas"/>
              </a:rPr>
              <a:t>|</a:t>
            </a:r>
            <a:r>
              <a:rPr sz="900">
                <a:solidFill>
                  <a:srgbClr val="2D2D2D"/>
                </a:solidFill>
                <a:latin typeface="Consolas"/>
              </a:rPr>
              <a:t> </a:t>
            </a:r>
            <a:r>
              <a:rPr sz="900">
                <a:solidFill>
                  <a:srgbClr val="2D2D2D"/>
                </a:solidFill>
                <a:latin typeface="Consolas"/>
              </a:rPr>
              <a:t>python3</a:t>
            </a:r>
            <a:r>
              <a:rPr sz="900">
                <a:solidFill>
                  <a:srgbClr val="2D2D2D"/>
                </a:solidFill>
                <a:latin typeface="Consolas"/>
              </a:rPr>
              <a:t> </a:t>
            </a:r>
            <a:r>
              <a:rPr sz="900">
                <a:solidFill>
                  <a:srgbClr val="2D2D2D"/>
                </a:solidFill>
                <a:latin typeface="Consolas"/>
              </a:rPr>
              <a:t>-m</a:t>
            </a:r>
            <a:r>
              <a:rPr sz="900">
                <a:solidFill>
                  <a:srgbClr val="2D2D2D"/>
                </a:solidFill>
                <a:latin typeface="Consolas"/>
              </a:rPr>
              <a:t> json.tool</a:t>
            </a:r>
          </a:p>
          <a:p>
            <a:pPr>
              <a:spcAft>
                <a:spcPts val="800"/>
              </a:spcAft>
              <a:defRPr sz="1600">
                <a:solidFill>
                  <a:srgbClr val="1A1A1A"/>
                </a:solidFill>
              </a:defRPr>
            </a:pPr>
            <a:r>
              <a:t>Test single supplier:</a:t>
            </a:r>
          </a:p>
          <a:p>
            <a:pPr>
              <a:spcBef>
                <a:spcPts val="0"/>
              </a:spcBef>
              <a:spcAft>
                <a:spcPts val="0"/>
              </a:spcAft>
            </a:pPr>
            <a:r>
              <a:rPr sz="900">
                <a:solidFill>
                  <a:srgbClr val="2D2D2D"/>
                </a:solidFill>
                <a:latin typeface="Consolas"/>
              </a:rPr>
              <a:t>curl</a:t>
            </a:r>
            <a:r>
              <a:rPr sz="900">
                <a:solidFill>
                  <a:srgbClr val="2D2D2D"/>
                </a:solidFill>
                <a:latin typeface="Consolas"/>
              </a:rPr>
              <a:t> </a:t>
            </a:r>
            <a:r>
              <a:rPr sz="900">
                <a:solidFill>
                  <a:srgbClr val="2D2D2D"/>
                </a:solidFill>
                <a:latin typeface="Consolas"/>
              </a:rPr>
              <a:t>-s</a:t>
            </a:r>
            <a:r>
              <a:rPr sz="900">
                <a:solidFill>
                  <a:srgbClr val="2D2D2D"/>
                </a:solidFill>
                <a:latin typeface="Consolas"/>
              </a:rPr>
              <a:t> </a:t>
            </a:r>
            <a:r>
              <a:rPr sz="900">
                <a:solidFill>
                  <a:srgbClr val="4070A0"/>
                </a:solidFill>
                <a:latin typeface="Consolas"/>
              </a:rPr>
              <a:t>'http://glue.eu.spryker.local/suppliers/1'</a:t>
            </a:r>
            <a:r>
              <a:rPr sz="900">
                <a:solidFill>
                  <a:srgbClr val="2D2D2D"/>
                </a:solidFill>
                <a:latin typeface="Consolas"/>
              </a:rPr>
              <a:t> </a:t>
            </a:r>
            <a:r>
              <a:rPr sz="900">
                <a:solidFill>
                  <a:srgbClr val="902000"/>
                </a:solidFill>
                <a:latin typeface="Consolas"/>
              </a:rPr>
              <a:t>\</a:t>
            </a:r>
          </a:p>
          <a:p>
            <a:pPr>
              <a:spcBef>
                <a:spcPts val="0"/>
              </a:spcBef>
              <a:spcAft>
                <a:spcPts val="0"/>
              </a:spcAft>
            </a:pPr>
            <a:r>
              <a:rPr sz="900">
                <a:solidFill>
                  <a:srgbClr val="2D2D2D"/>
                </a:solidFill>
                <a:latin typeface="Consolas"/>
              </a:rPr>
              <a:t>  </a:t>
            </a:r>
            <a:r>
              <a:rPr sz="900">
                <a:solidFill>
                  <a:srgbClr val="2D2D2D"/>
                </a:solidFill>
                <a:latin typeface="Consolas"/>
              </a:rPr>
              <a:t>-H</a:t>
            </a:r>
            <a:r>
              <a:rPr sz="900">
                <a:solidFill>
                  <a:srgbClr val="2D2D2D"/>
                </a:solidFill>
                <a:latin typeface="Consolas"/>
              </a:rPr>
              <a:t> </a:t>
            </a:r>
            <a:r>
              <a:rPr sz="900">
                <a:solidFill>
                  <a:srgbClr val="4070A0"/>
                </a:solidFill>
                <a:latin typeface="Consolas"/>
              </a:rPr>
              <a:t>'Accept: application/ld+json'</a:t>
            </a:r>
            <a:r>
              <a:rPr sz="900">
                <a:solidFill>
                  <a:srgbClr val="2D2D2D"/>
                </a:solidFill>
                <a:latin typeface="Consolas"/>
              </a:rPr>
              <a:t> </a:t>
            </a:r>
            <a:r>
              <a:rPr sz="900" b="1">
                <a:solidFill>
                  <a:srgbClr val="007020"/>
                </a:solidFill>
                <a:latin typeface="Consolas"/>
              </a:rPr>
              <a:t>|</a:t>
            </a:r>
            <a:r>
              <a:rPr sz="900">
                <a:solidFill>
                  <a:srgbClr val="2D2D2D"/>
                </a:solidFill>
                <a:latin typeface="Consolas"/>
              </a:rPr>
              <a:t> </a:t>
            </a:r>
            <a:r>
              <a:rPr sz="900">
                <a:solidFill>
                  <a:srgbClr val="2D2D2D"/>
                </a:solidFill>
                <a:latin typeface="Consolas"/>
              </a:rPr>
              <a:t>python3</a:t>
            </a:r>
            <a:r>
              <a:rPr sz="900">
                <a:solidFill>
                  <a:srgbClr val="2D2D2D"/>
                </a:solidFill>
                <a:latin typeface="Consolas"/>
              </a:rPr>
              <a:t> </a:t>
            </a:r>
            <a:r>
              <a:rPr sz="900">
                <a:solidFill>
                  <a:srgbClr val="2D2D2D"/>
                </a:solidFill>
                <a:latin typeface="Consolas"/>
              </a:rPr>
              <a:t>-m</a:t>
            </a:r>
            <a:r>
              <a:rPr sz="900">
                <a:solidFill>
                  <a:srgbClr val="2D2D2D"/>
                </a:solidFill>
                <a:latin typeface="Consolas"/>
              </a:rPr>
              <a:t> json.tool</a:t>
            </a:r>
          </a:p>
          <a:p>
            <a:pPr>
              <a:spcAft>
                <a:spcPts val="800"/>
              </a:spcAft>
              <a:defRPr sz="1600">
                <a:solidFill>
                  <a:srgbClr val="1A1A1A"/>
                </a:solidFill>
              </a:defRPr>
            </a:pPr>
            <a:r>
              <a:t>Expected collection response:</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4: Test the Endpoint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06287E"/>
                </a:solidFill>
                <a:latin typeface="Consolas"/>
              </a:rPr>
              <a:t>{</a:t>
            </a:r>
          </a:p>
          <a:p>
            <a:pPr>
              <a:spcBef>
                <a:spcPts val="0"/>
              </a:spcBef>
              <a:spcAft>
                <a:spcPts val="0"/>
              </a:spcAft>
            </a:pPr>
            <a:r>
              <a:rPr sz="900">
                <a:solidFill>
                  <a:srgbClr val="2D2D2D"/>
                </a:solidFill>
                <a:latin typeface="Consolas"/>
              </a:rPr>
              <a:t>  </a:t>
            </a:r>
            <a:r>
              <a:rPr sz="900">
                <a:solidFill>
                  <a:srgbClr val="902000"/>
                </a:solidFill>
                <a:latin typeface="Consolas"/>
              </a:rPr>
              <a:t>"@context"</a:t>
            </a:r>
            <a:r>
              <a:rPr sz="900">
                <a:solidFill>
                  <a:srgbClr val="06287E"/>
                </a:solidFill>
                <a:latin typeface="Consolas"/>
              </a:rPr>
              <a:t>:</a:t>
            </a:r>
            <a:r>
              <a:rPr sz="900">
                <a:solidFill>
                  <a:srgbClr val="2D2D2D"/>
                </a:solidFill>
                <a:latin typeface="Consolas"/>
              </a:rPr>
              <a:t> </a:t>
            </a:r>
            <a:r>
              <a:rPr sz="900">
                <a:solidFill>
                  <a:srgbClr val="4070A0"/>
                </a:solidFill>
                <a:latin typeface="Consolas"/>
              </a:rPr>
              <a:t>"/contexts/Supplier"</a:t>
            </a:r>
            <a:r>
              <a:rPr sz="900">
                <a:solidFill>
                  <a:srgbClr val="06287E"/>
                </a:solidFill>
                <a:latin typeface="Consolas"/>
              </a:rPr>
              <a:t>,</a:t>
            </a:r>
          </a:p>
          <a:p>
            <a:pPr>
              <a:spcBef>
                <a:spcPts val="0"/>
              </a:spcBef>
              <a:spcAft>
                <a:spcPts val="0"/>
              </a:spcAft>
            </a:pPr>
            <a:r>
              <a:rPr sz="900">
                <a:solidFill>
                  <a:srgbClr val="2D2D2D"/>
                </a:solidFill>
                <a:latin typeface="Consolas"/>
              </a:rPr>
              <a:t>  </a:t>
            </a:r>
            <a:r>
              <a:rPr sz="900">
                <a:solidFill>
                  <a:srgbClr val="902000"/>
                </a:solidFill>
                <a:latin typeface="Consolas"/>
              </a:rPr>
              <a:t>"@id"</a:t>
            </a:r>
            <a:r>
              <a:rPr sz="900">
                <a:solidFill>
                  <a:srgbClr val="06287E"/>
                </a:solidFill>
                <a:latin typeface="Consolas"/>
              </a:rPr>
              <a:t>:</a:t>
            </a:r>
            <a:r>
              <a:rPr sz="900">
                <a:solidFill>
                  <a:srgbClr val="2D2D2D"/>
                </a:solidFill>
                <a:latin typeface="Consolas"/>
              </a:rPr>
              <a:t> </a:t>
            </a:r>
            <a:r>
              <a:rPr sz="900">
                <a:solidFill>
                  <a:srgbClr val="4070A0"/>
                </a:solidFill>
                <a:latin typeface="Consolas"/>
              </a:rPr>
              <a:t>"/suppliers"</a:t>
            </a:r>
            <a:r>
              <a:rPr sz="900">
                <a:solidFill>
                  <a:srgbClr val="06287E"/>
                </a:solidFill>
                <a:latin typeface="Consolas"/>
              </a:rPr>
              <a:t>,</a:t>
            </a:r>
          </a:p>
          <a:p>
            <a:pPr>
              <a:spcBef>
                <a:spcPts val="0"/>
              </a:spcBef>
              <a:spcAft>
                <a:spcPts val="0"/>
              </a:spcAft>
            </a:pPr>
            <a:r>
              <a:rPr sz="900">
                <a:solidFill>
                  <a:srgbClr val="2D2D2D"/>
                </a:solidFill>
                <a:latin typeface="Consolas"/>
              </a:rPr>
              <a:t>  </a:t>
            </a:r>
            <a:r>
              <a:rPr sz="900">
                <a:solidFill>
                  <a:srgbClr val="902000"/>
                </a:solidFill>
                <a:latin typeface="Consolas"/>
              </a:rPr>
              <a:t>"@type"</a:t>
            </a:r>
            <a:r>
              <a:rPr sz="900">
                <a:solidFill>
                  <a:srgbClr val="06287E"/>
                </a:solidFill>
                <a:latin typeface="Consolas"/>
              </a:rPr>
              <a:t>:</a:t>
            </a:r>
            <a:r>
              <a:rPr sz="900">
                <a:solidFill>
                  <a:srgbClr val="2D2D2D"/>
                </a:solidFill>
                <a:latin typeface="Consolas"/>
              </a:rPr>
              <a:t> </a:t>
            </a:r>
            <a:r>
              <a:rPr sz="900">
                <a:solidFill>
                  <a:srgbClr val="4070A0"/>
                </a:solidFill>
                <a:latin typeface="Consolas"/>
              </a:rPr>
              <a:t>"Collection"</a:t>
            </a:r>
            <a:r>
              <a:rPr sz="900">
                <a:solidFill>
                  <a:srgbClr val="06287E"/>
                </a:solidFill>
                <a:latin typeface="Consolas"/>
              </a:rPr>
              <a:t>,</a:t>
            </a:r>
          </a:p>
          <a:p>
            <a:pPr>
              <a:spcBef>
                <a:spcPts val="0"/>
              </a:spcBef>
              <a:spcAft>
                <a:spcPts val="0"/>
              </a:spcAft>
            </a:pPr>
            <a:r>
              <a:rPr sz="900">
                <a:solidFill>
                  <a:srgbClr val="2D2D2D"/>
                </a:solidFill>
                <a:latin typeface="Consolas"/>
              </a:rPr>
              <a:t>  </a:t>
            </a:r>
            <a:r>
              <a:rPr sz="900">
                <a:solidFill>
                  <a:srgbClr val="902000"/>
                </a:solidFill>
                <a:latin typeface="Consolas"/>
              </a:rPr>
              <a:t>"totalItems"</a:t>
            </a:r>
            <a:r>
              <a:rPr sz="900">
                <a:solidFill>
                  <a:srgbClr val="06287E"/>
                </a:solidFill>
                <a:latin typeface="Consolas"/>
              </a:rPr>
              <a:t>:</a:t>
            </a:r>
            <a:r>
              <a:rPr sz="900">
                <a:solidFill>
                  <a:srgbClr val="2D2D2D"/>
                </a:solidFill>
                <a:latin typeface="Consolas"/>
              </a:rPr>
              <a:t> </a:t>
            </a:r>
            <a:r>
              <a:rPr sz="900">
                <a:solidFill>
                  <a:srgbClr val="40A070"/>
                </a:solidFill>
                <a:latin typeface="Consolas"/>
              </a:rPr>
              <a:t>4</a:t>
            </a:r>
            <a:r>
              <a:rPr sz="900">
                <a:solidFill>
                  <a:srgbClr val="06287E"/>
                </a:solidFill>
                <a:latin typeface="Consolas"/>
              </a:rPr>
              <a:t>,</a:t>
            </a:r>
          </a:p>
          <a:p>
            <a:pPr>
              <a:spcBef>
                <a:spcPts val="0"/>
              </a:spcBef>
              <a:spcAft>
                <a:spcPts val="0"/>
              </a:spcAft>
            </a:pPr>
            <a:r>
              <a:rPr sz="900">
                <a:solidFill>
                  <a:srgbClr val="2D2D2D"/>
                </a:solidFill>
                <a:latin typeface="Consolas"/>
              </a:rPr>
              <a:t>  </a:t>
            </a:r>
            <a:r>
              <a:rPr sz="900">
                <a:solidFill>
                  <a:srgbClr val="902000"/>
                </a:solidFill>
                <a:latin typeface="Consolas"/>
              </a:rPr>
              <a:t>"member"</a:t>
            </a:r>
            <a:r>
              <a:rPr sz="900">
                <a:solidFill>
                  <a:srgbClr val="06287E"/>
                </a:solidFill>
                <a:latin typeface="Consolas"/>
              </a:rPr>
              <a:t>:</a:t>
            </a:r>
            <a:r>
              <a:rPr sz="900">
                <a:solidFill>
                  <a:srgbClr val="2D2D2D"/>
                </a:solidFill>
                <a:latin typeface="Consolas"/>
              </a:rPr>
              <a:t> </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06287E"/>
                </a:solidFill>
                <a:latin typeface="Consolas"/>
              </a:rPr>
              <a:t>{</a:t>
            </a:r>
          </a:p>
          <a:p>
            <a:pPr>
              <a:spcBef>
                <a:spcPts val="0"/>
              </a:spcBef>
              <a:spcAft>
                <a:spcPts val="0"/>
              </a:spcAft>
            </a:pPr>
            <a:r>
              <a:rPr sz="900">
                <a:solidFill>
                  <a:srgbClr val="2D2D2D"/>
                </a:solidFill>
                <a:latin typeface="Consolas"/>
              </a:rPr>
              <a:t>      </a:t>
            </a:r>
            <a:r>
              <a:rPr sz="900">
                <a:solidFill>
                  <a:srgbClr val="902000"/>
                </a:solidFill>
                <a:latin typeface="Consolas"/>
              </a:rPr>
              <a:t>"@id"</a:t>
            </a:r>
            <a:r>
              <a:rPr sz="900">
                <a:solidFill>
                  <a:srgbClr val="06287E"/>
                </a:solidFill>
                <a:latin typeface="Consolas"/>
              </a:rPr>
              <a:t>:</a:t>
            </a:r>
            <a:r>
              <a:rPr sz="900">
                <a:solidFill>
                  <a:srgbClr val="2D2D2D"/>
                </a:solidFill>
                <a:latin typeface="Consolas"/>
              </a:rPr>
              <a:t> </a:t>
            </a:r>
            <a:r>
              <a:rPr sz="900">
                <a:solidFill>
                  <a:srgbClr val="4070A0"/>
                </a:solidFill>
                <a:latin typeface="Consolas"/>
              </a:rPr>
              <a:t>"/suppliers/1"</a:t>
            </a:r>
            <a:r>
              <a:rPr sz="900">
                <a:solidFill>
                  <a:srgbClr val="06287E"/>
                </a:solidFill>
                <a:latin typeface="Consolas"/>
              </a:rPr>
              <a:t>,</a:t>
            </a:r>
          </a:p>
          <a:p>
            <a:pPr>
              <a:spcBef>
                <a:spcPts val="0"/>
              </a:spcBef>
              <a:spcAft>
                <a:spcPts val="0"/>
              </a:spcAft>
            </a:pPr>
            <a:r>
              <a:rPr sz="900">
                <a:solidFill>
                  <a:srgbClr val="2D2D2D"/>
                </a:solidFill>
                <a:latin typeface="Consolas"/>
              </a:rPr>
              <a:t>      </a:t>
            </a:r>
            <a:r>
              <a:rPr sz="900">
                <a:solidFill>
                  <a:srgbClr val="902000"/>
                </a:solidFill>
                <a:latin typeface="Consolas"/>
              </a:rPr>
              <a:t>"@type"</a:t>
            </a:r>
            <a:r>
              <a:rPr sz="900">
                <a:solidFill>
                  <a:srgbClr val="06287E"/>
                </a:solidFill>
                <a:latin typeface="Consolas"/>
              </a:rPr>
              <a:t>:</a:t>
            </a:r>
            <a:r>
              <a:rPr sz="900">
                <a:solidFill>
                  <a:srgbClr val="2D2D2D"/>
                </a:solidFill>
                <a:latin typeface="Consolas"/>
              </a:rPr>
              <a:t> </a:t>
            </a:r>
            <a:r>
              <a:rPr sz="900">
                <a:solidFill>
                  <a:srgbClr val="4070A0"/>
                </a:solidFill>
                <a:latin typeface="Consolas"/>
              </a:rPr>
              <a:t>"Supplier"</a:t>
            </a:r>
            <a:r>
              <a:rPr sz="900">
                <a:solidFill>
                  <a:srgbClr val="06287E"/>
                </a:solidFill>
                <a:latin typeface="Consolas"/>
              </a:rPr>
              <a:t>,</a:t>
            </a:r>
          </a:p>
          <a:p>
            <a:pPr>
              <a:spcBef>
                <a:spcPts val="0"/>
              </a:spcBef>
              <a:spcAft>
                <a:spcPts val="0"/>
              </a:spcAft>
            </a:pPr>
            <a:r>
              <a:rPr sz="900">
                <a:solidFill>
                  <a:srgbClr val="2D2D2D"/>
                </a:solidFill>
                <a:latin typeface="Consolas"/>
              </a:rPr>
              <a:t>      </a:t>
            </a:r>
            <a:r>
              <a:rPr sz="900">
                <a:solidFill>
                  <a:srgbClr val="902000"/>
                </a:solidFill>
                <a:latin typeface="Consolas"/>
              </a:rPr>
              <a:t>"idSupplier"</a:t>
            </a:r>
            <a:r>
              <a:rPr sz="900">
                <a:solidFill>
                  <a:srgbClr val="06287E"/>
                </a:solidFill>
                <a:latin typeface="Consolas"/>
              </a:rPr>
              <a:t>:</a:t>
            </a:r>
            <a:r>
              <a:rPr sz="900">
                <a:solidFill>
                  <a:srgbClr val="2D2D2D"/>
                </a:solidFill>
                <a:latin typeface="Consolas"/>
              </a:rPr>
              <a:t> </a:t>
            </a:r>
            <a:r>
              <a:rPr sz="900">
                <a:solidFill>
                  <a:srgbClr val="40A070"/>
                </a:solidFill>
                <a:latin typeface="Consolas"/>
              </a:rPr>
              <a:t>1</a:t>
            </a:r>
            <a:r>
              <a:rPr sz="900">
                <a:solidFill>
                  <a:srgbClr val="06287E"/>
                </a:solidFill>
                <a:latin typeface="Consolas"/>
              </a:rPr>
              <a:t>,</a:t>
            </a:r>
          </a:p>
          <a:p>
            <a:pPr>
              <a:spcBef>
                <a:spcPts val="0"/>
              </a:spcBef>
              <a:spcAft>
                <a:spcPts val="0"/>
              </a:spcAft>
            </a:pPr>
            <a:r>
              <a:rPr sz="900">
                <a:solidFill>
                  <a:srgbClr val="2D2D2D"/>
                </a:solidFill>
                <a:latin typeface="Consolas"/>
              </a:rPr>
              <a:t>      </a:t>
            </a:r>
            <a:r>
              <a:rPr sz="900">
                <a:solidFill>
                  <a:srgbClr val="902000"/>
                </a:solidFill>
                <a:latin typeface="Consolas"/>
              </a:rPr>
              <a:t>"name"</a:t>
            </a:r>
            <a:r>
              <a:rPr sz="900">
                <a:solidFill>
                  <a:srgbClr val="06287E"/>
                </a:solidFill>
                <a:latin typeface="Consolas"/>
              </a:rPr>
              <a:t>:</a:t>
            </a:r>
            <a:r>
              <a:rPr sz="900">
                <a:solidFill>
                  <a:srgbClr val="2D2D2D"/>
                </a:solidFill>
                <a:latin typeface="Consolas"/>
              </a:rPr>
              <a:t> </a:t>
            </a:r>
            <a:r>
              <a:rPr sz="900">
                <a:solidFill>
                  <a:srgbClr val="4070A0"/>
                </a:solidFill>
                <a:latin typeface="Consolas"/>
              </a:rPr>
              <a:t>"Acme Supplies"</a:t>
            </a:r>
            <a:r>
              <a:rPr sz="900">
                <a:solidFill>
                  <a:srgbClr val="06287E"/>
                </a:solidFill>
                <a:latin typeface="Consolas"/>
              </a:rPr>
              <a:t>,</a:t>
            </a:r>
          </a:p>
          <a:p>
            <a:pPr>
              <a:spcBef>
                <a:spcPts val="0"/>
              </a:spcBef>
              <a:spcAft>
                <a:spcPts val="0"/>
              </a:spcAft>
            </a:pPr>
            <a:r>
              <a:rPr sz="900">
                <a:solidFill>
                  <a:srgbClr val="2D2D2D"/>
                </a:solidFill>
                <a:latin typeface="Consolas"/>
              </a:rPr>
              <a:t>      </a:t>
            </a:r>
            <a:r>
              <a:rPr sz="900">
                <a:solidFill>
                  <a:srgbClr val="902000"/>
                </a:solidFill>
                <a:latin typeface="Consolas"/>
              </a:rPr>
              <a:t>"description"</a:t>
            </a:r>
            <a:r>
              <a:rPr sz="900">
                <a:solidFill>
                  <a:srgbClr val="06287E"/>
                </a:solidFill>
                <a:latin typeface="Consolas"/>
              </a:rPr>
              <a:t>:</a:t>
            </a:r>
            <a:r>
              <a:rPr sz="900">
                <a:solidFill>
                  <a:srgbClr val="2D2D2D"/>
                </a:solidFill>
                <a:latin typeface="Consolas"/>
              </a:rPr>
              <a:t> </a:t>
            </a:r>
            <a:r>
              <a:rPr sz="900">
                <a:solidFill>
                  <a:srgbClr val="4070A0"/>
                </a:solidFill>
                <a:latin typeface="Consolas"/>
              </a:rPr>
              <a:t>"leading supplier of industrial equipment"</a:t>
            </a:r>
            <a:r>
              <a:rPr sz="900">
                <a:solidFill>
                  <a:srgbClr val="06287E"/>
                </a:solidFill>
                <a:latin typeface="Consolas"/>
              </a:rPr>
              <a:t>,</a:t>
            </a:r>
          </a:p>
          <a:p>
            <a:pPr>
              <a:spcBef>
                <a:spcPts val="0"/>
              </a:spcBef>
              <a:spcAft>
                <a:spcPts val="0"/>
              </a:spcAft>
            </a:pPr>
            <a:r>
              <a:rPr sz="900">
                <a:solidFill>
                  <a:srgbClr val="2D2D2D"/>
                </a:solidFill>
                <a:latin typeface="Consolas"/>
              </a:rPr>
              <a:t>      </a:t>
            </a:r>
            <a:r>
              <a:rPr sz="900">
                <a:solidFill>
                  <a:srgbClr val="902000"/>
                </a:solidFill>
                <a:latin typeface="Consolas"/>
              </a:rPr>
              <a:t>"status"</a:t>
            </a:r>
            <a:r>
              <a:rPr sz="900">
                <a:solidFill>
                  <a:srgbClr val="06287E"/>
                </a:solidFill>
                <a:latin typeface="Consolas"/>
              </a:rPr>
              <a:t>:</a:t>
            </a:r>
            <a:r>
              <a:rPr sz="900">
                <a:solidFill>
                  <a:srgbClr val="2D2D2D"/>
                </a:solidFill>
                <a:latin typeface="Consolas"/>
              </a:rPr>
              <a:t> </a:t>
            </a:r>
            <a:r>
              <a:rPr sz="900">
                <a:solidFill>
                  <a:srgbClr val="40A070"/>
                </a:solidFill>
                <a:latin typeface="Consolas"/>
              </a:rPr>
              <a:t>1</a:t>
            </a:r>
            <a:r>
              <a:rPr sz="900">
                <a:solidFill>
                  <a:srgbClr val="06287E"/>
                </a:solidFill>
                <a:latin typeface="Consolas"/>
              </a:rPr>
              <a:t>,</a:t>
            </a:r>
          </a:p>
          <a:p>
            <a:pPr>
              <a:spcBef>
                <a:spcPts val="0"/>
              </a:spcBef>
              <a:spcAft>
                <a:spcPts val="0"/>
              </a:spcAft>
            </a:pPr>
            <a:r>
              <a:rPr sz="900">
                <a:solidFill>
                  <a:srgbClr val="2D2D2D"/>
                </a:solidFill>
                <a:latin typeface="Consolas"/>
              </a:rPr>
              <a:t>      </a:t>
            </a:r>
            <a:r>
              <a:rPr sz="900">
                <a:solidFill>
                  <a:srgbClr val="902000"/>
                </a:solidFill>
                <a:latin typeface="Consolas"/>
              </a:rPr>
              <a:t>"email"</a:t>
            </a:r>
            <a:r>
              <a:rPr sz="900">
                <a:solidFill>
                  <a:srgbClr val="06287E"/>
                </a:solidFill>
                <a:latin typeface="Consolas"/>
              </a:rPr>
              <a:t>:</a:t>
            </a:r>
            <a:r>
              <a:rPr sz="900">
                <a:solidFill>
                  <a:srgbClr val="2D2D2D"/>
                </a:solidFill>
                <a:latin typeface="Consolas"/>
              </a:rPr>
              <a:t> </a:t>
            </a:r>
            <a:r>
              <a:rPr sz="900">
                <a:solidFill>
                  <a:srgbClr val="4070A0"/>
                </a:solidFill>
                <a:latin typeface="Consolas"/>
              </a:rPr>
              <a:t>"contact@acmesupplies.com"</a:t>
            </a:r>
            <a:r>
              <a:rPr sz="900">
                <a:solidFill>
                  <a:srgbClr val="06287E"/>
                </a:solidFill>
                <a:latin typeface="Consolas"/>
              </a:rPr>
              <a:t>,</a:t>
            </a:r>
          </a:p>
          <a:p>
            <a:pPr>
              <a:spcBef>
                <a:spcPts val="0"/>
              </a:spcBef>
              <a:spcAft>
                <a:spcPts val="0"/>
              </a:spcAft>
            </a:pPr>
            <a:r>
              <a:rPr sz="900">
                <a:solidFill>
                  <a:srgbClr val="2D2D2D"/>
                </a:solidFill>
                <a:latin typeface="Consolas"/>
              </a:rPr>
              <a:t>      </a:t>
            </a:r>
            <a:r>
              <a:rPr sz="900">
                <a:solidFill>
                  <a:srgbClr val="902000"/>
                </a:solidFill>
                <a:latin typeface="Consolas"/>
              </a:rPr>
              <a:t>"phone"</a:t>
            </a:r>
            <a:r>
              <a:rPr sz="900">
                <a:solidFill>
                  <a:srgbClr val="06287E"/>
                </a:solidFill>
                <a:latin typeface="Consolas"/>
              </a:rPr>
              <a:t>:</a:t>
            </a:r>
            <a:r>
              <a:rPr sz="900">
                <a:solidFill>
                  <a:srgbClr val="2D2D2D"/>
                </a:solidFill>
                <a:latin typeface="Consolas"/>
              </a:rPr>
              <a:t> </a:t>
            </a:r>
            <a:r>
              <a:rPr sz="900">
                <a:solidFill>
                  <a:srgbClr val="4070A0"/>
                </a:solidFill>
                <a:latin typeface="Consolas"/>
              </a:rPr>
              <a:t>"+1-555-1234"</a:t>
            </a:r>
          </a:p>
          <a:p>
            <a:pPr>
              <a:spcBef>
                <a:spcPts val="0"/>
              </a:spcBef>
              <a:spcAft>
                <a:spcPts val="0"/>
              </a:spcAft>
            </a:pPr>
            <a:r>
              <a:rPr sz="900">
                <a:solidFill>
                  <a:srgbClr val="2D2D2D"/>
                </a:solidFill>
                <a:latin typeface="Consolas"/>
              </a:rPr>
              <a:t>    </a:t>
            </a:r>
            <a:r>
              <a:rPr sz="900">
                <a:solidFill>
                  <a:srgbClr val="06287E"/>
                </a:solidFill>
                <a:latin typeface="Consolas"/>
              </a:rPr>
              <a:t>}</a:t>
            </a:r>
          </a:p>
          <a:p>
            <a:pPr>
              <a:spcBef>
                <a:spcPts val="0"/>
              </a:spcBef>
              <a:spcAft>
                <a:spcPts val="0"/>
              </a:spcAft>
            </a:pPr>
            <a:r>
              <a:rPr sz="900">
                <a:solidFill>
                  <a:srgbClr val="2D2D2D"/>
                </a:solidFill>
                <a:latin typeface="Consolas"/>
              </a:rPr>
              <a:t>  </a:t>
            </a:r>
            <a:r>
              <a:rPr sz="900">
                <a:solidFill>
                  <a:srgbClr val="007020"/>
                </a:solidFill>
                <a:latin typeface="Consolas"/>
              </a:rPr>
              <a:t>]</a:t>
            </a:r>
            <a:r>
              <a:rPr sz="900">
                <a:solidFill>
                  <a:srgbClr val="06287E"/>
                </a:solidFill>
                <a:latin typeface="Consolas"/>
              </a:rPr>
              <a:t>,</a:t>
            </a:r>
          </a:p>
          <a:p>
            <a:pPr>
              <a:spcBef>
                <a:spcPts val="0"/>
              </a:spcBef>
              <a:spcAft>
                <a:spcPts val="0"/>
              </a:spcAft>
            </a:pPr>
            <a:r>
              <a:rPr sz="900">
                <a:solidFill>
                  <a:srgbClr val="2D2D2D"/>
                </a:solidFill>
                <a:latin typeface="Consolas"/>
              </a:rPr>
              <a:t>  </a:t>
            </a:r>
            <a:r>
              <a:rPr sz="900">
                <a:solidFill>
                  <a:srgbClr val="902000"/>
                </a:solidFill>
                <a:latin typeface="Consolas"/>
              </a:rPr>
              <a:t>"view"</a:t>
            </a:r>
            <a:r>
              <a:rPr sz="900">
                <a:solidFill>
                  <a:srgbClr val="06287E"/>
                </a:solidFill>
                <a:latin typeface="Consolas"/>
              </a:rPr>
              <a:t>:</a:t>
            </a:r>
            <a:r>
              <a:rPr sz="900">
                <a:solidFill>
                  <a:srgbClr val="2D2D2D"/>
                </a:solidFill>
                <a:latin typeface="Consolas"/>
              </a:rPr>
              <a:t> </a:t>
            </a:r>
            <a:r>
              <a:rPr sz="900">
                <a:solidFill>
                  <a:srgbClr val="06287E"/>
                </a:solidFill>
                <a:latin typeface="Consolas"/>
              </a:rPr>
              <a:t>{</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4: Test the Endpoint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    </a:t>
            </a:r>
            <a:r>
              <a:rPr sz="900">
                <a:solidFill>
                  <a:srgbClr val="902000"/>
                </a:solidFill>
                <a:latin typeface="Consolas"/>
              </a:rPr>
              <a:t>"@id"</a:t>
            </a:r>
            <a:r>
              <a:rPr sz="900">
                <a:solidFill>
                  <a:srgbClr val="06287E"/>
                </a:solidFill>
                <a:latin typeface="Consolas"/>
              </a:rPr>
              <a:t>:</a:t>
            </a:r>
            <a:r>
              <a:rPr sz="900">
                <a:solidFill>
                  <a:srgbClr val="2D2D2D"/>
                </a:solidFill>
                <a:latin typeface="Consolas"/>
              </a:rPr>
              <a:t> </a:t>
            </a:r>
            <a:r>
              <a:rPr sz="900">
                <a:solidFill>
                  <a:srgbClr val="4070A0"/>
                </a:solidFill>
                <a:latin typeface="Consolas"/>
              </a:rPr>
              <a:t>"/suppliers"</a:t>
            </a:r>
            <a:r>
              <a:rPr sz="900">
                <a:solidFill>
                  <a:srgbClr val="06287E"/>
                </a:solidFill>
                <a:latin typeface="Consolas"/>
              </a:rPr>
              <a:t>,</a:t>
            </a:r>
          </a:p>
          <a:p>
            <a:pPr>
              <a:spcBef>
                <a:spcPts val="0"/>
              </a:spcBef>
              <a:spcAft>
                <a:spcPts val="0"/>
              </a:spcAft>
            </a:pPr>
            <a:r>
              <a:rPr sz="900">
                <a:solidFill>
                  <a:srgbClr val="2D2D2D"/>
                </a:solidFill>
                <a:latin typeface="Consolas"/>
              </a:rPr>
              <a:t>    </a:t>
            </a:r>
            <a:r>
              <a:rPr sz="900">
                <a:solidFill>
                  <a:srgbClr val="902000"/>
                </a:solidFill>
                <a:latin typeface="Consolas"/>
              </a:rPr>
              <a:t>"@type"</a:t>
            </a:r>
            <a:r>
              <a:rPr sz="900">
                <a:solidFill>
                  <a:srgbClr val="06287E"/>
                </a:solidFill>
                <a:latin typeface="Consolas"/>
              </a:rPr>
              <a:t>:</a:t>
            </a:r>
            <a:r>
              <a:rPr sz="900">
                <a:solidFill>
                  <a:srgbClr val="2D2D2D"/>
                </a:solidFill>
                <a:latin typeface="Consolas"/>
              </a:rPr>
              <a:t> </a:t>
            </a:r>
            <a:r>
              <a:rPr sz="900">
                <a:solidFill>
                  <a:srgbClr val="4070A0"/>
                </a:solidFill>
                <a:latin typeface="Consolas"/>
              </a:rPr>
              <a:t>"PartialCollectionView"</a:t>
            </a:r>
          </a:p>
          <a:p>
            <a:pPr>
              <a:spcBef>
                <a:spcPts val="0"/>
              </a:spcBef>
              <a:spcAft>
                <a:spcPts val="0"/>
              </a:spcAft>
            </a:pPr>
            <a:r>
              <a:rPr sz="900">
                <a:solidFill>
                  <a:srgbClr val="2D2D2D"/>
                </a:solidFill>
                <a:latin typeface="Consolas"/>
              </a:rPr>
              <a:t>  </a:t>
            </a:r>
            <a:r>
              <a:rPr sz="900">
                <a:solidFill>
                  <a:srgbClr val="06287E"/>
                </a:solidFill>
                <a:latin typeface="Consolas"/>
              </a:rPr>
              <a:t>}</a:t>
            </a:r>
          </a:p>
          <a:p>
            <a:pPr>
              <a:spcBef>
                <a:spcPts val="0"/>
              </a:spcBef>
              <a:spcAft>
                <a:spcPts val="0"/>
              </a:spcAft>
            </a:pPr>
            <a:r>
              <a:rPr sz="900">
                <a:solidFill>
                  <a:srgbClr val="06287E"/>
                </a:solidFill>
                <a:latin typeface="Consolas"/>
              </a:rPr>
              <a:t>}</a:t>
            </a:r>
          </a:p>
          <a:p>
            <a:pPr>
              <a:spcAft>
                <a:spcPts val="800"/>
              </a:spcAft>
              <a:defRPr sz="1400" i="1">
                <a:solidFill>
                  <a:srgbClr val="888888"/>
                </a:solidFill>
              </a:defRPr>
            </a:pPr>
            <a:r>
              <a:t>❝ Response formats: API Platform supports multiple formats via the Accept header: Accept Header Format Description application/ld+json JSON-LD Default. Linked Data with @context , @id , @type metadata application/json Plain JSON Raw JSON without metadata application/vnd.api+json JSON:API JSON:API specification format JSON-LD is the default and recommended format for API Platform.</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Registering Services in the Symfony Container</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API Platform providers use Symfony’s dependency injection - not Spryker’s Factory/DependencyProvider pattern. Your provider asks for SprykerAcademy\Client\SupplierSearch\SupplierSearchClientInterface in its constructor, and the Glue application’s Symfony container has to resolve it.</a:t>
            </a:r>
          </a:p>
          <a:p>
            <a:pPr>
              <a:spcAft>
                <a:spcPts val="800"/>
              </a:spcAft>
              <a:defRPr sz="1600">
                <a:solidFill>
                  <a:srgbClr val="1A1A1A"/>
                </a:solidFill>
              </a:defRPr>
            </a:pPr>
            <a:r>
              <a:t>For Clients and Facades of the core and of Pyz , Spryker registers these services automatically. For any other namespace the automatic registration falls back to a proxy that fails as soon as it is called:</a:t>
            </a:r>
          </a:p>
          <a:p>
            <a:pPr>
              <a:spcBef>
                <a:spcPts val="0"/>
              </a:spcBef>
              <a:spcAft>
                <a:spcPts val="0"/>
              </a:spcAft>
            </a:pPr>
            <a:r>
              <a:rPr sz="900">
                <a:solidFill>
                  <a:srgbClr val="2D2D2D"/>
                </a:solidFill>
                <a:latin typeface="Consolas"/>
              </a:rPr>
              <a:t>Could not find the "SprykerAcademy\Client\SupplierSearch\SupplierSearchClientInterface" in any of the attached containers.</a:t>
            </a:r>
          </a:p>
          <a:p>
            <a:pPr>
              <a:spcAft>
                <a:spcPts val="800"/>
              </a:spcAft>
              <a:defRPr sz="1600">
                <a:solidFill>
                  <a:srgbClr val="1A1A1A"/>
                </a:solidFill>
              </a:defRPr>
            </a:pPr>
            <a:r>
              <a:t>So the SprykerAcademy Clients (and the Business layer, for Backend API providers) are registered explicitly. The exercise loader added this block to config/Glue/ApplicationServices.php (and to the GlueStorefront and GlueBackend ones) once:</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Registering Services in the Symfony Container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i="1">
                <a:solidFill>
                  <a:srgbClr val="60A0B0"/>
                </a:solidFill>
                <a:latin typeface="Consolas"/>
              </a:rPr>
              <a:t>// &gt;&gt;&gt; spryker-academy setup: SprykerAcademy Clients and Facades for API Platform providers</a:t>
            </a:r>
          </a:p>
          <a:p>
            <a:pPr>
              <a:spcBef>
                <a:spcPts val="0"/>
              </a:spcBef>
              <a:spcAft>
                <a:spcPts val="0"/>
              </a:spcAft>
            </a:pPr>
            <a:r>
              <a:rPr sz="900">
                <a:solidFill>
                  <a:srgbClr val="19177C"/>
                </a:solidFill>
                <a:latin typeface="Consolas"/>
              </a:rPr>
              <a:t>$academyServices</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a:solidFill>
                  <a:srgbClr val="19177C"/>
                </a:solidFill>
                <a:latin typeface="Consolas"/>
              </a:rPr>
              <a:t>$configurator</a:t>
            </a:r>
            <a:r>
              <a:rPr sz="900">
                <a:solidFill>
                  <a:srgbClr val="2D2D2D"/>
                </a:solidFill>
                <a:latin typeface="Consolas"/>
              </a:rPr>
              <a:t>-&gt;services()-&gt;defaults()-&gt;autowire()-&gt;</a:t>
            </a:r>
            <a:r>
              <a:rPr sz="900" b="1">
                <a:solidFill>
                  <a:srgbClr val="007020"/>
                </a:solidFill>
                <a:latin typeface="Consolas"/>
              </a:rPr>
              <a:t>public</a:t>
            </a:r>
            <a:r>
              <a:rPr sz="900">
                <a:solidFill>
                  <a:srgbClr val="2D2D2D"/>
                </a:solidFill>
                <a:latin typeface="Consolas"/>
              </a:rPr>
              <a:t>()-&gt;autoconfigure()</a:t>
            </a:r>
            <a:r>
              <a:rPr sz="900">
                <a:solidFill>
                  <a:srgbClr val="007020"/>
                </a:solidFill>
                <a:latin typeface="Consolas"/>
              </a:rPr>
              <a:t>;</a:t>
            </a:r>
          </a:p>
          <a:p>
            <a:pPr>
              <a:spcBef>
                <a:spcPts val="0"/>
              </a:spcBef>
              <a:spcAft>
                <a:spcPts val="0"/>
              </a:spcAft>
            </a:pPr>
            <a:r>
              <a:rPr sz="900" b="1">
                <a:solidFill>
                  <a:srgbClr val="007020"/>
                </a:solidFill>
                <a:latin typeface="Consolas"/>
              </a:rPr>
              <a:t>if</a:t>
            </a:r>
            <a:r>
              <a:rPr sz="900">
                <a:solidFill>
                  <a:srgbClr val="2D2D2D"/>
                </a:solidFill>
                <a:latin typeface="Consolas"/>
              </a:rPr>
              <a:t> (</a:t>
            </a:r>
            <a:r>
              <a:rPr sz="900">
                <a:solidFill>
                  <a:srgbClr val="06287E"/>
                </a:solidFill>
                <a:latin typeface="Consolas"/>
              </a:rPr>
              <a:t>is_dir</a:t>
            </a:r>
            <a:r>
              <a:rPr sz="900">
                <a:solidFill>
                  <a:srgbClr val="2D2D2D"/>
                </a:solidFill>
                <a:latin typeface="Consolas"/>
              </a:rPr>
              <a:t>(</a:t>
            </a:r>
            <a:r>
              <a:rPr sz="900">
                <a:solidFill>
                  <a:srgbClr val="880000"/>
                </a:solidFill>
                <a:latin typeface="Consolas"/>
              </a:rPr>
              <a:t>__DIR__</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a:solidFill>
                  <a:srgbClr val="4070A0"/>
                </a:solidFill>
                <a:latin typeface="Consolas"/>
              </a:rPr>
              <a:t>'/../../src/SprykerAcademy/Client'</a:t>
            </a:r>
            <a:r>
              <a:rPr sz="900">
                <a:solidFill>
                  <a:srgbClr val="2D2D2D"/>
                </a:solidFill>
                <a:latin typeface="Consolas"/>
              </a:rPr>
              <a:t>)) {</a:t>
            </a:r>
          </a:p>
          <a:p>
            <a:pPr>
              <a:spcBef>
                <a:spcPts val="0"/>
              </a:spcBef>
              <a:spcAft>
                <a:spcPts val="0"/>
              </a:spcAft>
            </a:pPr>
            <a:r>
              <a:rPr sz="900">
                <a:solidFill>
                  <a:srgbClr val="2D2D2D"/>
                </a:solidFill>
                <a:latin typeface="Consolas"/>
              </a:rPr>
              <a:t>    </a:t>
            </a:r>
            <a:r>
              <a:rPr sz="900">
                <a:solidFill>
                  <a:srgbClr val="19177C"/>
                </a:solidFill>
                <a:latin typeface="Consolas"/>
              </a:rPr>
              <a:t>$academyServices</a:t>
            </a:r>
            <a:r>
              <a:rPr sz="900">
                <a:solidFill>
                  <a:srgbClr val="2D2D2D"/>
                </a:solidFill>
                <a:latin typeface="Consolas"/>
              </a:rPr>
              <a:t>-&gt;load(</a:t>
            </a:r>
            <a:r>
              <a:rPr sz="900">
                <a:solidFill>
                  <a:srgbClr val="4070A0"/>
                </a:solidFill>
                <a:latin typeface="Consolas"/>
              </a:rPr>
              <a:t>'SprykerAcademy</a:t>
            </a:r>
            <a:r>
              <a:rPr sz="900">
                <a:solidFill>
                  <a:srgbClr val="4070A0"/>
                </a:solidFill>
                <a:latin typeface="Consolas"/>
              </a:rPr>
              <a:t>\\</a:t>
            </a:r>
            <a:r>
              <a:rPr sz="900">
                <a:solidFill>
                  <a:srgbClr val="4070A0"/>
                </a:solidFill>
                <a:latin typeface="Consolas"/>
              </a:rPr>
              <a:t>Client</a:t>
            </a:r>
            <a:r>
              <a:rPr sz="900">
                <a:solidFill>
                  <a:srgbClr val="4070A0"/>
                </a:solidFill>
                <a:latin typeface="Consolas"/>
              </a:rPr>
              <a:t>\\</a:t>
            </a:r>
            <a:r>
              <a:rPr sz="900">
                <a:solidFill>
                  <a:srgbClr val="4070A0"/>
                </a:solidFill>
                <a:latin typeface="Consolas"/>
              </a:rPr>
              <a:t>'</a:t>
            </a:r>
            <a:r>
              <a:rPr sz="900">
                <a:solidFill>
                  <a:srgbClr val="007020"/>
                </a:solidFill>
                <a:latin typeface="Consolas"/>
              </a:rPr>
              <a:t>,</a:t>
            </a:r>
            <a:r>
              <a:rPr sz="900">
                <a:solidFill>
                  <a:srgbClr val="2D2D2D"/>
                </a:solidFill>
                <a:latin typeface="Consolas"/>
              </a:rPr>
              <a:t> </a:t>
            </a:r>
            <a:r>
              <a:rPr sz="900">
                <a:solidFill>
                  <a:srgbClr val="4070A0"/>
                </a:solidFill>
                <a:latin typeface="Consolas"/>
              </a:rPr>
              <a:t>'../../src/SprykerAcademy/Client/'</a:t>
            </a:r>
            <a:r>
              <a:rPr sz="900">
                <a:solidFill>
                  <a:srgbClr val="2D2D2D"/>
                </a:solidFill>
                <a:latin typeface="Consolas"/>
              </a:rPr>
              <a:t>)</a:t>
            </a:r>
            <a:r>
              <a:rPr sz="900">
                <a:solidFill>
                  <a:srgbClr val="007020"/>
                </a:solidFill>
                <a:latin typeface="Consolas"/>
              </a:rPr>
              <a:t>;</a:t>
            </a:r>
          </a:p>
          <a:p>
            <a:pPr>
              <a:spcBef>
                <a:spcPts val="0"/>
              </a:spcBef>
              <a:spcAft>
                <a:spcPts val="0"/>
              </a:spcAft>
            </a:pPr>
            <a:r>
              <a:rPr sz="900">
                <a:solidFill>
                  <a:srgbClr val="2D2D2D"/>
                </a:solidFill>
                <a:latin typeface="Consolas"/>
              </a:rPr>
              <a:t>}</a:t>
            </a:r>
          </a:p>
          <a:p>
            <a:pPr>
              <a:spcBef>
                <a:spcPts val="0"/>
              </a:spcBef>
              <a:spcAft>
                <a:spcPts val="0"/>
              </a:spcAft>
            </a:pPr>
            <a:r>
              <a:rPr sz="900" i="1">
                <a:solidFill>
                  <a:srgbClr val="60A0B0"/>
                </a:solidFill>
                <a:latin typeface="Consolas"/>
              </a:rPr>
              <a:t>// ... the same for src/SprykerAcademy/Zed/*/Business/</a:t>
            </a:r>
          </a:p>
          <a:p>
            <a:pPr>
              <a:spcBef>
                <a:spcPts val="0"/>
              </a:spcBef>
              <a:spcAft>
                <a:spcPts val="0"/>
              </a:spcAft>
            </a:pPr>
            <a:r>
              <a:rPr sz="900" i="1">
                <a:solidFill>
                  <a:srgbClr val="60A0B0"/>
                </a:solidFill>
                <a:latin typeface="Consolas"/>
              </a:rPr>
              <a:t>// &lt;&lt;&lt; spryker-academy setup</a:t>
            </a:r>
          </a:p>
          <a:p>
            <a:pPr>
              <a:spcAft>
                <a:spcPts val="800"/>
              </a:spcAft>
              <a:defRPr sz="1400" i="1">
                <a:solidFill>
                  <a:srgbClr val="888888"/>
                </a:solidFill>
              </a:defRPr>
            </a:pPr>
            <a:r>
              <a:t>❝ $services-&gt;load() tells Symfony to scan a directory and auto-register all classes under that namespace as services. Combined with -&gt;autowire() , Symfony can then resolve an interface to its only implementation.</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Registering Services in the Symfony Container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400" i="1">
                <a:solidFill>
                  <a:srgbClr val="888888"/>
                </a:solidFill>
              </a:defRPr>
            </a:pPr>
            <a:r>
              <a:t>❝ Alternative: You can also register individual services explicitly: $services -&gt;set(\ S prykerAcademy\ C lient\ S upplierSearch\ S upplierSearchClientInterface:: class , \ S prykerAcademy\ C lient\ S upplierSearch\ S upplierSearchClient:: class ) ; This is more precise but requires updating whenever you add new dependencies.</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Troubleshooting: When the Endpoint Does Not Answer</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API Platform endpoints are built from three things that live in different places: the resource YAML, the PHP classes generated from it, and the Glue application’s compiled Symfony container . Most problems come from one of them being stale. Work through this list from the top.</a:t>
            </a:r>
          </a:p>
          <a:p>
            <a:pPr>
              <a:spcAft>
                <a:spcPts val="100"/>
              </a:spcAft>
              <a:defRPr sz="1000">
                <a:solidFill>
                  <a:srgbClr val="1A1A1A"/>
                </a:solidFill>
                <a:latin typeface="Consolas"/>
              </a:defRPr>
            </a:pPr>
            <a:r>
              <a:t>Symptom                                                                                     Cause                                                                                                                                                                    Fix                                                                                                                                                                                                                  </a:t>
            </a:r>
          </a:p>
          <a:p>
            <a:pPr>
              <a:spcAft>
                <a:spcPts val="100"/>
              </a:spcAft>
              <a:defRPr sz="1000">
                <a:solidFill>
                  <a:srgbClr val="1A1A1A"/>
                </a:solidFill>
                <a:latin typeface="Consolas"/>
              </a:defRPr>
            </a:pPr>
            <a:r>
              <a:t>------------------------------------------------------------------------------------------  -----------------------------------------------------------------------------------------------------------------------------------------------------------------------  ---------------------------------------------------------------------------------------------------------------------------------------------------------------------------------------------------------------------</a:t>
            </a:r>
          </a:p>
          <a:p>
            <a:pPr>
              <a:spcAft>
                <a:spcPts val="100"/>
              </a:spcAft>
              <a:defRPr sz="1000">
                <a:solidFill>
                  <a:srgbClr val="1A1A1A"/>
                </a:solidFill>
                <a:latin typeface="Consolas"/>
              </a:defRPr>
            </a:pPr>
            <a:r>
              <a:t>404 Not Found for /suppliers , or your change to the YAML has no effect                     The generated resource classes or the compiled Glue container still reflect the old YAML. cache:empty-all does not clear the Glue containers.                            docker/sdk cli GLUE_APPLICATION=GLUE glue api:generate storefront , then docker/sdk cli GLUE_APPLICATION=GLUE glue cache:clear                                                                                       </a:t>
            </a:r>
          </a:p>
          <a:p>
            <a:pPr>
              <a:spcAft>
                <a:spcPts val="100"/>
              </a:spcAft>
              <a:defRPr sz="1000">
                <a:solidFill>
                  <a:srgbClr val="1A1A1A"/>
                </a:solidFill>
                <a:latin typeface="Consolas"/>
              </a:defRPr>
            </a:pPr>
            <a:r>
              <a:t>api:generate finds nothing                                                                  src/SprykerAcademy is not in the source directories of the application you generated for, or you generated for another application                                       Check sourceDirectories in config/Glue/packages/spryker_api_platform.php ; in this shop the storefront API runs in the GLUE application                                                                              </a:t>
            </a:r>
          </a:p>
          <a:p>
            <a:pPr>
              <a:spcAft>
                <a:spcPts val="100"/>
              </a:spcAft>
              <a:defRPr sz="1000">
                <a:solidFill>
                  <a:srgbClr val="1A1A1A"/>
                </a:solidFill>
                <a:latin typeface="Consolas"/>
              </a:defRPr>
            </a:pPr>
            <a:r>
              <a:t>500 with Could not find the “SprykerAcademy...Interface” in any of the attached containers  The Glue container cannot resolve the client your provider injects. It registers Clients and Facades of the core and of Pyz automatically, but not of other namespaces.  The block that loads src/SprykerAcademy/Client in config/Glue/ApplicationServices.php is missing: see Registering Services , then glue cache:clear                                                                   </a:t>
            </a:r>
          </a:p>
          <a:p>
            <a:pPr>
              <a:spcAft>
                <a:spcPts val="100"/>
              </a:spcAft>
              <a:defRPr sz="1000">
                <a:solidFill>
                  <a:srgbClr val="1A1A1A"/>
                </a:solidFill>
                <a:latin typeface="Consolas"/>
              </a:defRPr>
            </a:pPr>
            <a:r>
              <a:t>500 after you loaded another exercise, naming a class of the previous one                   Generated resources of the old exercise point at a provider that no longer exists                                                                                        Load exercises with load.sh (it deletes them), or delete the files under src/Generated/Api/Storefront whose header names a src/SprykerAcademy schema, then api:generate and glue cache:clear                         </a:t>
            </a:r>
          </a:p>
          <a:p>
            <a:pPr>
              <a:spcAft>
                <a:spcPts val="100"/>
              </a:spcAft>
              <a:defRPr sz="1000">
                <a:solidFill>
                  <a:srgbClr val="1A1A1A"/>
                </a:solidFill>
                <a:latin typeface="Consolas"/>
              </a:defRPr>
            </a:pPr>
            <a:r>
              <a:t>Items have no id /links, or idSupplier is null                                              The mapper fills the resource from snake_case keys ( id_supplier ); the generated resource reads camelCase ( idSupplier )                                                SuppliersStorefrontResource::fromArray($supplierTransfer-&gt;toArray(false, true))                                                                                                                                      </a:t>
            </a:r>
          </a:p>
          <a:p>
            <a:pPr>
              <a:spcAft>
                <a:spcPts val="100"/>
              </a:spcAft>
              <a:defRPr sz="1000">
                <a:solidFill>
                  <a:srgbClr val="1A1A1A"/>
                </a:solidFill>
                <a:latin typeface="Consolas"/>
              </a:defRPr>
            </a:pPr>
            <a:r>
              <a:t>Items come back with name but null for description , email , …                              The Elasticsearch documents do not have those fields at the top level, so the search result cannot fill the transfer                                                     The search document must be the flat one of Schema/supplier.json (Exercise 10). Rebuild the documents: delete the pyz_supplier_search rows, publish:trigger-events -r supplier , queue:worker:start --stop-when-empty</a:t>
            </a:r>
          </a:p>
          <a:p>
            <a:pPr>
              <a:spcAft>
                <a:spcPts val="100"/>
              </a:spcAft>
              <a:defRPr sz="1000">
                <a:solidFill>
                  <a:srgbClr val="1A1A1A"/>
                </a:solidFill>
                <a:latin typeface="Consolas"/>
              </a:defRPr>
            </a:pPr>
            <a:r>
              <a:t>An empty collection right after loading                                                     The queue workers write the documents to Elasticsearch a few seconds after load.sh --run returns                                                                         Wait a moment and call again; check with curl -s localhost:9200/&lt;store&gt;_supplier/_count (for example gluedemo_de_supplier )                                                                                          </a:t>
            </a:r>
          </a:p>
          <a:p>
            <a:pPr>
              <a:spcAft>
                <a:spcPts val="100"/>
              </a:spcAft>
              <a:defRPr sz="1000">
                <a:solidFill>
                  <a:srgbClr val="1A1A1A"/>
                </a:solidFill>
                <a:latin typeface="Consolas"/>
              </a:defRPr>
            </a:pPr>
            <a:r>
              <a:t>data:import says Requested import type “supplier” was not found in …/full_EU.yml            The command ran without --config , so it read the shop’s default import list                                                                                             docker/sdk console data:import --config=data/import/local/supplier_import.yml                                                                                                                                        </a:t>
            </a:r>
          </a:p>
          <a:p>
            <a:pPr>
              <a:spcAft>
                <a:spcPts val="100"/>
              </a:spcAft>
              <a:defRPr sz="1000">
                <a:solidFill>
                  <a:srgbClr val="1A1A1A"/>
                </a:solidFill>
                <a:latin typeface="Consolas"/>
              </a:defRPr>
            </a:pPr>
            <a:r>
              <a:t>An empty collection that stays empty                                                        Nothing was imported or published (you loaded without --run , or emptied the index)                                                                                      docker/sdk console data:import --config=data/import/local/supplier_import.yml , publish:trigger-events -r supplier , queue:worker:start --stop-when-empty                                                            </a:t>
            </a:r>
          </a:p>
          <a:p>
            <a:pPr>
              <a:spcAft>
                <a:spcPts val="100"/>
              </a:spcAft>
              <a:defRPr sz="1000">
                <a:solidFill>
                  <a:srgbClr val="1A1A1A"/>
                </a:solidFill>
                <a:latin typeface="Consolas"/>
              </a:defRPr>
            </a:pPr>
            <a:r>
              <a:t>GET /suppliers/999999 answers 500 instead of 404                                            The provider returns an empty resource for an unknown id                                                                                                                 Return null when the client’s transfer has no idSupplier</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Troubleshooting: When the Endpoint Does Not Answer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400" i="1">
                <a:solidFill>
                  <a:srgbClr val="888888"/>
                </a:solidFill>
              </a:defRPr>
            </a:pPr>
            <a:r>
              <a:t>❝ When in doubt, rebuild all three: docker/sdk console c:e , docker/sdk console propel:model:build , docker/sdk cli GLUE_APPLICATION=GLUE glue api:generate storefront , docker/sdk cli GLUE_APPLICATION=GLUE glue cache:clear . load.sh --run does exactly this after every load.</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Key Concepts Summary</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1200"/>
              </a:spcBef>
              <a:spcAft>
                <a:spcPts val="600"/>
              </a:spcAft>
              <a:defRPr sz="2000" b="1">
                <a:solidFill>
                  <a:srgbClr val="1A1A1A"/>
                </a:solidFill>
              </a:defRPr>
            </a:pPr>
            <a:r>
              <a:t>API Platform vs Legacy</a:t>
            </a:r>
          </a:p>
          <a:p>
            <a:pPr>
              <a:spcAft>
                <a:spcPts val="800"/>
              </a:spcAft>
              <a:defRPr sz="1600">
                <a:solidFill>
                  <a:srgbClr val="1A1A1A"/>
                </a:solidFill>
              </a:defRPr>
            </a:pPr>
            <a:r>
              <a:t>With API Platform, there’s no need for : - DependencyProvider in the Glue layer (constructor injection is auto-wired by Symfony) - Factory in the Glue layer - Controller class (the Provider IS the handler) - Plugin registration in GlueStorefrontApiApplicationDependencyProvider</a:t>
            </a:r>
          </a:p>
          <a:p>
            <a:pPr>
              <a:spcAft>
                <a:spcPts val="800"/>
              </a:spcAft>
              <a:defRPr sz="1600">
                <a:solidFill>
                  <a:srgbClr val="1A1A1A"/>
                </a:solidFill>
              </a:defRPr>
            </a:pPr>
            <a:r>
              <a:t>Everything is defined in YAML + one Provider class + service registration in ApplicationServices.php .</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Provider Pattern</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The Provider implements a single method:</a:t>
            </a:r>
          </a:p>
          <a:p>
            <a:pPr>
              <a:spcBef>
                <a:spcPts val="0"/>
              </a:spcBef>
              <a:spcAft>
                <a:spcPts val="0"/>
              </a:spcAft>
            </a:pPr>
            <a:r>
              <a:rPr sz="900">
                <a:solidFill>
                  <a:srgbClr val="2D2D2D"/>
                </a:solidFill>
                <a:latin typeface="Consolas"/>
              </a:rPr>
              <a:t>provide(Operation $operation, array $uriVariables, array $context): object|array|null</a:t>
            </a:r>
          </a:p>
          <a:p>
            <a:pPr>
              <a:spcAft>
                <a:spcPts val="400"/>
              </a:spcAft>
              <a:defRPr sz="1500">
                <a:solidFill>
                  <a:srgbClr val="1A1A1A"/>
                </a:solidFill>
              </a:defRPr>
            </a:pPr>
            <a:r>
              <a:t>• Return an object → single resource response</a:t>
            </a:r>
          </a:p>
          <a:p>
            <a:pPr>
              <a:spcAft>
                <a:spcPts val="400"/>
              </a:spcAft>
              <a:defRPr sz="1500">
                <a:solidFill>
                  <a:srgbClr val="1A1A1A"/>
                </a:solidFill>
              </a:defRPr>
            </a:pPr>
            <a:r>
              <a:t>• Return an array → collection response</a:t>
            </a:r>
          </a:p>
          <a:p>
            <a:pPr>
              <a:spcAft>
                <a:spcPts val="400"/>
              </a:spcAft>
              <a:defRPr sz="1500">
                <a:solidFill>
                  <a:srgbClr val="1A1A1A"/>
                </a:solidFill>
              </a:defRPr>
            </a:pPr>
            <a:r>
              <a:t>• Return null → 404 response</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Run Automated Tests</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docker/sdk</a:t>
            </a:r>
            <a:r>
              <a:rPr sz="900">
                <a:solidFill>
                  <a:srgbClr val="2D2D2D"/>
                </a:solidFill>
                <a:latin typeface="Consolas"/>
              </a:rPr>
              <a:t> cli vendor/bin/codecept run </a:t>
            </a:r>
            <a:r>
              <a:rPr sz="900">
                <a:solidFill>
                  <a:srgbClr val="2D2D2D"/>
                </a:solidFill>
                <a:latin typeface="Consolas"/>
              </a:rPr>
              <a:t>-c</a:t>
            </a:r>
            <a:r>
              <a:rPr sz="900">
                <a:solidFill>
                  <a:srgbClr val="2D2D2D"/>
                </a:solidFill>
                <a:latin typeface="Consolas"/>
              </a:rPr>
              <a:t> tests/SprykerAcademyTest/Zed/Supplier/ GlueApi</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Solution</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./exercises/load.sh</a:t>
            </a:r>
            <a:r>
              <a:rPr sz="900">
                <a:solidFill>
                  <a:srgbClr val="2D2D2D"/>
                </a:solidFill>
                <a:latin typeface="Consolas"/>
              </a:rPr>
              <a:t> supplier intermediate/glue-storefront/complete </a:t>
            </a:r>
            <a:r>
              <a:rPr sz="900">
                <a:solidFill>
                  <a:srgbClr val="2D2D2D"/>
                </a:solidFill>
                <a:latin typeface="Consolas"/>
              </a:rPr>
              <a:t>--run</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spAutoFit/>
          </a:bodyPr>
          <a:lstStyle/>
          <a:p>
            <a:pPr algn="ctr">
              <a:defRPr sz="3600" b="1">
                <a:solidFill>
                  <a:srgbClr val="00A89B"/>
                </a:solidFill>
              </a:defRPr>
            </a:pPr>
            <a:r>
              <a:t>Exercise 13: Order Management System (OMS)</a:t>
            </a:r>
          </a:p>
        </p:txBody>
      </p:sp>
      <p:sp>
        <p:nvSpPr>
          <p:cNvPr id="3" name="Rectangle 2"/>
          <p:cNvSpPr/>
          <p:nvPr/>
        </p:nvSpPr>
        <p:spPr>
          <a:xfrm>
            <a:off x="3657600" y="2286000"/>
            <a:ext cx="4876495" cy="381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Exercise 13: Order Management System (OMS)</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In this exercise, you will build a complete order management process using Spryker’s OMS State Machine. You will define states, transitions, events, commands, and conditions in XML, then implement the command and condition plugins in PHP.</a:t>
            </a:r>
          </a:p>
          <a:p>
            <a:pPr>
              <a:spcAft>
                <a:spcPts val="800"/>
              </a:spcAft>
              <a:defRPr sz="1600">
                <a:solidFill>
                  <a:srgbClr val="1A1A1A"/>
                </a:solidFill>
              </a:defRPr>
            </a:pPr>
            <a:r>
              <a:t>You will learn how to: - Define states with reserved and display properties - Create transitions between states with events and conditions - Add commands (business logic) and conditions (routing logic) to the state machine - Implement CommandByOrderInterface and ConditionInterface plugins - Register OMS plugins in the DependencyProvider - Visualize and test the state machine in the Back Office - Mark the “happy path” for visual representation</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Prerequisites</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400"/>
              </a:spcAft>
              <a:defRPr sz="1500">
                <a:solidFill>
                  <a:srgbClr val="1A1A1A"/>
                </a:solidFill>
              </a:defRPr>
            </a:pPr>
            <a:r>
              <a:t>• A running Spryker demo shop with products available for checkout</a:t>
            </a:r>
          </a:p>
          <a:p>
            <a:pPr>
              <a:spcAft>
                <a:spcPts val="400"/>
              </a:spcAft>
              <a:defRPr sz="1500">
                <a:solidFill>
                  <a:srgbClr val="1A1A1A"/>
                </a:solidFill>
              </a:defRPr>
            </a:pPr>
            <a:r>
              <a:t>• You do not need your own solutions of the earlier exercises. The branch contains them, and load.sh --run imports the sample suppliers, so the code of Exercises 8-12 is in place.</a:t>
            </a:r>
          </a:p>
          <a:p>
            <a:pPr>
              <a:spcAft>
                <a:spcPts val="400"/>
              </a:spcAft>
              <a:defRPr sz="1500">
                <a:solidFill>
                  <a:srgbClr val="1A1A1A"/>
                </a:solidFill>
              </a:defRPr>
            </a:pPr>
            <a:r>
              <a:t>• Understanding of the Facade and DependencyProvider patterns</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Loading the Exercise</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./exercises/load.sh</a:t>
            </a:r>
            <a:r>
              <a:rPr sz="900">
                <a:solidFill>
                  <a:srgbClr val="2D2D2D"/>
                </a:solidFill>
                <a:latin typeface="Consolas"/>
              </a:rPr>
              <a:t> supplier intermediate/oms/skeleton </a:t>
            </a:r>
            <a:r>
              <a:rPr sz="900">
                <a:solidFill>
                  <a:srgbClr val="2D2D2D"/>
                </a:solidFill>
                <a:latin typeface="Consolas"/>
              </a:rPr>
              <a:t>--run</a:t>
            </a:r>
          </a:p>
          <a:p>
            <a:pPr>
              <a:spcAft>
                <a:spcPts val="800"/>
              </a:spcAft>
              <a:defRPr sz="1600">
                <a:solidFill>
                  <a:srgbClr val="1A1A1A"/>
                </a:solidFill>
              </a:defRPr>
            </a:pPr>
            <a:r>
              <a:t>--run also runs the commands the loader lists after loading (cache, Propel, transfers and whatever this exercise needs, such as queues or Glue resources) and stops at the first one that fails. Leave it out to run them yourself.</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Background: OMS Architecture</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Spryker’s Order Management System uses an XML-based state machine to define the lifecycle of an order. Each order item moves through states based on events, commands, and conditions.</a:t>
            </a:r>
          </a:p>
          <a:p>
            <a:pPr>
              <a:spcBef>
                <a:spcPts val="0"/>
              </a:spcBef>
              <a:spcAft>
                <a:spcPts val="0"/>
              </a:spcAft>
            </a:pPr>
            <a:r>
              <a:rPr sz="900">
                <a:solidFill>
                  <a:srgbClr val="2D2D2D"/>
                </a:solidFill>
                <a:latin typeface="Consolas"/>
              </a:rPr>
              <a:t>State Machine XML (config/Zed/oms/Demo01.xml, copied by the loader)</a:t>
            </a:r>
          </a:p>
          <a:p>
            <a:pPr>
              <a:spcBef>
                <a:spcPts val="0"/>
              </a:spcBef>
              <a:spcAft>
                <a:spcPts val="0"/>
              </a:spcAft>
            </a:pPr>
            <a:r>
              <a:rPr sz="900">
                <a:solidFill>
                  <a:srgbClr val="2D2D2D"/>
                </a:solidFill>
                <a:latin typeface="Consolas"/>
              </a:rPr>
              <a:t>    ├── States      — positions in the workflow (new, paid, shipped, closed)</a:t>
            </a:r>
          </a:p>
          <a:p>
            <a:pPr>
              <a:spcBef>
                <a:spcPts val="0"/>
              </a:spcBef>
              <a:spcAft>
                <a:spcPts val="0"/>
              </a:spcAft>
            </a:pPr>
            <a:r>
              <a:rPr sz="900">
                <a:solidFill>
                  <a:srgbClr val="2D2D2D"/>
                </a:solidFill>
                <a:latin typeface="Consolas"/>
              </a:rPr>
              <a:t>    ├── Transitions — connections between states (source → target)</a:t>
            </a:r>
          </a:p>
          <a:p>
            <a:pPr>
              <a:spcBef>
                <a:spcPts val="0"/>
              </a:spcBef>
              <a:spcAft>
                <a:spcPts val="0"/>
              </a:spcAft>
            </a:pPr>
            <a:r>
              <a:rPr sz="900">
                <a:solidFill>
                  <a:srgbClr val="2D2D2D"/>
                </a:solidFill>
                <a:latin typeface="Consolas"/>
              </a:rPr>
              <a:t>    ├── Events      — triggers for transitions (manual, onEnter, timeout)</a:t>
            </a:r>
          </a:p>
          <a:p>
            <a:pPr>
              <a:spcBef>
                <a:spcPts val="0"/>
              </a:spcBef>
              <a:spcAft>
                <a:spcPts val="0"/>
              </a:spcAft>
            </a:pPr>
            <a:r>
              <a:rPr sz="900">
                <a:solidFill>
                  <a:srgbClr val="2D2D2D"/>
                </a:solidFill>
                <a:latin typeface="Consolas"/>
              </a:rPr>
              <a:t>    ├── Commands    — PHP plugins that execute business logic</a:t>
            </a:r>
          </a:p>
          <a:p>
            <a:pPr>
              <a:spcBef>
                <a:spcPts val="0"/>
              </a:spcBef>
              <a:spcAft>
                <a:spcPts val="0"/>
              </a:spcAft>
            </a:pPr>
            <a:r>
              <a:rPr sz="900">
                <a:solidFill>
                  <a:srgbClr val="2D2D2D"/>
                </a:solidFill>
                <a:latin typeface="Consolas"/>
              </a:rPr>
              <a:t>    └── Conditions  — PHP plugins that decide which transition to take</a:t>
            </a:r>
          </a:p>
          <a:p>
            <a:pPr>
              <a:spcAft>
                <a:spcPts val="800"/>
              </a:spcAft>
              <a:defRPr sz="1600">
                <a:solidFill>
                  <a:srgbClr val="1A1A1A"/>
                </a:solidFill>
              </a:defRPr>
            </a:pPr>
            <a:r>
              <a:t>Key concepts:</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Background: OMS Architecture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100"/>
              </a:spcAft>
              <a:defRPr sz="1000">
                <a:solidFill>
                  <a:srgbClr val="1A1A1A"/>
                </a:solidFill>
                <a:latin typeface="Consolas"/>
              </a:defRPr>
            </a:pPr>
            <a:r>
              <a:t>Concept     XML Element                   PHP Interface            Purpose                   </a:t>
            </a:r>
          </a:p>
          <a:p>
            <a:pPr>
              <a:spcAft>
                <a:spcPts val="100"/>
              </a:spcAft>
              <a:defRPr sz="1000">
                <a:solidFill>
                  <a:srgbClr val="1A1A1A"/>
                </a:solidFill>
                <a:latin typeface="Consolas"/>
              </a:defRPr>
            </a:pPr>
            <a:r>
              <a:t>----------  ----------------------------  -----------------------  --------------------------</a:t>
            </a:r>
          </a:p>
          <a:p>
            <a:pPr>
              <a:spcAft>
                <a:spcPts val="100"/>
              </a:spcAft>
              <a:defRPr sz="1000">
                <a:solidFill>
                  <a:srgbClr val="1A1A1A"/>
                </a:solidFill>
                <a:latin typeface="Consolas"/>
              </a:defRPr>
            </a:pPr>
            <a:r>
              <a:t>State       &lt;state name="new"/&gt;           —                        Order’s current position  </a:t>
            </a:r>
          </a:p>
          <a:p>
            <a:pPr>
              <a:spcAft>
                <a:spcPts val="100"/>
              </a:spcAft>
              <a:defRPr sz="1000">
                <a:solidFill>
                  <a:srgbClr val="1A1A1A"/>
                </a:solidFill>
                <a:latin typeface="Consolas"/>
              </a:defRPr>
            </a:pPr>
            <a:r>
              <a:t>Transition  &lt;transition&gt;                  —                        Connects two states       </a:t>
            </a:r>
          </a:p>
          <a:p>
            <a:pPr>
              <a:spcAft>
                <a:spcPts val="100"/>
              </a:spcAft>
              <a:defRPr sz="1000">
                <a:solidFill>
                  <a:srgbClr val="1A1A1A"/>
                </a:solidFill>
                <a:latin typeface="Consolas"/>
              </a:defRPr>
            </a:pPr>
            <a:r>
              <a:t>Event       &lt;event name="pay"/&gt;           —                        Triggers a transition     </a:t>
            </a:r>
          </a:p>
          <a:p>
            <a:pPr>
              <a:spcAft>
                <a:spcPts val="100"/>
              </a:spcAft>
              <a:defRPr sz="1000">
                <a:solidFill>
                  <a:srgbClr val="1A1A1A"/>
                </a:solidFill>
                <a:latin typeface="Consolas"/>
              </a:defRPr>
            </a:pPr>
            <a:r>
              <a:t>Command     command="Oms/Pay"             CommandByOrderInterface  Executes logic on event   </a:t>
            </a:r>
          </a:p>
          <a:p>
            <a:pPr>
              <a:spcAft>
                <a:spcPts val="100"/>
              </a:spcAft>
              <a:defRPr sz="1000">
                <a:solidFill>
                  <a:srgbClr val="1A1A1A"/>
                </a:solidFill>
                <a:latin typeface="Consolas"/>
              </a:defRPr>
            </a:pPr>
            <a:r>
              <a:t>Condition   condition="Oms/IsAuthorized"  ConditionInterface       Routes to different states</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Working on the Exercise</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1200"/>
              </a:spcBef>
              <a:spcAft>
                <a:spcPts val="600"/>
              </a:spcAft>
              <a:defRPr sz="2000" b="1">
                <a:solidFill>
                  <a:srgbClr val="1A1A1A"/>
                </a:solidFill>
              </a:defRPr>
            </a:pPr>
            <a:r>
              <a:t>Part 1: Enable the State Machine</a:t>
            </a:r>
          </a:p>
          <a:p>
            <a:pPr>
              <a:spcAft>
                <a:spcPts val="800"/>
              </a:spcAft>
              <a:defRPr sz="1600">
                <a:solidFill>
                  <a:srgbClr val="1A1A1A"/>
                </a:solidFill>
              </a:defRPr>
            </a:pPr>
            <a:r>
              <a:t>The OMS process must be registered as an active process and mapped to a payment method. Projects usually do both in config/Shared/config_default.php ( OmsConstants::ACTIVE_PROCESSES , SalesConstants::PAYMENT_METHOD_STATEMACHINE_MAPPING ). The exercise keeps them in two config classes instead - they extend the project’s ones and, like every SprykerAcademy class, are resolved before them.</a:t>
            </a:r>
          </a:p>
          <a:p>
            <a:pPr>
              <a:spcAft>
                <a:spcPts val="800"/>
              </a:spcAft>
              <a:defRPr sz="1600">
                <a:solidFill>
                  <a:srgbClr val="1A1A1A"/>
                </a:solidFill>
              </a:defRPr>
            </a:pPr>
            <a:r>
              <a:t>Coding time:</a:t>
            </a:r>
          </a:p>
          <a:p>
            <a:pPr>
              <a:spcAft>
                <a:spcPts val="400"/>
              </a:spcAft>
              <a:defRPr sz="1500">
                <a:solidFill>
                  <a:srgbClr val="1A1A1A"/>
                </a:solidFill>
              </a:defRPr>
            </a:pPr>
            <a:r>
              <a:t>• Open src/SprykerAcademy/Zed/Oms/OmsConfig.php . In getActiveProcesses() , add Demo01 to the processes of the project. The name must match the &lt;process name="..."&gt; of config/Zed/oms/Demo01.xml (and the file name without .xml ).</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Working on the Exercise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400"/>
              </a:spcAft>
              <a:defRPr sz="1500">
                <a:solidFill>
                  <a:srgbClr val="1A1A1A"/>
                </a:solidFill>
              </a:defRPr>
            </a:pPr>
            <a:r>
              <a:t>• Open src/SprykerAcademy/Zed/Sales/SalesConfig.php . In getPaymentMethodStatemachineMapping() , map the invoice payment method ( DummyMarketplacePaymentConfig::PAYMENT_METHOD_DUMMY_MARKETPLACE_PAYMENT_INVOICE ) to Demo01 , on top of the mapping of the project.</a:t>
            </a:r>
          </a:p>
          <a:p>
            <a:pPr>
              <a:spcAft>
                <a:spcPts val="800"/>
              </a:spcAft>
              <a:defRPr sz="1400" i="1">
                <a:solidFill>
                  <a:srgbClr val="888888"/>
                </a:solidFill>
              </a:defRPr>
            </a:pPr>
            <a:r>
              <a:t>❝ Verify: Visit http://backoffice.eu.spryker.local/oms - the Demo01 process should be listed. Clicking it shows a blank page (the state machine is still empty).</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2: Define States</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States represent the positions an order item can be in during its lifecycle.</a:t>
            </a:r>
          </a:p>
          <a:p>
            <a:pPr>
              <a:spcAft>
                <a:spcPts val="800"/>
              </a:spcAft>
              <a:defRPr sz="1600">
                <a:solidFill>
                  <a:srgbClr val="1A1A1A"/>
                </a:solidFill>
              </a:defRPr>
            </a:pPr>
            <a:r>
              <a:t>Coding time:</a:t>
            </a:r>
          </a:p>
          <a:p>
            <a:pPr>
              <a:spcAft>
                <a:spcPts val="800"/>
              </a:spcAft>
              <a:defRPr sz="1600">
                <a:solidFill>
                  <a:srgbClr val="1A1A1A"/>
                </a:solidFill>
              </a:defRPr>
            </a:pPr>
            <a:r>
              <a:t>Open config/Zed/oms/Demo01.xml . Inside the &lt;states&gt; element, add the following states: - new (reserved) - payment pending (reserved) - invalid - payment authorized (reserved) - paid (reserved) - closed</a:t>
            </a:r>
          </a:p>
          <a:p>
            <a:pPr>
              <a:spcAft>
                <a:spcPts val="800"/>
              </a:spcAft>
              <a:defRPr sz="1400" i="1">
                <a:solidFill>
                  <a:srgbClr val="888888"/>
                </a:solidFill>
              </a:defRPr>
            </a:pPr>
            <a:r>
              <a:t>❝ reserved="true" : Reserved states indicate that the order item is still “active” — the associated stock is reserved. Non-reserved states (like closed or invalid ) release the stock reservation. display attribute: Optional — provides a translation key for the Back Office UI (e.g., display="oms.state.new" ).</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2: Define States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After adding states, refresh the OMS visualization in the Back Office — you should see all states displayed.</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3: Define Transitions</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Transitions connect states. They define how an order item moves from one state to another.</a:t>
            </a:r>
          </a:p>
          <a:p>
            <a:pPr>
              <a:spcAft>
                <a:spcPts val="800"/>
              </a:spcAft>
              <a:defRPr sz="1600">
                <a:solidFill>
                  <a:srgbClr val="1A1A1A"/>
                </a:solidFill>
              </a:defRPr>
            </a:pPr>
            <a:r>
              <a:t>Coding time:</a:t>
            </a:r>
          </a:p>
          <a:p>
            <a:pPr>
              <a:spcAft>
                <a:spcPts val="800"/>
              </a:spcAft>
              <a:defRPr sz="1600">
                <a:solidFill>
                  <a:srgbClr val="1A1A1A"/>
                </a:solidFill>
              </a:defRPr>
            </a:pPr>
            <a:r>
              <a:t>In the same file, inside the &lt;transitions&gt; element, add transitions:</a:t>
            </a:r>
          </a:p>
          <a:p>
            <a:pPr>
              <a:spcAft>
                <a:spcPts val="400"/>
              </a:spcAft>
              <a:defRPr sz="1500">
                <a:solidFill>
                  <a:srgbClr val="1A1A1A"/>
                </a:solidFill>
              </a:defRPr>
            </a:pPr>
            <a:r>
              <a:t>• new → payment pending</a:t>
            </a:r>
          </a:p>
          <a:p>
            <a:pPr>
              <a:spcAft>
                <a:spcPts val="400"/>
              </a:spcAft>
              <a:defRPr sz="1500">
                <a:solidFill>
                  <a:srgbClr val="1A1A1A"/>
                </a:solidFill>
              </a:defRPr>
            </a:pPr>
            <a:r>
              <a:t>• new → invalid</a:t>
            </a:r>
          </a:p>
          <a:p>
            <a:pPr>
              <a:spcAft>
                <a:spcPts val="400"/>
              </a:spcAft>
              <a:defRPr sz="1500">
                <a:solidFill>
                  <a:srgbClr val="1A1A1A"/>
                </a:solidFill>
              </a:defRPr>
            </a:pPr>
            <a:r>
              <a:t>• payment pending → payment authorized</a:t>
            </a:r>
          </a:p>
          <a:p>
            <a:pPr>
              <a:spcAft>
                <a:spcPts val="400"/>
              </a:spcAft>
              <a:defRPr sz="1500">
                <a:solidFill>
                  <a:srgbClr val="1A1A1A"/>
                </a:solidFill>
              </a:defRPr>
            </a:pPr>
            <a:r>
              <a:t>• payment authorized → paid (auto-transition, no event)</a:t>
            </a:r>
          </a:p>
          <a:p>
            <a:pPr>
              <a:spcAft>
                <a:spcPts val="400"/>
              </a:spcAft>
              <a:defRPr sz="1500">
                <a:solidFill>
                  <a:srgbClr val="1A1A1A"/>
                </a:solidFill>
              </a:defRPr>
            </a:pPr>
            <a:r>
              <a:t>• paid → closed (auto-transition, no event)</a:t>
            </a:r>
          </a:p>
          <a:p>
            <a:pPr>
              <a:spcAft>
                <a:spcPts val="800"/>
              </a:spcAft>
              <a:defRPr sz="1400" i="1">
                <a:solidFill>
                  <a:srgbClr val="888888"/>
                </a:solidFill>
              </a:defRPr>
            </a:pPr>
            <a:r>
              <a:t>❝ Auto-transitions: Transitions without an event happen automatically when the order enters the source state. Use them for states that should flow through immediately.</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4: Define Events</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Events are the triggers that cause transitions to happen. They can be: - onEnter="true" — triggered automatically when entering the target state - manual="true" — triggered by a user clicking a button in the Back Office - timeout="N days" — triggered after a time delay - command="Module/Name" — executes a PHP plugin when the event fires</a:t>
            </a:r>
          </a:p>
          <a:p>
            <a:pPr>
              <a:spcAft>
                <a:spcPts val="800"/>
              </a:spcAft>
              <a:defRPr sz="1600">
                <a:solidFill>
                  <a:srgbClr val="1A1A1A"/>
                </a:solidFill>
              </a:defRPr>
            </a:pPr>
            <a:r>
              <a:t>Coding time:</a:t>
            </a:r>
          </a:p>
          <a:p>
            <a:pPr>
              <a:spcAft>
                <a:spcPts val="800"/>
              </a:spcAft>
              <a:defRPr sz="1600">
                <a:solidFill>
                  <a:srgbClr val="1A1A1A"/>
                </a:solidFill>
              </a:defRPr>
            </a:pPr>
            <a:r>
              <a:t>In the &lt;events&gt; element, add: - authorize — with onEnter="true" and manual="true" - pay — with onEnter="true" and manual="true"</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5: Assign Events to Transitions</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Connect events to transitions so the state machine knows which event triggers which transition.</a:t>
            </a:r>
          </a:p>
          <a:p>
            <a:pPr>
              <a:spcAft>
                <a:spcPts val="800"/>
              </a:spcAft>
              <a:defRPr sz="1600">
                <a:solidFill>
                  <a:srgbClr val="1A1A1A"/>
                </a:solidFill>
              </a:defRPr>
            </a:pPr>
            <a:r>
              <a:t>Coding time:</a:t>
            </a:r>
          </a:p>
          <a:p>
            <a:pPr>
              <a:spcAft>
                <a:spcPts val="800"/>
              </a:spcAft>
              <a:defRPr sz="1600">
                <a:solidFill>
                  <a:srgbClr val="1A1A1A"/>
                </a:solidFill>
              </a:defRPr>
            </a:pPr>
            <a:r>
              <a:t>Update the transitions to include &lt;event&gt; elements: - new → payment pending with the authorize event - new → invalid with the authorize event - payment pending → payment authorized with the pay event</a:t>
            </a:r>
          </a:p>
          <a:p>
            <a:pPr>
              <a:spcAft>
                <a:spcPts val="800"/>
              </a:spcAft>
              <a:defRPr sz="1400" i="1">
                <a:solidFill>
                  <a:srgbClr val="888888"/>
                </a:solidFill>
              </a:defRPr>
            </a:pPr>
            <a:r>
              <a:t>❝ Two transitions with the same event: When authorize fires from the new state, the system needs a condition to decide which transition to take (→ payment pending or → invalid ). We’ll add that next.</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6: Add Command and Condition</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800"/>
              </a:spcBef>
              <a:spcAft>
                <a:spcPts val="400"/>
              </a:spcAft>
              <a:defRPr sz="1700" b="1">
                <a:solidFill>
                  <a:srgbClr val="1A1A1A"/>
                </a:solidFill>
              </a:defRPr>
            </a:pPr>
            <a:r>
              <a:t>6.1 Add Command to State Machine XML</a:t>
            </a:r>
          </a:p>
          <a:p>
            <a:pPr>
              <a:spcAft>
                <a:spcPts val="800"/>
              </a:spcAft>
              <a:defRPr sz="1600">
                <a:solidFill>
                  <a:srgbClr val="1A1A1A"/>
                </a:solidFill>
              </a:defRPr>
            </a:pPr>
            <a:r>
              <a:t>A command executes PHP logic when an event triggers. Add the command attribute to the authorize event:</a:t>
            </a:r>
          </a:p>
          <a:p>
            <a:pPr>
              <a:spcBef>
                <a:spcPts val="0"/>
              </a:spcBef>
              <a:spcAft>
                <a:spcPts val="0"/>
              </a:spcAft>
            </a:pPr>
            <a:r>
              <a:rPr sz="900">
                <a:solidFill>
                  <a:srgbClr val="2D2D2D"/>
                </a:solidFill>
                <a:latin typeface="Consolas"/>
              </a:rPr>
              <a:t>command="Demo/Pay"</a:t>
            </a:r>
          </a:p>
          <a:p>
            <a:pPr>
              <a:spcAft>
                <a:spcPts val="800"/>
              </a:spcAft>
              <a:defRPr sz="1600">
                <a:solidFill>
                  <a:srgbClr val="1A1A1A"/>
                </a:solidFill>
              </a:defRPr>
            </a:pPr>
            <a:r>
              <a:t>The string Demo/Pay is a key that maps to a PHP plugin registered in the DependencyProvider.</a:t>
            </a:r>
          </a:p>
          <a:p>
            <a:pPr>
              <a:spcBef>
                <a:spcPts val="800"/>
              </a:spcBef>
              <a:spcAft>
                <a:spcPts val="400"/>
              </a:spcAft>
              <a:defRPr sz="1700" b="1">
                <a:solidFill>
                  <a:srgbClr val="1A1A1A"/>
                </a:solidFill>
              </a:defRPr>
            </a:pPr>
            <a:r>
              <a:t>6.2 Add Condition to State Machine XML</a:t>
            </a:r>
          </a:p>
          <a:p>
            <a:pPr>
              <a:spcAft>
                <a:spcPts val="800"/>
              </a:spcAft>
              <a:defRPr sz="1600">
                <a:solidFill>
                  <a:srgbClr val="1A1A1A"/>
                </a:solidFill>
              </a:defRPr>
            </a:pPr>
            <a:r>
              <a:t>A condition decides which transition to take when multiple transitions share the same event from the same source state. Add the condition attribute to the transition from new → payment pending :</a:t>
            </a:r>
          </a:p>
          <a:p>
            <a:pPr>
              <a:spcBef>
                <a:spcPts val="0"/>
              </a:spcBef>
              <a:spcAft>
                <a:spcPts val="0"/>
              </a:spcAft>
            </a:pPr>
            <a:r>
              <a:rPr sz="900">
                <a:solidFill>
                  <a:srgbClr val="2D2D2D"/>
                </a:solidFill>
                <a:latin typeface="Consolas"/>
              </a:rPr>
              <a:t>condition="Demo/IsAuthorized"</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6: Add Command and Condition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When the condition returns true , the order goes to payment pending (happy path). When false , it goes to invalid .</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7: Implement the Command Plugin</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Coding time:</a:t>
            </a:r>
          </a:p>
          <a:p>
            <a:pPr>
              <a:spcAft>
                <a:spcPts val="800"/>
              </a:spcAft>
              <a:defRPr sz="1600">
                <a:solidFill>
                  <a:srgbClr val="1A1A1A"/>
                </a:solidFill>
              </a:defRPr>
            </a:pPr>
            <a:r>
              <a:t>Open src/SprykerAcademy/Zed/Oms/Communication/Plugin/Oms/Command/PayCommandPlugin.php . Implement the run() method from CommandByOrderInterface .</a:t>
            </a:r>
          </a:p>
          <a:p>
            <a:pPr>
              <a:spcAft>
                <a:spcPts val="800"/>
              </a:spcAft>
              <a:defRPr sz="1600">
                <a:solidFill>
                  <a:srgbClr val="1A1A1A"/>
                </a:solidFill>
              </a:defRPr>
            </a:pPr>
            <a:r>
              <a:t>The method receives the order items, the order entity, and a data object. For this exercise, return an empty array.</a:t>
            </a:r>
          </a:p>
          <a:p>
            <a:pPr>
              <a:spcAft>
                <a:spcPts val="800"/>
              </a:spcAft>
              <a:defRPr sz="1400" i="1">
                <a:solidFill>
                  <a:srgbClr val="888888"/>
                </a:solidFill>
              </a:defRPr>
            </a:pPr>
            <a:r>
              <a:t>❝ In production: The command would call a payment gateway, update order data, send notifications, etc. The empty implementation is just for the exercise. Method signature: Check vendor/spryker/oms/src/Spryker/Zed/Oms/Dependency/Plugin/Command/CommandByOrderInterface.php for the exact parameters.</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8: Implement the Condition Plugin</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Coding time:</a:t>
            </a:r>
          </a:p>
          <a:p>
            <a:pPr>
              <a:spcAft>
                <a:spcPts val="800"/>
              </a:spcAft>
              <a:defRPr sz="1600">
                <a:solidFill>
                  <a:srgbClr val="1A1A1A"/>
                </a:solidFill>
              </a:defRPr>
            </a:pPr>
            <a:r>
              <a:t>Open src/SprykerAcademy/Zed/Oms/Communication/Plugin/Oms/Condition/IsAuthorizedConditionPlugin.php . Implement the check() method from ConditionInterface .</a:t>
            </a:r>
          </a:p>
          <a:p>
            <a:pPr>
              <a:spcAft>
                <a:spcPts val="800"/>
              </a:spcAft>
              <a:defRPr sz="1600">
                <a:solidFill>
                  <a:srgbClr val="1A1A1A"/>
                </a:solidFill>
              </a:defRPr>
            </a:pPr>
            <a:r>
              <a:t>Return true to always authorize (happy path). In production, this would check payment authorization status.</a:t>
            </a:r>
          </a:p>
          <a:p>
            <a:pPr>
              <a:spcAft>
                <a:spcPts val="800"/>
              </a:spcAft>
              <a:defRPr sz="1400" i="1">
                <a:solidFill>
                  <a:srgbClr val="888888"/>
                </a:solidFill>
              </a:defRPr>
            </a:pPr>
            <a:r>
              <a:t>❝ Method signature: Check vendor/spryker/oms/src/Spryker/Zed/Oms/Dependency/Plugin/Condition/ConditionInterface.php .</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9: Register Plugins in DependencyProvider</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Coding time:</a:t>
            </a:r>
          </a:p>
          <a:p>
            <a:pPr>
              <a:spcAft>
                <a:spcPts val="800"/>
              </a:spcAft>
              <a:defRPr sz="1600">
                <a:solidFill>
                  <a:srgbClr val="1A1A1A"/>
                </a:solidFill>
              </a:defRPr>
            </a:pPr>
            <a:r>
              <a:t>Open src/SprykerAcademy/Zed/Oms/OmsDependencyProvider.php :</a:t>
            </a:r>
          </a:p>
          <a:p>
            <a:pPr>
              <a:spcAft>
                <a:spcPts val="400"/>
              </a:spcAft>
              <a:defRPr sz="1500">
                <a:solidFill>
                  <a:srgbClr val="1A1A1A"/>
                </a:solidFill>
              </a:defRPr>
            </a:pPr>
            <a:r>
              <a:t>• Add the PayCommandPlugin to the command collection with the key 'Demo/Pay'</a:t>
            </a:r>
          </a:p>
          <a:p>
            <a:pPr>
              <a:spcAft>
                <a:spcPts val="400"/>
              </a:spcAft>
              <a:defRPr sz="1500">
                <a:solidFill>
                  <a:srgbClr val="1A1A1A"/>
                </a:solidFill>
              </a:defRPr>
            </a:pPr>
            <a:r>
              <a:t>• Add the IsAuthorizedConditionPlugin to the condition collection with the key 'Demo/IsAuthorized'</a:t>
            </a:r>
          </a:p>
          <a:p>
            <a:pPr>
              <a:spcAft>
                <a:spcPts val="800"/>
              </a:spcAft>
              <a:defRPr sz="1400" i="1">
                <a:solidFill>
                  <a:srgbClr val="888888"/>
                </a:solidFill>
              </a:defRPr>
            </a:pPr>
            <a:r>
              <a:t>❝ String matching: The plugin key strings must match EXACTLY what you defined in the XML ( command="Demo/Pay" and condition="Demo/IsAuthorized" ). Including the slash.</a:t>
            </a:r>
          </a:p>
          <a:p>
            <a:pPr>
              <a:spcAft>
                <a:spcPts val="800"/>
              </a:spcAft>
              <a:defRPr sz="1600">
                <a:solidFill>
                  <a:srgbClr val="1A1A1A"/>
                </a:solidFill>
              </a:defRPr>
            </a:pPr>
            <a:r>
              <a:t>After registering, refresh the OMS visualization — the red warnings about missing command/condition implementations should disappear.</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10: Mark the Happy Path</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The happy path is the expected/successful flow through the state machine. Marking it with happy="true" on transitions renders them in green in the Back Office visualization.</a:t>
            </a:r>
          </a:p>
          <a:p>
            <a:pPr>
              <a:spcAft>
                <a:spcPts val="800"/>
              </a:spcAft>
              <a:defRPr sz="1600">
                <a:solidFill>
                  <a:srgbClr val="1A1A1A"/>
                </a:solidFill>
              </a:defRPr>
            </a:pPr>
            <a:r>
              <a:t>Coding time:</a:t>
            </a:r>
          </a:p>
          <a:p>
            <a:pPr>
              <a:spcAft>
                <a:spcPts val="800"/>
              </a:spcAft>
              <a:defRPr sz="1600">
                <a:solidFill>
                  <a:srgbClr val="1A1A1A"/>
                </a:solidFill>
              </a:defRPr>
            </a:pPr>
            <a:r>
              <a:t>Add happy="true" to the transitions that form the successful flow: new → payment pending → payment authorized → paid → closed</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Test the State Machine</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400"/>
              </a:spcAft>
              <a:defRPr sz="1500">
                <a:solidFill>
                  <a:srgbClr val="1A1A1A"/>
                </a:solidFill>
              </a:defRPr>
            </a:pPr>
            <a:r>
              <a:t>• Visit http://backoffice.eu.spryker.local/oms and verify the Demo01 process visualization</a:t>
            </a:r>
          </a:p>
          <a:p>
            <a:pPr>
              <a:spcAft>
                <a:spcPts val="400"/>
              </a:spcAft>
              <a:defRPr sz="1500">
                <a:solidFill>
                  <a:srgbClr val="1A1A1A"/>
                </a:solidFill>
              </a:defRPr>
            </a:pPr>
            <a:r>
              <a:t>• Go to http://yves.eu.spryker.local/ and place an order using the Invoice payment method</a:t>
            </a:r>
          </a:p>
          <a:p>
            <a:pPr>
              <a:spcAft>
                <a:spcPts val="400"/>
              </a:spcAft>
              <a:defRPr sz="1500">
                <a:solidFill>
                  <a:srgbClr val="1A1A1A"/>
                </a:solidFill>
              </a:defRPr>
            </a:pPr>
            <a:r>
              <a:t>• Open the order in http://backoffice.eu.spryker.local/sales/</a:t>
            </a:r>
          </a:p>
          <a:p>
            <a:pPr>
              <a:spcAft>
                <a:spcPts val="400"/>
              </a:spcAft>
              <a:defRPr sz="1500">
                <a:solidFill>
                  <a:srgbClr val="1A1A1A"/>
                </a:solidFill>
              </a:defRPr>
            </a:pPr>
            <a:r>
              <a:t>• The order should flow through the states: new → payment pending → payment authorized → paid → closed</a:t>
            </a:r>
          </a:p>
          <a:p>
            <a:pPr>
              <a:spcAft>
                <a:spcPts val="400"/>
              </a:spcAft>
              <a:defRPr sz="1500">
                <a:solidFill>
                  <a:srgbClr val="1A1A1A"/>
                </a:solidFill>
              </a:defRPr>
            </a:pPr>
            <a:r>
              <a:t>• Manual events (like pay ) show as buttons next to the order item — click them to advance the state</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Key Concepts Summary</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1200"/>
              </a:spcBef>
              <a:spcAft>
                <a:spcPts val="600"/>
              </a:spcAft>
              <a:defRPr sz="2000" b="1">
                <a:solidFill>
                  <a:srgbClr val="1A1A1A"/>
                </a:solidFill>
              </a:defRPr>
            </a:pPr>
            <a:r>
              <a:t>Event Types</a:t>
            </a:r>
          </a:p>
          <a:p>
            <a:pPr>
              <a:spcAft>
                <a:spcPts val="100"/>
              </a:spcAft>
              <a:defRPr sz="1000">
                <a:solidFill>
                  <a:srgbClr val="1A1A1A"/>
                </a:solidFill>
                <a:latin typeface="Consolas"/>
              </a:defRPr>
            </a:pPr>
            <a:r>
              <a:t>Type     Attribute          When it fires                               </a:t>
            </a:r>
          </a:p>
          <a:p>
            <a:pPr>
              <a:spcAft>
                <a:spcPts val="100"/>
              </a:spcAft>
              <a:defRPr sz="1000">
                <a:solidFill>
                  <a:srgbClr val="1A1A1A"/>
                </a:solidFill>
                <a:latin typeface="Consolas"/>
              </a:defRPr>
            </a:pPr>
            <a:r>
              <a:t>-------  -----------------  --------------------------------------------</a:t>
            </a:r>
          </a:p>
          <a:p>
            <a:pPr>
              <a:spcAft>
                <a:spcPts val="100"/>
              </a:spcAft>
              <a:defRPr sz="1000">
                <a:solidFill>
                  <a:srgbClr val="1A1A1A"/>
                </a:solidFill>
                <a:latin typeface="Consolas"/>
              </a:defRPr>
            </a:pPr>
            <a:r>
              <a:t>Auto     onEnter="true"     Immediately when entering the source state  </a:t>
            </a:r>
          </a:p>
          <a:p>
            <a:pPr>
              <a:spcAft>
                <a:spcPts val="100"/>
              </a:spcAft>
              <a:defRPr sz="1000">
                <a:solidFill>
                  <a:srgbClr val="1A1A1A"/>
                </a:solidFill>
                <a:latin typeface="Consolas"/>
              </a:defRPr>
            </a:pPr>
            <a:r>
              <a:t>Manual   manual="true"      When a user clicks the button in Back Office</a:t>
            </a:r>
          </a:p>
          <a:p>
            <a:pPr>
              <a:spcAft>
                <a:spcPts val="100"/>
              </a:spcAft>
              <a:defRPr sz="1000">
                <a:solidFill>
                  <a:srgbClr val="1A1A1A"/>
                </a:solidFill>
                <a:latin typeface="Consolas"/>
              </a:defRPr>
            </a:pPr>
            <a:r>
              <a:t>Timeout  timeout="14 days"  After the specified time has elapsed</a:t>
            </a:r>
          </a:p>
          <a:p>
            <a:pPr>
              <a:spcBef>
                <a:spcPts val="1200"/>
              </a:spcBef>
              <a:spcAft>
                <a:spcPts val="600"/>
              </a:spcAft>
              <a:defRPr sz="2000" b="1">
                <a:solidFill>
                  <a:srgbClr val="1A1A1A"/>
                </a:solidFill>
              </a:defRPr>
            </a:pPr>
            <a:r>
              <a:t>Condition Routing</a:t>
            </a:r>
          </a:p>
          <a:p>
            <a:pPr>
              <a:spcAft>
                <a:spcPts val="800"/>
              </a:spcAft>
              <a:defRPr sz="1600">
                <a:solidFill>
                  <a:srgbClr val="1A1A1A"/>
                </a:solidFill>
              </a:defRPr>
            </a:pPr>
            <a:r>
              <a:t>When two transitions share the same event from the same source state: - The transition with a condition is checked first - If the condition returns true , that transition is taken - If false , the transition without a condition is taken (fallback)</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Plugin Registration Pattern</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XML: command="Demo/Pay" → PHP: $commandCollection-&gt;add(new PayCommandPlugin(), 'Demo/Pay')</a:t>
            </a:r>
          </a:p>
          <a:p>
            <a:pPr>
              <a:spcBef>
                <a:spcPts val="0"/>
              </a:spcBef>
              <a:spcAft>
                <a:spcPts val="0"/>
              </a:spcAft>
            </a:pPr>
            <a:r>
              <a:rPr sz="900">
                <a:solidFill>
                  <a:srgbClr val="2D2D2D"/>
                </a:solidFill>
                <a:latin typeface="Consolas"/>
              </a:rPr>
              <a:t>XML: condition="Demo/IsAuthorized" → PHP: $conditionCollection-&gt;add(new IsAuthorizedConditionPlugin(), 'Demo/IsAuthorized')</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Run Automated Tests</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docker/sdk</a:t>
            </a:r>
            <a:r>
              <a:rPr sz="900">
                <a:solidFill>
                  <a:srgbClr val="2D2D2D"/>
                </a:solidFill>
                <a:latin typeface="Consolas"/>
              </a:rPr>
              <a:t> cli vendor/bin/codecept build </a:t>
            </a:r>
            <a:r>
              <a:rPr sz="900">
                <a:solidFill>
                  <a:srgbClr val="2D2D2D"/>
                </a:solidFill>
                <a:latin typeface="Consolas"/>
              </a:rPr>
              <a:t>-c</a:t>
            </a:r>
            <a:r>
              <a:rPr sz="900">
                <a:solidFill>
                  <a:srgbClr val="2D2D2D"/>
                </a:solidFill>
                <a:latin typeface="Consolas"/>
              </a:rPr>
              <a:t> tests/SprykerAcademyTest/Zed/Supplier/</a:t>
            </a:r>
          </a:p>
          <a:p>
            <a:pPr>
              <a:spcBef>
                <a:spcPts val="0"/>
              </a:spcBef>
              <a:spcAft>
                <a:spcPts val="0"/>
              </a:spcAft>
            </a:pPr>
            <a:r>
              <a:rPr sz="900">
                <a:solidFill>
                  <a:srgbClr val="2D2D2D"/>
                </a:solidFill>
                <a:latin typeface="Consolas"/>
              </a:rPr>
              <a:t>docker/sdk</a:t>
            </a:r>
            <a:r>
              <a:rPr sz="900">
                <a:solidFill>
                  <a:srgbClr val="2D2D2D"/>
                </a:solidFill>
                <a:latin typeface="Consolas"/>
              </a:rPr>
              <a:t> cli vendor/bin/codecept run </a:t>
            </a:r>
            <a:r>
              <a:rPr sz="900">
                <a:solidFill>
                  <a:srgbClr val="2D2D2D"/>
                </a:solidFill>
                <a:latin typeface="Consolas"/>
              </a:rPr>
              <a:t>-c</a:t>
            </a:r>
            <a:r>
              <a:rPr sz="900">
                <a:solidFill>
                  <a:srgbClr val="2D2D2D"/>
                </a:solidFill>
                <a:latin typeface="Consolas"/>
              </a:rPr>
              <a:t> tests/SprykerAcademyTest/Zed/Supplier/ Oms</a:t>
            </a:r>
          </a:p>
          <a:p>
            <a:pPr>
              <a:spcAft>
                <a:spcPts val="800"/>
              </a:spcAft>
              <a:defRPr sz="1600">
                <a:solidFill>
                  <a:srgbClr val="1A1A1A"/>
                </a:solidFill>
              </a:defRPr>
            </a:pPr>
            <a:r>
              <a:t>The tests check the six states, the happy path, the condition routing, that Demo/Pay and Demo/IsAuthorized are registered under the names the XML uses, and the Demo01 configuration.</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Solution</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./exercises/load.sh</a:t>
            </a:r>
            <a:r>
              <a:rPr sz="900">
                <a:solidFill>
                  <a:srgbClr val="2D2D2D"/>
                </a:solidFill>
                <a:latin typeface="Consolas"/>
              </a:rPr>
              <a:t> supplier intermediate/oms/complete </a:t>
            </a:r>
            <a:r>
              <a:rPr sz="900">
                <a:solidFill>
                  <a:srgbClr val="2D2D2D"/>
                </a:solidFill>
                <a:latin typeface="Consolas"/>
              </a:rPr>
              <a:t>--run</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spAutoFit/>
          </a:bodyPr>
          <a:lstStyle/>
          <a:p>
            <a:pPr algn="ctr">
              <a:defRPr sz="3600" b="1">
                <a:solidFill>
                  <a:srgbClr val="00A89B"/>
                </a:solidFill>
              </a:defRPr>
            </a:pPr>
            <a:r>
              <a:t>Exercise 14: Storage Client - Redis Supplier Lookup</a:t>
            </a:r>
          </a:p>
        </p:txBody>
      </p:sp>
      <p:sp>
        <p:nvSpPr>
          <p:cNvPr id="3" name="Rectangle 2"/>
          <p:cNvSpPr/>
          <p:nvPr/>
        </p:nvSpPr>
        <p:spPr>
          <a:xfrm>
            <a:off x="3657600" y="2286000"/>
            <a:ext cx="4876495" cy="381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Exercise 14: Storage Client - Redis Supplier Lookup</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In this exercise, you will build a Client module that reads supplier data from Redis (the key-value storage). While the Search module uses Elasticsearch for full-text search, the Storage module uses Redis for fast key-value lookups by ID.</a:t>
            </a:r>
          </a:p>
          <a:p>
            <a:pPr>
              <a:spcAft>
                <a:spcPts val="800"/>
              </a:spcAft>
              <a:defRPr sz="1600">
                <a:solidFill>
                  <a:srgbClr val="1A1A1A"/>
                </a:solidFill>
              </a:defRPr>
            </a:pPr>
            <a:r>
              <a:t>You will learn how to: - Read data from Redis using the StorageClient - Generate storage keys using the SynchronizationService - Build a Storage Reader pattern for key-value access - Wire dependencies through the Client layer’s DependencyProvider and Factory - Distinguish between Search (Elasticsearch) and Storage (Redis) use cases</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Prerequisites</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400"/>
              </a:spcAft>
              <a:defRPr sz="1500">
                <a:solidFill>
                  <a:srgbClr val="1A1A1A"/>
                </a:solidFill>
              </a:defRPr>
            </a:pPr>
            <a:r>
              <a:t>• You do not need your own solutions of the earlier exercises. The branch contains them, and load.sh --run imports the sample suppliers and publishes them to Redis and Elasticsearch (Exercises 8 and 10).</a:t>
            </a:r>
          </a:p>
          <a:p>
            <a:pPr>
              <a:spcAft>
                <a:spcPts val="400"/>
              </a:spcAft>
              <a:defRPr sz="1500">
                <a:solidFill>
                  <a:srgbClr val="1A1A1A"/>
                </a:solidFill>
              </a:defRPr>
            </a:pPr>
            <a:r>
              <a:t>• Understanding of the Client layer and DependencyProvider pattern</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Loading the Exercise</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./exercises/load.sh</a:t>
            </a:r>
            <a:r>
              <a:rPr sz="900">
                <a:solidFill>
                  <a:srgbClr val="2D2D2D"/>
                </a:solidFill>
                <a:latin typeface="Consolas"/>
              </a:rPr>
              <a:t> supplier intermediate/storage-client/skeleton </a:t>
            </a:r>
            <a:r>
              <a:rPr sz="900">
                <a:solidFill>
                  <a:srgbClr val="2D2D2D"/>
                </a:solidFill>
                <a:latin typeface="Consolas"/>
              </a:rPr>
              <a:t>--run</a:t>
            </a:r>
          </a:p>
          <a:p>
            <a:pPr>
              <a:spcAft>
                <a:spcPts val="800"/>
              </a:spcAft>
              <a:defRPr sz="1600">
                <a:solidFill>
                  <a:srgbClr val="1A1A1A"/>
                </a:solidFill>
              </a:defRPr>
            </a:pPr>
            <a:r>
              <a:t>--run also runs the commands the loader lists after loading (cache, Propel, transfers and whatever this exercise needs, such as queues or Glue resources) and stops at the first one that fails. Leave it out to run them yourself.</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Background: Search vs Storage Architecture</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Spryker uses two different storage systems for different access patterns:</a:t>
            </a:r>
          </a:p>
          <a:p>
            <a:pPr>
              <a:spcAft>
                <a:spcPts val="100"/>
              </a:spcAft>
              <a:defRPr sz="1000">
                <a:solidFill>
                  <a:srgbClr val="1A1A1A"/>
                </a:solidFill>
                <a:latin typeface="Consolas"/>
              </a:defRPr>
            </a:pPr>
            <a:r>
              <a:t>Feature         Search (Elasticsearch)                    Storage (Redis)            </a:t>
            </a:r>
          </a:p>
          <a:p>
            <a:pPr>
              <a:spcAft>
                <a:spcPts val="100"/>
              </a:spcAft>
              <a:defRPr sz="1000">
                <a:solidFill>
                  <a:srgbClr val="1A1A1A"/>
                </a:solidFill>
                <a:latin typeface="Consolas"/>
              </a:defRPr>
            </a:pPr>
            <a:r>
              <a:t>--------------  ----------------------------------------  ---------------------------</a:t>
            </a:r>
          </a:p>
          <a:p>
            <a:pPr>
              <a:spcAft>
                <a:spcPts val="100"/>
              </a:spcAft>
              <a:defRPr sz="1000">
                <a:solidFill>
                  <a:srgbClr val="1A1A1A"/>
                </a:solidFill>
                <a:latin typeface="Consolas"/>
              </a:defRPr>
            </a:pPr>
            <a:r>
              <a:t>Use case        Full-text search, filtering, aggregation  Fast key-value lookup by ID</a:t>
            </a:r>
          </a:p>
          <a:p>
            <a:pPr>
              <a:spcAft>
                <a:spcPts val="100"/>
              </a:spcAft>
              <a:defRPr sz="1000">
                <a:solidFill>
                  <a:srgbClr val="1A1A1A"/>
                </a:solidFill>
                <a:latin typeface="Consolas"/>
              </a:defRPr>
            </a:pPr>
            <a:r>
              <a:t>Query type      Complex queries (BoolQuery, Match, etc.)  Simple key lookup          </a:t>
            </a:r>
          </a:p>
          <a:p>
            <a:pPr>
              <a:spcAft>
                <a:spcPts val="100"/>
              </a:spcAft>
              <a:defRPr sz="1000">
                <a:solidFill>
                  <a:srgbClr val="1A1A1A"/>
                </a:solidFill>
                <a:latin typeface="Consolas"/>
              </a:defRPr>
            </a:pPr>
            <a:r>
              <a:t>Data structure  Indexed documents with analyzers          Serialized JSON by key     </a:t>
            </a:r>
          </a:p>
          <a:p>
            <a:pPr>
              <a:spcAft>
                <a:spcPts val="100"/>
              </a:spcAft>
              <a:defRPr sz="1000">
                <a:solidFill>
                  <a:srgbClr val="1A1A1A"/>
                </a:solidFill>
                <a:latin typeface="Consolas"/>
              </a:defRPr>
            </a:pPr>
            <a:r>
              <a:t>Key format      Index + type + ID                         Resource name + ID         </a:t>
            </a:r>
          </a:p>
          <a:p>
            <a:pPr>
              <a:spcAft>
                <a:spcPts val="100"/>
              </a:spcAft>
              <a:defRPr sz="1000">
                <a:solidFill>
                  <a:srgbClr val="1A1A1A"/>
                </a:solidFill>
                <a:latin typeface="Consolas"/>
              </a:defRPr>
            </a:pPr>
            <a:r>
              <a:t>Spryker module  SupplierSearch (Client)                   SupplierStorage (Client)</a:t>
            </a:r>
          </a:p>
          <a:p>
            <a:pPr>
              <a:spcAft>
                <a:spcPts val="800"/>
              </a:spcAft>
              <a:defRPr sz="1600">
                <a:solidFill>
                  <a:srgbClr val="1A1A1A"/>
                </a:solidFill>
              </a:defRPr>
            </a:pPr>
            <a:r>
              <a:t>Storage Key Format:</a:t>
            </a:r>
          </a:p>
          <a:p>
            <a:pPr>
              <a:spcBef>
                <a:spcPts val="0"/>
              </a:spcBef>
              <a:spcAft>
                <a:spcPts val="0"/>
              </a:spcAft>
            </a:pPr>
            <a:r>
              <a:rPr sz="900">
                <a:solidFill>
                  <a:srgbClr val="2D2D2D"/>
                </a:solidFill>
                <a:latin typeface="Consolas"/>
              </a:rPr>
              <a:t>resource_name:id</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Example:</a:t>
            </a:r>
          </a:p>
          <a:p>
            <a:pPr>
              <a:spcBef>
                <a:spcPts val="0"/>
              </a:spcBef>
              <a:spcAft>
                <a:spcPts val="0"/>
              </a:spcAft>
            </a:pPr>
            <a:r>
              <a:rPr sz="900">
                <a:solidFill>
                  <a:srgbClr val="2D2D2D"/>
                </a:solidFill>
                <a:latin typeface="Consolas"/>
              </a:rPr>
              <a:t>supplier:1</a:t>
            </a:r>
          </a:p>
          <a:p>
            <a:pPr>
              <a:spcBef>
                <a:spcPts val="0"/>
              </a:spcBef>
              <a:spcAft>
                <a:spcPts val="0"/>
              </a:spcAft>
            </a:pPr>
            <a:r>
              <a:rPr sz="900">
                <a:solidFill>
                  <a:srgbClr val="2D2D2D"/>
                </a:solidFill>
                <a:latin typeface="Consolas"/>
              </a:rPr>
              <a:t>supplier:2</a:t>
            </a:r>
          </a:p>
          <a:p>
            <a:pPr>
              <a:spcAft>
                <a:spcPts val="800"/>
              </a:spcAft>
              <a:defRPr sz="1600">
                <a:solidFill>
                  <a:srgbClr val="1A1A1A"/>
                </a:solidFill>
              </a:defRPr>
            </a:pPr>
            <a:r>
              <a:t>Flow for Storage Read:</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Background: Search vs Storage Architecture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Yves/Client</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SupplierStorageClient::findSupplierById()</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SupplierStorageReader::findSupplierStorageData()</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SynchronizationService::getStorageKeyBuilder('supplier')-&gt;buildKey(1)</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StorageClient::get('supplier:1')</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Redis</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Working on the Exercise</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1200"/>
              </a:spcBef>
              <a:spcAft>
                <a:spcPts val="600"/>
              </a:spcAft>
              <a:defRPr sz="2000" b="1">
                <a:solidFill>
                  <a:srgbClr val="1A1A1A"/>
                </a:solidFill>
              </a:defRPr>
            </a:pPr>
            <a:r>
              <a:t>Part 1: Understand the Storage Key Generation</a:t>
            </a:r>
          </a:p>
          <a:p>
            <a:pPr>
              <a:spcAft>
                <a:spcPts val="800"/>
              </a:spcAft>
              <a:defRPr sz="1600">
                <a:solidFill>
                  <a:srgbClr val="1A1A1A"/>
                </a:solidFill>
              </a:defRPr>
            </a:pPr>
            <a:r>
              <a:t>When data is synchronized to Redis (via the Publish &amp; Synchronize flow), the synchronization behavior on pyz_supplier_storage automatically:</a:t>
            </a:r>
          </a:p>
          <a:p>
            <a:pPr>
              <a:spcAft>
                <a:spcPts val="400"/>
              </a:spcAft>
              <a:defRPr sz="1500">
                <a:solidFill>
                  <a:srgbClr val="1A1A1A"/>
                </a:solidFill>
              </a:defRPr>
            </a:pPr>
            <a:r>
              <a:t>• Generates a storage key using the resource parameter (e.g., "supplier" )</a:t>
            </a:r>
          </a:p>
          <a:p>
            <a:pPr>
              <a:spcAft>
                <a:spcPts val="400"/>
              </a:spcAft>
              <a:defRPr sz="1500">
                <a:solidFill>
                  <a:srgbClr val="1A1A1A"/>
                </a:solidFill>
              </a:defRPr>
            </a:pPr>
            <a:r>
              <a:t>• Serializes the supplier data as JSON</a:t>
            </a:r>
          </a:p>
          <a:p>
            <a:pPr>
              <a:spcAft>
                <a:spcPts val="400"/>
              </a:spcAft>
              <a:defRPr sz="1500">
                <a:solidFill>
                  <a:srgbClr val="1A1A1A"/>
                </a:solidFill>
              </a:defRPr>
            </a:pPr>
            <a:r>
              <a:t>• Stores it in Redis with the key supplier:{fk_supplier}</a:t>
            </a:r>
          </a:p>
          <a:p>
            <a:pPr>
              <a:spcAft>
                <a:spcPts val="800"/>
              </a:spcAft>
              <a:defRPr sz="1600">
                <a:solidFill>
                  <a:srgbClr val="1A1A1A"/>
                </a:solidFill>
              </a:defRPr>
            </a:pPr>
            <a:r>
              <a:t>The SynchronizationService provides a key builder to generate these keys consistently:</a:t>
            </a:r>
          </a:p>
          <a:p>
            <a:pPr>
              <a:spcBef>
                <a:spcPts val="0"/>
              </a:spcBef>
              <a:spcAft>
                <a:spcPts val="0"/>
              </a:spcAft>
            </a:pPr>
            <a:r>
              <a:rPr sz="900">
                <a:solidFill>
                  <a:srgbClr val="19177C"/>
                </a:solidFill>
                <a:latin typeface="Consolas"/>
              </a:rPr>
              <a:t>$key</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a:solidFill>
                  <a:srgbClr val="19177C"/>
                </a:solidFill>
                <a:latin typeface="Consolas"/>
              </a:rPr>
              <a:t>$this</a:t>
            </a:r>
            <a:r>
              <a:rPr sz="900">
                <a:solidFill>
                  <a:srgbClr val="2D2D2D"/>
                </a:solidFill>
                <a:latin typeface="Consolas"/>
              </a:rPr>
              <a:t>-&gt;synchronizationService</a:t>
            </a:r>
          </a:p>
          <a:p>
            <a:pPr>
              <a:spcBef>
                <a:spcPts val="0"/>
              </a:spcBef>
              <a:spcAft>
                <a:spcPts val="0"/>
              </a:spcAft>
            </a:pPr>
            <a:r>
              <a:rPr sz="900">
                <a:solidFill>
                  <a:srgbClr val="2D2D2D"/>
                </a:solidFill>
                <a:latin typeface="Consolas"/>
              </a:rPr>
              <a:t>    -&gt;getStorageKeyBuilder(</a:t>
            </a:r>
            <a:r>
              <a:rPr sz="900">
                <a:solidFill>
                  <a:srgbClr val="4070A0"/>
                </a:solidFill>
                <a:latin typeface="Consolas"/>
              </a:rPr>
              <a:t>'supplier'</a:t>
            </a:r>
            <a:r>
              <a:rPr sz="900">
                <a:solidFill>
                  <a:srgbClr val="2D2D2D"/>
                </a:solidFill>
                <a:latin typeface="Consolas"/>
              </a:rPr>
              <a:t>)</a:t>
            </a:r>
          </a:p>
          <a:p>
            <a:pPr>
              <a:spcBef>
                <a:spcPts val="0"/>
              </a:spcBef>
              <a:spcAft>
                <a:spcPts val="0"/>
              </a:spcAft>
            </a:pPr>
            <a:r>
              <a:rPr sz="900">
                <a:solidFill>
                  <a:srgbClr val="2D2D2D"/>
                </a:solidFill>
                <a:latin typeface="Consolas"/>
              </a:rPr>
              <a:t>    -&gt;buildKey(</a:t>
            </a:r>
            <a:r>
              <a:rPr sz="900">
                <a:solidFill>
                  <a:srgbClr val="902000"/>
                </a:solidFill>
                <a:latin typeface="Consolas"/>
              </a:rPr>
              <a:t>(string)</a:t>
            </a:r>
            <a:r>
              <a:rPr sz="900">
                <a:solidFill>
                  <a:srgbClr val="19177C"/>
                </a:solidFill>
                <a:latin typeface="Consolas"/>
              </a:rPr>
              <a:t>$idSupplier</a:t>
            </a:r>
            <a:r>
              <a:rPr sz="900">
                <a:solidFill>
                  <a:srgbClr val="2D2D2D"/>
                </a:solidFill>
                <a:latin typeface="Consolas"/>
              </a:rPr>
              <a:t>)</a:t>
            </a:r>
            <a:r>
              <a:rPr sz="900">
                <a:solidFill>
                  <a:srgbClr val="007020"/>
                </a:solidFill>
                <a:latin typeface="Consolas"/>
              </a:rPr>
              <a:t>;</a:t>
            </a:r>
          </a:p>
          <a:p>
            <a:pPr>
              <a:spcBef>
                <a:spcPts val="0"/>
              </a:spcBef>
              <a:spcAft>
                <a:spcPts val="0"/>
              </a:spcAft>
            </a:pPr>
            <a:r>
              <a:rPr sz="900" i="1">
                <a:solidFill>
                  <a:srgbClr val="60A0B0"/>
                </a:solidFill>
                <a:latin typeface="Consolas"/>
              </a:rPr>
              <a:t>// Result: "supplier:1"</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Working on the Exercise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400" i="1">
                <a:solidFill>
                  <a:srgbClr val="888888"/>
                </a:solidFill>
              </a:defRPr>
            </a:pPr>
            <a:r>
              <a:t>❝ Resource name: This must match the resource parameter in the synchronization behavior from pyz_supplier_storage.schema.xml (not to be confused with pyz_supplier_search which goes to Elasticsearch).</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2: Implement the Storage Reader</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The SupplierStorageReader is the core class that fetches data from Redis.</a:t>
            </a:r>
          </a:p>
          <a:p>
            <a:pPr>
              <a:spcAft>
                <a:spcPts val="800"/>
              </a:spcAft>
              <a:defRPr sz="1600">
                <a:solidFill>
                  <a:srgbClr val="1A1A1A"/>
                </a:solidFill>
              </a:defRPr>
            </a:pPr>
            <a:r>
              <a:t>Coding time:</a:t>
            </a:r>
          </a:p>
          <a:p>
            <a:pPr>
              <a:spcAft>
                <a:spcPts val="800"/>
              </a:spcAft>
              <a:defRPr sz="1600">
                <a:solidFill>
                  <a:srgbClr val="1A1A1A"/>
                </a:solidFill>
              </a:defRPr>
            </a:pPr>
            <a:r>
              <a:t>Open src/SprykerAcademy/Client/SupplierStorage/Storage/SupplierStorageReader.php :</a:t>
            </a:r>
          </a:p>
          <a:p>
            <a:pPr>
              <a:spcBef>
                <a:spcPts val="800"/>
              </a:spcBef>
              <a:spcAft>
                <a:spcPts val="400"/>
              </a:spcAft>
              <a:defRPr sz="1700" b="1">
                <a:solidFill>
                  <a:srgbClr val="1A1A1A"/>
                </a:solidFill>
              </a:defRPr>
            </a:pPr>
            <a:r>
              <a:t>2.1 Add the Resource Name Constant</a:t>
            </a:r>
          </a:p>
          <a:p>
            <a:pPr>
              <a:spcAft>
                <a:spcPts val="800"/>
              </a:spcAft>
              <a:defRPr sz="1600">
                <a:solidFill>
                  <a:srgbClr val="1A1A1A"/>
                </a:solidFill>
              </a:defRPr>
            </a:pPr>
            <a:r>
              <a:t>Add a class constant for the resource name to avoid hardcoding strings:</a:t>
            </a:r>
          </a:p>
          <a:p>
            <a:pPr>
              <a:spcBef>
                <a:spcPts val="0"/>
              </a:spcBef>
              <a:spcAft>
                <a:spcPts val="0"/>
              </a:spcAft>
            </a:pPr>
            <a:r>
              <a:rPr sz="900" b="1">
                <a:solidFill>
                  <a:srgbClr val="007020"/>
                </a:solidFill>
                <a:latin typeface="Consolas"/>
              </a:rPr>
              <a:t>protected</a:t>
            </a:r>
            <a:r>
              <a:rPr sz="900">
                <a:solidFill>
                  <a:srgbClr val="2D2D2D"/>
                </a:solidFill>
                <a:latin typeface="Consolas"/>
              </a:rPr>
              <a:t> </a:t>
            </a:r>
            <a:r>
              <a:rPr sz="900" b="1">
                <a:solidFill>
                  <a:srgbClr val="007020"/>
                </a:solidFill>
                <a:latin typeface="Consolas"/>
              </a:rPr>
              <a:t>const</a:t>
            </a:r>
            <a:r>
              <a:rPr sz="900">
                <a:solidFill>
                  <a:srgbClr val="2D2D2D"/>
                </a:solidFill>
                <a:latin typeface="Consolas"/>
              </a:rPr>
              <a:t> </a:t>
            </a:r>
            <a:r>
              <a:rPr sz="900">
                <a:solidFill>
                  <a:srgbClr val="902000"/>
                </a:solidFill>
                <a:latin typeface="Consolas"/>
              </a:rPr>
              <a:t>string</a:t>
            </a:r>
            <a:r>
              <a:rPr sz="900">
                <a:solidFill>
                  <a:srgbClr val="2D2D2D"/>
                </a:solidFill>
                <a:latin typeface="Consolas"/>
              </a:rPr>
              <a:t> </a:t>
            </a:r>
            <a:r>
              <a:rPr sz="900">
                <a:solidFill>
                  <a:srgbClr val="880000"/>
                </a:solidFill>
                <a:latin typeface="Consolas"/>
              </a:rPr>
              <a:t>RESOURCE_NAME</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a:solidFill>
                  <a:srgbClr val="4070A0"/>
                </a:solidFill>
                <a:latin typeface="Consolas"/>
              </a:rPr>
              <a:t>'supplier'</a:t>
            </a:r>
            <a:r>
              <a:rPr sz="900">
                <a:solidFill>
                  <a:srgbClr val="007020"/>
                </a:solidFill>
                <a:latin typeface="Consolas"/>
              </a:rPr>
              <a:t>;</a:t>
            </a:r>
          </a:p>
          <a:p>
            <a:pPr>
              <a:spcAft>
                <a:spcPts val="800"/>
              </a:spcAft>
              <a:defRPr sz="1400" i="1">
                <a:solidFill>
                  <a:srgbClr val="888888"/>
                </a:solidFill>
              </a:defRPr>
            </a:pPr>
            <a:r>
              <a:t>❝ Best practice: Use constants for resource identifiers. This prevents typos and makes refactoring easier.</a:t>
            </a:r>
          </a:p>
          <a:p>
            <a:pPr>
              <a:spcBef>
                <a:spcPts val="800"/>
              </a:spcBef>
              <a:spcAft>
                <a:spcPts val="400"/>
              </a:spcAft>
              <a:defRPr sz="1700" b="1">
                <a:solidFill>
                  <a:srgbClr val="1A1A1A"/>
                </a:solidFill>
              </a:defRPr>
            </a:pPr>
            <a:r>
              <a:t>2.2 Add Static Cache for Key Builder</a:t>
            </a:r>
          </a:p>
          <a:p>
            <a:pPr>
              <a:spcAft>
                <a:spcPts val="800"/>
              </a:spcAft>
              <a:defRPr sz="1600">
                <a:solidFill>
                  <a:srgbClr val="1A1A1A"/>
                </a:solidFill>
              </a:defRPr>
            </a:pPr>
            <a:r>
              <a:t>Add a static property to cache the key builder instance (avoid repeated service lookups):</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2: Implement the Storage Reader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b="1">
                <a:solidFill>
                  <a:srgbClr val="007020"/>
                </a:solidFill>
                <a:latin typeface="Consolas"/>
              </a:rPr>
              <a:t>protected</a:t>
            </a:r>
            <a:r>
              <a:rPr sz="900">
                <a:solidFill>
                  <a:srgbClr val="2D2D2D"/>
                </a:solidFill>
                <a:latin typeface="Consolas"/>
              </a:rPr>
              <a:t> </a:t>
            </a:r>
            <a:r>
              <a:rPr sz="900" b="1">
                <a:solidFill>
                  <a:srgbClr val="007020"/>
                </a:solidFill>
                <a:latin typeface="Consolas"/>
              </a:rPr>
              <a:t>static</a:t>
            </a:r>
            <a:r>
              <a:rPr sz="900">
                <a:solidFill>
                  <a:srgbClr val="2D2D2D"/>
                </a:solidFill>
                <a:latin typeface="Consolas"/>
              </a:rPr>
              <a:t> </a:t>
            </a:r>
            <a:r>
              <a:rPr sz="900">
                <a:solidFill>
                  <a:srgbClr val="007020"/>
                </a:solidFill>
                <a:latin typeface="Consolas"/>
              </a:rPr>
              <a:t>?</a:t>
            </a:r>
            <a:r>
              <a:rPr sz="900">
                <a:solidFill>
                  <a:srgbClr val="880000"/>
                </a:solidFill>
                <a:latin typeface="Consolas"/>
              </a:rPr>
              <a:t>S</a:t>
            </a:r>
            <a:r>
              <a:rPr sz="900">
                <a:solidFill>
                  <a:srgbClr val="2D2D2D"/>
                </a:solidFill>
                <a:latin typeface="Consolas"/>
              </a:rPr>
              <a:t>ynchronizationKeyGeneratorPluginInterface </a:t>
            </a:r>
            <a:r>
              <a:rPr sz="900">
                <a:solidFill>
                  <a:srgbClr val="19177C"/>
                </a:solidFill>
                <a:latin typeface="Consolas"/>
              </a:rPr>
              <a:t>$storageKeyBuilder</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b="1">
                <a:solidFill>
                  <a:srgbClr val="007020"/>
                </a:solidFill>
                <a:latin typeface="Consolas"/>
              </a:rPr>
              <a:t>null</a:t>
            </a:r>
            <a:r>
              <a:rPr sz="900">
                <a:solidFill>
                  <a:srgbClr val="007020"/>
                </a:solidFill>
                <a:latin typeface="Consolas"/>
              </a:rPr>
              <a:t>;</a:t>
            </a:r>
          </a:p>
          <a:p>
            <a:pPr>
              <a:spcBef>
                <a:spcPts val="800"/>
              </a:spcBef>
              <a:spcAft>
                <a:spcPts val="400"/>
              </a:spcAft>
              <a:defRPr sz="1700" b="1">
                <a:solidFill>
                  <a:srgbClr val="1A1A1A"/>
                </a:solidFill>
              </a:defRPr>
            </a:pPr>
            <a:r>
              <a:t>2.3 Implement findSupplierStorageData()</a:t>
            </a:r>
          </a:p>
          <a:p>
            <a:pPr>
              <a:spcAft>
                <a:spcPts val="800"/>
              </a:spcAft>
              <a:defRPr sz="1600">
                <a:solidFill>
                  <a:srgbClr val="1A1A1A"/>
                </a:solidFill>
              </a:defRPr>
            </a:pPr>
            <a:r>
              <a:t>This method fetches a single supplier by ID from Redis:</a:t>
            </a:r>
          </a:p>
          <a:p>
            <a:pPr>
              <a:spcAft>
                <a:spcPts val="400"/>
              </a:spcAft>
              <a:defRPr sz="1500">
                <a:solidFill>
                  <a:srgbClr val="1A1A1A"/>
                </a:solidFill>
              </a:defRPr>
            </a:pPr>
            <a:r>
              <a:t>• Generate the storage key using generateStorageKey()</a:t>
            </a:r>
          </a:p>
          <a:p>
            <a:pPr>
              <a:spcAft>
                <a:spcPts val="400"/>
              </a:spcAft>
              <a:defRPr sz="1500">
                <a:solidFill>
                  <a:srgbClr val="1A1A1A"/>
                </a:solidFill>
              </a:defRPr>
            </a:pPr>
            <a:r>
              <a:t>• Call $this-&gt;storageClient-&gt;get($key) to fetch from Redis</a:t>
            </a:r>
          </a:p>
          <a:p>
            <a:pPr>
              <a:spcAft>
                <a:spcPts val="400"/>
              </a:spcAft>
              <a:defRPr sz="1500">
                <a:solidFill>
                  <a:srgbClr val="1A1A1A"/>
                </a:solidFill>
              </a:defRPr>
            </a:pPr>
            <a:r>
              <a:t>• Return the data array or null if not found</a:t>
            </a:r>
          </a:p>
          <a:p>
            <a:pPr>
              <a:spcAft>
                <a:spcPts val="800"/>
              </a:spcAft>
              <a:defRPr sz="1400" i="1">
                <a:solidFill>
                  <a:srgbClr val="888888"/>
                </a:solidFill>
              </a:defRPr>
            </a:pPr>
            <a:r>
              <a:t>❝ Note: The StorageClient-&gt;get() method already performs json_decode automatically. The returned data is already a PHP array.</a:t>
            </a:r>
          </a:p>
          <a:p>
            <a:pPr>
              <a:spcBef>
                <a:spcPts val="800"/>
              </a:spcBef>
              <a:spcAft>
                <a:spcPts val="400"/>
              </a:spcAft>
              <a:defRPr sz="1700" b="1">
                <a:solidFill>
                  <a:srgbClr val="1A1A1A"/>
                </a:solidFill>
              </a:defRPr>
            </a:pPr>
            <a:r>
              <a:t>2.4 Implement getAllSuppliers()</a:t>
            </a:r>
          </a:p>
          <a:p>
            <a:pPr>
              <a:spcAft>
                <a:spcPts val="800"/>
              </a:spcAft>
              <a:defRPr sz="1600">
                <a:solidFill>
                  <a:srgbClr val="1A1A1A"/>
                </a:solidFill>
              </a:defRPr>
            </a:pPr>
            <a:r>
              <a:t>This method returns all suppliers from Redis (useful for dropdowns):</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2: Implement the Storage Reader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400"/>
              </a:spcAft>
              <a:defRPr sz="1500">
                <a:solidFill>
                  <a:srgbClr val="1A1A1A"/>
                </a:solidFill>
              </a:defRPr>
            </a:pPr>
            <a:r>
              <a:t>• Generate a pattern using generateStorageKeyPattern() (use * as wildcard)</a:t>
            </a:r>
          </a:p>
          <a:p>
            <a:pPr>
              <a:spcAft>
                <a:spcPts val="400"/>
              </a:spcAft>
              <a:defRPr sz="1500">
                <a:solidFill>
                  <a:srgbClr val="1A1A1A"/>
                </a:solidFill>
              </a:defRPr>
            </a:pPr>
            <a:r>
              <a:t>• Get all matching keys using $this-&gt;storageClient-&gt;getKeys($pattern)</a:t>
            </a:r>
          </a:p>
          <a:p>
            <a:pPr>
              <a:spcAft>
                <a:spcPts val="400"/>
              </a:spcAft>
              <a:defRPr sz="1500">
                <a:solidFill>
                  <a:srgbClr val="1A1A1A"/>
                </a:solidFill>
              </a:defRPr>
            </a:pPr>
            <a:r>
              <a:t>• Fetch data for each key and filter out nulls</a:t>
            </a:r>
          </a:p>
          <a:p>
            <a:pPr>
              <a:spcAft>
                <a:spcPts val="800"/>
              </a:spcAft>
              <a:defRPr sz="1400" i="1">
                <a:solidFill>
                  <a:srgbClr val="888888"/>
                </a:solidFill>
              </a:defRPr>
            </a:pPr>
            <a:r>
              <a:t>❝ Redis Pattern: The buildKey('*') generates a pattern like supplier:* which matches all supplier keys.</a:t>
            </a:r>
          </a:p>
          <a:p>
            <a:pPr>
              <a:spcBef>
                <a:spcPts val="800"/>
              </a:spcBef>
              <a:spcAft>
                <a:spcPts val="400"/>
              </a:spcAft>
              <a:defRPr sz="1700" b="1">
                <a:solidFill>
                  <a:srgbClr val="1A1A1A"/>
                </a:solidFill>
              </a:defRPr>
            </a:pPr>
            <a:r>
              <a:t>2.5 Add Helper Methods</a:t>
            </a:r>
          </a:p>
          <a:p>
            <a:pPr>
              <a:spcAft>
                <a:spcPts val="800"/>
              </a:spcAft>
              <a:defRPr sz="1600">
                <a:solidFill>
                  <a:srgbClr val="1A1A1A"/>
                </a:solidFill>
              </a:defRPr>
            </a:pPr>
            <a:r>
              <a:t>Implement the helper methods for clean code:</a:t>
            </a:r>
          </a:p>
          <a:p>
            <a:pPr>
              <a:spcAft>
                <a:spcPts val="400"/>
              </a:spcAft>
              <a:defRPr sz="1500">
                <a:solidFill>
                  <a:srgbClr val="1A1A1A"/>
                </a:solidFill>
              </a:defRPr>
            </a:pPr>
            <a:r>
              <a:t>• generateStorageKey(int $idSupplier): string — Uses SynchronizationDataTransfer to generate a single key</a:t>
            </a:r>
          </a:p>
          <a:p>
            <a:pPr>
              <a:spcAft>
                <a:spcPts val="400"/>
              </a:spcAft>
              <a:defRPr sz="1500">
                <a:solidFill>
                  <a:srgbClr val="1A1A1A"/>
                </a:solidFill>
              </a:defRPr>
            </a:pPr>
            <a:r>
              <a:t>• generateStorageKeyPattern(): string — Uses SynchronizationDataTransfer with wildcard reference</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2: Implement the Storage Reader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400"/>
              </a:spcAft>
              <a:defRPr sz="1500">
                <a:solidFill>
                  <a:srgbClr val="1A1A1A"/>
                </a:solidFill>
              </a:defRPr>
            </a:pPr>
            <a:r>
              <a:t>• getStorageKeyBuilder(): SynchronizationKeyGeneratorPluginInterface — Returns cached key builder (creates if null)</a:t>
            </a:r>
          </a:p>
          <a:p>
            <a:pPr>
              <a:spcAft>
                <a:spcPts val="400"/>
              </a:spcAft>
              <a:defRPr sz="1500">
                <a:solidFill>
                  <a:srgbClr val="1A1A1A"/>
                </a:solidFill>
              </a:defRPr>
            </a:pPr>
            <a:r>
              <a:t>• getDataByKey(string $key): ?array — Fetches and returns data for a single key</a:t>
            </a:r>
          </a:p>
          <a:p>
            <a:pPr>
              <a:spcAft>
                <a:spcPts val="800"/>
              </a:spcAft>
              <a:defRPr sz="1400" i="1">
                <a:solidFill>
                  <a:srgbClr val="888888"/>
                </a:solidFill>
              </a:defRPr>
            </a:pPr>
            <a:r>
              <a:t>❝ SynchronizationDataTransfer: This transfer object is used by the key builder. Set the reference (ID) and optionally parameters: $synchronizationDataTransfer = ( new S ynchronizationDataTransfer()) -&gt;setReference( (string) $idSupplier ) ; $key = $this -&gt;getStorageKeyBuilder()-&gt;generateKey( $synchronizationDataTransfer ) ;</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3: Wire the Dependencies</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800"/>
              </a:spcBef>
              <a:spcAft>
                <a:spcPts val="400"/>
              </a:spcAft>
              <a:defRPr sz="1700" b="1">
                <a:solidFill>
                  <a:srgbClr val="1A1A1A"/>
                </a:solidFill>
              </a:defRPr>
            </a:pPr>
            <a:r>
              <a:t>3.1 DependencyProvider</a:t>
            </a:r>
          </a:p>
          <a:p>
            <a:pPr>
              <a:spcAft>
                <a:spcPts val="800"/>
              </a:spcAft>
              <a:defRPr sz="1600">
                <a:solidFill>
                  <a:srgbClr val="1A1A1A"/>
                </a:solidFill>
              </a:defRPr>
            </a:pPr>
            <a:r>
              <a:t>Open src/SprykerAcademy/Client/SupplierStorage/SupplierStorageDependencyProvider.php :</a:t>
            </a:r>
          </a:p>
          <a:p>
            <a:pPr>
              <a:spcAft>
                <a:spcPts val="800"/>
              </a:spcAft>
              <a:defRPr sz="1600">
                <a:solidFill>
                  <a:srgbClr val="1A1A1A"/>
                </a:solidFill>
              </a:defRPr>
            </a:pPr>
            <a:r>
              <a:t>Implement the two provider methods:</a:t>
            </a:r>
          </a:p>
          <a:p>
            <a:pPr>
              <a:spcAft>
                <a:spcPts val="400"/>
              </a:spcAft>
              <a:defRPr sz="1500">
                <a:solidFill>
                  <a:srgbClr val="1A1A1A"/>
                </a:solidFill>
              </a:defRPr>
            </a:pPr>
            <a:r>
              <a:t>• addStorageClient() — Uses $container-&gt;set() with CLIENT_STORAGE constant and locator: $container-&gt;getLocator()-&gt;storage()-&gt;client()</a:t>
            </a:r>
          </a:p>
          <a:p>
            <a:pPr>
              <a:spcAft>
                <a:spcPts val="400"/>
              </a:spcAft>
              <a:defRPr sz="1500">
                <a:solidFill>
                  <a:srgbClr val="1A1A1A"/>
                </a:solidFill>
              </a:defRPr>
            </a:pPr>
            <a:r>
              <a:t>• addSynchronizationService() — Uses $container-&gt;set() with SERVICE_SYNCHRONIZATION constant and locator: $container-&gt;getLocator()-&gt;synchronization()-&gt;service()</a:t>
            </a:r>
          </a:p>
          <a:p>
            <a:pPr>
              <a:spcAft>
                <a:spcPts val="800"/>
              </a:spcAft>
              <a:defRPr sz="1600">
                <a:solidFill>
                  <a:srgbClr val="1A1A1A"/>
                </a:solidFill>
              </a:defRPr>
            </a:pPr>
            <a:r>
              <a:t>Call both methods in provideServiceLayerDependencies() .</a:t>
            </a:r>
          </a:p>
          <a:p>
            <a:pPr>
              <a:spcAft>
                <a:spcPts val="800"/>
              </a:spcAft>
              <a:defRPr sz="1400" i="1">
                <a:solidFill>
                  <a:srgbClr val="888888"/>
                </a:solidFill>
              </a:defRPr>
            </a:pPr>
            <a:r>
              <a:t>❝ Client layer difference: The method is provideServiceLayerDependencies() (not Business like in Zed).</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3: Wire the Dependencies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800"/>
              </a:spcBef>
              <a:spcAft>
                <a:spcPts val="400"/>
              </a:spcAft>
              <a:defRPr sz="1700" b="1">
                <a:solidFill>
                  <a:srgbClr val="1A1A1A"/>
                </a:solidFill>
              </a:defRPr>
            </a:pPr>
            <a:r>
              <a:t>3.2 Factory</a:t>
            </a:r>
          </a:p>
          <a:p>
            <a:pPr>
              <a:spcAft>
                <a:spcPts val="800"/>
              </a:spcAft>
              <a:defRPr sz="1600">
                <a:solidFill>
                  <a:srgbClr val="1A1A1A"/>
                </a:solidFill>
              </a:defRPr>
            </a:pPr>
            <a:r>
              <a:t>Open src/SprykerAcademy/Client/SupplierStorage/SupplierStorageFactory.php :</a:t>
            </a:r>
          </a:p>
          <a:p>
            <a:pPr>
              <a:spcAft>
                <a:spcPts val="400"/>
              </a:spcAft>
              <a:defRPr sz="1500">
                <a:solidFill>
                  <a:srgbClr val="1A1A1A"/>
                </a:solidFill>
              </a:defRPr>
            </a:pPr>
            <a:r>
              <a:t>• Implement getStorageClient() — Returns the StorageClient using getProvidedDependency()</a:t>
            </a:r>
          </a:p>
          <a:p>
            <a:pPr>
              <a:spcAft>
                <a:spcPts val="400"/>
              </a:spcAft>
              <a:defRPr sz="1500">
                <a:solidFill>
                  <a:srgbClr val="1A1A1A"/>
                </a:solidFill>
              </a:defRPr>
            </a:pPr>
            <a:r>
              <a:t>• Implement getSynchronizationService() — Returns the SynchronizationService using getProvidedDependency()</a:t>
            </a:r>
          </a:p>
          <a:p>
            <a:pPr>
              <a:spcAft>
                <a:spcPts val="400"/>
              </a:spcAft>
              <a:defRPr sz="1500">
                <a:solidFill>
                  <a:srgbClr val="1A1A1A"/>
                </a:solidFill>
              </a:defRPr>
            </a:pPr>
            <a:r>
              <a:t>• Implement createSupplierStorageReader() — Instantiates SupplierStorageReader passing both dependencies</a:t>
            </a:r>
          </a:p>
          <a:p>
            <a:pPr>
              <a:spcAft>
                <a:spcPts val="800"/>
              </a:spcAft>
              <a:defRPr sz="1400" i="1">
                <a:solidFill>
                  <a:srgbClr val="888888"/>
                </a:solidFill>
              </a:defRPr>
            </a:pPr>
            <a:r>
              <a:t>❝ Naming convention: get*() for dependencies, create*() for new object instantiation.</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4: Implement the Client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The Client is the public API that other modules use.</a:t>
            </a:r>
          </a:p>
          <a:p>
            <a:pPr>
              <a:spcAft>
                <a:spcPts val="800"/>
              </a:spcAft>
              <a:defRPr sz="1600">
                <a:solidFill>
                  <a:srgbClr val="1A1A1A"/>
                </a:solidFill>
              </a:defRPr>
            </a:pPr>
            <a:r>
              <a:t>Coding time:</a:t>
            </a:r>
          </a:p>
          <a:p>
            <a:pPr>
              <a:spcAft>
                <a:spcPts val="800"/>
              </a:spcAft>
              <a:defRPr sz="1600">
                <a:solidFill>
                  <a:srgbClr val="1A1A1A"/>
                </a:solidFill>
              </a:defRPr>
            </a:pPr>
            <a:r>
              <a:t>Open src/SprykerAcademy/Client/SupplierStorage/SupplierStorageClient.php :</a:t>
            </a:r>
          </a:p>
          <a:p>
            <a:pPr>
              <a:spcAft>
                <a:spcPts val="800"/>
              </a:spcAft>
              <a:defRPr sz="1600">
                <a:solidFill>
                  <a:srgbClr val="1A1A1A"/>
                </a:solidFill>
              </a:defRPr>
            </a:pPr>
            <a:r>
              <a:t>Implement the two methods:</a:t>
            </a:r>
          </a:p>
          <a:p>
            <a:pPr>
              <a:spcAft>
                <a:spcPts val="400"/>
              </a:spcAft>
              <a:defRPr sz="1500">
                <a:solidFill>
                  <a:srgbClr val="1A1A1A"/>
                </a:solidFill>
              </a:defRPr>
            </a:pPr>
            <a:r>
              <a:t>• findSupplierById(int $idSupplier): ?SupplierTransfer Get the reader from the factory Call findSupplierStorageData() If data exists, create a SupplierTransfer and call fromArray() Return the transfer or null</a:t>
            </a:r>
          </a:p>
          <a:p>
            <a:pPr>
              <a:spcAft>
                <a:spcPts val="400"/>
              </a:spcAft>
              <a:defRPr sz="1500">
                <a:solidFill>
                  <a:srgbClr val="1A1A1A"/>
                </a:solidFill>
              </a:defRPr>
            </a:pPr>
            <a:r>
              <a:t>• getAllSuppliers(): SupplierCollectionTransfer Get the reader from the factory Call getAllSuppliers() to get array of arrays Map each array to a SupplierTransfer using fromArray() Create a SupplierCollectionTransfer , set the suppliers using setSuppliers() Return the collection</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4: Implement the Client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400" i="1">
                <a:solidFill>
                  <a:srgbClr val="888888"/>
                </a:solidFill>
              </a:defRPr>
            </a:pPr>
            <a:r>
              <a:t>❝ Transfer hydration: The fromArray() method automatically maps array keys to transfer properties. Ensure the array keys match the transfer property names.</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Testing the Storage Client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1200"/>
              </a:spcBef>
              <a:spcAft>
                <a:spcPts val="600"/>
              </a:spcAft>
              <a:defRPr sz="2000" b="1">
                <a:solidFill>
                  <a:srgbClr val="1A1A1A"/>
                </a:solidFill>
              </a:defRPr>
            </a:pPr>
            <a:r>
              <a:t>Verify Data Exists in Redis</a:t>
            </a:r>
          </a:p>
          <a:p>
            <a:pPr>
              <a:spcAft>
                <a:spcPts val="800"/>
              </a:spcAft>
              <a:defRPr sz="1600">
                <a:solidFill>
                  <a:srgbClr val="1A1A1A"/>
                </a:solidFill>
              </a:defRPr>
            </a:pPr>
            <a:r>
              <a:t>First, ensure suppliers are synchronized to Redis (from the P&amp;S exercise):</a:t>
            </a:r>
          </a:p>
          <a:p>
            <a:pPr>
              <a:spcBef>
                <a:spcPts val="0"/>
              </a:spcBef>
              <a:spcAft>
                <a:spcPts val="0"/>
              </a:spcAft>
            </a:pPr>
            <a:r>
              <a:rPr sz="900" i="1">
                <a:solidFill>
                  <a:srgbClr val="60A0B0"/>
                </a:solidFill>
                <a:latin typeface="Consolas"/>
              </a:rPr>
              <a:t># Check if data exists in the storage table</a:t>
            </a:r>
          </a:p>
          <a:p>
            <a:pPr>
              <a:spcBef>
                <a:spcPts val="0"/>
              </a:spcBef>
              <a:spcAft>
                <a:spcPts val="0"/>
              </a:spcAft>
            </a:pPr>
            <a:r>
              <a:rPr sz="900">
                <a:solidFill>
                  <a:srgbClr val="2D2D2D"/>
                </a:solidFill>
                <a:latin typeface="Consolas"/>
              </a:rPr>
              <a:t>docker/sdk</a:t>
            </a:r>
            <a:r>
              <a:rPr sz="900">
                <a:solidFill>
                  <a:srgbClr val="2D2D2D"/>
                </a:solidFill>
                <a:latin typeface="Consolas"/>
              </a:rPr>
              <a:t> cli</a:t>
            </a:r>
          </a:p>
          <a:p>
            <a:pPr>
              <a:spcBef>
                <a:spcPts val="0"/>
              </a:spcBef>
              <a:spcAft>
                <a:spcPts val="0"/>
              </a:spcAft>
            </a:pPr>
            <a:r>
              <a:rPr sz="900">
                <a:solidFill>
                  <a:srgbClr val="2D2D2D"/>
                </a:solidFill>
                <a:latin typeface="Consolas"/>
              </a:rPr>
              <a:t>mysql</a:t>
            </a:r>
            <a:r>
              <a:rPr sz="900">
                <a:solidFill>
                  <a:srgbClr val="2D2D2D"/>
                </a:solidFill>
                <a:latin typeface="Consolas"/>
              </a:rPr>
              <a:t> </a:t>
            </a:r>
            <a:r>
              <a:rPr sz="900">
                <a:solidFill>
                  <a:srgbClr val="2D2D2D"/>
                </a:solidFill>
                <a:latin typeface="Consolas"/>
              </a:rPr>
              <a:t>-h</a:t>
            </a:r>
            <a:r>
              <a:rPr sz="900">
                <a:solidFill>
                  <a:srgbClr val="2D2D2D"/>
                </a:solidFill>
                <a:latin typeface="Consolas"/>
              </a:rPr>
              <a:t> database </a:t>
            </a:r>
            <a:r>
              <a:rPr sz="900">
                <a:solidFill>
                  <a:srgbClr val="2D2D2D"/>
                </a:solidFill>
                <a:latin typeface="Consolas"/>
              </a:rPr>
              <a:t>-u</a:t>
            </a:r>
            <a:r>
              <a:rPr sz="900">
                <a:solidFill>
                  <a:srgbClr val="2D2D2D"/>
                </a:solidFill>
                <a:latin typeface="Consolas"/>
              </a:rPr>
              <a:t> spryker </a:t>
            </a:r>
            <a:r>
              <a:rPr sz="900">
                <a:solidFill>
                  <a:srgbClr val="2D2D2D"/>
                </a:solidFill>
                <a:latin typeface="Consolas"/>
              </a:rPr>
              <a:t>-psecret</a:t>
            </a:r>
            <a:r>
              <a:rPr sz="900">
                <a:solidFill>
                  <a:srgbClr val="2D2D2D"/>
                </a:solidFill>
                <a:latin typeface="Consolas"/>
              </a:rPr>
              <a:t> eu-docker </a:t>
            </a:r>
            <a:r>
              <a:rPr sz="900">
                <a:solidFill>
                  <a:srgbClr val="2D2D2D"/>
                </a:solidFill>
                <a:latin typeface="Consolas"/>
              </a:rPr>
              <a:t>-e</a:t>
            </a:r>
            <a:r>
              <a:rPr sz="900">
                <a:solidFill>
                  <a:srgbClr val="2D2D2D"/>
                </a:solidFill>
                <a:latin typeface="Consolas"/>
              </a:rPr>
              <a:t> </a:t>
            </a:r>
            <a:r>
              <a:rPr sz="900">
                <a:solidFill>
                  <a:srgbClr val="4070A0"/>
                </a:solidFill>
                <a:latin typeface="Consolas"/>
              </a:rPr>
              <a:t>"SELECT COUNT(*) FROM pyz_supplier_storage;"</a:t>
            </a:r>
          </a:p>
          <a:p>
            <a:pPr>
              <a:spcBef>
                <a:spcPts val="0"/>
              </a:spcBef>
              <a:spcAft>
                <a:spcPts val="0"/>
              </a:spcAft>
            </a:pPr>
            <a:r>
              <a:rPr sz="900">
                <a:latin typeface="Consolas"/>
              </a:rPr>
              <a:t> </a:t>
            </a:r>
          </a:p>
          <a:p>
            <a:pPr>
              <a:spcBef>
                <a:spcPts val="0"/>
              </a:spcBef>
              <a:spcAft>
                <a:spcPts val="0"/>
              </a:spcAft>
            </a:pPr>
            <a:r>
              <a:rPr sz="900" i="1">
                <a:solidFill>
                  <a:srgbClr val="60A0B0"/>
                </a:solidFill>
                <a:latin typeface="Consolas"/>
              </a:rPr>
              <a:t># If empty, republish the suppliers and process the queues</a:t>
            </a:r>
          </a:p>
          <a:p>
            <a:pPr>
              <a:spcBef>
                <a:spcPts val="0"/>
              </a:spcBef>
              <a:spcAft>
                <a:spcPts val="0"/>
              </a:spcAft>
            </a:pPr>
            <a:r>
              <a:rPr sz="900">
                <a:solidFill>
                  <a:srgbClr val="2D2D2D"/>
                </a:solidFill>
                <a:latin typeface="Consolas"/>
              </a:rPr>
              <a:t>docker/sdk</a:t>
            </a:r>
            <a:r>
              <a:rPr sz="900">
                <a:solidFill>
                  <a:srgbClr val="2D2D2D"/>
                </a:solidFill>
                <a:latin typeface="Consolas"/>
              </a:rPr>
              <a:t> console publish:trigger-events </a:t>
            </a:r>
            <a:r>
              <a:rPr sz="900">
                <a:solidFill>
                  <a:srgbClr val="2D2D2D"/>
                </a:solidFill>
                <a:latin typeface="Consolas"/>
              </a:rPr>
              <a:t>-r</a:t>
            </a:r>
            <a:r>
              <a:rPr sz="900">
                <a:solidFill>
                  <a:srgbClr val="2D2D2D"/>
                </a:solidFill>
                <a:latin typeface="Consolas"/>
              </a:rPr>
              <a:t> supplier</a:t>
            </a:r>
          </a:p>
          <a:p>
            <a:pPr>
              <a:spcBef>
                <a:spcPts val="0"/>
              </a:spcBef>
              <a:spcAft>
                <a:spcPts val="0"/>
              </a:spcAft>
            </a:pPr>
            <a:r>
              <a:rPr sz="900">
                <a:solidFill>
                  <a:srgbClr val="2D2D2D"/>
                </a:solidFill>
                <a:latin typeface="Consolas"/>
              </a:rPr>
              <a:t>docker/sdk</a:t>
            </a:r>
            <a:r>
              <a:rPr sz="900">
                <a:solidFill>
                  <a:srgbClr val="2D2D2D"/>
                </a:solidFill>
                <a:latin typeface="Consolas"/>
              </a:rPr>
              <a:t> console queue:worker:start </a:t>
            </a:r>
            <a:r>
              <a:rPr sz="900">
                <a:solidFill>
                  <a:srgbClr val="2D2D2D"/>
                </a:solidFill>
                <a:latin typeface="Consolas"/>
              </a:rPr>
              <a:t>--stop-when-empty</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Test via Debug Console</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A short script that boots the client layer and calls your client:</a:t>
            </a:r>
          </a:p>
          <a:p>
            <a:pPr>
              <a:spcBef>
                <a:spcPts val="0"/>
              </a:spcBef>
              <a:spcAft>
                <a:spcPts val="0"/>
              </a:spcAft>
            </a:pPr>
            <a:r>
              <a:rPr sz="900">
                <a:solidFill>
                  <a:srgbClr val="2D2D2D"/>
                </a:solidFill>
                <a:latin typeface="Consolas"/>
              </a:rPr>
              <a:t>docker/sdk</a:t>
            </a:r>
            <a:r>
              <a:rPr sz="900">
                <a:solidFill>
                  <a:srgbClr val="2D2D2D"/>
                </a:solidFill>
                <a:latin typeface="Consolas"/>
              </a:rPr>
              <a:t> cli php </a:t>
            </a:r>
            <a:r>
              <a:rPr sz="900">
                <a:solidFill>
                  <a:srgbClr val="2D2D2D"/>
                </a:solidFill>
                <a:latin typeface="Consolas"/>
              </a:rPr>
              <a:t>-r</a:t>
            </a:r>
            <a:r>
              <a:rPr sz="900">
                <a:solidFill>
                  <a:srgbClr val="2D2D2D"/>
                </a:solidFill>
                <a:latin typeface="Consolas"/>
              </a:rPr>
              <a:t> </a:t>
            </a:r>
            <a:r>
              <a:rPr sz="900">
                <a:solidFill>
                  <a:srgbClr val="4070A0"/>
                </a:solidFill>
                <a:latin typeface="Consolas"/>
              </a:rPr>
              <a:t>'</a:t>
            </a:r>
          </a:p>
          <a:p>
            <a:pPr>
              <a:spcBef>
                <a:spcPts val="0"/>
              </a:spcBef>
              <a:spcAft>
                <a:spcPts val="0"/>
              </a:spcAft>
            </a:pPr>
            <a:r>
              <a:rPr sz="900">
                <a:solidFill>
                  <a:srgbClr val="4070A0"/>
                </a:solidFill>
                <a:latin typeface="Consolas"/>
              </a:rPr>
              <a:t>define("APPLICATION", "YVES");</a:t>
            </a:r>
          </a:p>
          <a:p>
            <a:pPr>
              <a:spcBef>
                <a:spcPts val="0"/>
              </a:spcBef>
              <a:spcAft>
                <a:spcPts val="0"/>
              </a:spcAft>
            </a:pPr>
            <a:r>
              <a:rPr sz="900">
                <a:solidFill>
                  <a:srgbClr val="4070A0"/>
                </a:solidFill>
                <a:latin typeface="Consolas"/>
              </a:rPr>
              <a:t>define("APPLICATION_ROOT_DIR", "/data");</a:t>
            </a:r>
          </a:p>
          <a:p>
            <a:pPr>
              <a:spcBef>
                <a:spcPts val="0"/>
              </a:spcBef>
              <a:spcAft>
                <a:spcPts val="0"/>
              </a:spcAft>
            </a:pPr>
            <a:r>
              <a:rPr sz="900">
                <a:solidFill>
                  <a:srgbClr val="4070A0"/>
                </a:solidFill>
                <a:latin typeface="Consolas"/>
              </a:rPr>
              <a:t>require "vendor/autoload.php";</a:t>
            </a:r>
          </a:p>
          <a:p>
            <a:pPr>
              <a:spcBef>
                <a:spcPts val="0"/>
              </a:spcBef>
              <a:spcAft>
                <a:spcPts val="0"/>
              </a:spcAft>
            </a:pPr>
            <a:r>
              <a:rPr sz="900">
                <a:solidFill>
                  <a:srgbClr val="4070A0"/>
                </a:solidFill>
                <a:latin typeface="Consolas"/>
              </a:rPr>
              <a:t>Spryker\Shared\Config\Application\Environment::initialize();</a:t>
            </a:r>
          </a:p>
          <a:p>
            <a:pPr>
              <a:spcBef>
                <a:spcPts val="0"/>
              </a:spcBef>
              <a:spcAft>
                <a:spcPts val="0"/>
              </a:spcAft>
            </a:pPr>
            <a:r>
              <a:rPr sz="900">
                <a:solidFill>
                  <a:srgbClr val="4070A0"/>
                </a:solidFill>
                <a:latin typeface="Consolas"/>
              </a:rPr>
              <a:t>$client = new SprykerAcademy\Client\SupplierStorage\SupplierStorageClient();</a:t>
            </a:r>
          </a:p>
          <a:p>
            <a:pPr>
              <a:spcBef>
                <a:spcPts val="0"/>
              </a:spcBef>
              <a:spcAft>
                <a:spcPts val="0"/>
              </a:spcAft>
            </a:pPr>
            <a:r>
              <a:rPr sz="900">
                <a:solidFill>
                  <a:srgbClr val="4070A0"/>
                </a:solidFill>
                <a:latin typeface="Consolas"/>
              </a:rPr>
              <a:t>var_dump($client-&gt;findSupplierById(1)?-&gt;toArray());</a:t>
            </a:r>
          </a:p>
          <a:p>
            <a:pPr>
              <a:spcBef>
                <a:spcPts val="0"/>
              </a:spcBef>
              <a:spcAft>
                <a:spcPts val="0"/>
              </a:spcAft>
            </a:pPr>
            <a:r>
              <a:rPr sz="900">
                <a:solidFill>
                  <a:srgbClr val="4070A0"/>
                </a:solidFill>
                <a:latin typeface="Consolas"/>
              </a:rPr>
              <a:t>echo $client-&gt;getAllSuppliers()-&gt;getSuppliers()-&gt;count(), " suppliers in storage", PHP_EOL;</a:t>
            </a:r>
          </a:p>
          <a:p>
            <a:pPr>
              <a:spcBef>
                <a:spcPts val="0"/>
              </a:spcBef>
              <a:spcAft>
                <a:spcPts val="0"/>
              </a:spcAft>
            </a:pPr>
            <a:r>
              <a:rPr sz="900">
                <a:solidFill>
                  <a:srgbClr val="4070A0"/>
                </a:solidFill>
                <a:latin typeface="Consolas"/>
              </a:rPr>
              <a:t>'</a:t>
            </a:r>
          </a:p>
          <a:p>
            <a:pPr>
              <a:spcAft>
                <a:spcPts val="800"/>
              </a:spcAft>
              <a:defRPr sz="1600">
                <a:solidFill>
                  <a:srgbClr val="1A1A1A"/>
                </a:solidFill>
              </a:defRPr>
            </a:pPr>
            <a:r>
              <a:t>Use an id_supplier that exists in pyz_supplier .</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Expected Data Format in Redis</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The demo shop keeps the key-value storage in Redis database 1, and the storage client adds the prefix kv: to every key:</a:t>
            </a:r>
          </a:p>
          <a:p>
            <a:pPr>
              <a:spcBef>
                <a:spcPts val="0"/>
              </a:spcBef>
              <a:spcAft>
                <a:spcPts val="0"/>
              </a:spcAft>
            </a:pPr>
            <a:r>
              <a:rPr sz="900">
                <a:solidFill>
                  <a:srgbClr val="2D2D2D"/>
                </a:solidFill>
                <a:latin typeface="Consolas"/>
              </a:rPr>
              <a:t>docker/sdk</a:t>
            </a:r>
            <a:r>
              <a:rPr sz="900">
                <a:solidFill>
                  <a:srgbClr val="2D2D2D"/>
                </a:solidFill>
                <a:latin typeface="Consolas"/>
              </a:rPr>
              <a:t> cli redis-cli </a:t>
            </a:r>
            <a:r>
              <a:rPr sz="900">
                <a:solidFill>
                  <a:srgbClr val="2D2D2D"/>
                </a:solidFill>
                <a:latin typeface="Consolas"/>
              </a:rPr>
              <a:t>-h</a:t>
            </a:r>
            <a:r>
              <a:rPr sz="900">
                <a:solidFill>
                  <a:srgbClr val="2D2D2D"/>
                </a:solidFill>
                <a:latin typeface="Consolas"/>
              </a:rPr>
              <a:t> key_value_store </a:t>
            </a:r>
            <a:r>
              <a:rPr sz="900">
                <a:solidFill>
                  <a:srgbClr val="2D2D2D"/>
                </a:solidFill>
                <a:latin typeface="Consolas"/>
              </a:rPr>
              <a:t>-n</a:t>
            </a:r>
            <a:r>
              <a:rPr sz="900">
                <a:solidFill>
                  <a:srgbClr val="2D2D2D"/>
                </a:solidFill>
                <a:latin typeface="Consolas"/>
              </a:rPr>
              <a:t> 1 GET kv:supplier:1</a:t>
            </a:r>
          </a:p>
          <a:p>
            <a:pPr>
              <a:spcAft>
                <a:spcPts val="800"/>
              </a:spcAft>
              <a:defRPr sz="1600">
                <a:solidFill>
                  <a:srgbClr val="1A1A1A"/>
                </a:solidFill>
              </a:defRPr>
            </a:pPr>
            <a:r>
              <a:t>Expected response (JSON):</a:t>
            </a:r>
          </a:p>
          <a:p>
            <a:pPr>
              <a:spcBef>
                <a:spcPts val="0"/>
              </a:spcBef>
              <a:spcAft>
                <a:spcPts val="0"/>
              </a:spcAft>
            </a:pPr>
            <a:r>
              <a:rPr sz="900">
                <a:solidFill>
                  <a:srgbClr val="06287E"/>
                </a:solidFill>
                <a:latin typeface="Consolas"/>
              </a:rPr>
              <a:t>{</a:t>
            </a:r>
          </a:p>
          <a:p>
            <a:pPr>
              <a:spcBef>
                <a:spcPts val="0"/>
              </a:spcBef>
              <a:spcAft>
                <a:spcPts val="0"/>
              </a:spcAft>
            </a:pPr>
            <a:r>
              <a:rPr sz="900">
                <a:solidFill>
                  <a:srgbClr val="2D2D2D"/>
                </a:solidFill>
                <a:latin typeface="Consolas"/>
              </a:rPr>
              <a:t>  </a:t>
            </a:r>
            <a:r>
              <a:rPr sz="900">
                <a:solidFill>
                  <a:srgbClr val="902000"/>
                </a:solidFill>
                <a:latin typeface="Consolas"/>
              </a:rPr>
              <a:t>"id_supplier"</a:t>
            </a:r>
            <a:r>
              <a:rPr sz="900">
                <a:solidFill>
                  <a:srgbClr val="06287E"/>
                </a:solidFill>
                <a:latin typeface="Consolas"/>
              </a:rPr>
              <a:t>:</a:t>
            </a:r>
            <a:r>
              <a:rPr sz="900">
                <a:solidFill>
                  <a:srgbClr val="2D2D2D"/>
                </a:solidFill>
                <a:latin typeface="Consolas"/>
              </a:rPr>
              <a:t> </a:t>
            </a:r>
            <a:r>
              <a:rPr sz="900">
                <a:solidFill>
                  <a:srgbClr val="40A070"/>
                </a:solidFill>
                <a:latin typeface="Consolas"/>
              </a:rPr>
              <a:t>1</a:t>
            </a:r>
            <a:r>
              <a:rPr sz="900">
                <a:solidFill>
                  <a:srgbClr val="06287E"/>
                </a:solidFill>
                <a:latin typeface="Consolas"/>
              </a:rPr>
              <a:t>,</a:t>
            </a:r>
          </a:p>
          <a:p>
            <a:pPr>
              <a:spcBef>
                <a:spcPts val="0"/>
              </a:spcBef>
              <a:spcAft>
                <a:spcPts val="0"/>
              </a:spcAft>
            </a:pPr>
            <a:r>
              <a:rPr sz="900">
                <a:solidFill>
                  <a:srgbClr val="2D2D2D"/>
                </a:solidFill>
                <a:latin typeface="Consolas"/>
              </a:rPr>
              <a:t>  </a:t>
            </a:r>
            <a:r>
              <a:rPr sz="900">
                <a:solidFill>
                  <a:srgbClr val="902000"/>
                </a:solidFill>
                <a:latin typeface="Consolas"/>
              </a:rPr>
              <a:t>"name"</a:t>
            </a:r>
            <a:r>
              <a:rPr sz="900">
                <a:solidFill>
                  <a:srgbClr val="06287E"/>
                </a:solidFill>
                <a:latin typeface="Consolas"/>
              </a:rPr>
              <a:t>:</a:t>
            </a:r>
            <a:r>
              <a:rPr sz="900">
                <a:solidFill>
                  <a:srgbClr val="2D2D2D"/>
                </a:solidFill>
                <a:latin typeface="Consolas"/>
              </a:rPr>
              <a:t> </a:t>
            </a:r>
            <a:r>
              <a:rPr sz="900">
                <a:solidFill>
                  <a:srgbClr val="4070A0"/>
                </a:solidFill>
                <a:latin typeface="Consolas"/>
              </a:rPr>
              <a:t>"Acme Supplies"</a:t>
            </a:r>
            <a:r>
              <a:rPr sz="900">
                <a:solidFill>
                  <a:srgbClr val="06287E"/>
                </a:solidFill>
                <a:latin typeface="Consolas"/>
              </a:rPr>
              <a:t>,</a:t>
            </a:r>
          </a:p>
          <a:p>
            <a:pPr>
              <a:spcBef>
                <a:spcPts val="0"/>
              </a:spcBef>
              <a:spcAft>
                <a:spcPts val="0"/>
              </a:spcAft>
            </a:pPr>
            <a:r>
              <a:rPr sz="900">
                <a:solidFill>
                  <a:srgbClr val="2D2D2D"/>
                </a:solidFill>
                <a:latin typeface="Consolas"/>
              </a:rPr>
              <a:t>  </a:t>
            </a:r>
            <a:r>
              <a:rPr sz="900">
                <a:solidFill>
                  <a:srgbClr val="902000"/>
                </a:solidFill>
                <a:latin typeface="Consolas"/>
              </a:rPr>
              <a:t>"description"</a:t>
            </a:r>
            <a:r>
              <a:rPr sz="900">
                <a:solidFill>
                  <a:srgbClr val="06287E"/>
                </a:solidFill>
                <a:latin typeface="Consolas"/>
              </a:rPr>
              <a:t>:</a:t>
            </a:r>
            <a:r>
              <a:rPr sz="900">
                <a:solidFill>
                  <a:srgbClr val="2D2D2D"/>
                </a:solidFill>
                <a:latin typeface="Consolas"/>
              </a:rPr>
              <a:t> </a:t>
            </a:r>
            <a:r>
              <a:rPr sz="900">
                <a:solidFill>
                  <a:srgbClr val="4070A0"/>
                </a:solidFill>
                <a:latin typeface="Consolas"/>
              </a:rPr>
              <a:t>"leading supplier of industrial equipment"</a:t>
            </a:r>
            <a:r>
              <a:rPr sz="900">
                <a:solidFill>
                  <a:srgbClr val="06287E"/>
                </a:solidFill>
                <a:latin typeface="Consolas"/>
              </a:rPr>
              <a:t>,</a:t>
            </a:r>
          </a:p>
          <a:p>
            <a:pPr>
              <a:spcBef>
                <a:spcPts val="0"/>
              </a:spcBef>
              <a:spcAft>
                <a:spcPts val="0"/>
              </a:spcAft>
            </a:pPr>
            <a:r>
              <a:rPr sz="900">
                <a:solidFill>
                  <a:srgbClr val="2D2D2D"/>
                </a:solidFill>
                <a:latin typeface="Consolas"/>
              </a:rPr>
              <a:t>  </a:t>
            </a:r>
            <a:r>
              <a:rPr sz="900">
                <a:solidFill>
                  <a:srgbClr val="902000"/>
                </a:solidFill>
                <a:latin typeface="Consolas"/>
              </a:rPr>
              <a:t>"status"</a:t>
            </a:r>
            <a:r>
              <a:rPr sz="900">
                <a:solidFill>
                  <a:srgbClr val="06287E"/>
                </a:solidFill>
                <a:latin typeface="Consolas"/>
              </a:rPr>
              <a:t>:</a:t>
            </a:r>
            <a:r>
              <a:rPr sz="900">
                <a:solidFill>
                  <a:srgbClr val="2D2D2D"/>
                </a:solidFill>
                <a:latin typeface="Consolas"/>
              </a:rPr>
              <a:t> </a:t>
            </a:r>
            <a:r>
              <a:rPr sz="900">
                <a:solidFill>
                  <a:srgbClr val="40A070"/>
                </a:solidFill>
                <a:latin typeface="Consolas"/>
              </a:rPr>
              <a:t>1</a:t>
            </a:r>
            <a:r>
              <a:rPr sz="900">
                <a:solidFill>
                  <a:srgbClr val="06287E"/>
                </a:solidFill>
                <a:latin typeface="Consolas"/>
              </a:rPr>
              <a:t>,</a:t>
            </a:r>
          </a:p>
          <a:p>
            <a:pPr>
              <a:spcBef>
                <a:spcPts val="0"/>
              </a:spcBef>
              <a:spcAft>
                <a:spcPts val="0"/>
              </a:spcAft>
            </a:pPr>
            <a:r>
              <a:rPr sz="900">
                <a:solidFill>
                  <a:srgbClr val="2D2D2D"/>
                </a:solidFill>
                <a:latin typeface="Consolas"/>
              </a:rPr>
              <a:t>  </a:t>
            </a:r>
            <a:r>
              <a:rPr sz="900">
                <a:solidFill>
                  <a:srgbClr val="902000"/>
                </a:solidFill>
                <a:latin typeface="Consolas"/>
              </a:rPr>
              <a:t>"email"</a:t>
            </a:r>
            <a:r>
              <a:rPr sz="900">
                <a:solidFill>
                  <a:srgbClr val="06287E"/>
                </a:solidFill>
                <a:latin typeface="Consolas"/>
              </a:rPr>
              <a:t>:</a:t>
            </a:r>
            <a:r>
              <a:rPr sz="900">
                <a:solidFill>
                  <a:srgbClr val="2D2D2D"/>
                </a:solidFill>
                <a:latin typeface="Consolas"/>
              </a:rPr>
              <a:t> </a:t>
            </a:r>
            <a:r>
              <a:rPr sz="900">
                <a:solidFill>
                  <a:srgbClr val="4070A0"/>
                </a:solidFill>
                <a:latin typeface="Consolas"/>
              </a:rPr>
              <a:t>"contact@acmesupplies.com"</a:t>
            </a:r>
            <a:r>
              <a:rPr sz="900">
                <a:solidFill>
                  <a:srgbClr val="06287E"/>
                </a:solidFill>
                <a:latin typeface="Consolas"/>
              </a:rPr>
              <a:t>,</a:t>
            </a:r>
          </a:p>
          <a:p>
            <a:pPr>
              <a:spcBef>
                <a:spcPts val="0"/>
              </a:spcBef>
              <a:spcAft>
                <a:spcPts val="0"/>
              </a:spcAft>
            </a:pPr>
            <a:r>
              <a:rPr sz="900">
                <a:solidFill>
                  <a:srgbClr val="2D2D2D"/>
                </a:solidFill>
                <a:latin typeface="Consolas"/>
              </a:rPr>
              <a:t>  </a:t>
            </a:r>
            <a:r>
              <a:rPr sz="900">
                <a:solidFill>
                  <a:srgbClr val="902000"/>
                </a:solidFill>
                <a:latin typeface="Consolas"/>
              </a:rPr>
              <a:t>"phone"</a:t>
            </a:r>
            <a:r>
              <a:rPr sz="900">
                <a:solidFill>
                  <a:srgbClr val="06287E"/>
                </a:solidFill>
                <a:latin typeface="Consolas"/>
              </a:rPr>
              <a:t>:</a:t>
            </a:r>
            <a:r>
              <a:rPr sz="900">
                <a:solidFill>
                  <a:srgbClr val="2D2D2D"/>
                </a:solidFill>
                <a:latin typeface="Consolas"/>
              </a:rPr>
              <a:t> </a:t>
            </a:r>
            <a:r>
              <a:rPr sz="900">
                <a:solidFill>
                  <a:srgbClr val="4070A0"/>
                </a:solidFill>
                <a:latin typeface="Consolas"/>
              </a:rPr>
              <a:t>"+1-555-1234"</a:t>
            </a:r>
          </a:p>
          <a:p>
            <a:pPr>
              <a:spcBef>
                <a:spcPts val="0"/>
              </a:spcBef>
              <a:spcAft>
                <a:spcPts val="0"/>
              </a:spcAft>
            </a:pPr>
            <a:r>
              <a:rPr sz="900">
                <a:solidFill>
                  <a:srgbClr val="06287E"/>
                </a:solidFill>
                <a:latin typeface="Consolas"/>
              </a:rPr>
              <a:t>}</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Key Concepts Summary</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1200"/>
              </a:spcBef>
              <a:spcAft>
                <a:spcPts val="600"/>
              </a:spcAft>
              <a:defRPr sz="2000" b="1">
                <a:solidFill>
                  <a:srgbClr val="1A1A1A"/>
                </a:solidFill>
              </a:defRPr>
            </a:pPr>
            <a:r>
              <a:t>Storage vs Search Client Pattern</a:t>
            </a:r>
          </a:p>
          <a:p>
            <a:pPr>
              <a:spcAft>
                <a:spcPts val="100"/>
              </a:spcAft>
              <a:defRPr sz="1000">
                <a:solidFill>
                  <a:srgbClr val="1A1A1A"/>
                </a:solidFill>
                <a:latin typeface="Consolas"/>
              </a:defRPr>
            </a:pPr>
            <a:r>
              <a:t>Aspect          Search (SupplierSearchClient)      Storage (SupplierStorageClient)      </a:t>
            </a:r>
          </a:p>
          <a:p>
            <a:pPr>
              <a:spcAft>
                <a:spcPts val="100"/>
              </a:spcAft>
              <a:defRPr sz="1000">
                <a:solidFill>
                  <a:srgbClr val="1A1A1A"/>
                </a:solidFill>
                <a:latin typeface="Consolas"/>
              </a:defRPr>
            </a:pPr>
            <a:r>
              <a:t>--------------  ---------------------------------  -------------------------------------</a:t>
            </a:r>
          </a:p>
          <a:p>
            <a:pPr>
              <a:spcAft>
                <a:spcPts val="100"/>
              </a:spcAft>
              <a:defRPr sz="1000">
                <a:solidFill>
                  <a:srgbClr val="1A1A1A"/>
                </a:solidFill>
                <a:latin typeface="Consolas"/>
              </a:defRPr>
            </a:pPr>
            <a:r>
              <a:t>Query           Complex (Elastica Query)           Simple key lookup                    </a:t>
            </a:r>
          </a:p>
          <a:p>
            <a:pPr>
              <a:spcAft>
                <a:spcPts val="100"/>
              </a:spcAft>
              <a:defRPr sz="1000">
                <a:solidFill>
                  <a:srgbClr val="1A1A1A"/>
                </a:solidFill>
                <a:latin typeface="Consolas"/>
              </a:defRPr>
            </a:pPr>
            <a:r>
              <a:t>Key generation  Source identifier in query plugin  SynchronizationService key builder   </a:t>
            </a:r>
          </a:p>
          <a:p>
            <a:pPr>
              <a:spcAft>
                <a:spcPts val="100"/>
              </a:spcAft>
              <a:defRPr sz="1000">
                <a:solidFill>
                  <a:srgbClr val="1A1A1A"/>
                </a:solidFill>
                <a:latin typeface="Consolas"/>
              </a:defRPr>
            </a:pPr>
            <a:r>
              <a:t>Dependencies    SearchClient, Query plugins        StorageClient, SynchronizationService</a:t>
            </a:r>
          </a:p>
          <a:p>
            <a:pPr>
              <a:spcAft>
                <a:spcPts val="100"/>
              </a:spcAft>
              <a:defRPr sz="1000">
                <a:solidFill>
                  <a:srgbClr val="1A1A1A"/>
                </a:solidFill>
                <a:latin typeface="Consolas"/>
              </a:defRPr>
            </a:pPr>
            <a:r>
              <a:t>Use case        Search by name, filter, aggregate  Lookup by ID, get all for dropdown</a:t>
            </a:r>
          </a:p>
          <a:p>
            <a:pPr>
              <a:spcBef>
                <a:spcPts val="1200"/>
              </a:spcBef>
              <a:spcAft>
                <a:spcPts val="600"/>
              </a:spcAft>
              <a:defRPr sz="2000" b="1">
                <a:solidFill>
                  <a:srgbClr val="1A1A1A"/>
                </a:solidFill>
              </a:defRPr>
            </a:pPr>
            <a:r>
              <a:t>Storage Key Generation Pattern</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Key Concepts Summary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i="1">
                <a:solidFill>
                  <a:srgbClr val="60A0B0"/>
                </a:solidFill>
                <a:latin typeface="Consolas"/>
              </a:rPr>
              <a:t>// 1. Create transfer with reference (ID)</a:t>
            </a:r>
          </a:p>
          <a:p>
            <a:pPr>
              <a:spcBef>
                <a:spcPts val="0"/>
              </a:spcBef>
              <a:spcAft>
                <a:spcPts val="0"/>
              </a:spcAft>
            </a:pPr>
            <a:r>
              <a:rPr sz="900">
                <a:solidFill>
                  <a:srgbClr val="19177C"/>
                </a:solidFill>
                <a:latin typeface="Consolas"/>
              </a:rPr>
              <a:t>$synchronizationDataTransfer</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b="1">
                <a:solidFill>
                  <a:srgbClr val="007020"/>
                </a:solidFill>
                <a:latin typeface="Consolas"/>
              </a:rPr>
              <a:t>new</a:t>
            </a:r>
            <a:r>
              <a:rPr sz="900">
                <a:solidFill>
                  <a:srgbClr val="2D2D2D"/>
                </a:solidFill>
                <a:latin typeface="Consolas"/>
              </a:rPr>
              <a:t> </a:t>
            </a:r>
            <a:r>
              <a:rPr sz="900">
                <a:solidFill>
                  <a:srgbClr val="880000"/>
                </a:solidFill>
                <a:latin typeface="Consolas"/>
              </a:rPr>
              <a:t>S</a:t>
            </a:r>
            <a:r>
              <a:rPr sz="900">
                <a:solidFill>
                  <a:srgbClr val="2D2D2D"/>
                </a:solidFill>
                <a:latin typeface="Consolas"/>
              </a:rPr>
              <a:t>ynchronizationDataTransfer())</a:t>
            </a:r>
          </a:p>
          <a:p>
            <a:pPr>
              <a:spcBef>
                <a:spcPts val="0"/>
              </a:spcBef>
              <a:spcAft>
                <a:spcPts val="0"/>
              </a:spcAft>
            </a:pPr>
            <a:r>
              <a:rPr sz="900">
                <a:solidFill>
                  <a:srgbClr val="2D2D2D"/>
                </a:solidFill>
                <a:latin typeface="Consolas"/>
              </a:rPr>
              <a:t>    -&gt;setReference(</a:t>
            </a:r>
            <a:r>
              <a:rPr sz="900">
                <a:solidFill>
                  <a:srgbClr val="902000"/>
                </a:solidFill>
                <a:latin typeface="Consolas"/>
              </a:rPr>
              <a:t>(string)</a:t>
            </a:r>
            <a:r>
              <a:rPr sz="900">
                <a:solidFill>
                  <a:srgbClr val="19177C"/>
                </a:solidFill>
                <a:latin typeface="Consolas"/>
              </a:rPr>
              <a:t>$idSupplier</a:t>
            </a:r>
            <a:r>
              <a:rPr sz="900">
                <a:solidFill>
                  <a:srgbClr val="2D2D2D"/>
                </a:solidFill>
                <a:latin typeface="Consolas"/>
              </a:rPr>
              <a:t>)</a:t>
            </a:r>
            <a:r>
              <a:rPr sz="900">
                <a:solidFill>
                  <a:srgbClr val="007020"/>
                </a:solidFill>
                <a:latin typeface="Consolas"/>
              </a:rPr>
              <a:t>;</a:t>
            </a:r>
          </a:p>
          <a:p>
            <a:pPr>
              <a:spcBef>
                <a:spcPts val="0"/>
              </a:spcBef>
              <a:spcAft>
                <a:spcPts val="0"/>
              </a:spcAft>
            </a:pPr>
            <a:r>
              <a:rPr sz="900">
                <a:latin typeface="Consolas"/>
              </a:rPr>
              <a:t> </a:t>
            </a:r>
          </a:p>
          <a:p>
            <a:pPr>
              <a:spcBef>
                <a:spcPts val="0"/>
              </a:spcBef>
              <a:spcAft>
                <a:spcPts val="0"/>
              </a:spcAft>
            </a:pPr>
            <a:r>
              <a:rPr sz="900" i="1">
                <a:solidFill>
                  <a:srgbClr val="60A0B0"/>
                </a:solidFill>
                <a:latin typeface="Consolas"/>
              </a:rPr>
              <a:t>// 2. Get key builder for resource</a:t>
            </a:r>
          </a:p>
          <a:p>
            <a:pPr>
              <a:spcBef>
                <a:spcPts val="0"/>
              </a:spcBef>
              <a:spcAft>
                <a:spcPts val="0"/>
              </a:spcAft>
            </a:pPr>
            <a:r>
              <a:rPr sz="900">
                <a:solidFill>
                  <a:srgbClr val="19177C"/>
                </a:solidFill>
                <a:latin typeface="Consolas"/>
              </a:rPr>
              <a:t>$keyBuilder</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a:solidFill>
                  <a:srgbClr val="19177C"/>
                </a:solidFill>
                <a:latin typeface="Consolas"/>
              </a:rPr>
              <a:t>$this</a:t>
            </a:r>
            <a:r>
              <a:rPr sz="900">
                <a:solidFill>
                  <a:srgbClr val="2D2D2D"/>
                </a:solidFill>
                <a:latin typeface="Consolas"/>
              </a:rPr>
              <a:t>-&gt;synchronizationService</a:t>
            </a:r>
          </a:p>
          <a:p>
            <a:pPr>
              <a:spcBef>
                <a:spcPts val="0"/>
              </a:spcBef>
              <a:spcAft>
                <a:spcPts val="0"/>
              </a:spcAft>
            </a:pPr>
            <a:r>
              <a:rPr sz="900">
                <a:solidFill>
                  <a:srgbClr val="2D2D2D"/>
                </a:solidFill>
                <a:latin typeface="Consolas"/>
              </a:rPr>
              <a:t>    -&gt;getStorageKeyBuilder(</a:t>
            </a:r>
            <a:r>
              <a:rPr sz="900" b="1">
                <a:solidFill>
                  <a:srgbClr val="007020"/>
                </a:solidFill>
                <a:latin typeface="Consolas"/>
              </a:rPr>
              <a:t>static</a:t>
            </a:r>
            <a:r>
              <a:rPr sz="900">
                <a:solidFill>
                  <a:srgbClr val="2D2D2D"/>
                </a:solidFill>
                <a:latin typeface="Consolas"/>
              </a:rPr>
              <a:t>::</a:t>
            </a:r>
            <a:r>
              <a:rPr sz="900">
                <a:solidFill>
                  <a:srgbClr val="880000"/>
                </a:solidFill>
                <a:latin typeface="Consolas"/>
              </a:rPr>
              <a:t>RESOURCE_NAME</a:t>
            </a:r>
            <a:r>
              <a:rPr sz="900">
                <a:solidFill>
                  <a:srgbClr val="2D2D2D"/>
                </a:solidFill>
                <a:latin typeface="Consolas"/>
              </a:rPr>
              <a:t>)</a:t>
            </a:r>
            <a:r>
              <a:rPr sz="900">
                <a:solidFill>
                  <a:srgbClr val="007020"/>
                </a:solidFill>
                <a:latin typeface="Consolas"/>
              </a:rPr>
              <a:t>;</a:t>
            </a:r>
            <a:r>
              <a:rPr sz="900">
                <a:solidFill>
                  <a:srgbClr val="2D2D2D"/>
                </a:solidFill>
                <a:latin typeface="Consolas"/>
              </a:rPr>
              <a:t> </a:t>
            </a:r>
            <a:r>
              <a:rPr sz="900" i="1">
                <a:solidFill>
                  <a:srgbClr val="60A0B0"/>
                </a:solidFill>
                <a:latin typeface="Consolas"/>
              </a:rPr>
              <a:t>// 'supplier'</a:t>
            </a:r>
          </a:p>
          <a:p>
            <a:pPr>
              <a:spcBef>
                <a:spcPts val="0"/>
              </a:spcBef>
              <a:spcAft>
                <a:spcPts val="0"/>
              </a:spcAft>
            </a:pPr>
            <a:r>
              <a:rPr sz="900">
                <a:latin typeface="Consolas"/>
              </a:rPr>
              <a:t> </a:t>
            </a:r>
          </a:p>
          <a:p>
            <a:pPr>
              <a:spcBef>
                <a:spcPts val="0"/>
              </a:spcBef>
              <a:spcAft>
                <a:spcPts val="0"/>
              </a:spcAft>
            </a:pPr>
            <a:r>
              <a:rPr sz="900" i="1">
                <a:solidFill>
                  <a:srgbClr val="60A0B0"/>
                </a:solidFill>
                <a:latin typeface="Consolas"/>
              </a:rPr>
              <a:t>// 3. Generate key</a:t>
            </a:r>
          </a:p>
          <a:p>
            <a:pPr>
              <a:spcBef>
                <a:spcPts val="0"/>
              </a:spcBef>
              <a:spcAft>
                <a:spcPts val="0"/>
              </a:spcAft>
            </a:pPr>
            <a:r>
              <a:rPr sz="900">
                <a:solidFill>
                  <a:srgbClr val="19177C"/>
                </a:solidFill>
                <a:latin typeface="Consolas"/>
              </a:rPr>
              <a:t>$key</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a:solidFill>
                  <a:srgbClr val="19177C"/>
                </a:solidFill>
                <a:latin typeface="Consolas"/>
              </a:rPr>
              <a:t>$keyBuilder</a:t>
            </a:r>
            <a:r>
              <a:rPr sz="900">
                <a:solidFill>
                  <a:srgbClr val="2D2D2D"/>
                </a:solidFill>
                <a:latin typeface="Consolas"/>
              </a:rPr>
              <a:t>-&gt;generateKey(</a:t>
            </a:r>
            <a:r>
              <a:rPr sz="900">
                <a:solidFill>
                  <a:srgbClr val="19177C"/>
                </a:solidFill>
                <a:latin typeface="Consolas"/>
              </a:rPr>
              <a:t>$synchronizationDataTransfer</a:t>
            </a:r>
            <a:r>
              <a:rPr sz="900">
                <a:solidFill>
                  <a:srgbClr val="2D2D2D"/>
                </a:solidFill>
                <a:latin typeface="Consolas"/>
              </a:rPr>
              <a:t>)</a:t>
            </a:r>
            <a:r>
              <a:rPr sz="900">
                <a:solidFill>
                  <a:srgbClr val="007020"/>
                </a:solidFill>
                <a:latin typeface="Consolas"/>
              </a:rPr>
              <a:t>;</a:t>
            </a:r>
          </a:p>
          <a:p>
            <a:pPr>
              <a:spcBef>
                <a:spcPts val="0"/>
              </a:spcBef>
              <a:spcAft>
                <a:spcPts val="0"/>
              </a:spcAft>
            </a:pPr>
            <a:r>
              <a:rPr sz="900" i="1">
                <a:solidFill>
                  <a:srgbClr val="60A0B0"/>
                </a:solidFill>
                <a:latin typeface="Consolas"/>
              </a:rPr>
              <a:t>// Result: "supplier:1"</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Static Caching Pattern</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b="1">
                <a:solidFill>
                  <a:srgbClr val="007020"/>
                </a:solidFill>
                <a:latin typeface="Consolas"/>
              </a:rPr>
              <a:t>protected</a:t>
            </a:r>
            <a:r>
              <a:rPr sz="900">
                <a:solidFill>
                  <a:srgbClr val="2D2D2D"/>
                </a:solidFill>
                <a:latin typeface="Consolas"/>
              </a:rPr>
              <a:t> </a:t>
            </a:r>
            <a:r>
              <a:rPr sz="900" b="1">
                <a:solidFill>
                  <a:srgbClr val="007020"/>
                </a:solidFill>
                <a:latin typeface="Consolas"/>
              </a:rPr>
              <a:t>static</a:t>
            </a:r>
            <a:r>
              <a:rPr sz="900">
                <a:solidFill>
                  <a:srgbClr val="2D2D2D"/>
                </a:solidFill>
                <a:latin typeface="Consolas"/>
              </a:rPr>
              <a:t> </a:t>
            </a:r>
            <a:r>
              <a:rPr sz="900">
                <a:solidFill>
                  <a:srgbClr val="007020"/>
                </a:solidFill>
                <a:latin typeface="Consolas"/>
              </a:rPr>
              <a:t>?</a:t>
            </a:r>
            <a:r>
              <a:rPr sz="900">
                <a:solidFill>
                  <a:srgbClr val="880000"/>
                </a:solidFill>
                <a:latin typeface="Consolas"/>
              </a:rPr>
              <a:t>S</a:t>
            </a:r>
            <a:r>
              <a:rPr sz="900">
                <a:solidFill>
                  <a:srgbClr val="2D2D2D"/>
                </a:solidFill>
                <a:latin typeface="Consolas"/>
              </a:rPr>
              <a:t>ynchronizationKeyGeneratorPluginInterface </a:t>
            </a:r>
            <a:r>
              <a:rPr sz="900">
                <a:solidFill>
                  <a:srgbClr val="19177C"/>
                </a:solidFill>
                <a:latin typeface="Consolas"/>
              </a:rPr>
              <a:t>$storageKeyBuilder</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b="1">
                <a:solidFill>
                  <a:srgbClr val="007020"/>
                </a:solidFill>
                <a:latin typeface="Consolas"/>
              </a:rPr>
              <a:t>null</a:t>
            </a:r>
            <a:r>
              <a:rPr sz="900">
                <a:solidFill>
                  <a:srgbClr val="007020"/>
                </a:solidFill>
                <a:latin typeface="Consolas"/>
              </a:rPr>
              <a:t>;</a:t>
            </a:r>
          </a:p>
          <a:p>
            <a:pPr>
              <a:spcBef>
                <a:spcPts val="0"/>
              </a:spcBef>
              <a:spcAft>
                <a:spcPts val="0"/>
              </a:spcAft>
            </a:pPr>
            <a:r>
              <a:rPr sz="900">
                <a:latin typeface="Consolas"/>
              </a:rPr>
              <a:t> </a:t>
            </a:r>
          </a:p>
          <a:p>
            <a:pPr>
              <a:spcBef>
                <a:spcPts val="0"/>
              </a:spcBef>
              <a:spcAft>
                <a:spcPts val="0"/>
              </a:spcAft>
            </a:pPr>
            <a:r>
              <a:rPr sz="900" b="1">
                <a:solidFill>
                  <a:srgbClr val="007020"/>
                </a:solidFill>
                <a:latin typeface="Consolas"/>
              </a:rPr>
              <a:t>protected</a:t>
            </a:r>
            <a:r>
              <a:rPr sz="900">
                <a:solidFill>
                  <a:srgbClr val="2D2D2D"/>
                </a:solidFill>
                <a:latin typeface="Consolas"/>
              </a:rPr>
              <a:t> </a:t>
            </a:r>
            <a:r>
              <a:rPr sz="900" b="1">
                <a:solidFill>
                  <a:srgbClr val="007020"/>
                </a:solidFill>
                <a:latin typeface="Consolas"/>
              </a:rPr>
              <a:t>function</a:t>
            </a:r>
            <a:r>
              <a:rPr sz="900">
                <a:solidFill>
                  <a:srgbClr val="2D2D2D"/>
                </a:solidFill>
                <a:latin typeface="Consolas"/>
              </a:rPr>
              <a:t> getStorageKeyBuilder()</a:t>
            </a:r>
            <a:r>
              <a:rPr sz="900">
                <a:solidFill>
                  <a:srgbClr val="007020"/>
                </a:solidFill>
                <a:latin typeface="Consolas"/>
              </a:rPr>
              <a:t>:</a:t>
            </a:r>
            <a:r>
              <a:rPr sz="900">
                <a:solidFill>
                  <a:srgbClr val="2D2D2D"/>
                </a:solidFill>
                <a:latin typeface="Consolas"/>
              </a:rPr>
              <a:t> </a:t>
            </a:r>
            <a:r>
              <a:rPr sz="900">
                <a:solidFill>
                  <a:srgbClr val="880000"/>
                </a:solidFill>
                <a:latin typeface="Consolas"/>
              </a:rPr>
              <a:t>S</a:t>
            </a:r>
            <a:r>
              <a:rPr sz="900">
                <a:solidFill>
                  <a:srgbClr val="2D2D2D"/>
                </a:solidFill>
                <a:latin typeface="Consolas"/>
              </a:rPr>
              <a:t>ynchronizationKeyGeneratorPluginInterface</a:t>
            </a:r>
          </a:p>
          <a:p>
            <a:pPr>
              <a:spcBef>
                <a:spcPts val="0"/>
              </a:spcBef>
              <a:spcAft>
                <a:spcPts val="0"/>
              </a:spcAft>
            </a:pPr>
            <a:r>
              <a:rPr sz="900">
                <a:solidFill>
                  <a:srgbClr val="2D2D2D"/>
                </a:solidFill>
                <a:latin typeface="Consolas"/>
              </a:rPr>
              <a:t>{</a:t>
            </a:r>
          </a:p>
          <a:p>
            <a:pPr>
              <a:spcBef>
                <a:spcPts val="0"/>
              </a:spcBef>
              <a:spcAft>
                <a:spcPts val="0"/>
              </a:spcAft>
            </a:pPr>
            <a:r>
              <a:rPr sz="900">
                <a:solidFill>
                  <a:srgbClr val="2D2D2D"/>
                </a:solidFill>
                <a:latin typeface="Consolas"/>
              </a:rPr>
              <a:t>    </a:t>
            </a:r>
            <a:r>
              <a:rPr sz="900" b="1">
                <a:solidFill>
                  <a:srgbClr val="007020"/>
                </a:solidFill>
                <a:latin typeface="Consolas"/>
              </a:rPr>
              <a:t>if</a:t>
            </a:r>
            <a:r>
              <a:rPr sz="900">
                <a:solidFill>
                  <a:srgbClr val="2D2D2D"/>
                </a:solidFill>
                <a:latin typeface="Consolas"/>
              </a:rPr>
              <a:t> (</a:t>
            </a:r>
            <a:r>
              <a:rPr sz="900" b="1">
                <a:solidFill>
                  <a:srgbClr val="007020"/>
                </a:solidFill>
                <a:latin typeface="Consolas"/>
              </a:rPr>
              <a:t>static</a:t>
            </a:r>
            <a:r>
              <a:rPr sz="900">
                <a:solidFill>
                  <a:srgbClr val="2D2D2D"/>
                </a:solidFill>
                <a:latin typeface="Consolas"/>
              </a:rPr>
              <a:t>::</a:t>
            </a:r>
            <a:r>
              <a:rPr sz="900">
                <a:solidFill>
                  <a:srgbClr val="19177C"/>
                </a:solidFill>
                <a:latin typeface="Consolas"/>
              </a:rPr>
              <a:t>$storageKeyBuilder</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b="1">
                <a:solidFill>
                  <a:srgbClr val="007020"/>
                </a:solidFill>
                <a:latin typeface="Consolas"/>
              </a:rPr>
              <a:t>null</a:t>
            </a:r>
            <a:r>
              <a:rPr sz="900">
                <a:solidFill>
                  <a:srgbClr val="2D2D2D"/>
                </a:solidFill>
                <a:latin typeface="Consolas"/>
              </a:rPr>
              <a:t>) {</a:t>
            </a:r>
          </a:p>
          <a:p>
            <a:pPr>
              <a:spcBef>
                <a:spcPts val="0"/>
              </a:spcBef>
              <a:spcAft>
                <a:spcPts val="0"/>
              </a:spcAft>
            </a:pPr>
            <a:r>
              <a:rPr sz="900">
                <a:solidFill>
                  <a:srgbClr val="2D2D2D"/>
                </a:solidFill>
                <a:latin typeface="Consolas"/>
              </a:rPr>
              <a:t>        </a:t>
            </a:r>
            <a:r>
              <a:rPr sz="900" b="1">
                <a:solidFill>
                  <a:srgbClr val="007020"/>
                </a:solidFill>
                <a:latin typeface="Consolas"/>
              </a:rPr>
              <a:t>static</a:t>
            </a:r>
            <a:r>
              <a:rPr sz="900">
                <a:solidFill>
                  <a:srgbClr val="2D2D2D"/>
                </a:solidFill>
                <a:latin typeface="Consolas"/>
              </a:rPr>
              <a:t>::</a:t>
            </a:r>
            <a:r>
              <a:rPr sz="900">
                <a:solidFill>
                  <a:srgbClr val="19177C"/>
                </a:solidFill>
                <a:latin typeface="Consolas"/>
              </a:rPr>
              <a:t>$storageKeyBuilder</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a:solidFill>
                  <a:srgbClr val="19177C"/>
                </a:solidFill>
                <a:latin typeface="Consolas"/>
              </a:rPr>
              <a:t>$this</a:t>
            </a:r>
            <a:r>
              <a:rPr sz="900">
                <a:solidFill>
                  <a:srgbClr val="2D2D2D"/>
                </a:solidFill>
                <a:latin typeface="Consolas"/>
              </a:rPr>
              <a:t>-&gt;synchronizationService</a:t>
            </a:r>
          </a:p>
          <a:p>
            <a:pPr>
              <a:spcBef>
                <a:spcPts val="0"/>
              </a:spcBef>
              <a:spcAft>
                <a:spcPts val="0"/>
              </a:spcAft>
            </a:pPr>
            <a:r>
              <a:rPr sz="900">
                <a:solidFill>
                  <a:srgbClr val="2D2D2D"/>
                </a:solidFill>
                <a:latin typeface="Consolas"/>
              </a:rPr>
              <a:t>            -&gt;getStorageKeyBuilder(</a:t>
            </a:r>
            <a:r>
              <a:rPr sz="900" b="1">
                <a:solidFill>
                  <a:srgbClr val="007020"/>
                </a:solidFill>
                <a:latin typeface="Consolas"/>
              </a:rPr>
              <a:t>static</a:t>
            </a:r>
            <a:r>
              <a:rPr sz="900">
                <a:solidFill>
                  <a:srgbClr val="2D2D2D"/>
                </a:solidFill>
                <a:latin typeface="Consolas"/>
              </a:rPr>
              <a:t>::</a:t>
            </a:r>
            <a:r>
              <a:rPr sz="900">
                <a:solidFill>
                  <a:srgbClr val="880000"/>
                </a:solidFill>
                <a:latin typeface="Consolas"/>
              </a:rPr>
              <a:t>RESOURCE_NAME</a:t>
            </a:r>
            <a:r>
              <a:rPr sz="900">
                <a:solidFill>
                  <a:srgbClr val="2D2D2D"/>
                </a:solidFill>
                <a:latin typeface="Consolas"/>
              </a:rPr>
              <a:t>)</a:t>
            </a:r>
            <a:r>
              <a:rPr sz="900">
                <a:solidFill>
                  <a:srgbClr val="007020"/>
                </a:solidFill>
                <a:latin typeface="Consolas"/>
              </a:rPr>
              <a:t>;</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    </a:t>
            </a:r>
            <a:r>
              <a:rPr sz="900" b="1">
                <a:solidFill>
                  <a:srgbClr val="007020"/>
                </a:solidFill>
                <a:latin typeface="Consolas"/>
              </a:rPr>
              <a:t>return</a:t>
            </a:r>
            <a:r>
              <a:rPr sz="900">
                <a:solidFill>
                  <a:srgbClr val="2D2D2D"/>
                </a:solidFill>
                <a:latin typeface="Consolas"/>
              </a:rPr>
              <a:t> </a:t>
            </a:r>
            <a:r>
              <a:rPr sz="900" b="1">
                <a:solidFill>
                  <a:srgbClr val="007020"/>
                </a:solidFill>
                <a:latin typeface="Consolas"/>
              </a:rPr>
              <a:t>static</a:t>
            </a:r>
            <a:r>
              <a:rPr sz="900">
                <a:solidFill>
                  <a:srgbClr val="2D2D2D"/>
                </a:solidFill>
                <a:latin typeface="Consolas"/>
              </a:rPr>
              <a:t>::</a:t>
            </a:r>
            <a:r>
              <a:rPr sz="900">
                <a:solidFill>
                  <a:srgbClr val="19177C"/>
                </a:solidFill>
                <a:latin typeface="Consolas"/>
              </a:rPr>
              <a:t>$storageKeyBuilder</a:t>
            </a:r>
            <a:r>
              <a:rPr sz="900">
                <a:solidFill>
                  <a:srgbClr val="007020"/>
                </a:solidFill>
                <a:latin typeface="Consolas"/>
              </a:rPr>
              <a:t>;</a:t>
            </a:r>
          </a:p>
          <a:p>
            <a:pPr>
              <a:spcBef>
                <a:spcPts val="0"/>
              </a:spcBef>
              <a:spcAft>
                <a:spcPts val="0"/>
              </a:spcAft>
            </a:pPr>
            <a:r>
              <a:rPr sz="900">
                <a:solidFill>
                  <a:srgbClr val="2D2D2D"/>
                </a:solidFill>
                <a:latin typeface="Consolas"/>
              </a:rPr>
              <a:t>}</a:t>
            </a:r>
          </a:p>
          <a:p>
            <a:pPr>
              <a:spcAft>
                <a:spcPts val="800"/>
              </a:spcAft>
              <a:defRPr sz="1400" i="1">
                <a:solidFill>
                  <a:srgbClr val="888888"/>
                </a:solidFill>
              </a:defRPr>
            </a:pPr>
            <a:r>
              <a:t>❝ Why static? The key builder is stateless. Caching it avoids repeated service locator calls.</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Run Automated Tests</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docker/sdk</a:t>
            </a:r>
            <a:r>
              <a:rPr sz="900">
                <a:solidFill>
                  <a:srgbClr val="2D2D2D"/>
                </a:solidFill>
                <a:latin typeface="Consolas"/>
              </a:rPr>
              <a:t> cli vendor/bin/codecept run </a:t>
            </a:r>
            <a:r>
              <a:rPr sz="900">
                <a:solidFill>
                  <a:srgbClr val="2D2D2D"/>
                </a:solidFill>
                <a:latin typeface="Consolas"/>
              </a:rPr>
              <a:t>-c</a:t>
            </a:r>
            <a:r>
              <a:rPr sz="900">
                <a:solidFill>
                  <a:srgbClr val="2D2D2D"/>
                </a:solidFill>
                <a:latin typeface="Consolas"/>
              </a:rPr>
              <a:t> tests/SprykerAcademyTest/Zed/Supplier/ StorageClient</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Solution</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./exercises/load.sh</a:t>
            </a:r>
            <a:r>
              <a:rPr sz="900">
                <a:solidFill>
                  <a:srgbClr val="2D2D2D"/>
                </a:solidFill>
                <a:latin typeface="Consolas"/>
              </a:rPr>
              <a:t> supplier intermediate/storage-client/complete </a:t>
            </a:r>
            <a:r>
              <a:rPr sz="900">
                <a:solidFill>
                  <a:srgbClr val="2D2D2D"/>
                </a:solidFill>
                <a:latin typeface="Consolas"/>
              </a:rPr>
              <a:t>--run</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spAutoFit/>
          </a:bodyPr>
          <a:lstStyle/>
          <a:p>
            <a:pPr algn="ctr">
              <a:defRPr sz="3600" b="1">
                <a:solidFill>
                  <a:srgbClr val="00A89B"/>
                </a:solidFill>
              </a:defRPr>
            </a:pPr>
            <a:r>
              <a:t>Exercise 15: Merchant Portal — Supplier Table</a:t>
            </a:r>
          </a:p>
        </p:txBody>
      </p:sp>
      <p:sp>
        <p:nvSpPr>
          <p:cNvPr id="3" name="Rectangle 2"/>
          <p:cNvSpPr/>
          <p:nvPr/>
        </p:nvSpPr>
        <p:spPr>
          <a:xfrm>
            <a:off x="3657600" y="2286000"/>
            <a:ext cx="4876495" cy="381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Exercise 15: Merchant Portal — Supplier Table</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In this exercise, you will build a supplier list page in the Merchant Portal using Spryker’s GuiTable framework. The table displays only suppliers belonging to the current merchant and supports pagination, sorting, searching, and filtering.</a:t>
            </a:r>
          </a:p>
          <a:p>
            <a:pPr>
              <a:spcAft>
                <a:spcPts val="800"/>
              </a:spcAft>
              <a:defRPr sz="1600">
                <a:solidFill>
                  <a:srgbClr val="1A1A1A"/>
                </a:solidFill>
              </a:defRPr>
            </a:pPr>
            <a:r>
              <a:t>You will learn how to: - Create a Merchant Portal GUI module ( SupplierMerchantPortalGui ) - Build a GuiTable configuration (columns, filters, row actions) - Implement a data provider that fetches merchant-scoped data - Write a repository query that joins suppliers with merchant assignments - Register an Angular web component in the module - Configure ACL rules and Merchant Portal navigation</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Prerequisites</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400"/>
              </a:spcAft>
              <a:defRPr sz="1500">
                <a:solidFill>
                  <a:srgbClr val="1A1A1A"/>
                </a:solidFill>
              </a:defRPr>
            </a:pPr>
            <a:r>
              <a:t>• You do not need your own solutions of the earlier exercises. The branch contains them, and load.sh --run imports the sample suppliers and links them to the demo merchant through pyz_merchant_to_supplier (see Assign suppliers to your merchant below).</a:t>
            </a:r>
          </a:p>
          <a:p>
            <a:pPr>
              <a:spcAft>
                <a:spcPts val="400"/>
              </a:spcAft>
              <a:defRPr sz="1500">
                <a:solidFill>
                  <a:srgbClr val="1A1A1A"/>
                </a:solidFill>
              </a:defRPr>
            </a:pPr>
            <a:r>
              <a:t>• Logged in as a demo merchant user ( harald@spryker.com / change123 )</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Loading the Exercise</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./exercises/load.sh</a:t>
            </a:r>
            <a:r>
              <a:rPr sz="900">
                <a:solidFill>
                  <a:srgbClr val="2D2D2D"/>
                </a:solidFill>
                <a:latin typeface="Consolas"/>
              </a:rPr>
              <a:t> supplier intermediate/merchant-portal-table/skeleton </a:t>
            </a:r>
            <a:r>
              <a:rPr sz="900">
                <a:solidFill>
                  <a:srgbClr val="2D2D2D"/>
                </a:solidFill>
                <a:latin typeface="Consolas"/>
              </a:rPr>
              <a:t>--run</a:t>
            </a:r>
          </a:p>
          <a:p>
            <a:pPr>
              <a:spcAft>
                <a:spcPts val="800"/>
              </a:spcAft>
              <a:defRPr sz="1600">
                <a:solidFill>
                  <a:srgbClr val="1A1A1A"/>
                </a:solidFill>
              </a:defRPr>
            </a:pPr>
            <a:r>
              <a:t>--run also runs the commands the loader lists after loading (cache, Propel, transfers and whatever this exercise needs, such as queues or Glue resources) and stops at the first one that fails. Leave it out to run them yourself.</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Background: Merchant Portal Architecture</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The Merchant Portal uses a different architecture from the Back Office:</a:t>
            </a:r>
          </a:p>
          <a:p>
            <a:pPr>
              <a:spcAft>
                <a:spcPts val="100"/>
              </a:spcAft>
              <a:defRPr sz="1000">
                <a:solidFill>
                  <a:srgbClr val="1A1A1A"/>
                </a:solidFill>
                <a:latin typeface="Consolas"/>
              </a:defRPr>
            </a:pPr>
            <a:r>
              <a:t>Aspect          Back Office                           Merchant Portal                            </a:t>
            </a:r>
          </a:p>
          <a:p>
            <a:pPr>
              <a:spcAft>
                <a:spcPts val="100"/>
              </a:spcAft>
              <a:defRPr sz="1000">
                <a:solidFill>
                  <a:srgbClr val="1A1A1A"/>
                </a:solidFill>
                <a:latin typeface="Consolas"/>
              </a:defRPr>
            </a:pPr>
            <a:r>
              <a:t>--------------  ------------------------------------  -------------------------------------------</a:t>
            </a:r>
          </a:p>
          <a:p>
            <a:pPr>
              <a:spcAft>
                <a:spcPts val="100"/>
              </a:spcAft>
              <a:defRPr sz="1000">
                <a:solidFill>
                  <a:srgbClr val="1A1A1A"/>
                </a:solidFill>
                <a:latin typeface="Consolas"/>
              </a:defRPr>
            </a:pPr>
            <a:r>
              <a:t>Frontend        Twig + jQuery                         Angular Web Components                     </a:t>
            </a:r>
          </a:p>
          <a:p>
            <a:pPr>
              <a:spcAft>
                <a:spcPts val="100"/>
              </a:spcAft>
              <a:defRPr sz="1000">
                <a:solidFill>
                  <a:srgbClr val="1A1A1A"/>
                </a:solidFill>
                <a:latin typeface="Consolas"/>
              </a:defRPr>
            </a:pPr>
            <a:r>
              <a:t>Tables          AbstractTable (server-rendered HTML)  GuiTable (JSON config + Angular)           </a:t>
            </a:r>
          </a:p>
          <a:p>
            <a:pPr>
              <a:spcAft>
                <a:spcPts val="100"/>
              </a:spcAft>
              <a:defRPr sz="1000">
                <a:solidFill>
                  <a:srgbClr val="1A1A1A"/>
                </a:solidFill>
                <a:latin typeface="Consolas"/>
              </a:defRPr>
            </a:pPr>
            <a:r>
              <a:t>Data flow       Controller renders full page          Controller returns JSON, Angular renders UI</a:t>
            </a:r>
          </a:p>
          <a:p>
            <a:pPr>
              <a:spcAft>
                <a:spcPts val="100"/>
              </a:spcAft>
              <a:defRPr sz="1000">
                <a:solidFill>
                  <a:srgbClr val="1A1A1A"/>
                </a:solidFill>
                <a:latin typeface="Consolas"/>
              </a:defRPr>
            </a:pPr>
            <a:r>
              <a:t>Layout          @Gui/Layout/layout.twig               @ZedUi/Layout/merchant-layout-main.twig    </a:t>
            </a:r>
          </a:p>
          <a:p>
            <a:pPr>
              <a:spcAft>
                <a:spcPts val="100"/>
              </a:spcAft>
              <a:defRPr sz="1000">
                <a:solidFill>
                  <a:srgbClr val="1A1A1A"/>
                </a:solidFill>
                <a:latin typeface="Consolas"/>
              </a:defRPr>
            </a:pPr>
            <a:r>
              <a:t>Navigation      navigation.xml                        navigation-main-merchant-portal.xml        </a:t>
            </a:r>
          </a:p>
          <a:p>
            <a:pPr>
              <a:spcAft>
                <a:spcPts val="100"/>
              </a:spcAft>
              <a:defRPr sz="1000">
                <a:solidFill>
                  <a:srgbClr val="1A1A1A"/>
                </a:solidFill>
                <a:latin typeface="Consolas"/>
              </a:defRPr>
            </a:pPr>
            <a:r>
              <a:t>Access control  Back Office ACL                       Merchant Portal ACL plugins</a:t>
            </a:r>
          </a:p>
          <a:p>
            <a:pPr>
              <a:spcAft>
                <a:spcPts val="800"/>
              </a:spcAft>
              <a:defRPr sz="1600">
                <a:solidFill>
                  <a:srgbClr val="1A1A1A"/>
                </a:solidFill>
              </a:defRPr>
            </a:pPr>
            <a:r>
              <a:t>GuiTable flow:</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Background: Merchant Portal Architecture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GET /supplier-merchant-portal-gui/supplier (page load)</a:t>
            </a:r>
          </a:p>
          <a:p>
            <a:pPr>
              <a:spcBef>
                <a:spcPts val="0"/>
              </a:spcBef>
              <a:spcAft>
                <a:spcPts val="0"/>
              </a:spcAft>
            </a:pPr>
            <a:r>
              <a:rPr sz="900">
                <a:solidFill>
                  <a:srgbClr val="2D2D2D"/>
                </a:solidFill>
                <a:latin typeface="Consolas"/>
              </a:rPr>
              <a:t>├── SupplierController::indexAction()</a:t>
            </a:r>
          </a:p>
          <a:p>
            <a:pPr>
              <a:spcBef>
                <a:spcPts val="0"/>
              </a:spcBef>
              <a:spcAft>
                <a:spcPts val="0"/>
              </a:spcAft>
            </a:pPr>
            <a:r>
              <a:rPr sz="900">
                <a:solidFill>
                  <a:srgbClr val="2D2D2D"/>
                </a:solidFill>
                <a:latin typeface="Consolas"/>
              </a:rPr>
              <a:t>├── Returns GuiTable configuration as JSON in Twig</a:t>
            </a:r>
          </a:p>
          <a:p>
            <a:pPr>
              <a:spcBef>
                <a:spcPts val="0"/>
              </a:spcBef>
              <a:spcAft>
                <a:spcPts val="0"/>
              </a:spcAft>
            </a:pPr>
            <a:r>
              <a:rPr sz="900">
                <a:solidFill>
                  <a:srgbClr val="2D2D2D"/>
                </a:solidFill>
                <a:latin typeface="Consolas"/>
              </a:rPr>
              <a:t>└── Angular &lt;web-mp-supplier-list&gt; renders the table shell</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GET /supplier-merchant-portal-gui/supplier/table-data (AJAX)</a:t>
            </a:r>
          </a:p>
          <a:p>
            <a:pPr>
              <a:spcBef>
                <a:spcPts val="0"/>
              </a:spcBef>
              <a:spcAft>
                <a:spcPts val="0"/>
              </a:spcAft>
            </a:pPr>
            <a:r>
              <a:rPr sz="900">
                <a:solidFill>
                  <a:srgbClr val="2D2D2D"/>
                </a:solidFill>
                <a:latin typeface="Consolas"/>
              </a:rPr>
              <a:t>├── SupplierController::tableDataAction()</a:t>
            </a:r>
          </a:p>
          <a:p>
            <a:pPr>
              <a:spcBef>
                <a:spcPts val="0"/>
              </a:spcBef>
              <a:spcAft>
                <a:spcPts val="0"/>
              </a:spcAft>
            </a:pPr>
            <a:r>
              <a:rPr sz="900">
                <a:solidFill>
                  <a:srgbClr val="2D2D2D"/>
                </a:solidFill>
                <a:latin typeface="Consolas"/>
              </a:rPr>
              <a:t>├── GuiTableHttpDataRequestExecutor executes the request</a:t>
            </a:r>
          </a:p>
          <a:p>
            <a:pPr>
              <a:spcBef>
                <a:spcPts val="0"/>
              </a:spcBef>
              <a:spcAft>
                <a:spcPts val="0"/>
              </a:spcAft>
            </a:pPr>
            <a:r>
              <a:rPr sz="900">
                <a:solidFill>
                  <a:srgbClr val="2D2D2D"/>
                </a:solidFill>
                <a:latin typeface="Consolas"/>
              </a:rPr>
              <a:t>├── SupplierGuiTableDataProvider creates merchant-scoped criteria</a:t>
            </a:r>
          </a:p>
          <a:p>
            <a:pPr>
              <a:spcBef>
                <a:spcPts val="0"/>
              </a:spcBef>
              <a:spcAft>
                <a:spcPts val="0"/>
              </a:spcAft>
            </a:pPr>
            <a:r>
              <a:rPr sz="900">
                <a:solidFill>
                  <a:srgbClr val="2D2D2D"/>
                </a:solidFill>
                <a:latin typeface="Consolas"/>
              </a:rPr>
              <a:t>├── Repository fetches paginated data</a:t>
            </a:r>
          </a:p>
          <a:p>
            <a:pPr>
              <a:spcBef>
                <a:spcPts val="0"/>
              </a:spcBef>
              <a:spcAft>
                <a:spcPts val="0"/>
              </a:spcAft>
            </a:pPr>
            <a:r>
              <a:rPr sz="900">
                <a:solidFill>
                  <a:srgbClr val="2D2D2D"/>
                </a:solidFill>
                <a:latin typeface="Consolas"/>
              </a:rPr>
              <a:t>└── Returns JSON rows to Angular table</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Setup: Navigation, ACL, Frontend and Data</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The exercise provides these pre-built:</a:t>
            </a:r>
          </a:p>
          <a:p>
            <a:pPr>
              <a:spcBef>
                <a:spcPts val="1200"/>
              </a:spcBef>
              <a:spcAft>
                <a:spcPts val="600"/>
              </a:spcAft>
              <a:defRPr sz="2000" b="1">
                <a:solidFill>
                  <a:srgbClr val="1A1A1A"/>
                </a:solidFill>
              </a:defRPr>
            </a:pPr>
            <a:r>
              <a:t>Navigation</a:t>
            </a:r>
          </a:p>
          <a:p>
            <a:pPr>
              <a:spcAft>
                <a:spcPts val="800"/>
              </a:spcAft>
              <a:defRPr sz="1600">
                <a:solidFill>
                  <a:srgbClr val="1A1A1A"/>
                </a:solidFill>
              </a:defRPr>
            </a:pPr>
            <a:r>
              <a:t>The Merchant Portal has its own menu, separate from the Back Office one. A module adds its entries in Communication/navigation-main-merchant-portal.xml ; this exercise ships src/SprykerAcademy/Zed/SupplierMerchantPortalGui/Communication/navigation-main-merchant-portal.xml . load.sh --run rebuilds the menu ( navigation:build-cache ).</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ACL (Access Control)</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Every Merchant Portal module must register ACL rules so merchant users can access its controllers. The exercise includes:</a:t>
            </a:r>
          </a:p>
          <a:p>
            <a:pPr>
              <a:spcAft>
                <a:spcPts val="400"/>
              </a:spcAft>
              <a:defRPr sz="1500">
                <a:solidFill>
                  <a:srgbClr val="1A1A1A"/>
                </a:solidFill>
              </a:defRPr>
            </a:pPr>
            <a:r>
              <a:t>• SupplierMerchantPortalGuiMerchantAclRuleExpanderPlugin — allows all routes in the supplier-merchant-portal-gui bundle</a:t>
            </a:r>
          </a:p>
          <a:p>
            <a:pPr>
              <a:spcAft>
                <a:spcPts val="400"/>
              </a:spcAft>
              <a:defRPr sz="1500">
                <a:solidFill>
                  <a:srgbClr val="1A1A1A"/>
                </a:solidFill>
              </a:defRPr>
            </a:pPr>
            <a:r>
              <a:t>• src/SprykerAcademy/Zed/AclMerchantPortal/AclMerchantPortalDependencyProvider.php — extends the project’s provider and registers the plugins</a:t>
            </a:r>
          </a:p>
          <a:p>
            <a:pPr>
              <a:spcAft>
                <a:spcPts val="800"/>
              </a:spcAft>
              <a:defRPr sz="1400" i="1">
                <a:solidFill>
                  <a:srgbClr val="888888"/>
                </a:solidFill>
              </a:defRPr>
            </a:pPr>
            <a:r>
              <a:t>❝ Why ACL? The Merchant Portal is multi-tenant. Each merchant user can only access modules explicitly allowed by ACL rules. Without the ACL plugin, the Merchant Portal logs you out (redirect to the login page) as soon as you open a supplier route.</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ACL (Access Control)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The Merchant Portal also restricts every database entity for merchant users (ACL entity rules). The exercise therefore ships a second plugin, SupplierMerchantPortalGuiMerchantAclEntityRuleExpanderPlugin , which grants access to the supplier tables. Without it every supplier query returns nothing, and opening a supplier answers with a 404.</a:t>
            </a:r>
          </a:p>
          <a:p>
            <a:pPr>
              <a:spcAft>
                <a:spcPts val="800"/>
              </a:spcAft>
              <a:defRPr sz="1600">
                <a:solidFill>
                  <a:srgbClr val="1A1A1A"/>
                </a:solidFill>
              </a:defRPr>
            </a:pPr>
            <a:r>
              <a:t>Both expander plugins only run when a merchant or merchant user is created. The demo merchant users already exist, so the rules are applied to them once - load.sh --run does it:</a:t>
            </a:r>
          </a:p>
          <a:p>
            <a:pPr>
              <a:spcBef>
                <a:spcPts val="0"/>
              </a:spcBef>
              <a:spcAft>
                <a:spcPts val="0"/>
              </a:spcAft>
            </a:pPr>
            <a:r>
              <a:rPr sz="900">
                <a:solidFill>
                  <a:srgbClr val="2D2D2D"/>
                </a:solidFill>
                <a:latin typeface="Consolas"/>
              </a:rPr>
              <a:t>docker/sdk</a:t>
            </a:r>
            <a:r>
              <a:rPr sz="900">
                <a:solidFill>
                  <a:srgbClr val="2D2D2D"/>
                </a:solidFill>
                <a:latin typeface="Consolas"/>
              </a:rPr>
              <a:t> console acl-entity:synchronize</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Frontend</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The Angular components live in src/SprykerAcademy/Zed/SupplierMerchantPortalGui/Presentation/Components . entry.ts registers the module in the Merchant Portal’s single JavaScript bundle ( // spy/merchant-portal:single-entry-marker ), exactly as the core modules do; the exercise loader added src/SprykerAcademy/Zed to the bundle’s entry points once. load.sh --run builds the bundle; after you changed a component, build it again (the first run also installs the npm dependencies, which takes a while):</a:t>
            </a:r>
          </a:p>
          <a:p>
            <a:pPr>
              <a:spcBef>
                <a:spcPts val="0"/>
              </a:spcBef>
              <a:spcAft>
                <a:spcPts val="0"/>
              </a:spcAft>
            </a:pPr>
            <a:r>
              <a:rPr sz="900">
                <a:solidFill>
                  <a:srgbClr val="2D2D2D"/>
                </a:solidFill>
                <a:latin typeface="Consolas"/>
              </a:rPr>
              <a:t>docker/sdk</a:t>
            </a:r>
            <a:r>
              <a:rPr sz="900">
                <a:solidFill>
                  <a:srgbClr val="2D2D2D"/>
                </a:solidFill>
                <a:latin typeface="Consolas"/>
              </a:rPr>
              <a:t> console frontend:mp:build</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Assign suppliers to your merchant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The table is merchant-scoped: it only lists suppliers linked to the logged-in merchant through pyz_merchant_to_supplier . The demo user harald@spryker.com (password change123 ) belongs to the merchant Spryker ( MER000008 , id 8). From this exercise on, data/import/supplier.csv has a merchant_ids column with that id, so an import links the suppliers:</a:t>
            </a:r>
          </a:p>
          <a:p>
            <a:pPr>
              <a:spcBef>
                <a:spcPts val="0"/>
              </a:spcBef>
              <a:spcAft>
                <a:spcPts val="0"/>
              </a:spcAft>
            </a:pPr>
            <a:r>
              <a:rPr sz="900">
                <a:solidFill>
                  <a:srgbClr val="2D2D2D"/>
                </a:solidFill>
                <a:latin typeface="Consolas"/>
              </a:rPr>
              <a:t>docker/sdk</a:t>
            </a:r>
            <a:r>
              <a:rPr sz="900">
                <a:solidFill>
                  <a:srgbClr val="2D2D2D"/>
                </a:solidFill>
                <a:latin typeface="Consolas"/>
              </a:rPr>
              <a:t> console data:import </a:t>
            </a:r>
            <a:r>
              <a:rPr sz="900">
                <a:solidFill>
                  <a:srgbClr val="2D2D2D"/>
                </a:solidFill>
                <a:latin typeface="Consolas"/>
              </a:rPr>
              <a:t>--config</a:t>
            </a:r>
            <a:r>
              <a:rPr sz="900">
                <a:solidFill>
                  <a:srgbClr val="666666"/>
                </a:solidFill>
                <a:latin typeface="Consolas"/>
              </a:rPr>
              <a:t>=</a:t>
            </a:r>
            <a:r>
              <a:rPr sz="900">
                <a:solidFill>
                  <a:srgbClr val="2D2D2D"/>
                </a:solidFill>
                <a:latin typeface="Consolas"/>
              </a:rPr>
              <a:t>data/import/local/supplier_import.yml</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Working on the Exercise</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1200"/>
              </a:spcBef>
              <a:spcAft>
                <a:spcPts val="600"/>
              </a:spcAft>
              <a:defRPr sz="2000" b="1">
                <a:solidFill>
                  <a:srgbClr val="1A1A1A"/>
                </a:solidFill>
              </a:defRPr>
            </a:pPr>
            <a:r>
              <a:t>Part 1: GuiTable Configuration Provider</a:t>
            </a:r>
          </a:p>
          <a:p>
            <a:pPr>
              <a:spcAft>
                <a:spcPts val="800"/>
              </a:spcAft>
              <a:defRPr sz="1600">
                <a:solidFill>
                  <a:srgbClr val="1A1A1A"/>
                </a:solidFill>
              </a:defRPr>
            </a:pPr>
            <a:r>
              <a:t>The configuration provider defines the table structure: columns, filters, sorting, row actions, and data source URL.</a:t>
            </a:r>
          </a:p>
          <a:p>
            <a:pPr>
              <a:spcAft>
                <a:spcPts val="800"/>
              </a:spcAft>
              <a:defRPr sz="1600">
                <a:solidFill>
                  <a:srgbClr val="1A1A1A"/>
                </a:solidFill>
              </a:defRPr>
            </a:pPr>
            <a:r>
              <a:t>Coding time:</a:t>
            </a:r>
          </a:p>
          <a:p>
            <a:pPr>
              <a:spcAft>
                <a:spcPts val="800"/>
              </a:spcAft>
              <a:defRPr sz="1600">
                <a:solidFill>
                  <a:srgbClr val="1A1A1A"/>
                </a:solidFill>
              </a:defRPr>
            </a:pPr>
            <a:r>
              <a:t>Open src/SprykerAcademy/Zed/SupplierMerchantPortalGui/Communication/ConfigurationProvider/SupplierGuiTableConfigurationProvider.php :</a:t>
            </a:r>
          </a:p>
          <a:p>
            <a:pPr>
              <a:spcAft>
                <a:spcPts val="400"/>
              </a:spcAft>
              <a:defRPr sz="1500">
                <a:solidFill>
                  <a:srgbClr val="1A1A1A"/>
                </a:solidFill>
              </a:defRPr>
            </a:pPr>
            <a:r>
              <a:t>• Get a configuration builder from $this-&gt;guiTableFactory-&gt;createConfigurationBuilder()</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Working on the Exercise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400"/>
              </a:spcAft>
              <a:defRPr sz="1500">
                <a:solidFill>
                  <a:srgbClr val="1A1A1A"/>
                </a:solidFill>
              </a:defRPr>
            </a:pPr>
            <a:r>
              <a:t>• Add columns: addColumnText('name', 'Name', sortable: true, searchable: true) addColumnText('description', 'Description', sortable: true, searchable: false) addColumnChip('status', 'Status', ...) with color map: 1 =&gt; green/Active , 0 =&gt; gray/Inactive addColumnText('email', 'Email', ...) addColumnText('phone', 'Phone', ...)</a:t>
            </a:r>
          </a:p>
          <a:p>
            <a:pPr>
              <a:spcAft>
                <a:spcPts val="400"/>
              </a:spcAft>
              <a:defRPr sz="1500">
                <a:solidFill>
                  <a:srgbClr val="1A1A1A"/>
                </a:solidFill>
              </a:defRPr>
            </a:pPr>
            <a:r>
              <a:t>• Add a status filter: addFilterSelect('status', 'Status', false, [1 =&gt; 'Active', 0 =&gt; 'Inactive'])</a:t>
            </a:r>
          </a:p>
          <a:p>
            <a:pPr>
              <a:spcAft>
                <a:spcPts val="400"/>
              </a:spcAft>
              <a:defRPr sz="1500">
                <a:solidFill>
                  <a:srgbClr val="1A1A1A"/>
                </a:solidFill>
              </a:defRPr>
            </a:pPr>
            <a:r>
              <a:t>• Add a row action for editing: addRowActionDrawerAjaxForm('edit', 'Edit', '/supplier-merchant-portal-gui/update-supplier?id-supplier=${row.idSupplier}')</a:t>
            </a:r>
          </a:p>
          <a:p>
            <a:pPr>
              <a:spcAft>
                <a:spcPts val="400"/>
              </a:spcAft>
              <a:defRPr sz="1500">
                <a:solidFill>
                  <a:srgbClr val="1A1A1A"/>
                </a:solidFill>
              </a:defRPr>
            </a:pPr>
            <a:r>
              <a:t>• Set data source URL, page size, and enable search</a:t>
            </a:r>
          </a:p>
          <a:p>
            <a:pPr>
              <a:spcAft>
                <a:spcPts val="800"/>
              </a:spcAft>
              <a:defRPr sz="1400" i="1">
                <a:solidFill>
                  <a:srgbClr val="888888"/>
                </a:solidFill>
              </a:defRPr>
            </a:pPr>
            <a:r>
              <a:t>❝ Column types: addColumnText() for plain text, addColumnChip() for status badges with color coding, addColumnDate() for dates.</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Working on the Exercise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400" i="1">
                <a:solidFill>
                  <a:srgbClr val="888888"/>
                </a:solidFill>
              </a:defRPr>
            </a:pPr>
            <a:r>
              <a:t>❝ Row action: addRowActionDrawerAjaxForm() opens a drawer overlay that loads a form via AJAX — you’ll build this in Exercise 16.</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2: GuiTable Data Provider</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The data provider bridges the GuiTable framework with your repository.</a:t>
            </a:r>
          </a:p>
          <a:p>
            <a:pPr>
              <a:spcAft>
                <a:spcPts val="800"/>
              </a:spcAft>
              <a:defRPr sz="1600">
                <a:solidFill>
                  <a:srgbClr val="1A1A1A"/>
                </a:solidFill>
              </a:defRPr>
            </a:pPr>
            <a:r>
              <a:t>Coding time:</a:t>
            </a:r>
          </a:p>
          <a:p>
            <a:pPr>
              <a:spcAft>
                <a:spcPts val="800"/>
              </a:spcAft>
              <a:defRPr sz="1600">
                <a:solidFill>
                  <a:srgbClr val="1A1A1A"/>
                </a:solidFill>
              </a:defRPr>
            </a:pPr>
            <a:r>
              <a:t>Open src/SprykerAcademy/Zed/SupplierMerchantPortalGui/Communication/DataProvider/SupplierGuiTableDataProvider.php :</a:t>
            </a:r>
          </a:p>
          <a:p>
            <a:pPr>
              <a:spcAft>
                <a:spcPts val="400"/>
              </a:spcAft>
              <a:defRPr sz="1500">
                <a:solidFill>
                  <a:srgbClr val="1A1A1A"/>
                </a:solidFill>
              </a:defRPr>
            </a:pPr>
            <a:r>
              <a:t>• In createCriteria() , build a SupplierMerchantPortalTableCriteriaTransfer with the current merchant’s reference: $this -&gt;merchantUserFacade-&gt;getCurrentMerchantUser()-&gt;getMerchantOrFail()-&gt;getMerchantReference()</a:t>
            </a:r>
          </a:p>
          <a:p>
            <a:pPr>
              <a:spcAft>
                <a:spcPts val="400"/>
              </a:spcAft>
              <a:defRPr sz="1500">
                <a:solidFill>
                  <a:srgbClr val="1A1A1A"/>
                </a:solidFill>
              </a:defRPr>
            </a:pPr>
            <a:r>
              <a:t>• In fetchData() , delegate to the repository: $this-&gt;repository-&gt;getSupplierTableData($criteriaTransfer)</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2: GuiTable Data Provider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400" i="1">
                <a:solidFill>
                  <a:srgbClr val="888888"/>
                </a:solidFill>
              </a:defRPr>
            </a:pPr>
            <a:r>
              <a:t>❝ AbstractGuiTableDataProvider: The base class handles extracting pagination, sorting, filtering, and search parameters from the HTTP request and passing them to your criteria transfer.</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3: Repository (Merchant-Scoped Query)</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The repository builds a Propel query that only returns suppliers assigned to the current merchant.</a:t>
            </a:r>
          </a:p>
          <a:p>
            <a:pPr>
              <a:spcAft>
                <a:spcPts val="800"/>
              </a:spcAft>
              <a:defRPr sz="1600">
                <a:solidFill>
                  <a:srgbClr val="1A1A1A"/>
                </a:solidFill>
              </a:defRPr>
            </a:pPr>
            <a:r>
              <a:t>Coding time:</a:t>
            </a:r>
          </a:p>
          <a:p>
            <a:pPr>
              <a:spcAft>
                <a:spcPts val="800"/>
              </a:spcAft>
              <a:defRPr sz="1600">
                <a:solidFill>
                  <a:srgbClr val="1A1A1A"/>
                </a:solidFill>
              </a:defRPr>
            </a:pPr>
            <a:r>
              <a:t>Open src/SprykerAcademy/Zed/SupplierMerchantPortalGui/Persistence/SupplierMerchantPortalGuiRepository.php :</a:t>
            </a:r>
          </a:p>
          <a:p>
            <a:pPr>
              <a:spcAft>
                <a:spcPts val="800"/>
              </a:spcAft>
              <a:defRPr sz="1600">
                <a:solidFill>
                  <a:srgbClr val="1A1A1A"/>
                </a:solidFill>
              </a:defRPr>
            </a:pPr>
            <a:r>
              <a:t>In getSupplierTableData() :</a:t>
            </a:r>
          </a:p>
          <a:p>
            <a:pPr>
              <a:spcAft>
                <a:spcPts val="400"/>
              </a:spcAft>
              <a:defRPr sz="1500">
                <a:solidFill>
                  <a:srgbClr val="1A1A1A"/>
                </a:solidFill>
              </a:defRPr>
            </a:pPr>
            <a:r>
              <a:t>• Get a fresh PyzSupplierQuery from the factory</a:t>
            </a:r>
          </a:p>
          <a:p>
            <a:pPr>
              <a:spcAft>
                <a:spcPts val="400"/>
              </a:spcAft>
              <a:defRPr sz="1500">
                <a:solidFill>
                  <a:srgbClr val="1A1A1A"/>
                </a:solidFill>
              </a:defRPr>
            </a:pPr>
            <a:r>
              <a:t>• Join with PyzMerchantToSupplier and filter by merchant reference: $supplierQuery -&gt;usePyzMerchantToSupplierQuery() -&gt;useSpyMerchantQuery() -&gt;filterByMerchantReference( $criteriaTransfer -&gt;getMerchantReference()) -&gt;endUse() -&gt;endUse() ;</a:t>
            </a:r>
          </a:p>
          <a:p>
            <a:pPr>
              <a:spcAft>
                <a:spcPts val="400"/>
              </a:spcAft>
              <a:defRPr sz="1500">
                <a:solidFill>
                  <a:srgbClr val="1A1A1A"/>
                </a:solidFill>
              </a:defRPr>
            </a:pPr>
            <a:r>
              <a:t>• Apply search filter on name/description/email if searchTerm is set</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3: Repository (Merchant-Scoped Query)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400"/>
              </a:spcAft>
              <a:defRPr sz="1500">
                <a:solidFill>
                  <a:srgbClr val="1A1A1A"/>
                </a:solidFill>
              </a:defRPr>
            </a:pPr>
            <a:r>
              <a:t>• Apply status filter if filterStatus is set</a:t>
            </a:r>
          </a:p>
          <a:p>
            <a:pPr>
              <a:spcAft>
                <a:spcPts val="400"/>
              </a:spcAft>
              <a:defRPr sz="1500">
                <a:solidFill>
                  <a:srgbClr val="1A1A1A"/>
                </a:solidFill>
              </a:defRPr>
            </a:pPr>
            <a:r>
              <a:t>• Count total before pagination</a:t>
            </a:r>
          </a:p>
          <a:p>
            <a:pPr>
              <a:spcAft>
                <a:spcPts val="400"/>
              </a:spcAft>
              <a:defRPr sz="1500">
                <a:solidFill>
                  <a:srgbClr val="1A1A1A"/>
                </a:solidFill>
              </a:defRPr>
            </a:pPr>
            <a:r>
              <a:t>• Apply sorting and pagination</a:t>
            </a:r>
          </a:p>
          <a:p>
            <a:pPr>
              <a:spcAft>
                <a:spcPts val="400"/>
              </a:spcAft>
              <a:defRPr sz="1500">
                <a:solidFill>
                  <a:srgbClr val="1A1A1A"/>
                </a:solidFill>
              </a:defRPr>
            </a:pPr>
            <a:r>
              <a:t>• Map each PyzSupplier entity to a GuiTableRowDataResponseTransfer with keys matching the column IDs</a:t>
            </a:r>
          </a:p>
          <a:p>
            <a:pPr>
              <a:spcAft>
                <a:spcPts val="800"/>
              </a:spcAft>
              <a:defRPr sz="1400" i="1">
                <a:solidFill>
                  <a:srgbClr val="888888"/>
                </a:solidFill>
              </a:defRPr>
            </a:pPr>
            <a:r>
              <a:t>❝ Propel nested joins: usePyzMerchantToSupplierQuery() creates a JOIN with the bridge table. useSpyMerchantQuery() then joins with the merchant table to filter by reference.</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4: Controller</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The controller has two actions: one for the page and one for AJAX table data.</a:t>
            </a:r>
          </a:p>
          <a:p>
            <a:pPr>
              <a:spcAft>
                <a:spcPts val="800"/>
              </a:spcAft>
              <a:defRPr sz="1600">
                <a:solidFill>
                  <a:srgbClr val="1A1A1A"/>
                </a:solidFill>
              </a:defRPr>
            </a:pPr>
            <a:r>
              <a:t>Coding time:</a:t>
            </a:r>
          </a:p>
          <a:p>
            <a:pPr>
              <a:spcAft>
                <a:spcPts val="800"/>
              </a:spcAft>
              <a:defRPr sz="1600">
                <a:solidFill>
                  <a:srgbClr val="1A1A1A"/>
                </a:solidFill>
              </a:defRPr>
            </a:pPr>
            <a:r>
              <a:t>Open src/SprykerAcademy/Zed/SupplierMerchantPortalGui/Communication/Controller/SupplierController.php :</a:t>
            </a:r>
          </a:p>
          <a:p>
            <a:pPr>
              <a:spcAft>
                <a:spcPts val="400"/>
              </a:spcAft>
              <a:defRPr sz="1500">
                <a:solidFill>
                  <a:srgbClr val="1A1A1A"/>
                </a:solidFill>
              </a:defRPr>
            </a:pPr>
            <a:r>
              <a:t>• indexAction() — return viewResponse with supplierTableConfiguration from the configuration provider</a:t>
            </a:r>
          </a:p>
          <a:p>
            <a:pPr>
              <a:spcAft>
                <a:spcPts val="400"/>
              </a:spcAft>
              <a:defRPr sz="1500">
                <a:solidFill>
                  <a:srgbClr val="1A1A1A"/>
                </a:solidFill>
              </a:defRPr>
            </a:pPr>
            <a:r>
              <a:t>• tableDataAction() — use GuiTableHttpDataRequestExecutor::execute() with the data provider and configuration</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5: Angular Component Wiring</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The Angular components are provided. You need to register them as web components.</a:t>
            </a:r>
          </a:p>
          <a:p>
            <a:pPr>
              <a:spcAft>
                <a:spcPts val="800"/>
              </a:spcAft>
              <a:defRPr sz="1600">
                <a:solidFill>
                  <a:srgbClr val="1A1A1A"/>
                </a:solidFill>
              </a:defRPr>
            </a:pPr>
            <a:r>
              <a:t>Coding time:</a:t>
            </a:r>
          </a:p>
          <a:p>
            <a:pPr>
              <a:spcAft>
                <a:spcPts val="800"/>
              </a:spcAft>
              <a:defRPr sz="1600">
                <a:solidFill>
                  <a:srgbClr val="1A1A1A"/>
                </a:solidFill>
              </a:defRPr>
            </a:pPr>
            <a:r>
              <a:t>Open src/SprykerAcademy/Zed/SupplierMerchantPortalGui/Presentation/Components/app/components.module.ts :</a:t>
            </a:r>
          </a:p>
          <a:p>
            <a:pPr>
              <a:spcAft>
                <a:spcPts val="800"/>
              </a:spcAft>
              <a:defRPr sz="1600">
                <a:solidFill>
                  <a:srgbClr val="1A1A1A"/>
                </a:solidFill>
              </a:defRPr>
            </a:pPr>
            <a:r>
              <a:t>Add SupplierListComponent to the WebComponentsModule.withComponents([...]) array. This transforms the Angular component into a custom HTML element ( &lt;web-mp-supplier-list&gt; ) that Twig can use.</a:t>
            </a:r>
          </a:p>
          <a:p>
            <a:pPr>
              <a:spcAft>
                <a:spcPts val="800"/>
              </a:spcAft>
              <a:defRPr sz="1400" i="1">
                <a:solidFill>
                  <a:srgbClr val="888888"/>
                </a:solidFill>
              </a:defRPr>
            </a:pPr>
            <a:r>
              <a:t>❝ Web Components pattern: Spryker uses @spryker/web-components to bridge Angular components with server-rendered Twig. The withComponents([...]) call registers each Angular component as a custom element with the web- prefix added to its selector.</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Testing</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After completing all parts, rebuild the frontend (Part 5 changed a component) and clear the cache:</a:t>
            </a:r>
          </a:p>
          <a:p>
            <a:pPr>
              <a:spcBef>
                <a:spcPts val="0"/>
              </a:spcBef>
              <a:spcAft>
                <a:spcPts val="0"/>
              </a:spcAft>
            </a:pPr>
            <a:r>
              <a:rPr sz="900">
                <a:solidFill>
                  <a:srgbClr val="2D2D2D"/>
                </a:solidFill>
                <a:latin typeface="Consolas"/>
              </a:rPr>
              <a:t>docker/sdk</a:t>
            </a:r>
            <a:r>
              <a:rPr sz="900">
                <a:solidFill>
                  <a:srgbClr val="2D2D2D"/>
                </a:solidFill>
                <a:latin typeface="Consolas"/>
              </a:rPr>
              <a:t> console frontend:mp:build</a:t>
            </a:r>
          </a:p>
          <a:p>
            <a:pPr>
              <a:spcBef>
                <a:spcPts val="0"/>
              </a:spcBef>
              <a:spcAft>
                <a:spcPts val="0"/>
              </a:spcAft>
            </a:pPr>
            <a:r>
              <a:rPr sz="900">
                <a:solidFill>
                  <a:srgbClr val="2D2D2D"/>
                </a:solidFill>
                <a:latin typeface="Consolas"/>
              </a:rPr>
              <a:t>docker/sdk</a:t>
            </a:r>
            <a:r>
              <a:rPr sz="900">
                <a:solidFill>
                  <a:srgbClr val="2D2D2D"/>
                </a:solidFill>
                <a:latin typeface="Consolas"/>
              </a:rPr>
              <a:t> console cache:empty-all</a:t>
            </a:r>
          </a:p>
          <a:p>
            <a:pPr>
              <a:spcBef>
                <a:spcPts val="0"/>
              </a:spcBef>
              <a:spcAft>
                <a:spcPts val="0"/>
              </a:spcAft>
            </a:pPr>
            <a:r>
              <a:rPr sz="900">
                <a:solidFill>
                  <a:srgbClr val="2D2D2D"/>
                </a:solidFill>
                <a:latin typeface="Consolas"/>
              </a:rPr>
              <a:t>docker/sdk</a:t>
            </a:r>
            <a:r>
              <a:rPr sz="900">
                <a:solidFill>
                  <a:srgbClr val="2D2D2D"/>
                </a:solidFill>
                <a:latin typeface="Consolas"/>
              </a:rPr>
              <a:t> console propel:model:build</a:t>
            </a:r>
          </a:p>
          <a:p>
            <a:pPr>
              <a:spcAft>
                <a:spcPts val="400"/>
              </a:spcAft>
              <a:defRPr sz="1500">
                <a:solidFill>
                  <a:srgbClr val="1A1A1A"/>
                </a:solidFill>
              </a:defRPr>
            </a:pPr>
            <a:r>
              <a:t>• Log in to the Merchant Portal (e.g., mp.eu.spryker.local )</a:t>
            </a:r>
          </a:p>
          <a:p>
            <a:pPr>
              <a:spcAft>
                <a:spcPts val="400"/>
              </a:spcAft>
              <a:defRPr sz="1500">
                <a:solidFill>
                  <a:srgbClr val="1A1A1A"/>
                </a:solidFill>
              </a:defRPr>
            </a:pPr>
            <a:r>
              <a:t>• You should see “Suppliers” in the navigation</a:t>
            </a:r>
          </a:p>
          <a:p>
            <a:pPr>
              <a:spcAft>
                <a:spcPts val="400"/>
              </a:spcAft>
              <a:defRPr sz="1500">
                <a:solidFill>
                  <a:srgbClr val="1A1A1A"/>
                </a:solidFill>
              </a:defRPr>
            </a:pPr>
            <a:r>
              <a:t>• The table should show only suppliers assigned to your merchant</a:t>
            </a:r>
          </a:p>
          <a:p>
            <a:pPr>
              <a:spcAft>
                <a:spcPts val="400"/>
              </a:spcAft>
              <a:defRPr sz="1500">
                <a:solidFill>
                  <a:srgbClr val="1A1A1A"/>
                </a:solidFill>
              </a:defRPr>
            </a:pPr>
            <a:r>
              <a:t>• Try the search, status filter, and column sorting</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Solution</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./exercises/load.sh</a:t>
            </a:r>
            <a:r>
              <a:rPr sz="900">
                <a:solidFill>
                  <a:srgbClr val="2D2D2D"/>
                </a:solidFill>
                <a:latin typeface="Consolas"/>
              </a:rPr>
              <a:t> supplier intermediate/merchant-portal-table/complete </a:t>
            </a:r>
            <a:r>
              <a:rPr sz="900">
                <a:solidFill>
                  <a:srgbClr val="2D2D2D"/>
                </a:solidFill>
                <a:latin typeface="Consolas"/>
              </a:rPr>
              <a:t>--run</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spAutoFit/>
          </a:bodyPr>
          <a:lstStyle/>
          <a:p>
            <a:pPr algn="ctr">
              <a:defRPr sz="3600" b="1">
                <a:solidFill>
                  <a:srgbClr val="00A89B"/>
                </a:solidFill>
              </a:defRPr>
            </a:pPr>
            <a:r>
              <a:t>Exercise 16: Merchant Portal — Supplier Create/Edit Form</a:t>
            </a:r>
          </a:p>
        </p:txBody>
      </p:sp>
      <p:sp>
        <p:nvSpPr>
          <p:cNvPr id="3" name="Rectangle 2"/>
          <p:cNvSpPr/>
          <p:nvPr/>
        </p:nvSpPr>
        <p:spPr>
          <a:xfrm>
            <a:off x="3657600" y="2286000"/>
            <a:ext cx="4876495" cy="381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Exercise 16: Merchant Portal — Supplier Create/Edit Form</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In this exercise, you will add create and edit functionality for suppliers in the Merchant Portal using drawer forms. You will learn the Merchant Portal form pattern: Symfony forms rendered in Angular drawers, with JSON responses controlling the UI lifecycle (close drawer, refresh table, show notifications).</a:t>
            </a:r>
          </a:p>
          <a:p>
            <a:pPr>
              <a:spcAft>
                <a:spcPts val="800"/>
              </a:spcAft>
              <a:defRPr sz="1600">
                <a:solidFill>
                  <a:srgbClr val="1A1A1A"/>
                </a:solidFill>
              </a:defRPr>
            </a:pPr>
            <a:r>
              <a:t>You will learn how to: - Create a Symfony form type for the Merchant Portal - Build create and update controllers that return JsonResponse - Use ZedUiFormResponseBuilder for drawer actions (close, refresh, notify) - Auto-link new suppliers to the current merchant - Register an Angular edit component as a web component</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Prerequisites</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400"/>
              </a:spcAft>
              <a:defRPr sz="1500">
                <a:solidFill>
                  <a:srgbClr val="1A1A1A"/>
                </a:solidFill>
              </a:defRPr>
            </a:pPr>
            <a:r>
              <a:t>• You do not need your own solutions of the earlier exercises. The branch contains them, and load.sh --run imports the sample suppliers and links them to the demo merchant; the branch contains the Merchant Portal table of Exercise 15.</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Loading the Exercise</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./exercises/load.sh</a:t>
            </a:r>
            <a:r>
              <a:rPr sz="900">
                <a:solidFill>
                  <a:srgbClr val="2D2D2D"/>
                </a:solidFill>
                <a:latin typeface="Consolas"/>
              </a:rPr>
              <a:t> supplier intermediate/merchant-portal-form/skeleton </a:t>
            </a:r>
            <a:r>
              <a:rPr sz="900">
                <a:solidFill>
                  <a:srgbClr val="2D2D2D"/>
                </a:solidFill>
                <a:latin typeface="Consolas"/>
              </a:rPr>
              <a:t>--run</a:t>
            </a:r>
          </a:p>
          <a:p>
            <a:pPr>
              <a:spcAft>
                <a:spcPts val="800"/>
              </a:spcAft>
              <a:defRPr sz="1600">
                <a:solidFill>
                  <a:srgbClr val="1A1A1A"/>
                </a:solidFill>
              </a:defRPr>
            </a:pPr>
            <a:r>
              <a:t>--run also runs the commands the loader lists after loading (cache, Propel, transfers and whatever this exercise needs, such as queues or Glue resources) and stops at the first one that fails. Leave it out to run them yourself.</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Background: Merchant Portal Form Pattern</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Unlike the Back Office (which uses full page reloads), the Merchant Portal uses drawer forms that open as side panels over the table:</a:t>
            </a:r>
          </a:p>
          <a:p>
            <a:pPr>
              <a:spcBef>
                <a:spcPts val="0"/>
              </a:spcBef>
              <a:spcAft>
                <a:spcPts val="0"/>
              </a:spcAft>
            </a:pPr>
            <a:r>
              <a:rPr sz="900">
                <a:solidFill>
                  <a:srgbClr val="2D2D2D"/>
                </a:solidFill>
                <a:latin typeface="Consolas"/>
              </a:rPr>
              <a:t>Table row action "Edit" clicked</a:t>
            </a:r>
          </a:p>
          <a:p>
            <a:pPr>
              <a:spcBef>
                <a:spcPts val="0"/>
              </a:spcBef>
              <a:spcAft>
                <a:spcPts val="0"/>
              </a:spcAft>
            </a:pPr>
            <a:r>
              <a:rPr sz="900">
                <a:solidFill>
                  <a:srgbClr val="2D2D2D"/>
                </a:solidFill>
                <a:latin typeface="Consolas"/>
              </a:rPr>
              <a:t>    → AJAX GET /supplier-merchant-portal-gui/update-supplier?id-supplier=5</a:t>
            </a:r>
          </a:p>
          <a:p>
            <a:pPr>
              <a:spcBef>
                <a:spcPts val="0"/>
              </a:spcBef>
              <a:spcAft>
                <a:spcPts val="0"/>
              </a:spcAft>
            </a:pPr>
            <a:r>
              <a:rPr sz="900">
                <a:solidFill>
                  <a:srgbClr val="2D2D2D"/>
                </a:solidFill>
                <a:latin typeface="Consolas"/>
              </a:rPr>
              <a:t>    → Controller answers {"form": "&lt;rendered form HTML&gt;"}</a:t>
            </a:r>
          </a:p>
          <a:p>
            <a:pPr>
              <a:spcBef>
                <a:spcPts val="0"/>
              </a:spcBef>
              <a:spcAft>
                <a:spcPts val="0"/>
              </a:spcAft>
            </a:pPr>
            <a:r>
              <a:rPr sz="900">
                <a:solidFill>
                  <a:srgbClr val="2D2D2D"/>
                </a:solidFill>
                <a:latin typeface="Consolas"/>
              </a:rPr>
              <a:t>    → Angular opens the drawer with that HTML</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Form submitted</a:t>
            </a:r>
          </a:p>
          <a:p>
            <a:pPr>
              <a:spcBef>
                <a:spcPts val="0"/>
              </a:spcBef>
              <a:spcAft>
                <a:spcPts val="0"/>
              </a:spcAft>
            </a:pPr>
            <a:r>
              <a:rPr sz="900">
                <a:solidFill>
                  <a:srgbClr val="2D2D2D"/>
                </a:solidFill>
                <a:latin typeface="Consolas"/>
              </a:rPr>
              <a:t>    → AJAX POST to same URL</a:t>
            </a:r>
          </a:p>
          <a:p>
            <a:pPr>
              <a:spcBef>
                <a:spcPts val="0"/>
              </a:spcBef>
              <a:spcAft>
                <a:spcPts val="0"/>
              </a:spcAft>
            </a:pPr>
            <a:r>
              <a:rPr sz="900">
                <a:solidFill>
                  <a:srgbClr val="2D2D2D"/>
                </a:solidFill>
                <a:latin typeface="Consolas"/>
              </a:rPr>
              <a:t>    → Controller validates form</a:t>
            </a:r>
          </a:p>
          <a:p>
            <a:pPr>
              <a:spcBef>
                <a:spcPts val="0"/>
              </a:spcBef>
              <a:spcAft>
                <a:spcPts val="0"/>
              </a:spcAft>
            </a:pPr>
            <a:r>
              <a:rPr sz="900">
                <a:solidFill>
                  <a:srgbClr val="2D2D2D"/>
                </a:solidFill>
                <a:latin typeface="Consolas"/>
              </a:rPr>
              <a:t>    → If valid: returns ZedUiFormResponse with actions</a:t>
            </a:r>
          </a:p>
          <a:p>
            <a:pPr>
              <a:spcBef>
                <a:spcPts val="0"/>
              </a:spcBef>
              <a:spcAft>
                <a:spcPts val="0"/>
              </a:spcAft>
            </a:pPr>
            <a:r>
              <a:rPr sz="900">
                <a:solidFill>
                  <a:srgbClr val="2D2D2D"/>
                </a:solidFill>
                <a:latin typeface="Consolas"/>
              </a:rPr>
              <a:t>        → addSuccessNotification("Supplier updated")</a:t>
            </a:r>
          </a:p>
          <a:p>
            <a:pPr>
              <a:spcBef>
                <a:spcPts val="0"/>
              </a:spcBef>
              <a:spcAft>
                <a:spcPts val="0"/>
              </a:spcAft>
            </a:pPr>
            <a:r>
              <a:rPr sz="900">
                <a:solidFill>
                  <a:srgbClr val="2D2D2D"/>
                </a:solidFill>
                <a:latin typeface="Consolas"/>
              </a:rPr>
              <a:t>        → addActionCloseDrawer()</a:t>
            </a:r>
          </a:p>
          <a:p>
            <a:pPr>
              <a:spcBef>
                <a:spcPts val="0"/>
              </a:spcBef>
              <a:spcAft>
                <a:spcPts val="0"/>
              </a:spcAft>
            </a:pPr>
            <a:r>
              <a:rPr sz="900">
                <a:solidFill>
                  <a:srgbClr val="2D2D2D"/>
                </a:solidFill>
                <a:latin typeface="Consolas"/>
              </a:rPr>
              <a:t>        → addActionRefreshTable()</a:t>
            </a:r>
          </a:p>
          <a:p>
            <a:pPr>
              <a:spcBef>
                <a:spcPts val="0"/>
              </a:spcBef>
              <a:spcAft>
                <a:spcPts val="0"/>
              </a:spcAft>
            </a:pPr>
            <a:r>
              <a:rPr sz="900">
                <a:solidFill>
                  <a:srgbClr val="2D2D2D"/>
                </a:solidFill>
                <a:latin typeface="Consolas"/>
              </a:rPr>
              <a:t>    → Angular executes actions: closes drawer, refreshes table, shows toast</a:t>
            </a:r>
          </a:p>
          <a:p>
            <a:pPr>
              <a:spcBef>
                <a:spcPts val="0"/>
              </a:spcBef>
              <a:spcAft>
                <a:spcPts val="0"/>
              </a:spcAft>
            </a:pPr>
            <a:r>
              <a:rPr sz="900">
                <a:solidFill>
                  <a:srgbClr val="2D2D2D"/>
                </a:solidFill>
                <a:latin typeface="Consolas"/>
              </a:rPr>
              <a:t>    → If invalid: returns {"form": ...} again, re-rendered with the errors</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Background: Merchant Portal Form Pattern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Key difference from Back Office: Controllers return JsonResponse (not viewResponse ). The drawer’s ajax form reads two things from it: form , the HTML it shows, and the ZedUi actions and notifications after a successful submit.</a:t>
            </a:r>
          </a:p>
          <a:p>
            <a:pPr>
              <a:spcAft>
                <a:spcPts val="800"/>
              </a:spcAft>
              <a:defRPr sz="1600">
                <a:solidFill>
                  <a:srgbClr val="1A1A1A"/>
                </a:solidFill>
              </a:defRPr>
            </a:pPr>
            <a:r>
              <a:t>The provided template Presentation/Partials/_supplier_form.twig is drawer content, not a page: it extends no layout, and form_start(form, { attr: { excludeFormTag: true } }) leaves the &lt;form&gt; tag out, because the drawer’s ajax form wraps the content in its own. The “Add Supplier” button of the supplier list ( &lt;web-spy-button-action&gt; ) opens /supplier-merchant-portal-gui/create-supplier in such a drawer; a table row’s “Edit” action opens update-supplier .</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Working on the Exercise</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1200"/>
              </a:spcBef>
              <a:spcAft>
                <a:spcPts val="600"/>
              </a:spcAft>
              <a:defRPr sz="2000" b="1">
                <a:solidFill>
                  <a:srgbClr val="1A1A1A"/>
                </a:solidFill>
              </a:defRPr>
            </a:pPr>
            <a:r>
              <a:t>Part 1: Supplier Form</a:t>
            </a:r>
          </a:p>
          <a:p>
            <a:pPr>
              <a:spcAft>
                <a:spcPts val="800"/>
              </a:spcAft>
              <a:defRPr sz="1600">
                <a:solidFill>
                  <a:srgbClr val="1A1A1A"/>
                </a:solidFill>
              </a:defRPr>
            </a:pPr>
            <a:r>
              <a:t>Coding time:</a:t>
            </a:r>
          </a:p>
          <a:p>
            <a:pPr>
              <a:spcAft>
                <a:spcPts val="800"/>
              </a:spcAft>
              <a:defRPr sz="1600">
                <a:solidFill>
                  <a:srgbClr val="1A1A1A"/>
                </a:solidFill>
              </a:defRPr>
            </a:pPr>
            <a:r>
              <a:t>Open src/SprykerAcademy/Zed/SupplierMerchantPortalGui/Communication/Form/SupplierForm.php :</a:t>
            </a:r>
          </a:p>
          <a:p>
            <a:pPr>
              <a:spcAft>
                <a:spcPts val="800"/>
              </a:spcAft>
              <a:defRPr sz="1600">
                <a:solidFill>
                  <a:srgbClr val="1A1A1A"/>
                </a:solidFill>
              </a:defRPr>
            </a:pPr>
            <a:r>
              <a:t>In buildForm() , add these fields:</a:t>
            </a:r>
          </a:p>
          <a:p>
            <a:pPr>
              <a:spcAft>
                <a:spcPts val="100"/>
              </a:spcAft>
              <a:defRPr sz="1000">
                <a:solidFill>
                  <a:srgbClr val="1A1A1A"/>
                </a:solidFill>
                <a:latin typeface="Consolas"/>
              </a:defRPr>
            </a:pPr>
            <a:r>
              <a:t>Field        Type          Options                               </a:t>
            </a:r>
          </a:p>
          <a:p>
            <a:pPr>
              <a:spcAft>
                <a:spcPts val="100"/>
              </a:spcAft>
              <a:defRPr sz="1000">
                <a:solidFill>
                  <a:srgbClr val="1A1A1A"/>
                </a:solidFill>
                <a:latin typeface="Consolas"/>
              </a:defRPr>
            </a:pPr>
            <a:r>
              <a:t>-----------  ------------  --------------------------------------</a:t>
            </a:r>
          </a:p>
          <a:p>
            <a:pPr>
              <a:spcAft>
                <a:spcPts val="100"/>
              </a:spcAft>
              <a:defRPr sz="1000">
                <a:solidFill>
                  <a:srgbClr val="1A1A1A"/>
                </a:solidFill>
                <a:latin typeface="Consolas"/>
              </a:defRPr>
            </a:pPr>
            <a:r>
              <a:t>name         TextType      required, NotBlank constraint         </a:t>
            </a:r>
          </a:p>
          <a:p>
            <a:pPr>
              <a:spcAft>
                <a:spcPts val="100"/>
              </a:spcAft>
              <a:defRPr sz="1000">
                <a:solidFill>
                  <a:srgbClr val="1A1A1A"/>
                </a:solidFill>
                <a:latin typeface="Consolas"/>
              </a:defRPr>
            </a:pPr>
            <a:r>
              <a:t>description  TextareaType  optional                              </a:t>
            </a:r>
          </a:p>
          <a:p>
            <a:pPr>
              <a:spcAft>
                <a:spcPts val="100"/>
              </a:spcAft>
              <a:defRPr sz="1000">
                <a:solidFill>
                  <a:srgbClr val="1A1A1A"/>
                </a:solidFill>
                <a:latin typeface="Consolas"/>
              </a:defRPr>
            </a:pPr>
            <a:r>
              <a:t>email        EmailType     required, NotBlank constraint         </a:t>
            </a:r>
          </a:p>
          <a:p>
            <a:pPr>
              <a:spcAft>
                <a:spcPts val="100"/>
              </a:spcAft>
              <a:defRPr sz="1000">
                <a:solidFill>
                  <a:srgbClr val="1A1A1A"/>
                </a:solidFill>
                <a:latin typeface="Consolas"/>
              </a:defRPr>
            </a:pPr>
            <a:r>
              <a:t>phone        TextType      optional                              </a:t>
            </a:r>
          </a:p>
          <a:p>
            <a:pPr>
              <a:spcAft>
                <a:spcPts val="100"/>
              </a:spcAft>
              <a:defRPr sz="1000">
                <a:solidFill>
                  <a:srgbClr val="1A1A1A"/>
                </a:solidFill>
                <a:latin typeface="Consolas"/>
              </a:defRPr>
            </a:pPr>
            <a:r>
              <a:t>isActive     CheckboxType  property_path: 'status' , not required</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Working on the Exercise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400" i="1">
                <a:solidFill>
                  <a:srgbClr val="888888"/>
                </a:solidFill>
              </a:defRPr>
            </a:pPr>
            <a:r>
              <a:t>❝ property_path : The isActive checkbox maps to the status field on SupplierTransfer via property_path . This lets the form display a friendly checkbox while the transfer uses an integer status.</a:t>
            </a:r>
          </a:p>
          <a:p>
            <a:pPr>
              <a:spcAft>
                <a:spcPts val="800"/>
              </a:spcAft>
              <a:defRPr sz="1600">
                <a:solidFill>
                  <a:srgbClr val="1A1A1A"/>
                </a:solidFill>
              </a:defRPr>
            </a:pPr>
            <a:r>
              <a:t>A CheckboxType only accepts booleans as model data, but status is an integer ( 1 / 0 ). Without a transformer, opening the form fails with “Unable to transform value for property path”status“: Expected a Boolean” . Add a model transformer to the field after the add() chain:</a:t>
            </a:r>
          </a:p>
          <a:p>
            <a:pPr>
              <a:spcBef>
                <a:spcPts val="0"/>
              </a:spcBef>
              <a:spcAft>
                <a:spcPts val="0"/>
              </a:spcAft>
            </a:pPr>
            <a:r>
              <a:rPr sz="900">
                <a:solidFill>
                  <a:srgbClr val="19177C"/>
                </a:solidFill>
                <a:latin typeface="Consolas"/>
              </a:rPr>
              <a:t>$builder</a:t>
            </a:r>
            <a:r>
              <a:rPr sz="900">
                <a:solidFill>
                  <a:srgbClr val="2D2D2D"/>
                </a:solidFill>
                <a:latin typeface="Consolas"/>
              </a:rPr>
              <a:t>-&gt;get(</a:t>
            </a:r>
            <a:r>
              <a:rPr sz="900" b="1">
                <a:solidFill>
                  <a:srgbClr val="007020"/>
                </a:solidFill>
                <a:latin typeface="Consolas"/>
              </a:rPr>
              <a:t>static</a:t>
            </a:r>
            <a:r>
              <a:rPr sz="900">
                <a:solidFill>
                  <a:srgbClr val="2D2D2D"/>
                </a:solidFill>
                <a:latin typeface="Consolas"/>
              </a:rPr>
              <a:t>::</a:t>
            </a:r>
            <a:r>
              <a:rPr sz="900">
                <a:solidFill>
                  <a:srgbClr val="880000"/>
                </a:solidFill>
                <a:latin typeface="Consolas"/>
              </a:rPr>
              <a:t>FIELD_IS_ACTIVE</a:t>
            </a:r>
            <a:r>
              <a:rPr sz="900">
                <a:solidFill>
                  <a:srgbClr val="2D2D2D"/>
                </a:solidFill>
                <a:latin typeface="Consolas"/>
              </a:rPr>
              <a:t>)-&gt;addModelTransformer(</a:t>
            </a:r>
            <a:r>
              <a:rPr sz="900" b="1">
                <a:solidFill>
                  <a:srgbClr val="007020"/>
                </a:solidFill>
                <a:latin typeface="Consolas"/>
              </a:rPr>
              <a:t>new</a:t>
            </a:r>
            <a:r>
              <a:rPr sz="900">
                <a:solidFill>
                  <a:srgbClr val="2D2D2D"/>
                </a:solidFill>
                <a:latin typeface="Consolas"/>
              </a:rPr>
              <a:t> </a:t>
            </a:r>
            <a:r>
              <a:rPr sz="900">
                <a:solidFill>
                  <a:srgbClr val="880000"/>
                </a:solidFill>
                <a:latin typeface="Consolas"/>
              </a:rPr>
              <a:t>C</a:t>
            </a:r>
            <a:r>
              <a:rPr sz="900">
                <a:solidFill>
                  <a:srgbClr val="2D2D2D"/>
                </a:solidFill>
                <a:latin typeface="Consolas"/>
              </a:rPr>
              <a:t>allbackTransformer(</a:t>
            </a:r>
          </a:p>
          <a:p>
            <a:pPr>
              <a:spcBef>
                <a:spcPts val="0"/>
              </a:spcBef>
              <a:spcAft>
                <a:spcPts val="0"/>
              </a:spcAft>
            </a:pPr>
            <a:r>
              <a:rPr sz="900">
                <a:solidFill>
                  <a:srgbClr val="2D2D2D"/>
                </a:solidFill>
                <a:latin typeface="Consolas"/>
              </a:rPr>
              <a:t>    </a:t>
            </a:r>
            <a:r>
              <a:rPr sz="900" b="1">
                <a:solidFill>
                  <a:srgbClr val="007020"/>
                </a:solidFill>
                <a:latin typeface="Consolas"/>
              </a:rPr>
              <a:t>fn</a:t>
            </a:r>
            <a:r>
              <a:rPr sz="900">
                <a:solidFill>
                  <a:srgbClr val="2D2D2D"/>
                </a:solidFill>
                <a:latin typeface="Consolas"/>
              </a:rPr>
              <a:t> (</a:t>
            </a:r>
            <a:r>
              <a:rPr sz="900">
                <a:solidFill>
                  <a:srgbClr val="007020"/>
                </a:solidFill>
                <a:latin typeface="Consolas"/>
              </a:rPr>
              <a:t>?</a:t>
            </a:r>
            <a:r>
              <a:rPr sz="900">
                <a:solidFill>
                  <a:srgbClr val="902000"/>
                </a:solidFill>
                <a:latin typeface="Consolas"/>
              </a:rPr>
              <a:t>int</a:t>
            </a:r>
            <a:r>
              <a:rPr sz="900">
                <a:solidFill>
                  <a:srgbClr val="2D2D2D"/>
                </a:solidFill>
                <a:latin typeface="Consolas"/>
              </a:rPr>
              <a:t> </a:t>
            </a:r>
            <a:r>
              <a:rPr sz="900">
                <a:solidFill>
                  <a:srgbClr val="19177C"/>
                </a:solidFill>
                <a:latin typeface="Consolas"/>
              </a:rPr>
              <a:t>$status</a:t>
            </a:r>
            <a:r>
              <a:rPr sz="900">
                <a:solidFill>
                  <a:srgbClr val="2D2D2D"/>
                </a:solidFill>
                <a:latin typeface="Consolas"/>
              </a:rPr>
              <a:t>)</a:t>
            </a:r>
            <a:r>
              <a:rPr sz="900">
                <a:solidFill>
                  <a:srgbClr val="007020"/>
                </a:solidFill>
                <a:latin typeface="Consolas"/>
              </a:rPr>
              <a:t>:</a:t>
            </a:r>
            <a:r>
              <a:rPr sz="900">
                <a:solidFill>
                  <a:srgbClr val="2D2D2D"/>
                </a:solidFill>
                <a:latin typeface="Consolas"/>
              </a:rPr>
              <a:t> </a:t>
            </a:r>
            <a:r>
              <a:rPr sz="900">
                <a:solidFill>
                  <a:srgbClr val="902000"/>
                </a:solidFill>
                <a:latin typeface="Consolas"/>
              </a:rPr>
              <a:t>bool</a:t>
            </a:r>
            <a:r>
              <a:rPr sz="900">
                <a:solidFill>
                  <a:srgbClr val="2D2D2D"/>
                </a:solidFill>
                <a:latin typeface="Consolas"/>
              </a:rPr>
              <a:t> =&gt; </a:t>
            </a:r>
            <a:r>
              <a:rPr sz="900">
                <a:solidFill>
                  <a:srgbClr val="902000"/>
                </a:solidFill>
                <a:latin typeface="Consolas"/>
              </a:rPr>
              <a:t>(bool)</a:t>
            </a:r>
            <a:r>
              <a:rPr sz="900">
                <a:solidFill>
                  <a:srgbClr val="19177C"/>
                </a:solidFill>
                <a:latin typeface="Consolas"/>
              </a:rPr>
              <a:t>$status</a:t>
            </a:r>
            <a:r>
              <a:rPr sz="900">
                <a:solidFill>
                  <a:srgbClr val="007020"/>
                </a:solidFill>
                <a:latin typeface="Consolas"/>
              </a:rPr>
              <a:t>,</a:t>
            </a:r>
          </a:p>
          <a:p>
            <a:pPr>
              <a:spcBef>
                <a:spcPts val="0"/>
              </a:spcBef>
              <a:spcAft>
                <a:spcPts val="0"/>
              </a:spcAft>
            </a:pPr>
            <a:r>
              <a:rPr sz="900">
                <a:solidFill>
                  <a:srgbClr val="2D2D2D"/>
                </a:solidFill>
                <a:latin typeface="Consolas"/>
              </a:rPr>
              <a:t>    </a:t>
            </a:r>
            <a:r>
              <a:rPr sz="900" b="1">
                <a:solidFill>
                  <a:srgbClr val="007020"/>
                </a:solidFill>
                <a:latin typeface="Consolas"/>
              </a:rPr>
              <a:t>fn</a:t>
            </a:r>
            <a:r>
              <a:rPr sz="900">
                <a:solidFill>
                  <a:srgbClr val="2D2D2D"/>
                </a:solidFill>
                <a:latin typeface="Consolas"/>
              </a:rPr>
              <a:t> (</a:t>
            </a:r>
            <a:r>
              <a:rPr sz="900">
                <a:solidFill>
                  <a:srgbClr val="007020"/>
                </a:solidFill>
                <a:latin typeface="Consolas"/>
              </a:rPr>
              <a:t>?</a:t>
            </a:r>
            <a:r>
              <a:rPr sz="900">
                <a:solidFill>
                  <a:srgbClr val="902000"/>
                </a:solidFill>
                <a:latin typeface="Consolas"/>
              </a:rPr>
              <a:t>bool</a:t>
            </a:r>
            <a:r>
              <a:rPr sz="900">
                <a:solidFill>
                  <a:srgbClr val="2D2D2D"/>
                </a:solidFill>
                <a:latin typeface="Consolas"/>
              </a:rPr>
              <a:t> </a:t>
            </a:r>
            <a:r>
              <a:rPr sz="900">
                <a:solidFill>
                  <a:srgbClr val="19177C"/>
                </a:solidFill>
                <a:latin typeface="Consolas"/>
              </a:rPr>
              <a:t>$isActive</a:t>
            </a:r>
            <a:r>
              <a:rPr sz="900">
                <a:solidFill>
                  <a:srgbClr val="2D2D2D"/>
                </a:solidFill>
                <a:latin typeface="Consolas"/>
              </a:rPr>
              <a:t>)</a:t>
            </a:r>
            <a:r>
              <a:rPr sz="900">
                <a:solidFill>
                  <a:srgbClr val="007020"/>
                </a:solidFill>
                <a:latin typeface="Consolas"/>
              </a:rPr>
              <a:t>:</a:t>
            </a:r>
            <a:r>
              <a:rPr sz="900">
                <a:solidFill>
                  <a:srgbClr val="2D2D2D"/>
                </a:solidFill>
                <a:latin typeface="Consolas"/>
              </a:rPr>
              <a:t> </a:t>
            </a:r>
            <a:r>
              <a:rPr sz="900">
                <a:solidFill>
                  <a:srgbClr val="902000"/>
                </a:solidFill>
                <a:latin typeface="Consolas"/>
              </a:rPr>
              <a:t>int</a:t>
            </a:r>
            <a:r>
              <a:rPr sz="900">
                <a:solidFill>
                  <a:srgbClr val="2D2D2D"/>
                </a:solidFill>
                <a:latin typeface="Consolas"/>
              </a:rPr>
              <a:t> =&gt; </a:t>
            </a:r>
            <a:r>
              <a:rPr sz="900">
                <a:solidFill>
                  <a:srgbClr val="19177C"/>
                </a:solidFill>
                <a:latin typeface="Consolas"/>
              </a:rPr>
              <a:t>$isActive</a:t>
            </a:r>
            <a:r>
              <a:rPr sz="900">
                <a:solidFill>
                  <a:srgbClr val="2D2D2D"/>
                </a:solidFill>
                <a:latin typeface="Consolas"/>
              </a:rPr>
              <a:t> </a:t>
            </a:r>
            <a:r>
              <a:rPr sz="900">
                <a:solidFill>
                  <a:srgbClr val="007020"/>
                </a:solidFill>
                <a:latin typeface="Consolas"/>
              </a:rPr>
              <a:t>?</a:t>
            </a:r>
            <a:r>
              <a:rPr sz="900">
                <a:solidFill>
                  <a:srgbClr val="2D2D2D"/>
                </a:solidFill>
                <a:latin typeface="Consolas"/>
              </a:rPr>
              <a:t> </a:t>
            </a:r>
            <a:r>
              <a:rPr sz="900">
                <a:solidFill>
                  <a:srgbClr val="40A070"/>
                </a:solidFill>
                <a:latin typeface="Consolas"/>
              </a:rPr>
              <a:t>1</a:t>
            </a:r>
            <a:r>
              <a:rPr sz="900">
                <a:solidFill>
                  <a:srgbClr val="2D2D2D"/>
                </a:solidFill>
                <a:latin typeface="Consolas"/>
              </a:rPr>
              <a:t> </a:t>
            </a:r>
            <a:r>
              <a:rPr sz="900">
                <a:solidFill>
                  <a:srgbClr val="007020"/>
                </a:solidFill>
                <a:latin typeface="Consolas"/>
              </a:rPr>
              <a:t>:</a:t>
            </a:r>
            <a:r>
              <a:rPr sz="900">
                <a:solidFill>
                  <a:srgbClr val="2D2D2D"/>
                </a:solidFill>
                <a:latin typeface="Consolas"/>
              </a:rPr>
              <a:t> </a:t>
            </a:r>
            <a:r>
              <a:rPr sz="900">
                <a:solidFill>
                  <a:srgbClr val="40A070"/>
                </a:solidFill>
                <a:latin typeface="Consolas"/>
              </a:rPr>
              <a:t>0</a:t>
            </a:r>
            <a:r>
              <a:rPr sz="900">
                <a:solidFill>
                  <a:srgbClr val="007020"/>
                </a:solidFill>
                <a:latin typeface="Consolas"/>
              </a:rPr>
              <a:t>,</a:t>
            </a:r>
          </a:p>
          <a:p>
            <a:pPr>
              <a:spcBef>
                <a:spcPts val="0"/>
              </a:spcBef>
              <a:spcAft>
                <a:spcPts val="0"/>
              </a:spcAft>
            </a:pPr>
            <a:r>
              <a:rPr sz="900">
                <a:solidFill>
                  <a:srgbClr val="2D2D2D"/>
                </a:solidFill>
                <a:latin typeface="Consolas"/>
              </a:rPr>
              <a:t>))</a:t>
            </a:r>
            <a:r>
              <a:rPr sz="900">
                <a:solidFill>
                  <a:srgbClr val="007020"/>
                </a:solidFill>
                <a:latin typeface="Consolas"/>
              </a:rPr>
              <a:t>;</a:t>
            </a:r>
          </a:p>
          <a:p>
            <a:pPr>
              <a:spcAft>
                <a:spcPts val="800"/>
              </a:spcAft>
              <a:defRPr sz="1400" i="1">
                <a:solidFill>
                  <a:srgbClr val="888888"/>
                </a:solidFill>
              </a:defRPr>
            </a:pPr>
            <a:r>
              <a:t>❝ getBlockPrefix() : Returns 'supplierForm' — this determines the HTML form field name prefix (e.g., supplierForm[name] ).</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2: Create Supplier Controller</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Coding time:</a:t>
            </a:r>
          </a:p>
          <a:p>
            <a:pPr>
              <a:spcAft>
                <a:spcPts val="800"/>
              </a:spcAft>
              <a:defRPr sz="1600">
                <a:solidFill>
                  <a:srgbClr val="1A1A1A"/>
                </a:solidFill>
              </a:defRPr>
            </a:pPr>
            <a:r>
              <a:t>Open src/SprykerAcademy/Zed/SupplierMerchantPortalGui/Communication/Controller/CreateSupplierController.php :</a:t>
            </a:r>
          </a:p>
          <a:p>
            <a:pPr>
              <a:spcAft>
                <a:spcPts val="800"/>
              </a:spcAft>
              <a:defRPr sz="1600">
                <a:solidFill>
                  <a:srgbClr val="1A1A1A"/>
                </a:solidFill>
              </a:defRPr>
            </a:pPr>
            <a:r>
              <a:t>In indexAction() :</a:t>
            </a:r>
          </a:p>
          <a:p>
            <a:pPr>
              <a:spcAft>
                <a:spcPts val="400"/>
              </a:spcAft>
              <a:defRPr sz="1500">
                <a:solidFill>
                  <a:srgbClr val="1A1A1A"/>
                </a:solidFill>
              </a:defRPr>
            </a:pPr>
            <a:r>
              <a:t>• Get form data provider, create empty SupplierTransfer</a:t>
            </a:r>
          </a:p>
          <a:p>
            <a:pPr>
              <a:spcAft>
                <a:spcPts val="400"/>
              </a:spcAft>
              <a:defRPr sz="1500">
                <a:solidFill>
                  <a:srgbClr val="1A1A1A"/>
                </a:solidFill>
              </a:defRPr>
            </a:pPr>
            <a:r>
              <a:t>• Create the form via factory</a:t>
            </a:r>
          </a:p>
          <a:p>
            <a:pPr>
              <a:spcAft>
                <a:spcPts val="400"/>
              </a:spcAft>
              <a:defRPr sz="1500">
                <a:solidFill>
                  <a:srgbClr val="1A1A1A"/>
                </a:solidFill>
              </a:defRPr>
            </a:pPr>
            <a:r>
              <a:t>• Handle the request: $form-&gt;handleRequest($request)</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2: Create Supplier Controller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400"/>
              </a:spcAft>
              <a:defRPr sz="1500">
                <a:solidFill>
                  <a:srgbClr val="1A1A1A"/>
                </a:solidFill>
              </a:defRPr>
            </a:pPr>
            <a:r>
              <a:t>• If submitted and valid: Create supplier via facade: $this-&gt;getFactory()-&gt;getSupplierFacade()-&gt;createSupplier($supplierTransfer) Link to current merchant: create a PyzMerchantToSupplier entity Return JsonResponse with ZedUI actions: $zedUiFormResponseTransfer = $this -&gt;getFactory()-&gt;getZedUiFactory() -&gt;createZedUiFormResponseBuilder() -&gt;addSuccessNotification( static :: MESSAGE_SUPPLIER_CREATED ) -&gt;addActionCloseDrawer() -&gt;addActionRefreshTable( static :: ID_TABLE_SUPPLIER_LIST ) // the table-id of &lt;web-mp-supplier-list&gt; -&gt;createResponse() ; return new J sonResponse( $zedUiFormResponseTransfer -&gt;toArray( true , true )) ;</a:t>
            </a:r>
          </a:p>
          <a:p>
            <a:pPr>
              <a:spcAft>
                <a:spcPts val="400"/>
              </a:spcAft>
              <a:defRPr sz="1500">
                <a:solidFill>
                  <a:srgbClr val="1A1A1A"/>
                </a:solidFill>
              </a:defRPr>
            </a:pPr>
            <a:r>
              <a:t>• Otherwise: render the form template and return it as new JsonResponse(['form' =&gt; $html]) (the skeleton already does this part)</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2: Create Supplier Controller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400" i="1">
                <a:solidFill>
                  <a:srgbClr val="888888"/>
                </a:solidFill>
              </a:defRPr>
            </a:pPr>
            <a:r>
              <a:t>❝ Merchant linking: When a merchant creates a supplier, it must be automatically linked via pyz_merchant_to_supplier . Get the current merchant from MerchantUserFacade::getCurrentMerchantUser()-&gt;getMerchantOrFail() .</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3: Update Supplier Controller</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Coding time:</a:t>
            </a:r>
          </a:p>
          <a:p>
            <a:pPr>
              <a:spcAft>
                <a:spcPts val="800"/>
              </a:spcAft>
              <a:defRPr sz="1600">
                <a:solidFill>
                  <a:srgbClr val="1A1A1A"/>
                </a:solidFill>
              </a:defRPr>
            </a:pPr>
            <a:r>
              <a:t>Open src/SprykerAcademy/Zed/SupplierMerchantPortalGui/Communication/Controller/UpdateSupplierController.php :</a:t>
            </a:r>
          </a:p>
          <a:p>
            <a:pPr>
              <a:spcAft>
                <a:spcPts val="800"/>
              </a:spcAft>
              <a:defRPr sz="1600">
                <a:solidFill>
                  <a:srgbClr val="1A1A1A"/>
                </a:solidFill>
              </a:defRPr>
            </a:pPr>
            <a:r>
              <a:t>Same pattern as create, but: 1. Read id-supplier from the request 2. Load existing supplier via form data provider 3. Throw NotFoundHttpException if supplier doesn’t exist 4. On valid submit: call updateSupplier() instead of createSupplier()</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4: Angular Component Wiring</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Coding time:</a:t>
            </a:r>
          </a:p>
          <a:p>
            <a:pPr>
              <a:spcAft>
                <a:spcPts val="800"/>
              </a:spcAft>
              <a:defRPr sz="1600">
                <a:solidFill>
                  <a:srgbClr val="1A1A1A"/>
                </a:solidFill>
              </a:defRPr>
            </a:pPr>
            <a:r>
              <a:t>Open components.module.ts and add EditSupplierComponent and CardComponent to WebComponentsModule.withComponents([...]) .</a:t>
            </a:r>
          </a:p>
          <a:p>
            <a:pPr>
              <a:spcAft>
                <a:spcPts val="800"/>
              </a:spcAft>
              <a:defRPr sz="1600">
                <a:solidFill>
                  <a:srgbClr val="1A1A1A"/>
                </a:solidFill>
              </a:defRPr>
            </a:pPr>
            <a:r>
              <a:t>The edit component ( &lt;web-mp-edit-supplier&gt; ) wraps the form content with named slots for title and action buttons.</a:t>
            </a:r>
          </a:p>
          <a:p>
            <a:pPr>
              <a:spcAft>
                <a:spcPts val="800"/>
              </a:spcAft>
              <a:defRPr sz="1600">
                <a:solidFill>
                  <a:srgbClr val="1A1A1A"/>
                </a:solidFill>
              </a:defRPr>
            </a:pPr>
            <a:r>
              <a:t>The card component ( &lt;web-spy-card&gt; ) provides the card layout used in the form template to group related fields.</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Testing</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docker/sdk</a:t>
            </a:r>
            <a:r>
              <a:rPr sz="900">
                <a:solidFill>
                  <a:srgbClr val="2D2D2D"/>
                </a:solidFill>
                <a:latin typeface="Consolas"/>
              </a:rPr>
              <a:t> console cache:empty-all</a:t>
            </a:r>
          </a:p>
          <a:p>
            <a:pPr>
              <a:spcBef>
                <a:spcPts val="0"/>
              </a:spcBef>
              <a:spcAft>
                <a:spcPts val="0"/>
              </a:spcAft>
            </a:pPr>
            <a:r>
              <a:rPr sz="900">
                <a:solidFill>
                  <a:srgbClr val="2D2D2D"/>
                </a:solidFill>
                <a:latin typeface="Consolas"/>
              </a:rPr>
              <a:t>docker/sdk</a:t>
            </a:r>
            <a:r>
              <a:rPr sz="900">
                <a:solidFill>
                  <a:srgbClr val="2D2D2D"/>
                </a:solidFill>
                <a:latin typeface="Consolas"/>
              </a:rPr>
              <a:t> console propel:model:build</a:t>
            </a:r>
          </a:p>
          <a:p>
            <a:pPr>
              <a:spcAft>
                <a:spcPts val="800"/>
              </a:spcAft>
              <a:defRPr sz="1600">
                <a:solidFill>
                  <a:srgbClr val="1A1A1A"/>
                </a:solidFill>
              </a:defRPr>
            </a:pPr>
            <a:r>
              <a:t>Part 4 changed a component, so rebuild the frontend first:</a:t>
            </a:r>
          </a:p>
          <a:p>
            <a:pPr>
              <a:spcBef>
                <a:spcPts val="0"/>
              </a:spcBef>
              <a:spcAft>
                <a:spcPts val="0"/>
              </a:spcAft>
            </a:pPr>
            <a:r>
              <a:rPr sz="900">
                <a:solidFill>
                  <a:srgbClr val="2D2D2D"/>
                </a:solidFill>
                <a:latin typeface="Consolas"/>
              </a:rPr>
              <a:t>docker/sdk</a:t>
            </a:r>
            <a:r>
              <a:rPr sz="900">
                <a:solidFill>
                  <a:srgbClr val="2D2D2D"/>
                </a:solidFill>
                <a:latin typeface="Consolas"/>
              </a:rPr>
              <a:t> console frontend:mp:build</a:t>
            </a:r>
          </a:p>
          <a:p>
            <a:pPr>
              <a:spcAft>
                <a:spcPts val="400"/>
              </a:spcAft>
              <a:defRPr sz="1500">
                <a:solidFill>
                  <a:srgbClr val="1A1A1A"/>
                </a:solidFill>
              </a:defRPr>
            </a:pPr>
            <a:r>
              <a:t>• In the Merchant Portal supplier table, click “Add Supplier” → the create form should open</a:t>
            </a:r>
          </a:p>
          <a:p>
            <a:pPr>
              <a:spcAft>
                <a:spcPts val="400"/>
              </a:spcAft>
              <a:defRPr sz="1500">
                <a:solidFill>
                  <a:srgbClr val="1A1A1A"/>
                </a:solidFill>
              </a:defRPr>
            </a:pPr>
            <a:r>
              <a:t>• Fill in the form and submit → supplier should be created and table refreshed</a:t>
            </a:r>
          </a:p>
          <a:p>
            <a:pPr>
              <a:spcAft>
                <a:spcPts val="400"/>
              </a:spcAft>
              <a:defRPr sz="1500">
                <a:solidFill>
                  <a:srgbClr val="1A1A1A"/>
                </a:solidFill>
              </a:defRPr>
            </a:pPr>
            <a:r>
              <a:t>• Click “Edit” on a table row → the edit drawer should open with pre-filled data</a:t>
            </a:r>
          </a:p>
          <a:p>
            <a:pPr>
              <a:spcAft>
                <a:spcPts val="400"/>
              </a:spcAft>
              <a:defRPr sz="1500">
                <a:solidFill>
                  <a:srgbClr val="1A1A1A"/>
                </a:solidFill>
              </a:defRPr>
            </a:pPr>
            <a:r>
              <a:t>• Update and submit → changes should be saved</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Solution</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./exercises/load.sh</a:t>
            </a:r>
            <a:r>
              <a:rPr sz="900">
                <a:solidFill>
                  <a:srgbClr val="2D2D2D"/>
                </a:solidFill>
                <a:latin typeface="Consolas"/>
              </a:rPr>
              <a:t> supplier intermediate/merchant-portal-form/complete </a:t>
            </a:r>
            <a:r>
              <a:rPr sz="900">
                <a:solidFill>
                  <a:srgbClr val="2D2D2D"/>
                </a:solidFill>
                <a:latin typeface="Consolas"/>
              </a:rPr>
              <a:t>--run</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spAutoFit/>
          </a:bodyPr>
          <a:lstStyle/>
          <a:p>
            <a:pPr algn="ctr">
              <a:defRPr sz="3600" b="1">
                <a:solidFill>
                  <a:srgbClr val="00A89B"/>
                </a:solidFill>
              </a:defRPr>
            </a:pPr>
            <a:r>
              <a:t>Exercise 17: Merchant Portal — Supplier Locations (Nested Table)</a:t>
            </a:r>
          </a:p>
        </p:txBody>
      </p:sp>
      <p:sp>
        <p:nvSpPr>
          <p:cNvPr id="3" name="Rectangle 2"/>
          <p:cNvSpPr/>
          <p:nvPr/>
        </p:nvSpPr>
        <p:spPr>
          <a:xfrm>
            <a:off x="3657600" y="2286000"/>
            <a:ext cx="4876495" cy="381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Exercise 17: Merchant Portal — Supplier Locations (Nested Table)</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In this exercise, you will add an editable locations table inside the supplier edit drawer. This teaches the pattern for nested tables within forms — similar to how Spryker’s ProductOffer module embeds a price table inside the offer edit form.</a:t>
            </a:r>
          </a:p>
          <a:p>
            <a:pPr>
              <a:spcAft>
                <a:spcPts val="800"/>
              </a:spcAft>
              <a:defRPr sz="1600">
                <a:solidFill>
                  <a:srgbClr val="1A1A1A"/>
                </a:solidFill>
              </a:defRPr>
            </a:pPr>
            <a:r>
              <a:t>You will learn how to: - Build an editable GuiTable with inline add/edit capabilities - Configure enableAddingNewRows() for adding rows to the table - Implement a Symfony form data transformer for nested table data - Embed a GuiTable inside a form template - Register a nested Angular table component</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Prerequisites</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400"/>
              </a:spcAft>
              <a:defRPr sz="1500">
                <a:solidFill>
                  <a:srgbClr val="1A1A1A"/>
                </a:solidFill>
              </a:defRPr>
            </a:pPr>
            <a:r>
              <a:t>• You do not need your own solutions of the earlier exercises. The branch contains them, and load.sh --run imports the sample suppliers and links them to the demo merchant; the branch contains the Merchant Portal form of Exercise 16.</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Loading the Exercise</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./exercises/load.sh</a:t>
            </a:r>
            <a:r>
              <a:rPr sz="900">
                <a:solidFill>
                  <a:srgbClr val="2D2D2D"/>
                </a:solidFill>
                <a:latin typeface="Consolas"/>
              </a:rPr>
              <a:t> supplier intermediate/merchant-portal-locations/skeleton </a:t>
            </a:r>
            <a:r>
              <a:rPr sz="900">
                <a:solidFill>
                  <a:srgbClr val="2D2D2D"/>
                </a:solidFill>
                <a:latin typeface="Consolas"/>
              </a:rPr>
              <a:t>--run</a:t>
            </a:r>
          </a:p>
          <a:p>
            <a:pPr>
              <a:spcAft>
                <a:spcPts val="800"/>
              </a:spcAft>
              <a:defRPr sz="1600">
                <a:solidFill>
                  <a:srgbClr val="1A1A1A"/>
                </a:solidFill>
              </a:defRPr>
            </a:pPr>
            <a:r>
              <a:t>--run also runs the commands the loader lists after loading (cache, Propel, transfers and whatever this exercise needs, such as queues or Glue resources) and stops at the first one that fails. Leave it out to run them yourself.</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Background: Editable GuiTable Pattern</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A regular GuiTable displays read-only data. An editable GuiTable allows inline editing and adding of rows, with the data submitted as part of a parent form.</a:t>
            </a:r>
          </a:p>
          <a:p>
            <a:pPr>
              <a:spcBef>
                <a:spcPts val="0"/>
              </a:spcBef>
              <a:spcAft>
                <a:spcPts val="0"/>
              </a:spcAft>
            </a:pPr>
            <a:r>
              <a:rPr sz="900">
                <a:solidFill>
                  <a:srgbClr val="2D2D2D"/>
                </a:solidFill>
                <a:latin typeface="Consolas"/>
              </a:rPr>
              <a:t>Edit Supplier drawer</a:t>
            </a:r>
          </a:p>
          <a:p>
            <a:pPr>
              <a:spcBef>
                <a:spcPts val="0"/>
              </a:spcBef>
              <a:spcAft>
                <a:spcPts val="0"/>
              </a:spcAft>
            </a:pPr>
            <a:r>
              <a:rPr sz="900">
                <a:solidFill>
                  <a:srgbClr val="2D2D2D"/>
                </a:solidFill>
                <a:latin typeface="Consolas"/>
              </a:rPr>
              <a:t>├── Supplier Details card (name, description)</a:t>
            </a:r>
          </a:p>
          <a:p>
            <a:pPr>
              <a:spcBef>
                <a:spcPts val="0"/>
              </a:spcBef>
              <a:spcAft>
                <a:spcPts val="0"/>
              </a:spcAft>
            </a:pPr>
            <a:r>
              <a:rPr sz="900">
                <a:solidFill>
                  <a:srgbClr val="2D2D2D"/>
                </a:solidFill>
                <a:latin typeface="Consolas"/>
              </a:rPr>
              <a:t>├── Contact Info card (email, phone)</a:t>
            </a:r>
          </a:p>
          <a:p>
            <a:pPr>
              <a:spcBef>
                <a:spcPts val="0"/>
              </a:spcBef>
              <a:spcAft>
                <a:spcPts val="0"/>
              </a:spcAft>
            </a:pPr>
            <a:r>
              <a:rPr sz="900">
                <a:solidFill>
                  <a:srgbClr val="2D2D2D"/>
                </a:solidFill>
                <a:latin typeface="Consolas"/>
              </a:rPr>
              <a:t>├── Status card (isActive)</a:t>
            </a:r>
          </a:p>
          <a:p>
            <a:pPr>
              <a:spcBef>
                <a:spcPts val="0"/>
              </a:spcBef>
              <a:spcAft>
                <a:spcPts val="0"/>
              </a:spcAft>
            </a:pPr>
            <a:r>
              <a:rPr sz="900">
                <a:solidFill>
                  <a:srgbClr val="2D2D2D"/>
                </a:solidFill>
                <a:latin typeface="Consolas"/>
              </a:rPr>
              <a:t>└── Locations card</a:t>
            </a:r>
          </a:p>
          <a:p>
            <a:pPr>
              <a:spcBef>
                <a:spcPts val="0"/>
              </a:spcBef>
              <a:spcAft>
                <a:spcPts val="0"/>
              </a:spcAft>
            </a:pPr>
            <a:r>
              <a:rPr sz="900">
                <a:solidFill>
                  <a:srgbClr val="2D2D2D"/>
                </a:solidFill>
                <a:latin typeface="Consolas"/>
              </a:rPr>
              <a:t>    └── Editable GuiTable</a:t>
            </a:r>
          </a:p>
          <a:p>
            <a:pPr>
              <a:spcBef>
                <a:spcPts val="0"/>
              </a:spcBef>
              <a:spcAft>
                <a:spcPts val="0"/>
              </a:spcAft>
            </a:pPr>
            <a:r>
              <a:rPr sz="900">
                <a:solidFill>
                  <a:srgbClr val="2D2D2D"/>
                </a:solidFill>
                <a:latin typeface="Consolas"/>
              </a:rPr>
              <a:t>        ├── Existing location rows (editable)</a:t>
            </a:r>
          </a:p>
          <a:p>
            <a:pPr>
              <a:spcBef>
                <a:spcPts val="0"/>
              </a:spcBef>
              <a:spcAft>
                <a:spcPts val="0"/>
              </a:spcAft>
            </a:pPr>
            <a:r>
              <a:rPr sz="900">
                <a:solidFill>
                  <a:srgbClr val="2D2D2D"/>
                </a:solidFill>
                <a:latin typeface="Consolas"/>
              </a:rPr>
              <a:t>        ├── "Add Location" button → new empty row</a:t>
            </a:r>
          </a:p>
          <a:p>
            <a:pPr>
              <a:spcBef>
                <a:spcPts val="0"/>
              </a:spcBef>
              <a:spcAft>
                <a:spcPts val="0"/>
              </a:spcAft>
            </a:pPr>
            <a:r>
              <a:rPr sz="900">
                <a:solidFill>
                  <a:srgbClr val="2D2D2D"/>
                </a:solidFill>
                <a:latin typeface="Consolas"/>
              </a:rPr>
              <a:t>        └── Hidden form input supplierForm[locations]: the added rows as JSON</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Background: Editable GuiTable Pattern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The saved locations are listed read-only (the table’s inline data). The rows the merchant adds are written by the table into the hidden form input supplierForm[locations] , as a JSON array of objects keyed by the column ids. The form field locations (provided in SupplierForm ) reads that input, and a data transformer converts between the JSON and SupplierLocationTransfer objects. On a valid submit, UpdateSupplierController (provided) stores the added rows with SupplierLocationFacade::createSupplierLocation() .</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Working on the Exercise</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1200"/>
              </a:spcBef>
              <a:spcAft>
                <a:spcPts val="600"/>
              </a:spcAft>
              <a:defRPr sz="2000" b="1">
                <a:solidFill>
                  <a:srgbClr val="1A1A1A"/>
                </a:solidFill>
              </a:defRPr>
            </a:pPr>
            <a:r>
              <a:t>Part 1: Location GuiTable Configuration</a:t>
            </a:r>
          </a:p>
          <a:p>
            <a:pPr>
              <a:spcAft>
                <a:spcPts val="800"/>
              </a:spcAft>
              <a:defRPr sz="1600">
                <a:solidFill>
                  <a:srgbClr val="1A1A1A"/>
                </a:solidFill>
              </a:defRPr>
            </a:pPr>
            <a:r>
              <a:t>Coding time:</a:t>
            </a:r>
          </a:p>
          <a:p>
            <a:pPr>
              <a:spcAft>
                <a:spcPts val="800"/>
              </a:spcAft>
              <a:defRPr sz="1600">
                <a:solidFill>
                  <a:srgbClr val="1A1A1A"/>
                </a:solidFill>
              </a:defRPr>
            </a:pPr>
            <a:r>
              <a:t>Open src/SprykerAcademy/Zed/SupplierMerchantPortalGui/Communication/ConfigurationProvider/SupplierLocationGuiTableConfigurationProvider.php :</a:t>
            </a:r>
          </a:p>
          <a:p>
            <a:pPr>
              <a:spcAft>
                <a:spcPts val="800"/>
              </a:spcAft>
              <a:defRPr sz="1600">
                <a:solidFill>
                  <a:srgbClr val="1A1A1A"/>
                </a:solidFill>
              </a:defRPr>
            </a:pPr>
            <a:r>
              <a:t>The five display columns ( addColumnText() for city, country, address, zip code and default) are already there: a GuiTable must declare at least one regular column, otherwise createConfiguration() throws Table must have at least one column . The editable inputs you add now are rendered on top of those columns.</a:t>
            </a:r>
          </a:p>
          <a:p>
            <a:pPr>
              <a:spcAft>
                <a:spcPts val="800"/>
              </a:spcAft>
              <a:defRPr sz="1600">
                <a:solidFill>
                  <a:srgbClr val="1A1A1A"/>
                </a:solidFill>
              </a:defRPr>
            </a:pPr>
            <a:r>
              <a:t>The saved locations arrive as $existingLocations and are already set as the table’s inline data.</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Working on the Exercise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400"/>
              </a:spcAft>
              <a:defRPr sz="1500">
                <a:solidFill>
                  <a:srgbClr val="1A1A1A"/>
                </a:solidFill>
              </a:defRPr>
            </a:pPr>
            <a:r>
              <a:t>• Add editable columns using addEditableColumnInput() : city → text input country → text input address → text input zipCode → text input isDefault → checkbox input</a:t>
            </a:r>
          </a:p>
          <a:p>
            <a:pPr>
              <a:spcAft>
                <a:spcPts val="400"/>
              </a:spcAft>
              <a:defRPr sz="1500">
                <a:solidFill>
                  <a:srgbClr val="1A1A1A"/>
                </a:solidFill>
              </a:defRPr>
            </a:pPr>
            <a:r>
              <a:t>• Enable adding new rows: $guiTableConfigurationBuilder -&gt;enableAddingNewRows( static :: FORM_INPUT_NAME , // 'supplierForm[locations]' $initialData , [ 'title' =&gt; 'Add Location' , 'variant' =&gt; 'outline' ] , // Add button [ 'title' =&gt; 'Cancel' , 'variant' =&gt; 'outline' ] , // Cancel button ) ;</a:t>
            </a:r>
          </a:p>
          <a:p>
            <a:pPr>
              <a:spcAft>
                <a:spcPts val="800"/>
              </a:spcAft>
              <a:defRPr sz="1400" i="1">
                <a:solidFill>
                  <a:srgbClr val="888888"/>
                </a:solidFill>
              </a:defRPr>
            </a:pPr>
            <a:r>
              <a:t>❝ enableAddingNewRows() tells the GuiTable to render an “Add” button that creates empty editable rows. The FORM_INPUT_NAME determines how the data is submitted as form fields.</a:t>
            </a:r>
          </a:p>
          <a:p>
            <a:pPr>
              <a:spcAft>
                <a:spcPts val="800"/>
              </a:spcAft>
              <a:defRPr sz="1400" i="1">
                <a:solidFill>
                  <a:srgbClr val="888888"/>
                </a:solidFill>
              </a:defRPr>
            </a:pPr>
            <a:r>
              <a:t>❝ addEditableColumnInput() vs addColumnText() : addColumnText() declares the column of the table; addEditableColumnInput() declares the form input (text, checkbox, select) rendered in that column when the row is edited or added. An editable table needs both.</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2: Location Data Provider</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Coding time:</a:t>
            </a:r>
          </a:p>
          <a:p>
            <a:pPr>
              <a:spcAft>
                <a:spcPts val="800"/>
              </a:spcAft>
              <a:defRPr sz="1600">
                <a:solidFill>
                  <a:srgbClr val="1A1A1A"/>
                </a:solidFill>
              </a:defRPr>
            </a:pPr>
            <a:r>
              <a:t>Open src/SprykerAcademy/Zed/SupplierMerchantPortalGui/Communication/DataProvider/SupplierLocationGuiTableDataProvider.php :</a:t>
            </a:r>
          </a:p>
          <a:p>
            <a:pPr>
              <a:spcAft>
                <a:spcPts val="800"/>
              </a:spcAft>
              <a:defRPr sz="1600">
                <a:solidFill>
                  <a:srgbClr val="1A1A1A"/>
                </a:solidFill>
              </a:defRPr>
            </a:pPr>
            <a:r>
              <a:t>In getData($idSupplier) : 1. Query PyzSupplierLocationQuery filtered by fkSupplier 2. Map each location entity to a GuiTableRowDataResponseTransfer with: idSupplierLocation , city , country , address , zipCode , isDefault</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3: Location Form Transformer</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The transformer converts between SupplierLocationTransfer[] (PHP) and the JSON the editable table writes into the hidden field.</a:t>
            </a:r>
          </a:p>
          <a:p>
            <a:pPr>
              <a:spcAft>
                <a:spcPts val="800"/>
              </a:spcAft>
              <a:defRPr sz="1600">
                <a:solidFill>
                  <a:srgbClr val="1A1A1A"/>
                </a:solidFill>
              </a:defRPr>
            </a:pPr>
            <a:r>
              <a:t>Coding time:</a:t>
            </a:r>
          </a:p>
          <a:p>
            <a:pPr>
              <a:spcAft>
                <a:spcPts val="800"/>
              </a:spcAft>
              <a:defRPr sz="1600">
                <a:solidFill>
                  <a:srgbClr val="1A1A1A"/>
                </a:solidFill>
              </a:defRPr>
            </a:pPr>
            <a:r>
              <a:t>Open src/SprykerAcademy/Zed/SupplierMerchantPortalGui/Communication/Form/Transformer/SupplierLocationTransformer.php :</a:t>
            </a:r>
          </a:p>
          <a:p>
            <a:pPr>
              <a:spcAft>
                <a:spcPts val="400"/>
              </a:spcAft>
              <a:defRPr sz="1500">
                <a:solidFill>
                  <a:srgbClr val="1A1A1A"/>
                </a:solidFill>
              </a:defRPr>
            </a:pPr>
            <a:r>
              <a:t>• transform() — convert the ArrayObject&lt;SupplierLocationTransfer&gt; (or null ) to a list of arrays with the keys city , country , address , zipCode , isDefault , and return it as JSON ( json_encode() ) - the value of the hidden field.</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3: Location Form Transformer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400"/>
              </a:spcAft>
              <a:defRPr sz="1500">
                <a:solidFill>
                  <a:srgbClr val="1A1A1A"/>
                </a:solidFill>
              </a:defRPr>
            </a:pPr>
            <a:r>
              <a:t>• reverseTransform() — decode the submitted JSON and return an ArrayObject with a SupplierLocationTransfer for each row. isDefault comes from a checkbox; filter_var($row['isDefault'] ?? false, FILTER_VALIDATE_BOOLEAN) makes it a boolean.</a:t>
            </a:r>
          </a:p>
          <a:p>
            <a:pPr>
              <a:spcAft>
                <a:spcPts val="800"/>
              </a:spcAft>
              <a:defRPr sz="1400" i="1">
                <a:solidFill>
                  <a:srgbClr val="888888"/>
                </a:solidFill>
              </a:defRPr>
            </a:pPr>
            <a:r>
              <a:t>❝ DataTransformerInterface: Symfony’s form component calls transform() when rendering the form (PHP → view) and reverseTransform() when handling submission (view → PHP).</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4: Angular Component Wiring</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Coding time:</a:t>
            </a:r>
          </a:p>
          <a:p>
            <a:pPr>
              <a:spcAft>
                <a:spcPts val="800"/>
              </a:spcAft>
              <a:defRPr sz="1600">
                <a:solidFill>
                  <a:srgbClr val="1A1A1A"/>
                </a:solidFill>
              </a:defRPr>
            </a:pPr>
            <a:r>
              <a:t>Open components.module.ts and add SupplierLocationsTableComponent to WebComponentsModule.withComponents([...]) .</a:t>
            </a:r>
          </a:p>
          <a:p>
            <a:pPr>
              <a:spcAft>
                <a:spcPts val="800"/>
              </a:spcAft>
              <a:defRPr sz="1600">
                <a:solidFill>
                  <a:srgbClr val="1A1A1A"/>
                </a:solidFill>
              </a:defRPr>
            </a:pPr>
            <a:r>
              <a:t>The template already includes the locations card with &lt;web-mp-supplier-locations-table&gt; — it renders conditionally when supplierLocationTableConfiguration is present (only in the edit drawer, not create).</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Testing</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docker/sdk</a:t>
            </a:r>
            <a:r>
              <a:rPr sz="900">
                <a:solidFill>
                  <a:srgbClr val="2D2D2D"/>
                </a:solidFill>
                <a:latin typeface="Consolas"/>
              </a:rPr>
              <a:t> console cache:empty-all</a:t>
            </a:r>
          </a:p>
          <a:p>
            <a:pPr>
              <a:spcBef>
                <a:spcPts val="0"/>
              </a:spcBef>
              <a:spcAft>
                <a:spcPts val="0"/>
              </a:spcAft>
            </a:pPr>
            <a:r>
              <a:rPr sz="900">
                <a:solidFill>
                  <a:srgbClr val="2D2D2D"/>
                </a:solidFill>
                <a:latin typeface="Consolas"/>
              </a:rPr>
              <a:t>docker/sdk</a:t>
            </a:r>
            <a:r>
              <a:rPr sz="900">
                <a:solidFill>
                  <a:srgbClr val="2D2D2D"/>
                </a:solidFill>
                <a:latin typeface="Consolas"/>
              </a:rPr>
              <a:t> console propel:model:build</a:t>
            </a:r>
          </a:p>
          <a:p>
            <a:pPr>
              <a:spcAft>
                <a:spcPts val="800"/>
              </a:spcAft>
              <a:defRPr sz="1600">
                <a:solidFill>
                  <a:srgbClr val="1A1A1A"/>
                </a:solidFill>
              </a:defRPr>
            </a:pPr>
            <a:r>
              <a:t>Part 4 changed a component, so rebuild the frontend first:</a:t>
            </a:r>
          </a:p>
          <a:p>
            <a:pPr>
              <a:spcBef>
                <a:spcPts val="0"/>
              </a:spcBef>
              <a:spcAft>
                <a:spcPts val="0"/>
              </a:spcAft>
            </a:pPr>
            <a:r>
              <a:rPr sz="900">
                <a:solidFill>
                  <a:srgbClr val="2D2D2D"/>
                </a:solidFill>
                <a:latin typeface="Consolas"/>
              </a:rPr>
              <a:t>docker/sdk</a:t>
            </a:r>
            <a:r>
              <a:rPr sz="900">
                <a:solidFill>
                  <a:srgbClr val="2D2D2D"/>
                </a:solidFill>
                <a:latin typeface="Consolas"/>
              </a:rPr>
              <a:t> console frontend:mp:build</a:t>
            </a:r>
          </a:p>
          <a:p>
            <a:pPr>
              <a:spcAft>
                <a:spcPts val="400"/>
              </a:spcAft>
              <a:defRPr sz="1500">
                <a:solidFill>
                  <a:srgbClr val="1A1A1A"/>
                </a:solidFill>
              </a:defRPr>
            </a:pPr>
            <a:r>
              <a:t>• Edit an existing supplier in the Merchant Portal</a:t>
            </a:r>
          </a:p>
          <a:p>
            <a:pPr>
              <a:spcAft>
                <a:spcPts val="400"/>
              </a:spcAft>
              <a:defRPr sz="1500">
                <a:solidFill>
                  <a:srgbClr val="1A1A1A"/>
                </a:solidFill>
              </a:defRPr>
            </a:pPr>
            <a:r>
              <a:t>• The “Locations” card should appear with existing locations</a:t>
            </a:r>
          </a:p>
          <a:p>
            <a:pPr>
              <a:spcAft>
                <a:spcPts val="400"/>
              </a:spcAft>
              <a:defRPr sz="1500">
                <a:solidFill>
                  <a:srgbClr val="1A1A1A"/>
                </a:solidFill>
              </a:defRPr>
            </a:pPr>
            <a:r>
              <a:t>• Click “Add Location” → a new editable row should appear</a:t>
            </a:r>
          </a:p>
          <a:p>
            <a:pPr>
              <a:spcAft>
                <a:spcPts val="400"/>
              </a:spcAft>
              <a:defRPr sz="1500">
                <a:solidFill>
                  <a:srgbClr val="1A1A1A"/>
                </a:solidFill>
              </a:defRPr>
            </a:pPr>
            <a:r>
              <a:t>• Fill in the location fields and save</a:t>
            </a:r>
          </a:p>
          <a:p>
            <a:pPr>
              <a:spcAft>
                <a:spcPts val="400"/>
              </a:spcAft>
              <a:defRPr sz="1500">
                <a:solidFill>
                  <a:srgbClr val="1A1A1A"/>
                </a:solidFill>
              </a:defRPr>
            </a:pPr>
            <a:r>
              <a:t>• Re-open the edit drawer → the new location should be listed</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Solution</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./exercises/load.sh</a:t>
            </a:r>
            <a:r>
              <a:rPr sz="900">
                <a:solidFill>
                  <a:srgbClr val="2D2D2D"/>
                </a:solidFill>
                <a:latin typeface="Consolas"/>
              </a:rPr>
              <a:t> supplier intermediate/merchant-portal-locations/complete </a:t>
            </a:r>
            <a:r>
              <a:rPr sz="900">
                <a:solidFill>
                  <a:srgbClr val="2D2D2D"/>
                </a:solidFill>
                <a:latin typeface="Consolas"/>
              </a:rPr>
              <a:t>--run</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spAutoFit/>
          </a:bodyPr>
          <a:lstStyle/>
          <a:p>
            <a:pPr algn="ctr">
              <a:defRPr sz="3600" b="1">
                <a:solidFill>
                  <a:srgbClr val="00A89B"/>
                </a:solidFill>
              </a:defRPr>
            </a:pPr>
            <a:r>
              <a:t>Exercise 18: Yves Storefront - Supplier Page</a:t>
            </a:r>
          </a:p>
        </p:txBody>
      </p:sp>
      <p:sp>
        <p:nvSpPr>
          <p:cNvPr id="3" name="Rectangle 2"/>
          <p:cNvSpPr/>
          <p:nvPr/>
        </p:nvSpPr>
        <p:spPr>
          <a:xfrm>
            <a:off x="3657600" y="2286000"/>
            <a:ext cx="4876495" cy="381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Exercise 18: Yves Storefront - Supplier Page</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In this exercise, you will build a Yves (storefront) interface to display suppliers. You will create a controller with two actions: one to list all suppliers in a table, and another to show details of a single supplier.</a:t>
            </a:r>
          </a:p>
          <a:p>
            <a:pPr>
              <a:spcAft>
                <a:spcPts val="800"/>
              </a:spcAft>
              <a:defRPr sz="1600">
                <a:solidFill>
                  <a:srgbClr val="1A1A1A"/>
                </a:solidFill>
              </a:defRPr>
            </a:pPr>
            <a:r>
              <a:t>You will learn how to: - Wire dependencies through the Yves DependencyProvider and Factory - Access the SupplierSearchClient from the Yves layer - Read how a Yves Controller with multiple actions renders Twig templates - Read how routes are registered with a RouteProviderPlugin - Handle route and request parameters</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Prerequisites</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400"/>
              </a:spcAft>
              <a:defRPr sz="1500">
                <a:solidFill>
                  <a:srgbClr val="1A1A1A"/>
                </a:solidFill>
              </a:defRPr>
            </a:pPr>
            <a:r>
              <a:t>• You do not need your own solutions of the earlier exercises. The branch contains them, and load.sh --run imports the sample suppliers and publishes them to Redis and Elasticsearch (Exercises 8, 10 and 11).</a:t>
            </a:r>
          </a:p>
          <a:p>
            <a:pPr>
              <a:spcAft>
                <a:spcPts val="400"/>
              </a:spcAft>
              <a:defRPr sz="1500">
                <a:solidFill>
                  <a:srgbClr val="1A1A1A"/>
                </a:solidFill>
              </a:defRPr>
            </a:pPr>
            <a:r>
              <a:t>• Understanding of the Client layer and DependencyProvider pattern</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Loading the Exercise</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./exercises/load.sh</a:t>
            </a:r>
            <a:r>
              <a:rPr sz="900">
                <a:solidFill>
                  <a:srgbClr val="2D2D2D"/>
                </a:solidFill>
                <a:latin typeface="Consolas"/>
              </a:rPr>
              <a:t> supplier intermediate/yves-storefront/skeleton </a:t>
            </a:r>
            <a:r>
              <a:rPr sz="900">
                <a:solidFill>
                  <a:srgbClr val="2D2D2D"/>
                </a:solidFill>
                <a:latin typeface="Consolas"/>
              </a:rPr>
              <a:t>--run</a:t>
            </a:r>
          </a:p>
          <a:p>
            <a:pPr>
              <a:spcAft>
                <a:spcPts val="800"/>
              </a:spcAft>
              <a:defRPr sz="1600">
                <a:solidFill>
                  <a:srgbClr val="1A1A1A"/>
                </a:solidFill>
              </a:defRPr>
            </a:pPr>
            <a:r>
              <a:t>--run also runs the commands the loader lists after loading (cache, Propel, transfers and whatever this exercise needs, such as queues or Glue resources) and stops at the first one that fails. Leave it out to run them yourself.</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Background: Yves Architecture</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Yves is Spryker’s storefront layer. It handles HTTP requests from customers and renders the frontend using Twig templates.</a:t>
            </a:r>
          </a:p>
          <a:p>
            <a:pPr>
              <a:spcBef>
                <a:spcPts val="0"/>
              </a:spcBef>
              <a:spcAft>
                <a:spcPts val="0"/>
              </a:spcAft>
            </a:pPr>
            <a:r>
              <a:rPr sz="900">
                <a:solidFill>
                  <a:srgbClr val="2D2D2D"/>
                </a:solidFill>
                <a:latin typeface="Consolas"/>
              </a:rPr>
              <a:t>HTTP Request</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Router (RouteProviderPlugin)</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Controller::Action</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Factory → Client → Elasticsearch/Redis</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Twig Template</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HTML Response</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Background: Yves Architecture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Key differences from Zed (Back Office): - Yves controllers extend SprykerShop\Yves\ShopApplication\Controller\AbstractController and return a View - Templates extend page-layout-main instead of @Gui/Layout/layout.twig - Routes are registered via RouteProviderPlugin (not navigation.xml) - URL generation uses url() Twig function (not hardcoded paths)</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Working on the Exercise</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1200"/>
              </a:spcBef>
              <a:spcAft>
                <a:spcPts val="600"/>
              </a:spcAft>
              <a:defRPr sz="2000" b="1">
                <a:solidFill>
                  <a:srgbClr val="1A1A1A"/>
                </a:solidFill>
              </a:defRPr>
            </a:pPr>
            <a:r>
              <a:t>Part 1: Dependency Provider</a:t>
            </a:r>
          </a:p>
          <a:p>
            <a:pPr>
              <a:spcAft>
                <a:spcPts val="800"/>
              </a:spcAft>
              <a:defRPr sz="1600">
                <a:solidFill>
                  <a:srgbClr val="1A1A1A"/>
                </a:solidFill>
              </a:defRPr>
            </a:pPr>
            <a:r>
              <a:t>The DependencyProvider wires the SupplierSearchClient into the Yves module.</a:t>
            </a:r>
          </a:p>
          <a:p>
            <a:pPr>
              <a:spcAft>
                <a:spcPts val="800"/>
              </a:spcAft>
              <a:defRPr sz="1600">
                <a:solidFill>
                  <a:srgbClr val="1A1A1A"/>
                </a:solidFill>
              </a:defRPr>
            </a:pPr>
            <a:r>
              <a:t>Coding time:</a:t>
            </a:r>
          </a:p>
          <a:p>
            <a:pPr>
              <a:spcAft>
                <a:spcPts val="800"/>
              </a:spcAft>
              <a:defRPr sz="1600">
                <a:solidFill>
                  <a:srgbClr val="1A1A1A"/>
                </a:solidFill>
              </a:defRPr>
            </a:pPr>
            <a:r>
              <a:t>Open src/SprykerAcademy/Yves/SupplierPage/SupplierPageDependencyProvider.php :</a:t>
            </a:r>
          </a:p>
          <a:p>
            <a:pPr>
              <a:spcAft>
                <a:spcPts val="400"/>
              </a:spcAft>
              <a:defRPr sz="1500">
                <a:solidFill>
                  <a:srgbClr val="1A1A1A"/>
                </a:solidFill>
              </a:defRPr>
            </a:pPr>
            <a:r>
              <a:t>• Add a constant CLIENT_SUPPLIER_SEARCH for the dependency key</a:t>
            </a:r>
          </a:p>
          <a:p>
            <a:pPr>
              <a:spcAft>
                <a:spcPts val="400"/>
              </a:spcAft>
              <a:defRPr sz="1500">
                <a:solidFill>
                  <a:srgbClr val="1A1A1A"/>
                </a:solidFill>
              </a:defRPr>
            </a:pPr>
            <a:r>
              <a:t>• Implement addSupplierSearchClient() : Use $container-&gt;set() with the constant as the key Return $container-&gt;getLocator()-&gt;supplierSearch()-&gt;client()</a:t>
            </a:r>
          </a:p>
          <a:p>
            <a:pPr>
              <a:spcAft>
                <a:spcPts val="400"/>
              </a:spcAft>
              <a:defRPr sz="1500">
                <a:solidFill>
                  <a:srgbClr val="1A1A1A"/>
                </a:solidFill>
              </a:defRPr>
            </a:pPr>
            <a:r>
              <a:t>• Call addSupplierSearchClient() in provideDependencies()</a:t>
            </a:r>
          </a:p>
          <a:p>
            <a:pPr>
              <a:spcAft>
                <a:spcPts val="800"/>
              </a:spcAft>
              <a:defRPr sz="1400" i="1">
                <a:solidFill>
                  <a:srgbClr val="888888"/>
                </a:solidFill>
              </a:defRPr>
            </a:pPr>
            <a:r>
              <a:t>❝ Locator pattern: $container-&gt;getLocator()-&gt;supplierSearch()-&gt;client() resolves the client from the Client layer.</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2: Factory</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The Factory provides access to the wired dependencies.</a:t>
            </a:r>
          </a:p>
          <a:p>
            <a:pPr>
              <a:spcAft>
                <a:spcPts val="800"/>
              </a:spcAft>
              <a:defRPr sz="1600">
                <a:solidFill>
                  <a:srgbClr val="1A1A1A"/>
                </a:solidFill>
              </a:defRPr>
            </a:pPr>
            <a:r>
              <a:t>Coding time:</a:t>
            </a:r>
          </a:p>
          <a:p>
            <a:pPr>
              <a:spcAft>
                <a:spcPts val="800"/>
              </a:spcAft>
              <a:defRPr sz="1600">
                <a:solidFill>
                  <a:srgbClr val="1A1A1A"/>
                </a:solidFill>
              </a:defRPr>
            </a:pPr>
            <a:r>
              <a:t>Open src/SprykerAcademy/Yves/SupplierPage/SupplierPageFactory.php :</a:t>
            </a:r>
          </a:p>
          <a:p>
            <a:pPr>
              <a:spcAft>
                <a:spcPts val="400"/>
              </a:spcAft>
              <a:defRPr sz="1500">
                <a:solidFill>
                  <a:srgbClr val="1A1A1A"/>
                </a:solidFill>
              </a:defRPr>
            </a:pPr>
            <a:r>
              <a:t>• Implement getSupplierSearchClient() : Use getProvidedDependency() with the constant from DependencyProvider Return type: SupplierSearchClientInterface</a:t>
            </a:r>
          </a:p>
          <a:p>
            <a:pPr>
              <a:spcAft>
                <a:spcPts val="800"/>
              </a:spcAft>
              <a:defRPr sz="1400" i="1">
                <a:solidFill>
                  <a:srgbClr val="888888"/>
                </a:solidFill>
              </a:defRPr>
            </a:pPr>
            <a:r>
              <a:t>❝ Yves Factory vs Zed Factory: In Yves, the factory extends AbstractFactory (not AbstractCommunicationFactory ).</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3: Routes (provided)</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Routes connect URLs to controller actions. The skeleton provides them; review src/SprykerAcademy/Yves/SupplierPage/Plugin/Router/SupplierPageRouteProviderPlugin.php :</a:t>
            </a:r>
          </a:p>
          <a:p>
            <a:pPr>
              <a:spcAft>
                <a:spcPts val="100"/>
              </a:spcAft>
              <a:defRPr sz="1000">
                <a:solidFill>
                  <a:srgbClr val="1A1A1A"/>
                </a:solidFill>
                <a:latin typeface="Consolas"/>
              </a:defRPr>
            </a:pPr>
            <a:r>
              <a:t>Route name       Path                     Action                         </a:t>
            </a:r>
          </a:p>
          <a:p>
            <a:pPr>
              <a:spcAft>
                <a:spcPts val="100"/>
              </a:spcAft>
              <a:defRPr sz="1000">
                <a:solidFill>
                  <a:srgbClr val="1A1A1A"/>
                </a:solidFill>
                <a:latin typeface="Consolas"/>
              </a:defRPr>
            </a:pPr>
            <a:r>
              <a:t>---------------  -----------------------  -------------------------------</a:t>
            </a:r>
          </a:p>
          <a:p>
            <a:pPr>
              <a:spcAft>
                <a:spcPts val="100"/>
              </a:spcAft>
              <a:defRPr sz="1000">
                <a:solidFill>
                  <a:srgbClr val="1A1A1A"/>
                </a:solidFill>
                <a:latin typeface="Consolas"/>
              </a:defRPr>
            </a:pPr>
            <a:r>
              <a:t>supplier-list    /suppliers               IndexController::listAction()  </a:t>
            </a:r>
          </a:p>
          <a:p>
            <a:pPr>
              <a:spcAft>
                <a:spcPts val="100"/>
              </a:spcAft>
              <a:defRPr sz="1000">
                <a:solidFill>
                  <a:srgbClr val="1A1A1A"/>
                </a:solidFill>
                <a:latin typeface="Consolas"/>
              </a:defRPr>
            </a:pPr>
            <a:r>
              <a:t>supplier-detail  /suppliers/{idSupplier}  IndexController::detailAction()</a:t>
            </a:r>
          </a:p>
          <a:p>
            <a:pPr>
              <a:spcAft>
                <a:spcPts val="400"/>
              </a:spcAft>
              <a:defRPr sz="1500">
                <a:solidFill>
                  <a:srgbClr val="1A1A1A"/>
                </a:solidFill>
              </a:defRPr>
            </a:pPr>
            <a:r>
              <a:t>• buildRoute() parameters: path, module, controller, action</a:t>
            </a:r>
          </a:p>
          <a:p>
            <a:pPr>
              <a:spcAft>
                <a:spcPts val="400"/>
              </a:spcAft>
              <a:defRPr sz="1500">
                <a:solidFill>
                  <a:srgbClr val="1A1A1A"/>
                </a:solidFill>
              </a:defRPr>
            </a:pPr>
            <a:r>
              <a:t>• setMethods(['GET']) limits the route to GET requests</a:t>
            </a:r>
          </a:p>
          <a:p>
            <a:pPr>
              <a:spcAft>
                <a:spcPts val="400"/>
              </a:spcAft>
              <a:defRPr sz="1500">
                <a:solidFill>
                  <a:srgbClr val="1A1A1A"/>
                </a:solidFill>
              </a:defRPr>
            </a:pPr>
            <a:r>
              <a:t>• setRequirement('idSupplier', '\d+') only matches numeric IDs</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3: Routes (provided)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Router registration: src/SprykerAcademy/Yves/Router/RouterDependencyProvider.php extends the project’s Pyz\Yves\Router\RouterDependencyProvider and appends the SupplierPageRouteProviderPlugin to getRouteProvider() . Because SprykerAcademy comes before Pyz in the project namespaces, the kernel resolves this class instead of the Pyz one, so no project file has to be edited.</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4: Controller (provided)</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Review src/SprykerAcademy/Yves/SupplierPage/Controller/IndexController.php :</a:t>
            </a:r>
          </a:p>
          <a:p>
            <a:pPr>
              <a:spcBef>
                <a:spcPts val="800"/>
              </a:spcBef>
              <a:spcAft>
                <a:spcPts val="400"/>
              </a:spcAft>
              <a:defRPr sz="1700" b="1">
                <a:solidFill>
                  <a:srgbClr val="1A1A1A"/>
                </a:solidFill>
              </a:defRPr>
            </a:pPr>
            <a:r>
              <a:t>4.1 listAction - List All Suppliers</a:t>
            </a:r>
          </a:p>
          <a:p>
            <a:pPr>
              <a:spcBef>
                <a:spcPts val="0"/>
              </a:spcBef>
              <a:spcAft>
                <a:spcPts val="0"/>
              </a:spcAft>
            </a:pPr>
            <a:r>
              <a:rPr sz="900" b="1">
                <a:solidFill>
                  <a:srgbClr val="007020"/>
                </a:solidFill>
                <a:latin typeface="Consolas"/>
              </a:rPr>
              <a:t>public</a:t>
            </a:r>
            <a:r>
              <a:rPr sz="900">
                <a:solidFill>
                  <a:srgbClr val="2D2D2D"/>
                </a:solidFill>
                <a:latin typeface="Consolas"/>
              </a:rPr>
              <a:t> </a:t>
            </a:r>
            <a:r>
              <a:rPr sz="900" b="1">
                <a:solidFill>
                  <a:srgbClr val="007020"/>
                </a:solidFill>
                <a:latin typeface="Consolas"/>
              </a:rPr>
              <a:t>function</a:t>
            </a:r>
            <a:r>
              <a:rPr sz="900">
                <a:solidFill>
                  <a:srgbClr val="2D2D2D"/>
                </a:solidFill>
                <a:latin typeface="Consolas"/>
              </a:rPr>
              <a:t> listAction(</a:t>
            </a:r>
            <a:r>
              <a:rPr sz="900">
                <a:solidFill>
                  <a:srgbClr val="880000"/>
                </a:solidFill>
                <a:latin typeface="Consolas"/>
              </a:rPr>
              <a:t>R</a:t>
            </a:r>
            <a:r>
              <a:rPr sz="900">
                <a:solidFill>
                  <a:srgbClr val="2D2D2D"/>
                </a:solidFill>
                <a:latin typeface="Consolas"/>
              </a:rPr>
              <a:t>equest </a:t>
            </a:r>
            <a:r>
              <a:rPr sz="900">
                <a:solidFill>
                  <a:srgbClr val="19177C"/>
                </a:solidFill>
                <a:latin typeface="Consolas"/>
              </a:rPr>
              <a:t>$request</a:t>
            </a:r>
            <a:r>
              <a:rPr sz="900">
                <a:solidFill>
                  <a:srgbClr val="2D2D2D"/>
                </a:solidFill>
                <a:latin typeface="Consolas"/>
              </a:rPr>
              <a:t>)</a:t>
            </a:r>
            <a:r>
              <a:rPr sz="900">
                <a:solidFill>
                  <a:srgbClr val="007020"/>
                </a:solidFill>
                <a:latin typeface="Consolas"/>
              </a:rPr>
              <a:t>:</a:t>
            </a:r>
            <a:r>
              <a:rPr sz="900">
                <a:solidFill>
                  <a:srgbClr val="2D2D2D"/>
                </a:solidFill>
                <a:latin typeface="Consolas"/>
              </a:rPr>
              <a:t> </a:t>
            </a:r>
            <a:r>
              <a:rPr sz="900">
                <a:solidFill>
                  <a:srgbClr val="880000"/>
                </a:solidFill>
                <a:latin typeface="Consolas"/>
              </a:rPr>
              <a:t>V</a:t>
            </a:r>
            <a:r>
              <a:rPr sz="900">
                <a:solidFill>
                  <a:srgbClr val="2D2D2D"/>
                </a:solidFill>
                <a:latin typeface="Consolas"/>
              </a:rPr>
              <a:t>iew</a:t>
            </a:r>
          </a:p>
          <a:p>
            <a:pPr>
              <a:spcBef>
                <a:spcPts val="0"/>
              </a:spcBef>
              <a:spcAft>
                <a:spcPts val="0"/>
              </a:spcAft>
            </a:pPr>
            <a:r>
              <a:rPr sz="900">
                <a:solidFill>
                  <a:srgbClr val="2D2D2D"/>
                </a:solidFill>
                <a:latin typeface="Consolas"/>
              </a:rPr>
              <a:t>{</a:t>
            </a:r>
          </a:p>
          <a:p>
            <a:pPr>
              <a:spcBef>
                <a:spcPts val="0"/>
              </a:spcBef>
              <a:spcAft>
                <a:spcPts val="0"/>
              </a:spcAft>
            </a:pPr>
            <a:r>
              <a:rPr sz="900">
                <a:solidFill>
                  <a:srgbClr val="2D2D2D"/>
                </a:solidFill>
                <a:latin typeface="Consolas"/>
              </a:rPr>
              <a:t>    </a:t>
            </a:r>
            <a:r>
              <a:rPr sz="900">
                <a:solidFill>
                  <a:srgbClr val="19177C"/>
                </a:solidFill>
                <a:latin typeface="Consolas"/>
              </a:rPr>
              <a:t>$supplierCollection</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a:solidFill>
                  <a:srgbClr val="19177C"/>
                </a:solidFill>
                <a:latin typeface="Consolas"/>
              </a:rPr>
              <a:t>$this</a:t>
            </a:r>
            <a:r>
              <a:rPr sz="900">
                <a:solidFill>
                  <a:srgbClr val="2D2D2D"/>
                </a:solidFill>
                <a:latin typeface="Consolas"/>
              </a:rPr>
              <a:t>-&gt;getFactory()</a:t>
            </a:r>
          </a:p>
          <a:p>
            <a:pPr>
              <a:spcBef>
                <a:spcPts val="0"/>
              </a:spcBef>
              <a:spcAft>
                <a:spcPts val="0"/>
              </a:spcAft>
            </a:pPr>
            <a:r>
              <a:rPr sz="900">
                <a:solidFill>
                  <a:srgbClr val="2D2D2D"/>
                </a:solidFill>
                <a:latin typeface="Consolas"/>
              </a:rPr>
              <a:t>        -&gt;getSupplierSearchClient()</a:t>
            </a:r>
          </a:p>
          <a:p>
            <a:pPr>
              <a:spcBef>
                <a:spcPts val="0"/>
              </a:spcBef>
              <a:spcAft>
                <a:spcPts val="0"/>
              </a:spcAft>
            </a:pPr>
            <a:r>
              <a:rPr sz="900">
                <a:solidFill>
                  <a:srgbClr val="2D2D2D"/>
                </a:solidFill>
                <a:latin typeface="Consolas"/>
              </a:rPr>
              <a:t>        -&gt;searchSuppliers(</a:t>
            </a:r>
            <a:r>
              <a:rPr sz="900">
                <a:solidFill>
                  <a:srgbClr val="19177C"/>
                </a:solidFill>
                <a:latin typeface="Consolas"/>
              </a:rPr>
              <a:t>$request</a:t>
            </a:r>
            <a:r>
              <a:rPr sz="900">
                <a:solidFill>
                  <a:srgbClr val="2D2D2D"/>
                </a:solidFill>
                <a:latin typeface="Consolas"/>
              </a:rPr>
              <a:t>-&gt;query-&gt;all())</a:t>
            </a:r>
            <a:r>
              <a:rPr sz="900">
                <a:solidFill>
                  <a:srgbClr val="007020"/>
                </a:solidFill>
                <a:latin typeface="Consolas"/>
              </a:rPr>
              <a:t>;</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    </a:t>
            </a:r>
            <a:r>
              <a:rPr sz="900" b="1">
                <a:solidFill>
                  <a:srgbClr val="007020"/>
                </a:solidFill>
                <a:latin typeface="Consolas"/>
              </a:rPr>
              <a:t>return</a:t>
            </a:r>
            <a:r>
              <a:rPr sz="900">
                <a:solidFill>
                  <a:srgbClr val="2D2D2D"/>
                </a:solidFill>
                <a:latin typeface="Consolas"/>
              </a:rPr>
              <a:t> </a:t>
            </a:r>
            <a:r>
              <a:rPr sz="900">
                <a:solidFill>
                  <a:srgbClr val="19177C"/>
                </a:solidFill>
                <a:latin typeface="Consolas"/>
              </a:rPr>
              <a:t>$this</a:t>
            </a:r>
            <a:r>
              <a:rPr sz="900">
                <a:solidFill>
                  <a:srgbClr val="2D2D2D"/>
                </a:solidFill>
                <a:latin typeface="Consolas"/>
              </a:rPr>
              <a:t>-&gt;view(</a:t>
            </a:r>
          </a:p>
          <a:p>
            <a:pPr>
              <a:spcBef>
                <a:spcPts val="0"/>
              </a:spcBef>
              <a:spcAft>
                <a:spcPts val="0"/>
              </a:spcAft>
            </a:pPr>
            <a:r>
              <a:rPr sz="900">
                <a:solidFill>
                  <a:srgbClr val="2D2D2D"/>
                </a:solidFill>
                <a:latin typeface="Consolas"/>
              </a:rPr>
              <a:t>        [</a:t>
            </a:r>
            <a:r>
              <a:rPr sz="900">
                <a:solidFill>
                  <a:srgbClr val="4070A0"/>
                </a:solidFill>
                <a:latin typeface="Consolas"/>
              </a:rPr>
              <a:t>'suppliers'</a:t>
            </a:r>
            <a:r>
              <a:rPr sz="900">
                <a:solidFill>
                  <a:srgbClr val="2D2D2D"/>
                </a:solidFill>
                <a:latin typeface="Consolas"/>
              </a:rPr>
              <a:t> =&gt; </a:t>
            </a:r>
            <a:r>
              <a:rPr sz="900">
                <a:solidFill>
                  <a:srgbClr val="19177C"/>
                </a:solidFill>
                <a:latin typeface="Consolas"/>
              </a:rPr>
              <a:t>$supplierCollection</a:t>
            </a:r>
            <a:r>
              <a:rPr sz="900">
                <a:solidFill>
                  <a:srgbClr val="2D2D2D"/>
                </a:solidFill>
                <a:latin typeface="Consolas"/>
              </a:rPr>
              <a:t>-&gt;getSuppliers()]</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4070A0"/>
                </a:solidFill>
                <a:latin typeface="Consolas"/>
              </a:rPr>
              <a:t>'@SupplierPage/views/list/list.twig'</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007020"/>
                </a:solidFill>
                <a:latin typeface="Consolas"/>
              </a:rPr>
              <a:t>;</a:t>
            </a:r>
          </a:p>
          <a:p>
            <a:pPr>
              <a:spcBef>
                <a:spcPts val="0"/>
              </a:spcBef>
              <a:spcAft>
                <a:spcPts val="0"/>
              </a:spcAft>
            </a:pPr>
            <a:r>
              <a:rPr sz="900">
                <a:solidFill>
                  <a:srgbClr val="2D2D2D"/>
                </a:solidFill>
                <a:latin typeface="Consolas"/>
              </a:rPr>
              <a:t>}</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4: Controller (provided)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400" i="1">
                <a:solidFill>
                  <a:srgbClr val="888888"/>
                </a:solidFill>
              </a:defRPr>
            </a:pPr>
            <a:r>
              <a:t>❝ searchSuppliers(): the query parameters are passed through, so ?q=... style filters can be added later. With no parameters, all suppliers are returned.</a:t>
            </a:r>
          </a:p>
          <a:p>
            <a:pPr>
              <a:spcBef>
                <a:spcPts val="800"/>
              </a:spcBef>
              <a:spcAft>
                <a:spcPts val="400"/>
              </a:spcAft>
              <a:defRPr sz="1700" b="1">
                <a:solidFill>
                  <a:srgbClr val="1A1A1A"/>
                </a:solidFill>
              </a:defRPr>
            </a:pPr>
            <a:r>
              <a:t>4.2 detailAction - Single Supplier</a:t>
            </a: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4: Controller (provided)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b="1">
                <a:solidFill>
                  <a:srgbClr val="007020"/>
                </a:solidFill>
                <a:latin typeface="Consolas"/>
              </a:rPr>
              <a:t>public</a:t>
            </a:r>
            <a:r>
              <a:rPr sz="900">
                <a:solidFill>
                  <a:srgbClr val="2D2D2D"/>
                </a:solidFill>
                <a:latin typeface="Consolas"/>
              </a:rPr>
              <a:t> </a:t>
            </a:r>
            <a:r>
              <a:rPr sz="900" b="1">
                <a:solidFill>
                  <a:srgbClr val="007020"/>
                </a:solidFill>
                <a:latin typeface="Consolas"/>
              </a:rPr>
              <a:t>function</a:t>
            </a:r>
            <a:r>
              <a:rPr sz="900">
                <a:solidFill>
                  <a:srgbClr val="2D2D2D"/>
                </a:solidFill>
                <a:latin typeface="Consolas"/>
              </a:rPr>
              <a:t> detailAction(</a:t>
            </a:r>
            <a:r>
              <a:rPr sz="900">
                <a:solidFill>
                  <a:srgbClr val="880000"/>
                </a:solidFill>
                <a:latin typeface="Consolas"/>
              </a:rPr>
              <a:t>R</a:t>
            </a:r>
            <a:r>
              <a:rPr sz="900">
                <a:solidFill>
                  <a:srgbClr val="2D2D2D"/>
                </a:solidFill>
                <a:latin typeface="Consolas"/>
              </a:rPr>
              <a:t>equest </a:t>
            </a:r>
            <a:r>
              <a:rPr sz="900">
                <a:solidFill>
                  <a:srgbClr val="19177C"/>
                </a:solidFill>
                <a:latin typeface="Consolas"/>
              </a:rPr>
              <a:t>$request</a:t>
            </a:r>
            <a:r>
              <a:rPr sz="900">
                <a:solidFill>
                  <a:srgbClr val="2D2D2D"/>
                </a:solidFill>
                <a:latin typeface="Consolas"/>
              </a:rPr>
              <a:t>)</a:t>
            </a:r>
            <a:r>
              <a:rPr sz="900">
                <a:solidFill>
                  <a:srgbClr val="007020"/>
                </a:solidFill>
                <a:latin typeface="Consolas"/>
              </a:rPr>
              <a:t>:</a:t>
            </a:r>
            <a:r>
              <a:rPr sz="900">
                <a:solidFill>
                  <a:srgbClr val="2D2D2D"/>
                </a:solidFill>
                <a:latin typeface="Consolas"/>
              </a:rPr>
              <a:t> </a:t>
            </a:r>
            <a:r>
              <a:rPr sz="900">
                <a:solidFill>
                  <a:srgbClr val="880000"/>
                </a:solidFill>
                <a:latin typeface="Consolas"/>
              </a:rPr>
              <a:t>V</a:t>
            </a:r>
            <a:r>
              <a:rPr sz="900">
                <a:solidFill>
                  <a:srgbClr val="2D2D2D"/>
                </a:solidFill>
                <a:latin typeface="Consolas"/>
              </a:rPr>
              <a:t>iew</a:t>
            </a:r>
          </a:p>
          <a:p>
            <a:pPr>
              <a:spcBef>
                <a:spcPts val="0"/>
              </a:spcBef>
              <a:spcAft>
                <a:spcPts val="0"/>
              </a:spcAft>
            </a:pPr>
            <a:r>
              <a:rPr sz="900">
                <a:solidFill>
                  <a:srgbClr val="2D2D2D"/>
                </a:solidFill>
                <a:latin typeface="Consolas"/>
              </a:rPr>
              <a:t>{</a:t>
            </a:r>
          </a:p>
          <a:p>
            <a:pPr>
              <a:spcBef>
                <a:spcPts val="0"/>
              </a:spcBef>
              <a:spcAft>
                <a:spcPts val="0"/>
              </a:spcAft>
            </a:pPr>
            <a:r>
              <a:rPr sz="900">
                <a:solidFill>
                  <a:srgbClr val="2D2D2D"/>
                </a:solidFill>
                <a:latin typeface="Consolas"/>
              </a:rPr>
              <a:t>    </a:t>
            </a:r>
            <a:r>
              <a:rPr sz="900">
                <a:solidFill>
                  <a:srgbClr val="19177C"/>
                </a:solidFill>
                <a:latin typeface="Consolas"/>
              </a:rPr>
              <a:t>$idSupplier</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a:solidFill>
                  <a:srgbClr val="902000"/>
                </a:solidFill>
                <a:latin typeface="Consolas"/>
              </a:rPr>
              <a:t>int</a:t>
            </a:r>
            <a:r>
              <a:rPr sz="900">
                <a:solidFill>
                  <a:srgbClr val="2D2D2D"/>
                </a:solidFill>
                <a:latin typeface="Consolas"/>
              </a:rPr>
              <a:t>)</a:t>
            </a:r>
            <a:r>
              <a:rPr sz="900">
                <a:solidFill>
                  <a:srgbClr val="19177C"/>
                </a:solidFill>
                <a:latin typeface="Consolas"/>
              </a:rPr>
              <a:t>$request</a:t>
            </a:r>
            <a:r>
              <a:rPr sz="900">
                <a:solidFill>
                  <a:srgbClr val="2D2D2D"/>
                </a:solidFill>
                <a:latin typeface="Consolas"/>
              </a:rPr>
              <a:t>-&gt;get(</a:t>
            </a:r>
            <a:r>
              <a:rPr sz="900">
                <a:solidFill>
                  <a:srgbClr val="4070A0"/>
                </a:solidFill>
                <a:latin typeface="Consolas"/>
              </a:rPr>
              <a:t>'idSupplier'</a:t>
            </a:r>
            <a:r>
              <a:rPr sz="900">
                <a:solidFill>
                  <a:srgbClr val="2D2D2D"/>
                </a:solidFill>
                <a:latin typeface="Consolas"/>
              </a:rPr>
              <a:t>)</a:t>
            </a:r>
            <a:r>
              <a:rPr sz="900">
                <a:solidFill>
                  <a:srgbClr val="007020"/>
                </a:solidFill>
                <a:latin typeface="Consolas"/>
              </a:rPr>
              <a:t>;</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    </a:t>
            </a:r>
            <a:r>
              <a:rPr sz="900">
                <a:solidFill>
                  <a:srgbClr val="19177C"/>
                </a:solidFill>
                <a:latin typeface="Consolas"/>
              </a:rPr>
              <a:t>$supplier</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a:solidFill>
                  <a:srgbClr val="19177C"/>
                </a:solidFill>
                <a:latin typeface="Consolas"/>
              </a:rPr>
              <a:t>$this</a:t>
            </a:r>
            <a:r>
              <a:rPr sz="900">
                <a:solidFill>
                  <a:srgbClr val="2D2D2D"/>
                </a:solidFill>
                <a:latin typeface="Consolas"/>
              </a:rPr>
              <a:t>-&gt;getFactory()</a:t>
            </a:r>
          </a:p>
          <a:p>
            <a:pPr>
              <a:spcBef>
                <a:spcPts val="0"/>
              </a:spcBef>
              <a:spcAft>
                <a:spcPts val="0"/>
              </a:spcAft>
            </a:pPr>
            <a:r>
              <a:rPr sz="900">
                <a:solidFill>
                  <a:srgbClr val="2D2D2D"/>
                </a:solidFill>
                <a:latin typeface="Consolas"/>
              </a:rPr>
              <a:t>        -&gt;getSupplierSearchClient()</a:t>
            </a:r>
          </a:p>
          <a:p>
            <a:pPr>
              <a:spcBef>
                <a:spcPts val="0"/>
              </a:spcBef>
              <a:spcAft>
                <a:spcPts val="0"/>
              </a:spcAft>
            </a:pPr>
            <a:r>
              <a:rPr sz="900">
                <a:solidFill>
                  <a:srgbClr val="2D2D2D"/>
                </a:solidFill>
                <a:latin typeface="Consolas"/>
              </a:rPr>
              <a:t>        -&gt;findSupplierById(</a:t>
            </a:r>
            <a:r>
              <a:rPr sz="900">
                <a:solidFill>
                  <a:srgbClr val="19177C"/>
                </a:solidFill>
                <a:latin typeface="Consolas"/>
              </a:rPr>
              <a:t>$idSupplier</a:t>
            </a:r>
            <a:r>
              <a:rPr sz="900">
                <a:solidFill>
                  <a:srgbClr val="2D2D2D"/>
                </a:solidFill>
                <a:latin typeface="Consolas"/>
              </a:rPr>
              <a:t>)</a:t>
            </a:r>
            <a:r>
              <a:rPr sz="900">
                <a:solidFill>
                  <a:srgbClr val="007020"/>
                </a:solidFill>
                <a:latin typeface="Consolas"/>
              </a:rPr>
              <a:t>;</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    </a:t>
            </a:r>
            <a:r>
              <a:rPr sz="900" b="1">
                <a:solidFill>
                  <a:srgbClr val="007020"/>
                </a:solidFill>
                <a:latin typeface="Consolas"/>
              </a:rPr>
              <a:t>return</a:t>
            </a:r>
            <a:r>
              <a:rPr sz="900">
                <a:solidFill>
                  <a:srgbClr val="2D2D2D"/>
                </a:solidFill>
                <a:latin typeface="Consolas"/>
              </a:rPr>
              <a:t> </a:t>
            </a:r>
            <a:r>
              <a:rPr sz="900">
                <a:solidFill>
                  <a:srgbClr val="19177C"/>
                </a:solidFill>
                <a:latin typeface="Consolas"/>
              </a:rPr>
              <a:t>$this</a:t>
            </a:r>
            <a:r>
              <a:rPr sz="900">
                <a:solidFill>
                  <a:srgbClr val="2D2D2D"/>
                </a:solidFill>
                <a:latin typeface="Consolas"/>
              </a:rPr>
              <a:t>-&gt;view(</a:t>
            </a:r>
          </a:p>
          <a:p>
            <a:pPr>
              <a:spcBef>
                <a:spcPts val="0"/>
              </a:spcBef>
              <a:spcAft>
                <a:spcPts val="0"/>
              </a:spcAft>
            </a:pPr>
            <a:r>
              <a:rPr sz="900">
                <a:solidFill>
                  <a:srgbClr val="2D2D2D"/>
                </a:solidFill>
                <a:latin typeface="Consolas"/>
              </a:rPr>
              <a:t>        [</a:t>
            </a:r>
            <a:r>
              <a:rPr sz="900">
                <a:solidFill>
                  <a:srgbClr val="4070A0"/>
                </a:solidFill>
                <a:latin typeface="Consolas"/>
              </a:rPr>
              <a:t>'supplier'</a:t>
            </a:r>
            <a:r>
              <a:rPr sz="900">
                <a:solidFill>
                  <a:srgbClr val="2D2D2D"/>
                </a:solidFill>
                <a:latin typeface="Consolas"/>
              </a:rPr>
              <a:t> =&gt; </a:t>
            </a:r>
            <a:r>
              <a:rPr sz="900">
                <a:solidFill>
                  <a:srgbClr val="19177C"/>
                </a:solidFill>
                <a:latin typeface="Consolas"/>
              </a:rPr>
              <a:t>$supplier</a:t>
            </a:r>
            <a:r>
              <a:rPr sz="900">
                <a:solidFill>
                  <a:srgbClr val="2D2D2D"/>
                </a:solidFill>
                <a:latin typeface="Consolas"/>
              </a:rPr>
              <a:t>]</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4070A0"/>
                </a:solidFill>
                <a:latin typeface="Consolas"/>
              </a:rPr>
              <a:t>'@SupplierPage/views/detail/detail.twig'</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007020"/>
                </a:solidFill>
                <a:latin typeface="Consolas"/>
              </a:rPr>
              <a:t>;</a:t>
            </a:r>
          </a:p>
          <a:p>
            <a:pPr>
              <a:spcBef>
                <a:spcPts val="0"/>
              </a:spcBef>
              <a:spcAft>
                <a:spcPts val="0"/>
              </a:spcAft>
            </a:pPr>
            <a:r>
              <a:rPr sz="900">
                <a:solidFill>
                  <a:srgbClr val="2D2D2D"/>
                </a:solidFill>
                <a:latin typeface="Consolas"/>
              </a:rPr>
              <a:t>}</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4: Controller (provided)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400" i="1">
                <a:solidFill>
                  <a:srgbClr val="888888"/>
                </a:solidFill>
              </a:defRPr>
            </a:pPr>
            <a:r>
              <a:t>❝ Route parameters: {idSupplier} from the route is available through $request-&gt;get('idSupplier') . view(): the third argument names the template explicitly. Without it, Spryker derives the template from the module, controller and action names.</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5: Templates (provided)</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Twig templates render the HTML using data from the controller. Review them:</a:t>
            </a:r>
          </a:p>
          <a:p>
            <a:pPr>
              <a:spcAft>
                <a:spcPts val="400"/>
              </a:spcAft>
              <a:defRPr sz="1500">
                <a:solidFill>
                  <a:srgbClr val="1A1A1A"/>
                </a:solidFill>
              </a:defRPr>
            </a:pPr>
            <a:r>
              <a:t>• src/SprykerAcademy/Yves/SupplierPage/Theme/default/views/list/list.twig — extends page-layout-main , reads _view.suppliers into data.suppliers and renders a table with a link to the detail page: {{ url('supplier-detail', {idSupplier: supplier.idSupplier}) }}</a:t>
            </a:r>
          </a:p>
          <a:p>
            <a:pPr>
              <a:spcAft>
                <a:spcPts val="400"/>
              </a:spcAft>
              <a:defRPr sz="1500">
                <a:solidFill>
                  <a:srgbClr val="1A1A1A"/>
                </a:solidFill>
              </a:defRPr>
            </a:pPr>
            <a:r>
              <a:t>• src/SprykerAcademy/Yves/SupplierPage/Theme/default/views/detail/detail.twig — shows one supplier and links back to the list</a:t>
            </a:r>
          </a:p>
          <a:p>
            <a:pPr>
              <a:spcAft>
                <a:spcPts val="800"/>
              </a:spcAft>
              <a:defRPr sz="1400" i="1">
                <a:solidFill>
                  <a:srgbClr val="888888"/>
                </a:solidFill>
              </a:defRPr>
            </a:pPr>
            <a:r>
              <a:t>❝ url(): generates URLs from route names, so changing a path in the route provider never breaks the links.</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Testing the Storefront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After implementing all parts:</a:t>
            </a:r>
          </a:p>
          <a:p>
            <a:pPr>
              <a:spcAft>
                <a:spcPts val="400"/>
              </a:spcAft>
              <a:defRPr sz="1500">
                <a:solidFill>
                  <a:srgbClr val="1A1A1A"/>
                </a:solidFill>
              </a:defRPr>
            </a:pPr>
            <a:r>
              <a:t>• Clear cache: docker/sdk console cache:empty-all docker/sdk console propel:model:build</a:t>
            </a:r>
          </a:p>
          <a:p>
            <a:pPr>
              <a:spcAft>
                <a:spcPts val="400"/>
              </a:spcAft>
              <a:defRPr sz="1500">
                <a:solidFill>
                  <a:srgbClr val="1A1A1A"/>
                </a:solidFill>
              </a:defRPr>
            </a:pPr>
            <a:r>
              <a:t>• Visit the list page: http://yves.eu.spryker.local/suppliers</a:t>
            </a:r>
          </a:p>
          <a:p>
            <a:pPr>
              <a:spcAft>
                <a:spcPts val="400"/>
              </a:spcAft>
              <a:defRPr sz="1500">
                <a:solidFill>
                  <a:srgbClr val="1A1A1A"/>
                </a:solidFill>
              </a:defRPr>
            </a:pPr>
            <a:r>
              <a:t>• Click “View” on a supplier to see the detail page: http://yves.eu.spryker.local/suppliers/1 (use an ID from the list; the suppliers were imported in Exercise 8)</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Key Concepts Summary</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1200"/>
              </a:spcBef>
              <a:spcAft>
                <a:spcPts val="600"/>
              </a:spcAft>
              <a:defRPr sz="2000" b="1">
                <a:solidFill>
                  <a:srgbClr val="1A1A1A"/>
                </a:solidFill>
              </a:defRPr>
            </a:pPr>
            <a:r>
              <a:t>Yves vs Zed</a:t>
            </a:r>
          </a:p>
          <a:p>
            <a:pPr>
              <a:spcAft>
                <a:spcPts val="100"/>
              </a:spcAft>
              <a:defRPr sz="1000">
                <a:solidFill>
                  <a:srgbClr val="1A1A1A"/>
                </a:solidFill>
                <a:latin typeface="Consolas"/>
              </a:defRPr>
            </a:pPr>
            <a:r>
              <a:t>Aspect           Zed (Back Office)                          Yves (Storefront)                                             </a:t>
            </a:r>
          </a:p>
          <a:p>
            <a:pPr>
              <a:spcAft>
                <a:spcPts val="100"/>
              </a:spcAft>
              <a:defRPr sz="1000">
                <a:solidFill>
                  <a:srgbClr val="1A1A1A"/>
                </a:solidFill>
                <a:latin typeface="Consolas"/>
              </a:defRPr>
            </a:pPr>
            <a:r>
              <a:t>---------------  -----------------------------------------  --------------------------------------------------------------</a:t>
            </a:r>
          </a:p>
          <a:p>
            <a:pPr>
              <a:spcAft>
                <a:spcPts val="100"/>
              </a:spcAft>
              <a:defRPr sz="1000">
                <a:solidFill>
                  <a:srgbClr val="1A1A1A"/>
                </a:solidFill>
                <a:latin typeface="Consolas"/>
              </a:defRPr>
            </a:pPr>
            <a:r>
              <a:t>Controller base  Spryker\Zed\Kernel\...\AbstractController  SprykerShop\Yves\ShopApplication\Controller\AbstractController</a:t>
            </a:r>
          </a:p>
          <a:p>
            <a:pPr>
              <a:spcAft>
                <a:spcPts val="100"/>
              </a:spcAft>
              <a:defRPr sz="1000">
                <a:solidFill>
                  <a:srgbClr val="1A1A1A"/>
                </a:solidFill>
                <a:latin typeface="Consolas"/>
              </a:defRPr>
            </a:pPr>
            <a:r>
              <a:t>Template layout  @Gui/Layout/layout.twig                    page-layout-main                                              </a:t>
            </a:r>
          </a:p>
          <a:p>
            <a:pPr>
              <a:spcAft>
                <a:spcPts val="100"/>
              </a:spcAft>
              <a:defRPr sz="1000">
                <a:solidFill>
                  <a:srgbClr val="1A1A1A"/>
                </a:solidFill>
                <a:latin typeface="Consolas"/>
              </a:defRPr>
            </a:pPr>
            <a:r>
              <a:t>Routing          navigation.xml                             RouteProviderPlugin                                           </a:t>
            </a:r>
          </a:p>
          <a:p>
            <a:pPr>
              <a:spcAft>
                <a:spcPts val="100"/>
              </a:spcAft>
              <a:defRPr sz="1000">
                <a:solidFill>
                  <a:srgbClr val="1A1A1A"/>
                </a:solidFill>
                <a:latin typeface="Consolas"/>
              </a:defRPr>
            </a:pPr>
            <a:r>
              <a:t>URL generation   Hardcoded paths                            url() Twig function                                           </a:t>
            </a:r>
          </a:p>
          <a:p>
            <a:pPr>
              <a:spcAft>
                <a:spcPts val="100"/>
              </a:spcAft>
              <a:defRPr sz="1000">
                <a:solidFill>
                  <a:srgbClr val="1A1A1A"/>
                </a:solidFill>
                <a:latin typeface="Consolas"/>
              </a:defRPr>
            </a:pPr>
            <a:r>
              <a:t>CSS framework    Spryker Gui                                Bootstrap (default theme)</a:t>
            </a:r>
          </a:p>
          <a:p>
            <a:pPr>
              <a:spcBef>
                <a:spcPts val="1200"/>
              </a:spcBef>
              <a:spcAft>
                <a:spcPts val="600"/>
              </a:spcAft>
              <a:defRPr sz="2000" b="1">
                <a:solidFill>
                  <a:srgbClr val="1A1A1A"/>
                </a:solidFill>
              </a:defRPr>
            </a:pPr>
            <a:r>
              <a:t>Controller Return Types</a:t>
            </a:r>
          </a:p>
          <a:p>
            <a:pPr>
              <a:spcAft>
                <a:spcPts val="100"/>
              </a:spcAft>
              <a:defRPr sz="1000">
                <a:solidFill>
                  <a:srgbClr val="1A1A1A"/>
                </a:solidFill>
                <a:latin typeface="Consolas"/>
              </a:defRPr>
            </a:pPr>
            <a:r>
              <a:t>Return                      Purpose                            </a:t>
            </a:r>
          </a:p>
          <a:p>
            <a:pPr>
              <a:spcAft>
                <a:spcPts val="100"/>
              </a:spcAft>
              <a:defRPr sz="1000">
                <a:solidFill>
                  <a:srgbClr val="1A1A1A"/>
                </a:solidFill>
                <a:latin typeface="Consolas"/>
              </a:defRPr>
            </a:pPr>
            <a:r>
              <a:t>--------------------------  -----------------------------------</a:t>
            </a:r>
          </a:p>
          <a:p>
            <a:pPr>
              <a:spcAft>
                <a:spcPts val="100"/>
              </a:spcAft>
              <a:defRPr sz="1000">
                <a:solidFill>
                  <a:srgbClr val="1A1A1A"/>
                </a:solidFill>
                <a:latin typeface="Consolas"/>
              </a:defRPr>
            </a:pPr>
            <a:r>
              <a:t>View (from $this-&gt;view() )  Renders a Twig template with data  </a:t>
            </a:r>
          </a:p>
          <a:p>
            <a:pPr>
              <a:spcAft>
                <a:spcPts val="100"/>
              </a:spcAft>
              <a:defRPr sz="1000">
                <a:solidFill>
                  <a:srgbClr val="1A1A1A"/>
                </a:solidFill>
                <a:latin typeface="Consolas"/>
              </a:defRPr>
            </a:pPr>
            <a:r>
              <a:t>Response                    Raw response (e.g., redirect, JSON)</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Request Handling</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i="1">
                <a:solidFill>
                  <a:srgbClr val="60A0B0"/>
                </a:solidFill>
                <a:latin typeface="Consolas"/>
              </a:rPr>
              <a:t>// Route parameters: /suppliers/{idSupplier}</a:t>
            </a:r>
          </a:p>
          <a:p>
            <a:pPr>
              <a:spcBef>
                <a:spcPts val="0"/>
              </a:spcBef>
              <a:spcAft>
                <a:spcPts val="0"/>
              </a:spcAft>
            </a:pPr>
            <a:r>
              <a:rPr sz="900">
                <a:solidFill>
                  <a:srgbClr val="19177C"/>
                </a:solidFill>
                <a:latin typeface="Consolas"/>
              </a:rPr>
              <a:t>$idSupplier</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a:solidFill>
                  <a:srgbClr val="902000"/>
                </a:solidFill>
                <a:latin typeface="Consolas"/>
              </a:rPr>
              <a:t>int</a:t>
            </a:r>
            <a:r>
              <a:rPr sz="900">
                <a:solidFill>
                  <a:srgbClr val="2D2D2D"/>
                </a:solidFill>
                <a:latin typeface="Consolas"/>
              </a:rPr>
              <a:t>)</a:t>
            </a:r>
            <a:r>
              <a:rPr sz="900">
                <a:solidFill>
                  <a:srgbClr val="19177C"/>
                </a:solidFill>
                <a:latin typeface="Consolas"/>
              </a:rPr>
              <a:t>$request</a:t>
            </a:r>
            <a:r>
              <a:rPr sz="900">
                <a:solidFill>
                  <a:srgbClr val="2D2D2D"/>
                </a:solidFill>
                <a:latin typeface="Consolas"/>
              </a:rPr>
              <a:t>-&gt;get(</a:t>
            </a:r>
            <a:r>
              <a:rPr sz="900">
                <a:solidFill>
                  <a:srgbClr val="4070A0"/>
                </a:solidFill>
                <a:latin typeface="Consolas"/>
              </a:rPr>
              <a:t>'idSupplier'</a:t>
            </a:r>
            <a:r>
              <a:rPr sz="900">
                <a:solidFill>
                  <a:srgbClr val="2D2D2D"/>
                </a:solidFill>
                <a:latin typeface="Consolas"/>
              </a:rPr>
              <a:t>)</a:t>
            </a:r>
            <a:r>
              <a:rPr sz="900">
                <a:solidFill>
                  <a:srgbClr val="007020"/>
                </a:solidFill>
                <a:latin typeface="Consolas"/>
              </a:rPr>
              <a:t>;</a:t>
            </a:r>
          </a:p>
          <a:p>
            <a:pPr>
              <a:spcBef>
                <a:spcPts val="0"/>
              </a:spcBef>
              <a:spcAft>
                <a:spcPts val="0"/>
              </a:spcAft>
            </a:pPr>
            <a:r>
              <a:rPr sz="900">
                <a:latin typeface="Consolas"/>
              </a:rPr>
              <a:t> </a:t>
            </a:r>
          </a:p>
          <a:p>
            <a:pPr>
              <a:spcBef>
                <a:spcPts val="0"/>
              </a:spcBef>
              <a:spcAft>
                <a:spcPts val="0"/>
              </a:spcAft>
            </a:pPr>
            <a:r>
              <a:rPr sz="900" i="1">
                <a:solidFill>
                  <a:srgbClr val="60A0B0"/>
                </a:solidFill>
                <a:latin typeface="Consolas"/>
              </a:rPr>
              <a:t>// Query parameters: /suppliers?q=acme</a:t>
            </a:r>
          </a:p>
          <a:p>
            <a:pPr>
              <a:spcBef>
                <a:spcPts val="0"/>
              </a:spcBef>
              <a:spcAft>
                <a:spcPts val="0"/>
              </a:spcAft>
            </a:pPr>
            <a:r>
              <a:rPr sz="900">
                <a:solidFill>
                  <a:srgbClr val="19177C"/>
                </a:solidFill>
                <a:latin typeface="Consolas"/>
              </a:rPr>
              <a:t>$query</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a:solidFill>
                  <a:srgbClr val="19177C"/>
                </a:solidFill>
                <a:latin typeface="Consolas"/>
              </a:rPr>
              <a:t>$request</a:t>
            </a:r>
            <a:r>
              <a:rPr sz="900">
                <a:solidFill>
                  <a:srgbClr val="2D2D2D"/>
                </a:solidFill>
                <a:latin typeface="Consolas"/>
              </a:rPr>
              <a:t>-&gt;query-&gt;get(</a:t>
            </a:r>
            <a:r>
              <a:rPr sz="900">
                <a:solidFill>
                  <a:srgbClr val="4070A0"/>
                </a:solidFill>
                <a:latin typeface="Consolas"/>
              </a:rPr>
              <a:t>'q'</a:t>
            </a:r>
            <a:r>
              <a:rPr sz="900">
                <a:solidFill>
                  <a:srgbClr val="2D2D2D"/>
                </a:solidFill>
                <a:latin typeface="Consolas"/>
              </a:rPr>
              <a:t>)</a:t>
            </a:r>
            <a:r>
              <a:rPr sz="900">
                <a:solidFill>
                  <a:srgbClr val="007020"/>
                </a:solidFill>
                <a:latin typeface="Consolas"/>
              </a:rPr>
              <a:t>;</a:t>
            </a:r>
          </a:p>
          <a:p>
            <a:pPr>
              <a:spcBef>
                <a:spcPts val="0"/>
              </a:spcBef>
              <a:spcAft>
                <a:spcPts val="0"/>
              </a:spcAft>
            </a:pPr>
            <a:r>
              <a:rPr sz="900">
                <a:latin typeface="Consolas"/>
              </a:rPr>
              <a:t> </a:t>
            </a:r>
          </a:p>
          <a:p>
            <a:pPr>
              <a:spcBef>
                <a:spcPts val="0"/>
              </a:spcBef>
              <a:spcAft>
                <a:spcPts val="0"/>
              </a:spcAft>
            </a:pPr>
            <a:r>
              <a:rPr sz="900" i="1">
                <a:solidFill>
                  <a:srgbClr val="60A0B0"/>
                </a:solidFill>
                <a:latin typeface="Consolas"/>
              </a:rPr>
              <a:t>// Flash messages</a:t>
            </a:r>
          </a:p>
          <a:p>
            <a:pPr>
              <a:spcBef>
                <a:spcPts val="0"/>
              </a:spcBef>
              <a:spcAft>
                <a:spcPts val="0"/>
              </a:spcAft>
            </a:pPr>
            <a:r>
              <a:rPr sz="900">
                <a:solidFill>
                  <a:srgbClr val="19177C"/>
                </a:solidFill>
                <a:latin typeface="Consolas"/>
              </a:rPr>
              <a:t>$this</a:t>
            </a:r>
            <a:r>
              <a:rPr sz="900">
                <a:solidFill>
                  <a:srgbClr val="2D2D2D"/>
                </a:solidFill>
                <a:latin typeface="Consolas"/>
              </a:rPr>
              <a:t>-&gt;addErrorMessage(</a:t>
            </a:r>
            <a:r>
              <a:rPr sz="900">
                <a:solidFill>
                  <a:srgbClr val="4070A0"/>
                </a:solidFill>
                <a:latin typeface="Consolas"/>
              </a:rPr>
              <a:t>'Error message'</a:t>
            </a:r>
            <a:r>
              <a:rPr sz="900">
                <a:solidFill>
                  <a:srgbClr val="2D2D2D"/>
                </a:solidFill>
                <a:latin typeface="Consolas"/>
              </a:rPr>
              <a:t>)</a:t>
            </a:r>
            <a:r>
              <a:rPr sz="900">
                <a:solidFill>
                  <a:srgbClr val="007020"/>
                </a:solidFill>
                <a:latin typeface="Consolas"/>
              </a:rPr>
              <a:t>;</a:t>
            </a:r>
          </a:p>
          <a:p>
            <a:pPr>
              <a:spcBef>
                <a:spcPts val="0"/>
              </a:spcBef>
              <a:spcAft>
                <a:spcPts val="0"/>
              </a:spcAft>
            </a:pPr>
            <a:r>
              <a:rPr sz="900">
                <a:solidFill>
                  <a:srgbClr val="19177C"/>
                </a:solidFill>
                <a:latin typeface="Consolas"/>
              </a:rPr>
              <a:t>$this</a:t>
            </a:r>
            <a:r>
              <a:rPr sz="900">
                <a:solidFill>
                  <a:srgbClr val="2D2D2D"/>
                </a:solidFill>
                <a:latin typeface="Consolas"/>
              </a:rPr>
              <a:t>-&gt;addSuccessMessage(</a:t>
            </a:r>
            <a:r>
              <a:rPr sz="900">
                <a:solidFill>
                  <a:srgbClr val="4070A0"/>
                </a:solidFill>
                <a:latin typeface="Consolas"/>
              </a:rPr>
              <a:t>'Success message'</a:t>
            </a:r>
            <a:r>
              <a:rPr sz="900">
                <a:solidFill>
                  <a:srgbClr val="2D2D2D"/>
                </a:solidFill>
                <a:latin typeface="Consolas"/>
              </a:rPr>
              <a:t>)</a:t>
            </a:r>
            <a:r>
              <a:rPr sz="900">
                <a:solidFill>
                  <a:srgbClr val="007020"/>
                </a:solidFill>
                <a:latin typeface="Consolas"/>
              </a:rPr>
              <a:t>;</a:t>
            </a:r>
          </a:p>
          <a:p>
            <a:pPr>
              <a:spcBef>
                <a:spcPts val="0"/>
              </a:spcBef>
              <a:spcAft>
                <a:spcPts val="0"/>
              </a:spcAft>
            </a:pPr>
            <a:r>
              <a:rPr sz="900">
                <a:latin typeface="Consolas"/>
              </a:rPr>
              <a:t> </a:t>
            </a:r>
          </a:p>
          <a:p>
            <a:pPr>
              <a:spcBef>
                <a:spcPts val="0"/>
              </a:spcBef>
              <a:spcAft>
                <a:spcPts val="0"/>
              </a:spcAft>
            </a:pPr>
            <a:r>
              <a:rPr sz="900" i="1">
                <a:solidFill>
                  <a:srgbClr val="60A0B0"/>
                </a:solidFill>
                <a:latin typeface="Consolas"/>
              </a:rPr>
              <a:t>// Redirect by route name</a:t>
            </a:r>
          </a:p>
          <a:p>
            <a:pPr>
              <a:spcBef>
                <a:spcPts val="0"/>
              </a:spcBef>
              <a:spcAft>
                <a:spcPts val="0"/>
              </a:spcAft>
            </a:pPr>
            <a:r>
              <a:rPr sz="900" b="1">
                <a:solidFill>
                  <a:srgbClr val="007020"/>
                </a:solidFill>
                <a:latin typeface="Consolas"/>
              </a:rPr>
              <a:t>return</a:t>
            </a:r>
            <a:r>
              <a:rPr sz="900">
                <a:solidFill>
                  <a:srgbClr val="2D2D2D"/>
                </a:solidFill>
                <a:latin typeface="Consolas"/>
              </a:rPr>
              <a:t> </a:t>
            </a:r>
            <a:r>
              <a:rPr sz="900">
                <a:solidFill>
                  <a:srgbClr val="19177C"/>
                </a:solidFill>
                <a:latin typeface="Consolas"/>
              </a:rPr>
              <a:t>$this</a:t>
            </a:r>
            <a:r>
              <a:rPr sz="900">
                <a:solidFill>
                  <a:srgbClr val="2D2D2D"/>
                </a:solidFill>
                <a:latin typeface="Consolas"/>
              </a:rPr>
              <a:t>-&gt;redirectResponseInternal(</a:t>
            </a:r>
            <a:r>
              <a:rPr sz="900">
                <a:solidFill>
                  <a:srgbClr val="4070A0"/>
                </a:solidFill>
                <a:latin typeface="Consolas"/>
              </a:rPr>
              <a:t>'supplier-list'</a:t>
            </a:r>
            <a:r>
              <a:rPr sz="900">
                <a:solidFill>
                  <a:srgbClr val="2D2D2D"/>
                </a:solidFill>
                <a:latin typeface="Consolas"/>
              </a:rPr>
              <a:t>)</a:t>
            </a:r>
            <a:r>
              <a:rPr sz="900">
                <a:solidFill>
                  <a:srgbClr val="007020"/>
                </a:solidFill>
                <a:latin typeface="Consolas"/>
              </a:rPr>
              <a:t>;</a:t>
            </a: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Solution</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./exercises/load.sh</a:t>
            </a:r>
            <a:r>
              <a:rPr sz="900">
                <a:solidFill>
                  <a:srgbClr val="2D2D2D"/>
                </a:solidFill>
                <a:latin typeface="Consolas"/>
              </a:rPr>
              <a:t> supplier intermediate/yves-storefront/complete </a:t>
            </a:r>
            <a:r>
              <a:rPr sz="900">
                <a:solidFill>
                  <a:srgbClr val="2D2D2D"/>
                </a:solidFill>
                <a:latin typeface="Consolas"/>
              </a:rPr>
              <a:t>--run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