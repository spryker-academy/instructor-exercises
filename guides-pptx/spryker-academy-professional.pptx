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and Backend APIs with pagination and includes</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(Exercise 8’s import) into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load.sh --run already imported the sample suppliers. To import them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 URL_SUPPLIER_DELETE points to the confirmation page ( /supplier-gui/delete/confirm ): the Delete button never deletes directly (see 3.5).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removeActionButton('/supplier-gui/delete/confirm?id-supplier='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A supplier has rows in other tables that point to it: its locations ( pyz_supplier_location ) and its merchant assignments ( pyz_merchant_to_supplier ). Both reference pyz_supplier with a foreign key, so deleting the supplier alone fails. The delete therefore works in two steps, and both are provided: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confirmation page. The table’s Delete button opens DeleteController::confirmAction() ( /supplier-gui/delete/confirm ). It names the supplier and warns that its locations and merchant assignments are deleted too. Its form sends a DELETE request with a CSRF token to indexAction() ; Cancel goes back to the overview. indexAction() starts by checking that form, so a plain link to /supplier-gui/delete deletes nothing.</a:t>
            </a:r>
          </a:p>
          <a:p>
            <a:pPr>
              <a:spcAft>
                <a:spcPts val="400"/>
              </a:spcAft>
              <a:defRPr sz="1500">
                <a:solidFill>
                  <a:srgbClr val="1A1A1A"/>
                </a:solidFill>
              </a:defRPr>
            </a:pPr>
            <a:r>
              <a:t>• The business layer. SupplierWriter::delete() deletes the locations, then the merchant assignments, then the supplier - in one transaction ( TransactionTrait ): if one step fails, nothing is deleted.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and complete indexAction() after the form check: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a:p>
            <a:pPr>
              <a:spcAft>
                <a:spcPts val="800"/>
              </a:spcAft>
              <a:defRPr sz="1400" i="1">
                <a:solidFill>
                  <a:srgbClr val="888888"/>
                </a:solidFill>
              </a:defRPr>
            </a:pPr>
            <a:r>
              <a:t>❝ Exception handling: Wrap deleteSupplier() in try/catch (Throwable) . If the transaction fails, nothing was deleted; use $this-&gt;addErrorMessage(static::MESSAGE_SUPPLIER_DELETE_FAILED) and redirect to the overview.</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the confirmation page names the supplier and warns about its locations; confirm, and the supplier is gone together with its locations</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into the database. Publishing them to Redis and Elasticsearch is this exercise.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Map the search publish queue to the Search publisher plugins: SupplierSearchWritePublisherPlugin and SupplierSearchDeletePublisherPlugin</a:t>
            </a:r>
          </a:p>
          <a:p>
            <a:pPr>
              <a:spcAft>
                <a:spcPts val="400"/>
              </a:spcAft>
              <a:defRPr sz="1500">
                <a:solidFill>
                  <a:srgbClr val="1A1A1A"/>
                </a:solidFill>
              </a:defRPr>
            </a:pPr>
            <a:r>
              <a:t>• Map the storage publish queue to the Storage publisher plugins: SupplierStorageWritePublisherPlugin and SupplierStorageDeletePublisherPlugin</a:t>
            </a:r>
          </a:p>
          <a:p>
            <a:pPr>
              <a:spcAft>
                <a:spcPts val="400"/>
              </a:spcAft>
              <a:defRPr sz="1500">
                <a:solidFill>
                  <a:srgbClr val="1A1A1A"/>
                </a:solidFill>
              </a:defRPr>
            </a:pPr>
            <a:r>
              <a:t>• getPublisherPlugins() already merges them with the project’s plugins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delete plugins are provided. SupplierSearchDeletePublisherPlugin and SupplierStorageDeletePublisherPlugin subscribe to Entity.pyz_supplier.delete . The write plugins only handle create and update, so without them a supplier deleted in the Back Office would stay in Elasticsearch and Redis - and keep showing up in the Glue API and in Yves. Read them after Part 7: same Plugin → Facade → Factory → SupplierSearchDeleter chain as the write side, ending in SupplierSearchEntityManager::deleteSupplierSearchesBySupplierIds() . It deletes the rows one entity at a time : a bulk -&gt;delete() on the query skips the Propel behaviors, and the synchronization behavior is what sends the delete on to Elasticsearch / Redis.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And when a supplier is deleted (Back Office → Delete):</a:t>
            </a:r>
          </a:p>
          <a:p>
            <a:pPr>
              <a:spcBef>
                <a:spcPts val="0"/>
              </a:spcBef>
              <a:spcAft>
                <a:spcPts val="0"/>
              </a:spcAft>
            </a:pPr>
            <a:r>
              <a:rPr sz="900">
                <a:solidFill>
                  <a:srgbClr val="2D2D2D"/>
                </a:solidFill>
                <a:latin typeface="Consolas"/>
              </a:rPr>
              <a:t>1. pyz_supplier row deleted → event behavior fires Entity.pyz_supplier.delete (with the id of the deleted row)</a:t>
            </a:r>
          </a:p>
          <a:p>
            <a:pPr>
              <a:spcBef>
                <a:spcPts val="0"/>
              </a:spcBef>
              <a:spcAft>
                <a:spcPts val="0"/>
              </a:spcAft>
            </a:pPr>
            <a:r>
              <a:rPr sz="900">
                <a:solidFill>
                  <a:srgbClr val="2D2D2D"/>
                </a:solidFill>
                <a:latin typeface="Consolas"/>
              </a:rPr>
              <a:t>2. SupplierSearchDeletePublisherPlugin → Facade → SupplierSearchDeleter</a:t>
            </a:r>
          </a:p>
          <a:p>
            <a:pPr>
              <a:spcBef>
                <a:spcPts val="0"/>
              </a:spcBef>
              <a:spcAft>
                <a:spcPts val="0"/>
              </a:spcAft>
            </a:pPr>
            <a:r>
              <a:rPr sz="900">
                <a:solidFill>
                  <a:srgbClr val="2D2D2D"/>
                </a:solidFill>
                <a:latin typeface="Consolas"/>
              </a:rPr>
              <a:t>   → deletes the pyz_supplier_search row of that supplier (entity by entity)</a:t>
            </a:r>
          </a:p>
          <a:p>
            <a:pPr>
              <a:spcBef>
                <a:spcPts val="0"/>
              </a:spcBef>
              <a:spcAft>
                <a:spcPts val="0"/>
              </a:spcAft>
            </a:pPr>
            <a:r>
              <a:rPr sz="900">
                <a:solidFill>
                  <a:srgbClr val="2D2D2D"/>
                </a:solidFill>
                <a:latin typeface="Consolas"/>
              </a:rPr>
              <a:t>3. Synchronization behavior sends a delete message to sync.search.supplier</a:t>
            </a:r>
          </a:p>
          <a:p>
            <a:pPr>
              <a:spcBef>
                <a:spcPts val="0"/>
              </a:spcBef>
              <a:spcAft>
                <a:spcPts val="0"/>
              </a:spcAft>
            </a:pPr>
            <a:r>
              <a:rPr sz="900">
                <a:solidFill>
                  <a:srgbClr val="2D2D2D"/>
                </a:solidFill>
                <a:latin typeface="Consolas"/>
              </a:rPr>
              <a:t>   → the document is removed from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for Storage: SupplierStorageDeletePublisherPlugin → pyz_supplier_storage → Redis key removed)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a:p>
            <a:pPr>
              <a:spcAft>
                <a:spcPts val="400"/>
              </a:spcAft>
              <a:defRPr sz="1500">
                <a:solidFill>
                  <a:srgbClr val="1A1A1A"/>
                </a:solidFill>
              </a:defRPr>
            </a:pPr>
            <a:r>
              <a:t>• Your SprykerAcademy QueueDependencyProvider , SymfonyMessengerConfig or RabbitMqConfig is ignored, and the same code works in Pyz : the class resolver cache still names the Pyz class. Delete src/Generated/Shared/Kernel (or run docker/sdk console cache:class-resolver:build ), or set KernelConstants::RESOLVABLE_CLASS_NAMES_CACHE_ENABLED to false in config/Shared/config_default-docker.dev.php . The full explanation is in the Student Setup Guide .</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and Backend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and Backend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REST API endpoints using Spryker’s API Platform. You will create a Storefront API resource and a Backend API resource for suppliers, page through the collections, and let API clients ask for the locations of a supplier in the same request.</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 - Tell the Storefront API (published data) from the Backend API (the database, through a facade) - Page through a collection with page[offset] and page[limit] - Declare a relationship, so that ?include=supplier-locations returns the locations of a supplier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and Backend API - Supplier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API         Host                           Reads from                                        Endpoints of this exercise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Storefront  glue.eu.spryker.local          Elasticsearch, through the SupplierSearch client  /suppliers , /suppliers/{idSupplier}                                                                                        </a:t>
            </a:r>
          </a:p>
          <a:p>
            <a:pPr>
              <a:spcAft>
                <a:spcPts val="100"/>
              </a:spcAft>
              <a:defRPr sz="1000">
                <a:solidFill>
                  <a:srgbClr val="1A1A1A"/>
                </a:solidFill>
                <a:latin typeface="Consolas"/>
              </a:defRPr>
            </a:pPr>
            <a:r>
              <a:t>Backend     glue-backend.eu.spryker.local  The database, through the Supplier facade         /suppliers , /suppliers/{idSupplier} , /suppliers/{idSupplier}/supplier-locations , /supplier-locations/{idSupplierLocation}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so /suppliers has data to return.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Like every exercise from Exercise 9 on, the branch builds on the solutions of the earlier ones.</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Backend API is a second application ( glue-backend.eu.spryker.local , apiTypes(['backend']) in config/GlueBackend/packages/spryker_api_platform.php ) with its own resources, generated classes ( src/Generated/Api/Backend ) and 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GLUE_APPLICATION=GLUE_BACKEND glue api:generate backend</a:t>
            </a:r>
          </a:p>
          <a:p>
            <a:pPr>
              <a:spcAft>
                <a:spcPts val="800"/>
              </a:spcAft>
              <a:defRPr sz="1600">
                <a:solidFill>
                  <a:srgbClr val="1A1A1A"/>
                </a:solidFill>
              </a:defRPr>
            </a:pPr>
            <a:r>
              <a:t>The API type is the directory a resource file lives in: resources/api/storefront/suppliers.resource.yml is a Storefront resource, resources/api/backend/suppliers.resource.yml a Backend one. Both may have the same name; they are two different resources with two different providers.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GLUE_APPLICATION=GLUE glue api:generate storefront               Generate Storefront API resources                                                                                 </a:t>
            </a:r>
          </a:p>
          <a:p>
            <a:pPr>
              <a:spcAft>
                <a:spcPts val="100"/>
              </a:spcAft>
              <a:defRPr sz="1000">
                <a:solidFill>
                  <a:srgbClr val="1A1A1A"/>
                </a:solidFill>
                <a:latin typeface="Consolas"/>
              </a:defRPr>
            </a:pPr>
            <a:r>
              <a:t>docker/sdk cli GLUE_APPLICATION=GLUE_BACKEND glue api:generate backend          Generate Backend API resources                                                                                    </a:t>
            </a:r>
          </a:p>
          <a:p>
            <a:pPr>
              <a:spcAft>
                <a:spcPts val="100"/>
              </a:spcAft>
              <a:defRPr sz="1000">
                <a:solidFill>
                  <a:srgbClr val="1A1A1A"/>
                </a:solidFill>
                <a:latin typeface="Consolas"/>
              </a:defRPr>
            </a:pPr>
            <a:r>
              <a:t>docker/sdk cli GLUE_APPLICATION=GLUE glue cache:clear                           Delete the compiled Glue container and its metadata cache, so the next request reads the generated resources again</a:t>
            </a:r>
          </a:p>
          <a:p>
            <a:pPr>
              <a:spcAft>
                <a:spcPts val="100"/>
              </a:spcAft>
              <a:defRPr sz="1000">
                <a:solidFill>
                  <a:srgbClr val="1A1A1A"/>
                </a:solidFill>
                <a:latin typeface="Consolas"/>
              </a:defRPr>
            </a:pPr>
            <a:r>
              <a:t>docker/sdk cli GLUE_APPLICATION=GLUE_BACKEND glue cache:clear                   The same for the Backend API application                                                                          </a:t>
            </a:r>
          </a:p>
          <a:p>
            <a:pPr>
              <a:spcAft>
                <a:spcPts val="100"/>
              </a:spcAft>
              <a:defRPr sz="1000">
                <a:solidFill>
                  <a:srgbClr val="1A1A1A"/>
                </a:solidFill>
                <a:latin typeface="Consolas"/>
              </a:defRPr>
            </a:pPr>
            <a:r>
              <a:t>docker/sdk cli GLUE_APPLICATION=GLUE glue api:generate --dry-run                Preview what would be generated without writing                                                                   </a:t>
            </a:r>
          </a:p>
          <a:p>
            <a:pPr>
              <a:spcAft>
                <a:spcPts val="100"/>
              </a:spcAft>
              <a:defRPr sz="1000">
                <a:solidFill>
                  <a:srgbClr val="1A1A1A"/>
                </a:solidFill>
                <a:latin typeface="Consolas"/>
              </a:defRPr>
            </a:pPr>
            <a:r>
              <a:t>docker/sdk cli GLUE_APPLICATION=GLUE glue api:generate --validate-only          Validate schemas without generating                                                                               </a:t>
            </a:r>
          </a:p>
          <a:p>
            <a:pPr>
              <a:spcAft>
                <a:spcPts val="100"/>
              </a:spcAft>
              <a:defRPr sz="1000">
                <a:solidFill>
                  <a:srgbClr val="1A1A1A"/>
                </a:solidFill>
                <a:latin typeface="Consolas"/>
              </a:defRPr>
            </a:pPr>
            <a:r>
              <a:t>docker/sdk cli GLUE_APPLICATION=GLUE glue api:generate storefront -r Suppliers  Generate only the Suppliers resource                                                                              </a:t>
            </a:r>
          </a:p>
          <a:p>
            <a:pPr>
              <a:spcAft>
                <a:spcPts val="100"/>
              </a:spcAft>
              <a:defRPr sz="1000">
                <a:solidFill>
                  <a:srgbClr val="1A1A1A"/>
                </a:solidFill>
                <a:latin typeface="Consolas"/>
              </a:defRPr>
            </a:pPr>
            <a:r>
              <a:t>docker/sdk cli GLUE_APPLICATION=GLUE glue api:debug --list                      List all registered resources                                                                                     </a:t>
            </a:r>
          </a:p>
          <a:p>
            <a:pPr>
              <a:spcAft>
                <a:spcPts val="100"/>
              </a:spcAft>
              <a:defRPr sz="1000">
                <a:solidFill>
                  <a:srgbClr val="1A1A1A"/>
                </a:solidFill>
                <a:latin typeface="Consolas"/>
              </a:defRPr>
            </a:pPr>
            <a:r>
              <a:t>docker/sdk cli GLUE_APPLICATION=GLUE glue api:debug Suppliers                   Inspect a specific resource’s merged schema                                                                       </a:t>
            </a:r>
          </a:p>
          <a:p>
            <a:pPr>
              <a:spcAft>
                <a:spcPts val="100"/>
              </a:spcAft>
              <a:defRPr sz="1000">
                <a:solidFill>
                  <a:srgbClr val="1A1A1A"/>
                </a:solidFill>
                <a:latin typeface="Consolas"/>
              </a:defRPr>
            </a:pPr>
            <a:r>
              <a:t>docker/sdk cli GLUE_APPLICATION=GLUE glue api:debug Suppliers --show-sources    Show all source files with priority                                                                               </a:t>
            </a:r>
          </a:p>
          <a:p>
            <a:pPr>
              <a:spcAft>
                <a:spcPts val="100"/>
              </a:spcAft>
              <a:defRPr sz="1000">
                <a:solidFill>
                  <a:srgbClr val="1A1A1A"/>
                </a:solidFill>
                <a:latin typeface="Consolas"/>
              </a:defRPr>
            </a:pPr>
            <a:r>
              <a:t>docker/sdk cli GLUE_APPLICATION=GLUE glue api:debug Suppliers --show-merged     Display the final merged YAML schema</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names are case-sensitive. -r and api:debug take the name of the resource YAML ( resource: name: Suppliers ), not the file name or the URL path /suppliers . api:debug suppliers fails with Resource “suppliers” not found for ApiType “storefront” , and api:generate -r suppliers silently generates nothing. api:debug --list shows the exact names.</a:t>
            </a:r>
          </a:p>
          <a:p>
            <a:pPr>
              <a:spcAft>
                <a:spcPts val="800"/>
              </a:spcAft>
              <a:defRPr sz="1400" i="1">
                <a:solidFill>
                  <a:srgbClr val="888888"/>
                </a:solidFill>
              </a:defRPr>
            </a:pPr>
            <a:r>
              <a:t>❝ Tip: All glue CLI commands require the GLUE_APPLICATION env var. Run them inside the CLI container with docker/sdk cli and prefix every command with GLUE_APPLICATION=GLUE (the storefront API of this shop) or GLUE_APPLICATION=GLUE_BACKEND as needed.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two commands work on different things:</a:t>
            </a:r>
          </a:p>
          <a:p>
            <a:pPr>
              <a:spcAft>
                <a:spcPts val="400"/>
              </a:spcAft>
              <a:defRPr sz="1500">
                <a:solidFill>
                  <a:srgbClr val="1A1A1A"/>
                </a:solidFill>
              </a:defRPr>
            </a:pPr>
            <a:r>
              <a:t>• api:generate reads the *.resource.yml files and writes PHP resource classes to src/Generated/Api/Storefront/ . It only writes files; it clears nothing.</a:t>
            </a:r>
          </a:p>
          <a:p>
            <a:pPr>
              <a:spcAft>
                <a:spcPts val="400"/>
              </a:spcAft>
              <a:defRPr sz="1500">
                <a:solidFill>
                  <a:srgbClr val="1A1A1A"/>
                </a:solidFill>
              </a:defRPr>
            </a:pPr>
            <a:r>
              <a:t>• The running Glue application never reads those files per request. On its first request it compiles a Symfony container into data/cache/Glue/&lt;environment&gt;/ : the API Platform services and source directories are baked into it, and API Platform stores its resource metadata (which classes are resources, their operations and routes, which provider handles them) in the cache pools next to it. Every later request uses that cache.</a:t>
            </a:r>
          </a:p>
          <a:p>
            <a:pPr>
              <a:spcAft>
                <a:spcPts val="800"/>
              </a:spcAft>
              <a:defRPr sz="1600">
                <a:solidFill>
                  <a:srgbClr val="1A1A1A"/>
                </a:solidFill>
              </a:defRPr>
            </a:pPr>
            <a:r>
              <a:t>Nothing invalidates the cache when the generated classes change. So after a generate, Glue keeps answering from the old metadata:</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changed                                                  Without cache:clear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Added a resource                                             404 : the resource is not in the cached list                     </a:t>
            </a:r>
          </a:p>
          <a:p>
            <a:pPr>
              <a:spcAft>
                <a:spcPts val="100"/>
              </a:spcAft>
              <a:defRPr sz="1000">
                <a:solidFill>
                  <a:srgbClr val="1A1A1A"/>
                </a:solidFill>
                <a:latin typeface="Consolas"/>
              </a:defRPr>
            </a:pPr>
            <a:r>
              <a:t>Renamed or removed a resource, or changed its provider       500 : the cached metadata points at a class that no longer exists</a:t>
            </a:r>
          </a:p>
          <a:p>
            <a:pPr>
              <a:spcAft>
                <a:spcPts val="100"/>
              </a:spcAft>
              <a:defRPr sz="1000">
                <a:solidFill>
                  <a:srgbClr val="1A1A1A"/>
                </a:solidFill>
                <a:latin typeface="Consolas"/>
              </a:defRPr>
            </a:pPr>
            <a:r>
              <a:t>Only the code inside an existing provider method             Works: classes are autoloaded on every request                   </a:t>
            </a:r>
          </a:p>
          <a:p>
            <a:pPr>
              <a:spcAft>
                <a:spcPts val="100"/>
              </a:spcAft>
              <a:defRPr sz="1000">
                <a:solidFill>
                  <a:srgbClr val="1A1A1A"/>
                </a:solidFill>
                <a:latin typeface="Consolas"/>
              </a:defRPr>
            </a:pPr>
            <a:r>
              <a:t>A provider’s constructor, a new service, a source directory  Stale wiring: those are compiled into the container</a:t>
            </a:r>
          </a:p>
          <a:p>
            <a:pPr>
              <a:spcAft>
                <a:spcPts val="800"/>
              </a:spcAft>
              <a:defRPr sz="1600">
                <a:solidFill>
                  <a:srgbClr val="1A1A1A"/>
                </a:solidFill>
              </a:defRPr>
            </a:pPr>
            <a:r>
              <a:t>glue cache:clear deletes that cache, and the next request builds it from the current files. docker/sdk console cache:empty-all does not reach it: it clears the Zed, Yves and console caches, not the per-application Glue container. Rule of thumb: after every change to a resource.yml run both commands, generate first - and for the application the resource belongs to: GLUE + storefront , or GLUE_BACKEND + backend .</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Storefront API and Backend API</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Storefront API                                             Backend API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Who calls it         Shops, apps, customers                                     ERP, PIM, back-office integrations</a:t>
            </a:r>
          </a:p>
          <a:p>
            <a:pPr>
              <a:spcAft>
                <a:spcPts val="100"/>
              </a:spcAft>
              <a:defRPr sz="1000">
                <a:solidFill>
                  <a:srgbClr val="1A1A1A"/>
                </a:solidFill>
                <a:latin typeface="Consolas"/>
              </a:defRPr>
            </a:pPr>
            <a:r>
              <a:t>Data source          Published data: Redis and Elasticsearch, through a Client  The database, through a Zed facade</a:t>
            </a:r>
          </a:p>
          <a:p>
            <a:pPr>
              <a:spcAft>
                <a:spcPts val="100"/>
              </a:spcAft>
              <a:defRPr sz="1000">
                <a:solidFill>
                  <a:srgbClr val="1A1A1A"/>
                </a:solidFill>
                <a:latin typeface="Consolas"/>
              </a:defRPr>
            </a:pPr>
            <a:r>
              <a:t>Provider base class  AbstractStorefrontProvider                                 AbstractBackendProvider           </a:t>
            </a:r>
          </a:p>
          <a:p>
            <a:pPr>
              <a:spcAft>
                <a:spcPts val="100"/>
              </a:spcAft>
              <a:defRPr sz="1000">
                <a:solidFill>
                  <a:srgbClr val="1A1A1A"/>
                </a:solidFill>
                <a:latin typeface="Consolas"/>
              </a:defRPr>
            </a:pPr>
            <a:r>
              <a:t>Resource files       resources/api/storefront/                                  resources/api/backend/</a:t>
            </a:r>
          </a:p>
          <a:p>
            <a:pPr>
              <a:spcAft>
                <a:spcPts val="800"/>
              </a:spcAft>
              <a:defRPr sz="1600">
                <a:solidFill>
                  <a:srgbClr val="1A1A1A"/>
                </a:solidFill>
              </a:defRPr>
            </a:pPr>
            <a:r>
              <a:t>The Storefront API never queries the database: it scales with the storefront and serves what Publish &amp; Synchronize put into Redis and Elasticsearch. The Backend API runs next to Zed and works on the source data. That is why the locations of a supplier are available in the Backend API of this exercise only: they are in the database, but nothing publishes them.</a:t>
            </a:r>
          </a:p>
          <a:p>
            <a:pPr>
              <a:spcAft>
                <a:spcPts val="800"/>
              </a:spcAft>
              <a:defRPr sz="1600">
                <a:solidFill>
                  <a:srgbClr val="1A1A1A"/>
                </a:solidFill>
              </a:defRPr>
            </a:pPr>
            <a:r>
              <a:t>API Platform flow:</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Storefront API and Backend API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the idSupplier identifier property and the pagination property (see Pagination ).</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extends Spryker\ApiPlatform\State\Provider\AbstractStorefrontProvider and receives the SupplierSearchClientInterface of Exercise 11 through its constructor - the storefront reads suppliers from Elasticsearch, not from the database.</a:t>
            </a:r>
          </a:p>
          <a:p>
            <a:pPr>
              <a:spcAft>
                <a:spcPts val="800"/>
              </a:spcAft>
              <a:defRPr sz="1600">
                <a:solidFill>
                  <a:srgbClr val="1A1A1A"/>
                </a:solidFill>
              </a:defRPr>
            </a:pPr>
            <a:r>
              <a:t>AbstractStorefrontProvider implements ApiPlatform\State\ProviderInterface::provide() for you: it calls provideCollection() for a GetCollection operation and provideItem() for a Get.</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provideItem() ( GET /suppliers/{idSupplier} ):</a:t>
            </a:r>
          </a:p>
          <a:p>
            <a:pPr>
              <a:spcAft>
                <a:spcPts val="400"/>
              </a:spcAft>
              <a:defRPr sz="1500">
                <a:solidFill>
                  <a:srgbClr val="1A1A1A"/>
                </a:solidFill>
              </a:defRPr>
            </a:pPr>
            <a:r>
              <a:t>• Read the supplier identifier from $this-&gt;getUriVariables() - the key name must match the identifier property in the YAML</a:t>
            </a:r>
          </a:p>
          <a:p>
            <a:pPr>
              <a:spcAft>
                <a:spcPts val="400"/>
              </a:spcAft>
              <a:defRPr sz="1500">
                <a:solidFill>
                  <a:srgbClr val="1A1A1A"/>
                </a:solidFill>
              </a:defRPr>
            </a:pPr>
            <a:r>
              <a: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600">
                <a:solidFill>
                  <a:srgbClr val="1A1A1A"/>
                </a:solidFill>
              </a:defRPr>
            </a:pPr>
            <a:r>
              <a:t>In provideCollection() ( GET /suppliers ):</a:t>
            </a:r>
          </a:p>
          <a:p>
            <a:pPr>
              <a:spcAft>
                <a:spcPts val="400"/>
              </a:spcAft>
              <a:defRPr sz="1500">
                <a:solidFill>
                  <a:srgbClr val="1A1A1A"/>
                </a:solidFill>
              </a:defRPr>
            </a:pPr>
            <a:r>
              <a:t>• Read the requested page with $this-&gt;getPaginationLimit() and $this-&gt;getPaginationOffset()</a:t>
            </a:r>
          </a:p>
          <a:p>
            <a:pPr>
              <a:spcAft>
                <a:spcPts val="400"/>
              </a:spcAft>
              <a:defRPr sz="1500">
                <a:solidFill>
                  <a:srgbClr val="1A1A1A"/>
                </a:solidFill>
              </a:defRPr>
            </a:pPr>
            <a:r>
              <a:t>• Call searchSuppliers() with the request parameters SupplierSearchConfig::PARAMETER_OFFSET and SupplierSearchConfig::PARAMETER_LIMIT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Loop over SupplierCollectionTransfer::getSuppliers() and map each transfer to a resource</a:t>
            </a:r>
          </a:p>
          <a:p>
            <a:pPr>
              <a:spcAft>
                <a:spcPts val="400"/>
              </a:spcAft>
              <a:defRPr sz="1500">
                <a:solidFill>
                  <a:srgbClr val="1A1A1A"/>
                </a:solidFill>
              </a:defRPr>
            </a:pPr>
            <a:r>
              <a:t>• Set the pagination on the first resource: SuppliersPaginationStorefrontObject::fromArray($this-&gt;calculatePagination($offset, $limit, $numFound)) , where $numFound is getPagination()-&gt;getNbResults() of the collection transfer</a:t>
            </a:r>
          </a:p>
          <a:p>
            <a:pPr>
              <a:spcAft>
                <a:spcPts val="800"/>
              </a:spcAft>
              <a:defRPr sz="1400" i="1">
                <a:solidFill>
                  <a:srgbClr val="888888"/>
                </a:solidFill>
              </a:defRPr>
            </a:pPr>
            <a:r>
              <a:t>❝ URI variables: For a GET request to /suppliers/5 , $this-&gt;getUriVariables() is ['idSupplier' =&gt; '5'] . The key name comes from the identifier property in the resource YAML.</a:t>
            </a:r>
          </a:p>
          <a:p>
            <a:pPr>
              <a:spcBef>
                <a:spcPts val="800"/>
              </a:spcBef>
              <a:spcAft>
                <a:spcPts val="400"/>
              </a:spcAft>
              <a:defRPr sz="1700" b="1">
                <a:solidFill>
                  <a:srgbClr val="1A1A1A"/>
                </a:solidFill>
              </a:defRPr>
            </a:pPr>
            <a:r>
              <a:t>Pagination: page[offset] and page[limit]</a:t>
            </a:r>
          </a:p>
          <a:p>
            <a:pPr>
              <a:spcAft>
                <a:spcPts val="800"/>
              </a:spcAft>
              <a:defRPr sz="1600">
                <a:solidFill>
                  <a:srgbClr val="1A1A1A"/>
                </a:solidFill>
              </a:defRPr>
            </a:pPr>
            <a:r>
              <a:t>Spryker’s APIs page with an offset and a limit, as the JSON:API convention of the legacy Glue API did:</a:t>
            </a:r>
          </a:p>
          <a:p>
            <a:pPr>
              <a:spcBef>
                <a:spcPts val="0"/>
              </a:spcBef>
              <a:spcAft>
                <a:spcPts val="0"/>
              </a:spcAft>
            </a:pPr>
            <a:r>
              <a:rPr sz="900">
                <a:solidFill>
                  <a:srgbClr val="2D2D2D"/>
                </a:solidFill>
                <a:latin typeface="Consolas"/>
              </a:rPr>
              <a:t>GET /suppliers?page[offset]=2&amp;page[limit]=2</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Three places work together:</a:t>
            </a:r>
          </a:p>
          <a:p>
            <a:pPr>
              <a:spcAft>
                <a:spcPts val="100"/>
              </a:spcAft>
              <a:defRPr sz="1000">
                <a:solidFill>
                  <a:srgbClr val="1A1A1A"/>
                </a:solidFill>
                <a:latin typeface="Consolas"/>
              </a:defRPr>
            </a:pPr>
            <a:r>
              <a:t>Where                                    What it does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The provider                             Reads page[offset] and page[limit] ( getPaginationOffset() , getPaginationLimit() ; the limit defaults to paginationItemsPerPage of the resource YAML) and asks the data source for that page only                                         </a:t>
            </a:r>
          </a:p>
          <a:p>
            <a:pPr>
              <a:spcAft>
                <a:spcPts val="100"/>
              </a:spcAft>
              <a:defRPr sz="1000">
                <a:solidFill>
                  <a:srgbClr val="1A1A1A"/>
                </a:solidFill>
                <a:latin typeface="Consolas"/>
              </a:defRPr>
            </a:pPr>
            <a:r>
              <a:t>The data source                          Cuts the page out and counts all matches. Here: SupplierPaginationQueryExpanderPlugin sets Elasticsearch’s from and size , and SupplierSearchResultFormatterPlugin puts the total hits into SupplierCollectionTransfer.pagination.nbResults</a:t>
            </a:r>
          </a:p>
          <a:p>
            <a:pPr>
              <a:spcAft>
                <a:spcPts val="100"/>
              </a:spcAft>
              <a:defRPr sz="1000">
                <a:solidFill>
                  <a:srgbClr val="1A1A1A"/>
                </a:solidFill>
                <a:latin typeface="Consolas"/>
              </a:defRPr>
            </a:pPr>
            <a:r>
              <a:t>The pagination property of the resource  The provider sets it on the first item of the collection ( numFound , currentPage , maxPage , currentItemsPerPage ). Glue reads it there and adds the first , prev , next and last links to the response</a:t>
            </a:r>
          </a:p>
          <a:p>
            <a:pPr>
              <a:spcAft>
                <a:spcPts val="800"/>
              </a:spcAft>
              <a:defRPr sz="1400" i="1">
                <a:solidFill>
                  <a:srgbClr val="888888"/>
                </a:solidFill>
              </a:defRPr>
            </a:pPr>
            <a:r>
              <a:t>❝ Never load everything and slice it in PHP. array_slice() over all suppliers returns the right page, but the database or Elasticsearch still delivers every row for every request. Pass the offset and the limit down to the data source.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API Platform’s own paginator? API Platform can page with ?page=2&amp;itemsPerPage=10 when a provider returns a PaginatorInterface object. Spryker’s relationship handling ( ?include= , Part 6) only works on a plain array, so a provider that returns a paginator loses its includes. Spryker’s own resources (orders, catalog search) use the convention shown here.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Parts 1 to 3, generate the API resources and clear the Glue cache (see Why cache:clear Follows api:generate ):</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the collection:</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a single supplier (use an idSupplier from the collection; in a fresh shop the first supplier has id 1):</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the second page of two suppliers ( -g stops curl from interpreting the square brackets):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-g</a:t>
            </a:r>
            <a:r>
              <a:rPr sz="900">
                <a:solidFill>
                  <a:srgbClr val="2D2D2D"/>
                </a:solidFill>
                <a:latin typeface="Consolas"/>
              </a:rPr>
              <a:t> </a:t>
            </a:r>
            <a:r>
              <a:rPr sz="900">
                <a:solidFill>
                  <a:srgbClr val="4070A0"/>
                </a:solidFill>
                <a:latin typeface="Consolas"/>
              </a:rPr>
              <a:t>'http://glue.eu.spryker.local/suppliers?page[offset]=2&amp;page[limit]=2'</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response of the paged request (4 suppliers, 2 per page, page 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"links"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"self"</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"first"</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"http://glue.eu.spryker.local/suppliers?page[limit]=2&amp;page[offset]=0"</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"last"</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"http://glue.eu.spryker.local/suppliers?page[limit]=2&amp;page[offset]=2"</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"prev"</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"http://glue.eu.spryker.local/suppliers?page[limit]=2&amp;page[offset]=0"</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"meta"</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A070"/>
                </a:solidFill>
                <a:latin typeface="Consolas"/>
              </a:rPr>
              <a:t>3</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3</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"TechSource Inc"</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"technology products supplier"</a:t>
            </a:r>
            <a:r>
              <a:rPr sz="900">
                <a:solidFill>
                  <a:srgbClr val="06287E"/>
                </a:solidFill>
                <a:latin typeface="Consolas"/>
              </a:rPr>
              <a: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"sales@techsource.com"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"+1-555-9012"</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"pagination"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"numFound"</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"currentPage"</a:t>
            </a:r>
            <a:r>
              <a:rPr sz="900">
                <a:solidFill>
                  <a:srgbClr val="06287E"/>
                </a:solidFill>
                <a:latin typeface="Consolas"/>
              </a:rPr>
              <a:t>:</a:t>
            </a:r>
            <a:r>
              <a:rPr sz="900">
                <a:solidFill>
                  <a:srgbClr val="2D2D2D"/>
                </a:solidFill>
                <a:latin typeface="Consolas"/>
              </a:rPr>
              <a:t> </a:t>
            </a:r>
            <a:r>
              <a:rPr sz="900">
                <a:solidFill>
                  <a:srgbClr val="40A070"/>
                </a:solidFill>
                <a:latin typeface="Consolas"/>
              </a:rPr>
              <a:t>2</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"maxPage"</a:t>
            </a:r>
            <a:r>
              <a:rPr sz="900">
                <a:solidFill>
                  <a:srgbClr val="06287E"/>
                </a:solidFill>
                <a:latin typeface="Consolas"/>
              </a:rPr>
              <a:t>:</a:t>
            </a:r>
            <a:r>
              <a:rPr sz="900">
                <a:solidFill>
                  <a:srgbClr val="2D2D2D"/>
                </a:solidFill>
                <a:latin typeface="Consolas"/>
              </a:rPr>
              <a:t> </a:t>
            </a:r>
            <a:r>
              <a:rPr sz="900">
                <a:solidFill>
                  <a:srgbClr val="40A070"/>
                </a:solidFill>
                <a:latin typeface="Consolas"/>
              </a:rPr>
              <a:t>2</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"currentItemsPerPage"</a:t>
            </a:r>
            <a:r>
              <a:rPr sz="900">
                <a:solidFill>
                  <a:srgbClr val="06287E"/>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"links"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"self"</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"http://glue.eu.spryker.local/suppliers/3"</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"Green Earth Supply"</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"links"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(continued)</a:t>
            </a:r>
          </a:p>
          <a:p>
            <a:pPr>
              <a:spcAft>
                <a:spcPts val="800"/>
              </a:spcAft>
              <a:defRPr sz="1600">
                <a:solidFill>
                  <a:srgbClr val="1A1A1A"/>
                </a:solidFill>
              </a:defRPr>
            </a:pPr>
            <a:r>
              <a:t>The last page has no next link, the first one no prev . meta.totalItems counts the items of this response; the number of all suppliers is pagination.numFound .</a:t>
            </a:r>
          </a:p>
          <a:p>
            <a:pPr>
              <a:spcAft>
                <a:spcPts val="800"/>
              </a:spcAft>
              <a:defRPr sz="1400" i="1">
                <a:solidFill>
                  <a:srgbClr val="888888"/>
                </a:solidFill>
              </a:defRPr>
            </a:pPr>
            <a:r>
              <a:t>❝ Response formats: API Platform supports multiple formats via the Accept header: Accept Header Format Description application/vnd.api+json JSON:API Spryker’s default. data , attributes , relationships , included , links application/json JSON:API Treated like application/vnd.api+json in this shop application/ld+json JSON-LD Linked Data with @context , @id , @type metadata The page links and the included section of Part 6 are JSON:API features: use application/vnd.api+json for them.</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The Backend API Resource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Backend API serves integrations that work on the source data. Its suppliers resource has the same properties as the Storefront one, but its provider reads the database through the Supplier facade.</a:t>
            </a:r>
          </a:p>
          <a:p>
            <a:pPr>
              <a:spcAft>
                <a:spcPts val="800"/>
              </a:spcAft>
              <a:defRPr sz="1600">
                <a:solidFill>
                  <a:srgbClr val="1A1A1A"/>
                </a:solidFill>
              </a:defRPr>
            </a:pPr>
            <a:r>
              <a:t>Coding time:</a:t>
            </a:r>
          </a:p>
          <a:p>
            <a:pPr>
              <a:spcAft>
                <a:spcPts val="400"/>
              </a:spcAft>
              <a:defRPr sz="1500">
                <a:solidFill>
                  <a:srgbClr val="1A1A1A"/>
                </a:solidFill>
              </a:defRPr>
            </a:pPr>
            <a:r>
              <a:t>• Open src/SprykerAcademy/Glue/Supplier/resources/api/backend/suppliers.resource.yml and add the provider : SprykerAcademy\Glue\Supplier\Api\Backend\Provider\SuppliersBackendProvider . Leave TODO-2 for Part 6.</a:t>
            </a:r>
          </a:p>
          <a:p>
            <a:pPr>
              <a:spcAft>
                <a:spcPts val="400"/>
              </a:spcAft>
              <a:defRPr sz="1500">
                <a:solidFill>
                  <a:srgbClr val="1A1A1A"/>
                </a:solidFill>
              </a:defRPr>
            </a:pPr>
            <a:r>
              <a:t>• Open src/SprykerAcademy/Glue/Supplier/Api/Backend/Provider/SuppliersBackendProvider.php . The class extends Spryker\ApiPlatform\State\Provider\AbstractBackendProvider and receives the SupplierFacadeInterface through its constructor.</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The Backend API Resource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provideItem() :</a:t>
            </a:r>
          </a:p>
          <a:p>
            <a:pPr>
              <a:spcAft>
                <a:spcPts val="400"/>
              </a:spcAft>
              <a:defRPr sz="1500">
                <a:solidFill>
                  <a:srgbClr val="1A1A1A"/>
                </a:solidFill>
              </a:defRPr>
            </a:pPr>
            <a:r>
              <a:t>• Read the supplier id from $this-&gt;getUriVariables()</a:t>
            </a:r>
          </a:p>
          <a:p>
            <a:pPr>
              <a:spcAft>
                <a:spcPts val="400"/>
              </a:spcAft>
              <a:defRPr sz="1500">
                <a:solidFill>
                  <a:srgbClr val="1A1A1A"/>
                </a:solidFill>
              </a:defRPr>
            </a:pPr>
            <a:r>
              <a:t>• Load the supplier with findSupplierById((int)$idSupplier) ; the facade returns null for an unknown id - return null then</a:t>
            </a:r>
          </a:p>
          <a:p>
            <a:pPr>
              <a:spcAft>
                <a:spcPts val="400"/>
              </a:spcAft>
              <a:defRPr sz="1500">
                <a:solidFill>
                  <a:srgbClr val="1A1A1A"/>
                </a:solidFill>
              </a:defRPr>
            </a:pPr>
            <a:r>
              <a:t>• Map the SupplierTransfer to a SuppliersBackendResource with the provided SupplierBackendMapper</a:t>
            </a:r>
          </a:p>
          <a:p>
            <a:pPr>
              <a:spcAft>
                <a:spcPts val="800"/>
              </a:spcAft>
              <a:defRPr sz="1600">
                <a:solidFill>
                  <a:srgbClr val="1A1A1A"/>
                </a:solidFill>
              </a:defRPr>
            </a:pPr>
            <a:r>
              <a:t>In provideCollection() :</a:t>
            </a:r>
          </a:p>
          <a:p>
            <a:pPr>
              <a:spcAft>
                <a:spcPts val="400"/>
              </a:spcAft>
              <a:defRPr sz="1500">
                <a:solidFill>
                  <a:srgbClr val="1A1A1A"/>
                </a:solidFill>
              </a:defRPr>
            </a:pPr>
            <a:r>
              <a:t>• Read the limit and the offset with the provided getPageParameter() ( AbstractBackendProvider has no pagination helpers)</a:t>
            </a:r>
          </a:p>
          <a:p>
            <a:pPr>
              <a:spcAft>
                <a:spcPts val="400"/>
              </a:spcAft>
              <a:defRPr sz="1500">
                <a:solidFill>
                  <a:srgbClr val="1A1A1A"/>
                </a:solidFill>
              </a:defRPr>
            </a:pPr>
            <a:r>
              <a:t>• Load the page with getPaginatedSupplierCollection() : a SupplierCriteriaTransfer with a PaginationTransfer that has the offset and the limit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The Backend API Resource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Map every SupplierTransfer to a resource</a:t>
            </a:r>
          </a:p>
          <a:p>
            <a:pPr>
              <a:spcAft>
                <a:spcPts val="400"/>
              </a:spcAft>
              <a:defRPr sz="1500">
                <a:solidFill>
                  <a:srgbClr val="1A1A1A"/>
                </a:solidFill>
              </a:defRPr>
            </a:pPr>
            <a:r>
              <a:t>• Set the pagination on the first resource: SuppliersPaginationBackendObject::fromArray([...]) with numFound , currentPage , maxPage and currentItemsPerPage</a:t>
            </a:r>
          </a:p>
          <a:p>
            <a:pPr>
              <a:spcAft>
                <a:spcPts val="800"/>
              </a:spcAft>
              <a:defRPr sz="1400" i="1">
                <a:solidFill>
                  <a:srgbClr val="888888"/>
                </a:solidFill>
              </a:defRPr>
            </a:pPr>
            <a:r>
              <a:t>❝ The facade is provided. SupplierFacade::getPaginatedSupplierCollection() and getSupplierLocationCollection() come with the exercise. Open SupplierRepository::getPaginatedSupplierCollection() : it counts the matching suppliers first, then applies offset() and limit() to the query - the database cuts the page out.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The Backend API Resource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 facade in a Glue class? In the Storefront API that is forbidden: the storefront must not depend on Zed. The Backend API application runs with access to Zed, so its providers may inject facades. The loader registered the SprykerAcademy Business layers as services in config/GlueBackend/ApplicationServices.php .</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supplier has locations ( pyz_supplier_location , imported in Exercise 8). An API client that shows a supplier usually needs them too. Instead of a second request per supplier, JSON:API lets the client ask for related resources in the same request:</a:t>
            </a:r>
          </a:p>
          <a:p>
            <a:pPr>
              <a:spcBef>
                <a:spcPts val="0"/>
              </a:spcBef>
              <a:spcAft>
                <a:spcPts val="0"/>
              </a:spcAft>
            </a:pPr>
            <a:r>
              <a:rPr sz="900">
                <a:solidFill>
                  <a:srgbClr val="2D2D2D"/>
                </a:solidFill>
                <a:latin typeface="Consolas"/>
              </a:rPr>
              <a:t>GET /suppliers?include=supplier-locations</a:t>
            </a:r>
          </a:p>
          <a:p>
            <a:pPr>
              <a:spcAft>
                <a:spcPts val="800"/>
              </a:spcAft>
              <a:defRPr sz="1600">
                <a:solidFill>
                  <a:srgbClr val="1A1A1A"/>
                </a:solidFill>
              </a:defRPr>
            </a:pPr>
            <a:r>
              <a:t>The response then has a relationships entry per supplier and the locations in a top-level included list. Without ?include= , the response stays small.</a:t>
            </a:r>
          </a:p>
          <a:p>
            <a:pPr>
              <a:spcAft>
                <a:spcPts val="800"/>
              </a:spcAft>
              <a:defRPr sz="1600">
                <a:solidFill>
                  <a:srgbClr val="1A1A1A"/>
                </a:solidFill>
              </a:defRPr>
            </a:pPr>
            <a:r>
              <a:t>In Spryker’s API Platform a relationship is declared in the YAML of the resource that offers it. It names a target resource ; Glue asks that resource’s provider for the related items.</a:t>
            </a:r>
          </a:p>
          <a:p>
            <a:pPr>
              <a:spcAft>
                <a:spcPts val="800"/>
              </a:spcAft>
              <a:defRPr sz="1600">
                <a:solidFill>
                  <a:srgbClr val="1A1A1A"/>
                </a:solidFill>
              </a:defRPr>
            </a:pPr>
            <a:r>
              <a:t>Coding time: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Review src/SprykerAcademy/Glue/Supplier/resources/api/backend/supplier-locations.resource.yml : the SupplierLocations resource. Its collection lives under its supplier ( /suppliers/{idSupplier}/supplier-locations ), a single location has its own URL ( /supplier-locations/{idSupplierLocation} ).</a:t>
            </a:r>
          </a:p>
          <a:p>
            <a:pPr>
              <a:spcAft>
                <a:spcPts val="400"/>
              </a:spcAft>
              <a:defRPr sz="1500">
                <a:solidFill>
                  <a:srgbClr val="1A1A1A"/>
                </a:solidFill>
              </a:defRPr>
            </a:pPr>
            <a:r>
              <a:t>• Open src/SprykerAcademy/Glue/Supplier/Api/Backend/Provider/SupplierLocationsBackendProvider.php and implement provide() : With idSupplierLocation in $uriVariables : load that location (criteria setIdSupplierLocation() ), return the first resource or null Without idSupplier in $uriVariables : return an empty array Otherwise: return the locations of that supplier (criteria setFkSupplier() )</a:t>
            </a:r>
          </a:p>
          <a:p>
            <a:pPr>
              <a:spcAft>
                <a:spcPts val="400"/>
              </a:spcAft>
              <a:defRPr sz="1500">
                <a:solidFill>
                  <a:srgbClr val="1A1A1A"/>
                </a:solidFill>
              </a:defRPr>
            </a:pPr>
            <a:r>
              <a:t>• In resources/api/backend/suppliers.resource.yml , add the relationship (TODO-2):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includes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relationshipName</a:t>
            </a:r>
            <a:r>
              <a:rPr sz="900" b="1">
                <a:solidFill>
                  <a:srgbClr val="007020"/>
                </a:solidFill>
                <a:latin typeface="Consolas"/>
              </a:rPr>
              <a:t>:</a:t>
            </a:r>
            <a:r>
              <a:rPr sz="900">
                <a:solidFill>
                  <a:srgbClr val="2D2D2D"/>
                </a:solidFill>
                <a:latin typeface="Consolas"/>
              </a:rPr>
              <a:t> supplier-locations</a:t>
            </a:r>
          </a:p>
          <a:p>
            <a:pPr>
              <a:spcBef>
                <a:spcPts val="0"/>
              </a:spcBef>
              <a:spcAft>
                <a:spcPts val="0"/>
              </a:spcAft>
            </a:pPr>
            <a:r>
              <a:rPr sz="900">
                <a:solidFill>
                  <a:srgbClr val="2D2D2D"/>
                </a:solidFill>
                <a:latin typeface="Consolas"/>
              </a:rPr>
              <a:t>          </a:t>
            </a:r>
            <a:r>
              <a:rPr sz="900">
                <a:solidFill>
                  <a:srgbClr val="06287E"/>
                </a:solidFill>
                <a:latin typeface="Consolas"/>
              </a:rPr>
              <a:t>targetResource</a:t>
            </a:r>
            <a:r>
              <a:rPr sz="900" b="1">
                <a:solidFill>
                  <a:srgbClr val="007020"/>
                </a:solidFill>
                <a:latin typeface="Consolas"/>
              </a:rPr>
              <a:t>:</a:t>
            </a:r>
            <a:r>
              <a:rPr sz="900">
                <a:solidFill>
                  <a:srgbClr val="2D2D2D"/>
                </a:solidFill>
                <a:latin typeface="Consolas"/>
              </a:rPr>
              <a:t> SupplierLocations</a:t>
            </a:r>
          </a:p>
          <a:p>
            <a:pPr>
              <a:spcBef>
                <a:spcPts val="0"/>
              </a:spcBef>
              <a:spcAft>
                <a:spcPts val="0"/>
              </a:spcAft>
            </a:pPr>
            <a:r>
              <a:rPr sz="900">
                <a:solidFill>
                  <a:srgbClr val="2D2D2D"/>
                </a:solidFill>
                <a:latin typeface="Consolas"/>
              </a:rPr>
              <a:t>          </a:t>
            </a:r>
            <a:r>
              <a:rPr sz="900">
                <a:solidFill>
                  <a:srgbClr val="06287E"/>
                </a:solidFill>
                <a:latin typeface="Consolas"/>
              </a:rPr>
              <a:t>uriTemplate</a:t>
            </a:r>
            <a:r>
              <a:rPr sz="900" b="1">
                <a:solidFill>
                  <a:srgbClr val="007020"/>
                </a:solidFill>
                <a:latin typeface="Consolas"/>
              </a:rPr>
              <a:t>:</a:t>
            </a:r>
            <a:r>
              <a:rPr sz="900">
                <a:solidFill>
                  <a:srgbClr val="2D2D2D"/>
                </a:solidFill>
                <a:latin typeface="Consolas"/>
              </a:rPr>
              <a:t> /suppliers/{idSupplier}/supplier-locations</a:t>
            </a:r>
          </a:p>
          <a:p>
            <a:pPr>
              <a:spcBef>
                <a:spcPts val="0"/>
              </a:spcBef>
              <a:spcAft>
                <a:spcPts val="0"/>
              </a:spcAft>
            </a:pPr>
            <a:r>
              <a:rPr sz="900">
                <a:solidFill>
                  <a:srgbClr val="2D2D2D"/>
                </a:solidFill>
                <a:latin typeface="Consolas"/>
              </a:rPr>
              <a:t>          </a:t>
            </a:r>
            <a:r>
              <a:rPr sz="900">
                <a:solidFill>
                  <a:srgbClr val="06287E"/>
                </a:solidFill>
                <a:latin typeface="Consolas"/>
              </a:rPr>
              <a:t>uriVariableMappings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idSupplier</a:t>
            </a:r>
            <a:r>
              <a:rPr sz="900" b="1">
                <a:solidFill>
                  <a:srgbClr val="007020"/>
                </a:solidFill>
                <a:latin typeface="Consolas"/>
              </a:rPr>
              <a:t>:</a:t>
            </a:r>
            <a:r>
              <a:rPr sz="900">
                <a:solidFill>
                  <a:srgbClr val="2D2D2D"/>
                </a:solidFill>
                <a:latin typeface="Consolas"/>
              </a:rPr>
              <a:t> idSupplier</a:t>
            </a:r>
          </a:p>
          <a:p>
            <a:pPr>
              <a:spcAft>
                <a:spcPts val="100"/>
              </a:spcAft>
              <a:defRPr sz="1000">
                <a:solidFill>
                  <a:srgbClr val="1A1A1A"/>
                </a:solidFill>
                <a:latin typeface="Consolas"/>
              </a:defRPr>
            </a:pPr>
            <a:r>
              <a:t>Key                  Meaning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relationshipName     The value of ?include= and the key in relationships                                                                                                                                                              </a:t>
            </a:r>
          </a:p>
          <a:p>
            <a:pPr>
              <a:spcAft>
                <a:spcPts val="100"/>
              </a:spcAft>
              <a:defRPr sz="1000">
                <a:solidFill>
                  <a:srgbClr val="1A1A1A"/>
                </a:solidFill>
                <a:latin typeface="Consolas"/>
              </a:defRPr>
            </a:pPr>
            <a:r>
              <a:t>targetResource       The name of the related resource’s YAML ( SupplierLocations ), not its file name or URL                                                                                                                          </a:t>
            </a:r>
          </a:p>
          <a:p>
            <a:pPr>
              <a:spcAft>
                <a:spcPts val="100"/>
              </a:spcAft>
              <a:defRPr sz="1000">
                <a:solidFill>
                  <a:srgbClr val="1A1A1A"/>
                </a:solidFill>
                <a:latin typeface="Consolas"/>
              </a:defRPr>
            </a:pPr>
            <a:r>
              <a:t>uriTemplate          The collection URL of the target resource                                                                                                                                                                        </a:t>
            </a:r>
          </a:p>
          <a:p>
            <a:pPr>
              <a:spcAft>
                <a:spcPts val="100"/>
              </a:spcAft>
              <a:defRPr sz="1000">
                <a:solidFill>
                  <a:srgbClr val="1A1A1A"/>
                </a:solidFill>
                <a:latin typeface="Consolas"/>
              </a:defRPr>
            </a:pPr>
            <a:r>
              <a:t>uriVariableMappings  &lt;URI variable of the target provider&gt;: &lt;property of this resource&gt; . For every supplier of the response Glue calls SupplierLocationsBackendProvider::provide() with ['idSupplier' =&gt; &lt;the supplier's idSupplier&gt;]</a:t>
            </a:r>
          </a:p>
          <a:p>
            <a:pPr>
              <a:spcAft>
                <a:spcPts val="800"/>
              </a:spcAft>
              <a:defRPr sz="1400" i="1">
                <a:solidFill>
                  <a:srgbClr val="888888"/>
                </a:solidFill>
              </a:defRPr>
            </a:pPr>
            <a:r>
              <a:t>❝ One provider, three uses. SupplierLocationsBackendProvider answers GET /suppliers/6/supplier-locations , GET /supplier-locations/7 and the include. For the include there is no HTTP request to the locations URL: Glue calls the provider directly with the mapped URI variables.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One query per supplier. With uriVariableMappings Glue calls the target provider once for every supplier of the page: a page of 10 suppliers runs 10 location queries. That is bounded by the page size, and fine here. For larger pages, implement Spryker\ApiPlatform\Provider\BatchLoadableProviderInterface in the target provider (Glue then calls it once, with all suppliers’ URI variables in $uriVariables['_batch_data'] ), or write a resolverClass that implements PerItemRelationshipResolverInterface .</a:t>
            </a:r>
          </a:p>
          <a:p>
            <a:pPr>
              <a:spcAft>
                <a:spcPts val="800"/>
              </a:spcAft>
              <a:defRPr sz="1400" i="1">
                <a:solidFill>
                  <a:srgbClr val="888888"/>
                </a:solidFill>
              </a:defRPr>
            </a:pPr>
            <a:r>
              <a:t>❝ An include needs an array. Glue resolves relationships only when the provider returns one resource or a plain array of resources. That is why provideCollection() returns an array and carries the pagination in a property.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Generate the Backend API resources and clear the cache of the Backend API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GLUE_APPLICATION=GLUE_BACKEND glue api:generate backend</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GLUE_APPLICATION=GLUE_BACKEND glue cache:clear</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The collection, and a page of it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-g</a:t>
            </a:r>
            <a:r>
              <a:rPr sz="900">
                <a:solidFill>
                  <a:srgbClr val="2D2D2D"/>
                </a:solidFill>
                <a:latin typeface="Consolas"/>
              </a:rPr>
              <a:t> </a:t>
            </a:r>
            <a:r>
              <a:rPr sz="900">
                <a:solidFill>
                  <a:srgbClr val="4070A0"/>
                </a:solidFill>
                <a:latin typeface="Consolas"/>
              </a:rPr>
              <a:t>'http://glue-backend.eu.spryker.local/suppliers?page[offset]=0&amp;page[limit]=2'</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One supplier with its locations</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'http://glue-backend.eu.spryker.local/suppliers/1?include=supplier-locations'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 page of suppliers, each with its locations</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-g</a:t>
            </a:r>
            <a:r>
              <a:rPr sz="900">
                <a:solidFill>
                  <a:srgbClr val="2D2D2D"/>
                </a:solidFill>
                <a:latin typeface="Consolas"/>
              </a:rPr>
              <a:t> </a:t>
            </a:r>
            <a:r>
              <a:rPr sz="900">
                <a:solidFill>
                  <a:srgbClr val="4070A0"/>
                </a:solidFill>
                <a:latin typeface="Consolas"/>
              </a:rPr>
              <a:t>'http://glue-backend.eu.spryker.local/suppliers?page[limit]=2&amp;include=supplier-locations'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The locations of one supplier, and one location</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'http://glue-backend.eu.spryker.local/suppliers/1/supplier-locations'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'http://glue-backend.eu.spryker.local/supplier-locations/1'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Expected response of GET /suppliers/1?include=supplier-locations :</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"links"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"self"</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"http://glue-backend.eu.spryker.local/suppliers/1?include=supplier-locations"</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"relationships"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"supplier-locations"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"SupplierLocation"</a:t>
            </a:r>
            <a:r>
              <a:rPr sz="900">
                <a:solidFill>
                  <a:srgbClr val="06287E"/>
                </a:solidFill>
                <a:latin typeface="Consolas"/>
              </a:rPr>
              <a:t>,</a:t>
            </a: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"1"</a:t>
            </a:r>
            <a:r>
              <a:rPr sz="900">
                <a:solidFill>
                  <a:srgbClr val="2D2D2D"/>
                </a:solidFill>
                <a:latin typeface="Consolas"/>
              </a:rPr>
              <a:t> </a:t>
            </a:r>
            <a:r>
              <a:rPr sz="900">
                <a:solidFill>
                  <a:srgbClr val="06287E"/>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"SupplierLocation"</a:t>
            </a:r>
            <a:r>
              <a:rPr sz="900">
                <a:solidFill>
                  <a:srgbClr val="06287E"/>
                </a:solidFill>
                <a:latin typeface="Consolas"/>
              </a:rPr>
              <a:t>,</a:t>
            </a: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"2"</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"included"</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"SupplierLocation"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"idSupplierLocation"</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"city"</a:t>
            </a:r>
            <a:r>
              <a:rPr sz="900">
                <a:solidFill>
                  <a:srgbClr val="06287E"/>
                </a:solidFill>
                <a:latin typeface="Consolas"/>
              </a:rPr>
              <a:t>:</a:t>
            </a:r>
            <a:r>
              <a:rPr sz="900">
                <a:solidFill>
                  <a:srgbClr val="2D2D2D"/>
                </a:solidFill>
                <a:latin typeface="Consolas"/>
              </a:rPr>
              <a:t> </a:t>
            </a:r>
            <a:r>
              <a:rPr sz="900">
                <a:solidFill>
                  <a:srgbClr val="4070A0"/>
                </a:solidFill>
                <a:latin typeface="Consolas"/>
              </a:rPr>
              <a:t>"New York"</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"country"</a:t>
            </a:r>
            <a:r>
              <a:rPr sz="900">
                <a:solidFill>
                  <a:srgbClr val="06287E"/>
                </a:solidFill>
                <a:latin typeface="Consolas"/>
              </a:rPr>
              <a:t>:</a:t>
            </a:r>
            <a:r>
              <a:rPr sz="900">
                <a:solidFill>
                  <a:srgbClr val="2D2D2D"/>
                </a:solidFill>
                <a:latin typeface="Consolas"/>
              </a:rPr>
              <a:t> </a:t>
            </a:r>
            <a:r>
              <a:rPr sz="900">
                <a:solidFill>
                  <a:srgbClr val="4070A0"/>
                </a:solidFill>
                <a:latin typeface="Consolas"/>
              </a:rPr>
              <a:t>"USA"</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"address"</a:t>
            </a:r>
            <a:r>
              <a:rPr sz="900">
                <a:solidFill>
                  <a:srgbClr val="06287E"/>
                </a:solidFill>
                <a:latin typeface="Consolas"/>
              </a:rPr>
              <a:t>:</a:t>
            </a:r>
            <a:r>
              <a:rPr sz="900">
                <a:solidFill>
                  <a:srgbClr val="2D2D2D"/>
                </a:solidFill>
                <a:latin typeface="Consolas"/>
              </a:rPr>
              <a:t> </a:t>
            </a:r>
            <a:r>
              <a:rPr sz="900">
                <a:solidFill>
                  <a:srgbClr val="4070A0"/>
                </a:solidFill>
                <a:latin typeface="Consolas"/>
              </a:rPr>
              <a:t>"123 Broadway Ave"</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"zipCode"</a:t>
            </a:r>
            <a:r>
              <a:rPr sz="900">
                <a:solidFill>
                  <a:srgbClr val="06287E"/>
                </a:solidFill>
                <a:latin typeface="Consolas"/>
              </a:rPr>
              <a:t>:</a:t>
            </a:r>
            <a:r>
              <a:rPr sz="900">
                <a:solidFill>
                  <a:srgbClr val="2D2D2D"/>
                </a:solidFill>
                <a:latin typeface="Consolas"/>
              </a:rPr>
              <a:t> </a:t>
            </a:r>
            <a:r>
              <a:rPr sz="900">
                <a:solidFill>
                  <a:srgbClr val="4070A0"/>
                </a:solidFill>
                <a:latin typeface="Consolas"/>
              </a:rPr>
              <a:t>"10001"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"isDefault"</a:t>
            </a:r>
            <a:r>
              <a:rPr sz="900">
                <a:solidFill>
                  <a:srgbClr val="06287E"/>
                </a:solidFill>
                <a:latin typeface="Consolas"/>
              </a:rPr>
              <a:t>:</a:t>
            </a:r>
            <a:r>
              <a:rPr sz="900">
                <a:solidFill>
                  <a:srgbClr val="2D2D2D"/>
                </a:solidFill>
                <a:latin typeface="Consolas"/>
              </a:rPr>
              <a:t> </a:t>
            </a:r>
            <a:r>
              <a:rPr sz="900" b="1">
                <a:solidFill>
                  <a:srgbClr val="007020"/>
                </a:solidFill>
                <a:latin typeface="Consolas"/>
              </a:rPr>
              <a:t>true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"SupplierLocation"</a:t>
            </a:r>
            <a:r>
              <a:rPr sz="900">
                <a:solidFill>
                  <a:srgbClr val="06287E"/>
                </a:solidFill>
                <a:latin typeface="Consolas"/>
              </a:rPr>
              <a:t>,</a:t>
            </a:r>
          </a:p>
          <a:p>
            <a:pPr>
              <a:spcBef>
                <a:spcPts val="0"/>
              </a:spcBef>
              <a:spcAft>
                <a:spcPts val="0"/>
              </a:spcAft>
            </a:pPr>
            <a:r>
              <a:rPr sz="900">
                <a:solidFill>
                  <a:srgbClr val="2D2D2D"/>
                </a:solidFill>
                <a:latin typeface="Consolas"/>
              </a:rPr>
              <a:t>... (continued)</a:t>
            </a:r>
          </a:p>
          <a:p>
            <a:pPr>
              <a:spcAft>
                <a:spcPts val="800"/>
              </a:spcAft>
              <a:defRPr sz="1600">
                <a:solidFill>
                  <a:srgbClr val="1A1A1A"/>
                </a:solidFill>
              </a:defRPr>
            </a:pPr>
            <a:r>
              <a:t>In the collection every supplier has its own relationships entry, and included lists the locations of all suppliers of the page.</a:t>
            </a:r>
          </a:p>
          <a:p>
            <a:pPr>
              <a:spcAft>
                <a:spcPts val="800"/>
              </a:spcAft>
              <a:defRPr sz="1400" i="1">
                <a:solidFill>
                  <a:srgbClr val="888888"/>
                </a:solidFill>
              </a:defRPr>
            </a:pPr>
            <a:r>
              <a:t>❝ These endpoints are public. The Backend API of this shop lets a resource decide who may call it, and the exercise resources do not restrict anything. A real Backend resource adds a security expression to its YAML and is called with a Backend API access token.</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the Backend API providers of Part 5 and 6) are registered explicitly. The exercise loader added this block to config/Glue/ApplicationServices.php (and to the GlueStorefront and GlueBackend ones) once: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                                                           </a:t>
            </a:r>
          </a:p>
          <a:p>
            <a:pPr>
              <a:spcAft>
                <a:spcPts val="100"/>
              </a:spcAft>
              <a:defRPr sz="1000">
                <a:solidFill>
                  <a:srgbClr val="1A1A1A"/>
                </a:solidFill>
                <a:latin typeface="Consolas"/>
              </a:defRPr>
            </a:pPr>
            <a:r>
              <a:t>An empty collection right after loading                                                       The queue workers write the documents to Elasticsearch a few seconds after load.sh --run returns                                                                                                                  Wait a moment and call again; check with curl -s localhost:9200/&lt;store&gt;_supplier/_count (for example gluedemo_de_supplier )                                                                                                                                                     </a:t>
            </a:r>
          </a:p>
          <a:p>
            <a:pPr>
              <a:spcAft>
                <a:spcPts val="100"/>
              </a:spcAft>
              <a:defRPr sz="1000">
                <a:solidFill>
                  <a:srgbClr val="1A1A1A"/>
                </a:solidFill>
                <a:latin typeface="Consolas"/>
              </a:defRPr>
            </a:pPr>
            <a:r>
              <a:t>data:import says Requested import type “supplier” was not found in …/full_EU.yml              The command ran without --config , so it read the shop’s default import list                                                                                                                                      docker/sdk console data:import --config=data/import/local/supplier_import.yml                                                                                                                                                                                                   </a:t>
            </a:r>
          </a:p>
          <a:p>
            <a:pPr>
              <a:spcAft>
                <a:spcPts val="100"/>
              </a:spcAft>
              <a:defRPr sz="1000">
                <a:solidFill>
                  <a:srgbClr val="1A1A1A"/>
                </a:solidFill>
                <a:latin typeface="Consolas"/>
              </a:defRPr>
            </a:pPr>
            <a:r>
              <a:t>An empty collection that stays empty                                                          Nothing was imported or published (you loaded without --run , or emptied the index)                                                                                                                               docker/sdk console data:import --config=data/import/local/supplier_import.yml , publish:trigger-events -r supplier , queue:worker:start --stop-when-empty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                                                                                                                                                                                                                        </a:t>
            </a:r>
          </a:p>
          <a:p>
            <a:pPr>
              <a:spcAft>
                <a:spcPts val="100"/>
              </a:spcAft>
              <a:defRPr sz="1000">
                <a:solidFill>
                  <a:srgbClr val="1A1A1A"/>
                </a:solidFill>
                <a:latin typeface="Consolas"/>
              </a:defRPr>
            </a:pPr>
            <a:r>
              <a:t>page[limit]=2 still returns all suppliers                                                     The provider does not pass the offset and the limit to the client or the facade                                                                                                                                   searchSuppliers([PARAMETER_OFFSET =&gt; $offset, PARAMETER_LIMIT =&gt; $limit]) ; in the Backend provider a PaginationTransfer on the criteria                                                                                                                                        </a:t>
            </a:r>
          </a:p>
          <a:p>
            <a:pPr>
              <a:spcAft>
                <a:spcPts val="100"/>
              </a:spcAft>
              <a:defRPr sz="1000">
                <a:solidFill>
                  <a:srgbClr val="1A1A1A"/>
                </a:solidFill>
                <a:latin typeface="Consolas"/>
              </a:defRPr>
            </a:pPr>
            <a:r>
              <a:t>The page is right, but the response has no first / next / last links                          The first resource has no pagination , or the request did not ask for JSON:API                                                                                                                                    Set $resources[0]-&gt;pagination ; send Accept: application/vnd.api+json                                                                                                                                                                                                           </a:t>
            </a:r>
          </a:p>
          <a:p>
            <a:pPr>
              <a:spcAft>
                <a:spcPts val="100"/>
              </a:spcAft>
              <a:defRPr sz="1000">
                <a:solidFill>
                  <a:srgbClr val="1A1A1A"/>
                </a:solidFill>
                <a:latin typeface="Consolas"/>
              </a:defRPr>
            </a:pPr>
            <a:r>
              <a:t>last points to a wrong page, numFound equals the page size                                    numFound was filled with count($resources)                                                                                                                                                                        Use getPagination()-&gt;getNbResults() of the collection transfer: the total of all pages                                                                                                                                                                                          </a:t>
            </a:r>
          </a:p>
          <a:p>
            <a:pPr>
              <a:spcAft>
                <a:spcPts val="100"/>
              </a:spcAft>
              <a:defRPr sz="1000">
                <a:solidFill>
                  <a:srgbClr val="1A1A1A"/>
                </a:solidFill>
                <a:latin typeface="Consolas"/>
              </a:defRPr>
            </a:pPr>
            <a:r>
              <a:t>Every Backend API URL answers {"errors":[{"status":404,"code":"007","message":"Not found"}]}  The Backend API has no API Platform routes: config/GlueBackend/routes/api_platform.php of the demo shop checks for src/Generated/Api/Backend in the wrong directory, or the Backend resources were not generated  load.sh corrects the check ( dirname(__DIR__, 3) ); then GLUE_APPLICATION=GLUE_BACKEND glue api:generate backend and GLUE_APPLICATION=GLUE_BACKEND glue cache:clear                                                                                                             </a:t>
            </a:r>
          </a:p>
          <a:p>
            <a:pPr>
              <a:spcAft>
                <a:spcPts val="100"/>
              </a:spcAft>
              <a:defRPr sz="1000">
                <a:solidFill>
                  <a:srgbClr val="1A1A1A"/>
                </a:solidFill>
                <a:latin typeface="Consolas"/>
              </a:defRPr>
            </a:pPr>
            <a:r>
              <a:t>The Backend API answers that 404 although glue debug:router lists the route                   The request failed inside API Platform and Glue fell back to its own “not found”. Typical: a legacy Storefront REST plugin ran in the Backend API                                                                 Read the log of the gluebackend_eu container. The branch ships src/SprykerAcademy/Glue/GlueApplication/GlueApplicationDependencyProvider.php , which keeps the Storefront plugins out of the Backend API: run docker/sdk console c:e and glue cache:clear if it is not picked up</a:t>
            </a:r>
          </a:p>
          <a:p>
            <a:pPr>
              <a:spcAft>
                <a:spcPts val="100"/>
              </a:spcAft>
              <a:defRPr sz="1000">
                <a:solidFill>
                  <a:srgbClr val="1A1A1A"/>
                </a:solidFill>
                <a:latin typeface="Consolas"/>
              </a:defRPr>
            </a:pPr>
            <a:r>
              <a:t>?include=supplier-locations is ignored: no relationships , no included                        The includes block is missing or the resources were not regenerated; relationshipName differs from the value in the URL; or the provider returns something other than a resource or a plain array                 Check the YAML, api:generate backend , cache:clear ; return an array from provideCollection()</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included is empty, relationships too                                                          uriVariableMappings names a property the supplier resource does not have, or the locations provider ignores $uriVariables['idSupplier']                                                                           idSupplier: idSupplier ; filter with setFkSupplier()                                                                                                                                                                                                                            </a:t>
            </a:r>
          </a:p>
          <a:p>
            <a:pPr>
              <a:spcAft>
                <a:spcPts val="100"/>
              </a:spcAft>
              <a:defRPr sz="1000">
                <a:solidFill>
                  <a:srgbClr val="1A1A1A"/>
                </a:solidFill>
                <a:latin typeface="Consolas"/>
              </a:defRPr>
            </a:pPr>
            <a:r>
              <a:t>500 : Unable to generate an IRI for the item of type …SupplierLocationsBackendResource        The resource has no Get operation API Platform can build a link from                                                                                                                                              Keep the Get operation with uriTemplate: /supplier-locations/{idSupplierLocation}                                                                                                                                                                                               </a:t>
            </a:r>
          </a:p>
          <a:p>
            <a:pPr>
              <a:spcAft>
                <a:spcPts val="100"/>
              </a:spcAft>
              <a:defRPr sz="1000">
                <a:solidFill>
                  <a:srgbClr val="1A1A1A"/>
                </a:solidFill>
                <a:latin typeface="Consolas"/>
              </a:defRPr>
            </a:pPr>
            <a:r>
              <a:t>A change is not there right after api:generate + cache:clear                                  The generated files had not reached the Glue container yet when its cache was rebuilt (file sync of the Docker SDK)                                                                                               Run glue cache:clear once more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500 from an API Platform endpoint only says "detail":"Internal Server Error" , even in the development environment. The full exception is in the log of the Glue container.</a:t>
            </a:r>
          </a:p>
          <a:p>
            <a:pPr>
              <a:spcAft>
                <a:spcPts val="800"/>
              </a:spcAft>
              <a:defRPr sz="1600">
                <a:solidFill>
                  <a:srgbClr val="1A1A1A"/>
                </a:solidFill>
              </a:defRPr>
            </a:pPr>
            <a:r>
              <a:t>In the browser: open http://spryker.local, the Docker SDK dashboard, and choose Logs . It shows the log of every container; pick the Glue one ( glue_eu ).</a:t>
            </a:r>
          </a:p>
          <a:p>
            <a:pPr>
              <a:spcAft>
                <a:spcPts val="800"/>
              </a:spcAft>
              <a:defRPr sz="1600">
                <a:solidFill>
                  <a:srgbClr val="1A1A1A"/>
                </a:solidFill>
              </a:defRPr>
            </a:pPr>
            <a:r>
              <a:t>From a shell:</a:t>
            </a:r>
          </a:p>
          <a:p>
            <a:pPr>
              <a:spcBef>
                <a:spcPts val="0"/>
              </a:spcBef>
              <a:spcAft>
                <a:spcPts val="0"/>
              </a:spcAft>
            </a:pPr>
            <a:r>
              <a:rPr sz="900">
                <a:solidFill>
                  <a:srgbClr val="2D2D2D"/>
                </a:solidFill>
                <a:latin typeface="Consolas"/>
              </a:rPr>
              <a:t>docker</a:t>
            </a:r>
            <a:r>
              <a:rPr sz="900">
                <a:solidFill>
                  <a:srgbClr val="2D2D2D"/>
                </a:solidFill>
                <a:latin typeface="Consolas"/>
              </a:rPr>
              <a:t> ps </a:t>
            </a:r>
            <a:r>
              <a:rPr sz="900">
                <a:solidFill>
                  <a:srgbClr val="2D2D2D"/>
                </a:solidFill>
                <a:latin typeface="Consolas"/>
              </a:rPr>
              <a:t>--format</a:t>
            </a:r>
            <a:r>
              <a:rPr sz="900">
                <a:solidFill>
                  <a:srgbClr val="2D2D2D"/>
                </a:solidFill>
                <a:latin typeface="Consolas"/>
              </a:rPr>
              <a:t> </a:t>
            </a:r>
            <a:r>
              <a:rPr sz="900">
                <a:solidFill>
                  <a:srgbClr val="4070A0"/>
                </a:solidFill>
                <a:latin typeface="Consolas"/>
              </a:rPr>
              <a:t>'{{.Names}}'</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glue      </a:t>
            </a:r>
            <a:r>
              <a:rPr sz="900" i="1">
                <a:solidFill>
                  <a:srgbClr val="60A0B0"/>
                </a:solidFill>
                <a:latin typeface="Consolas"/>
              </a:rPr>
              <a:t># the container name, e.g. gluedemo_glue_eu_1</a:t>
            </a:r>
          </a:p>
          <a:p>
            <a:pPr>
              <a:spcBef>
                <a:spcPts val="0"/>
              </a:spcBef>
              <a:spcAft>
                <a:spcPts val="0"/>
              </a:spcAft>
            </a:pPr>
            <a:r>
              <a:rPr sz="900">
                <a:solidFill>
                  <a:srgbClr val="2D2D2D"/>
                </a:solidFill>
                <a:latin typeface="Consolas"/>
              </a:rPr>
              <a:t>docker</a:t>
            </a:r>
            <a:r>
              <a:rPr sz="900">
                <a:solidFill>
                  <a:srgbClr val="2D2D2D"/>
                </a:solidFill>
                <a:latin typeface="Consolas"/>
              </a:rPr>
              <a:t> logs </a:t>
            </a:r>
            <a:r>
              <a:rPr sz="900">
                <a:solidFill>
                  <a:srgbClr val="2D2D2D"/>
                </a:solidFill>
                <a:latin typeface="Consolas"/>
              </a:rPr>
              <a:t>-f</a:t>
            </a:r>
            <a:r>
              <a:rPr sz="900">
                <a:solidFill>
                  <a:srgbClr val="2D2D2D"/>
                </a:solidFill>
                <a:latin typeface="Consolas"/>
              </a:rPr>
              <a:t> gluedemo_glue_eu_1                </a:t>
            </a:r>
            <a:r>
              <a:rPr sz="900" i="1">
                <a:solidFill>
                  <a:srgbClr val="60A0B0"/>
                </a:solidFill>
                <a:latin typeface="Consolas"/>
              </a:rPr>
              <a:t># follow it, then send the request again</a:t>
            </a:r>
          </a:p>
          <a:p>
            <a:pPr>
              <a:spcAft>
                <a:spcPts val="800"/>
              </a:spcAft>
              <a:defRPr sz="1600">
                <a:solidFill>
                  <a:srgbClr val="1A1A1A"/>
                </a:solidFill>
              </a:defRPr>
            </a:pPr>
            <a:r>
              <a:t>The line to look for:</a:t>
            </a:r>
          </a:p>
          <a:p>
            <a:pPr>
              <a:spcBef>
                <a:spcPts val="0"/>
              </a:spcBef>
              <a:spcAft>
                <a:spcPts val="0"/>
              </a:spcAft>
            </a:pPr>
            <a:r>
              <a:rPr sz="900">
                <a:solidFill>
                  <a:srgbClr val="2D2D2D"/>
                </a:solidFill>
                <a:latin typeface="Consolas"/>
              </a:rPr>
              <a:t>[error] Uncaught exception on API Platform request "GET /suppliers/5434543545": Search failed with the following reason: ...</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the response hides it. Glue builds its Symfony kernel without the debug flag, so kernel.debug is false in every environment, and API Platform’s error provider only puts the exception message and trace into the response when it is true . Spryker’s debug option in config/Glue/packages/spryker_api_platform.php is meant to switch that on, but in this release it does not reach API Platform: ApiPlatformBundle is registered after SprykerApiPlatformBundle in config/Glue/bundles.php and defines the error provider again with %kernel.debug% . Setting debug(true) alone therefore only changes the format of the error, not its detail. Read the log instead; it has the message and, with the file and line, everything you need.</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Storefront vs Backend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Storefront provider: extends AbstractStorefrontProvider , injects a Client , reads published data.</a:t>
            </a:r>
          </a:p>
          <a:p>
            <a:pPr>
              <a:spcAft>
                <a:spcPts val="400"/>
              </a:spcAft>
              <a:defRPr sz="1500">
                <a:solidFill>
                  <a:srgbClr val="1A1A1A"/>
                </a:solidFill>
              </a:defRPr>
            </a:pPr>
            <a:r>
              <a:t>• Backend provider: extends AbstractBackendProvider , injects a Facade , reads (and in real projects writes, through a Processor) the database.</a:t>
            </a:r>
          </a:p>
          <a:p>
            <a:pPr>
              <a:spcBef>
                <a:spcPts val="1200"/>
              </a:spcBef>
              <a:spcAft>
                <a:spcPts val="600"/>
              </a:spcAft>
              <a:defRPr sz="2000" b="1">
                <a:solidFill>
                  <a:srgbClr val="1A1A1A"/>
                </a:solidFill>
              </a:defRPr>
            </a:pPr>
            <a:r>
              <a:t>Pagination and Includes</a:t>
            </a:r>
          </a:p>
          <a:p>
            <a:pPr>
              <a:spcAft>
                <a:spcPts val="400"/>
              </a:spcAft>
              <a:defRPr sz="1500">
                <a:solidFill>
                  <a:srgbClr val="1A1A1A"/>
                </a:solidFill>
              </a:defRPr>
            </a:pPr>
            <a:r>
              <a:t>• The provider passes page[offset] and page[limit] to the data source, returns the page as a plain array and sets pagination on its first item; Glue adds the page links.</a:t>
            </a:r>
          </a:p>
          <a:p>
            <a:pPr>
              <a:spcAft>
                <a:spcPts val="400"/>
              </a:spcAft>
              <a:defRPr sz="1500">
                <a:solidFill>
                  <a:srgbClr val="1A1A1A"/>
                </a:solidFill>
              </a:defRPr>
            </a:pPr>
            <a:r>
              <a:t>• includes in the resource YAML + a target resource with its own provider = ?include=&lt;relationshipName&gt; .</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a:p>
            <a:pPr>
              <a:spcAft>
                <a:spcPts val="800"/>
              </a:spcAft>
              <a:defRPr sz="1600">
                <a:solidFill>
                  <a:srgbClr val="1A1A1A"/>
                </a:solidFill>
              </a:defRPr>
            </a:pPr>
            <a:r>
              <a:t>AbstractStorefrontProvider and AbstractBackendProvider implement it and split it into provideItem() and provideCollection() .</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a:p>
            <a:pPr>
              <a:spcAft>
                <a:spcPts val="800"/>
              </a:spcAft>
              <a:defRPr sz="1400" i="1">
                <a:solidFill>
                  <a:srgbClr val="888888"/>
                </a:solidFill>
              </a:defRPr>
            </a:pPr>
            <a:r>
              <a:t>❝ Going further: The Backend API of this exercise only reads. Writing works with a Processor ( processor: in the YAML, Post / Patch / Delete operations, a class that implements ApiPlatform\State\ProcessorInterface and calls SupplierFacade::createSupplier() ), see Spryker\Glue\Store\Api\Backend\Processor\StoresBackendProcessor in the core.</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You do not need your own solutions of the earlier exercises. The branch contains them, and load.sh --run imports the sample suppliers, so the code of Exercises 8-12 is in place.</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666666"/>
                </a:solidFill>
                <a:latin typeface="Consolas"/>
              </a:rPr>
              <a:t>&lt;&lt;'PHP'</a:t>
            </a:r>
          </a:p>
          <a:p>
            <a:pPr>
              <a:spcBef>
                <a:spcPts val="0"/>
              </a:spcBef>
              <a:spcAft>
                <a:spcPts val="0"/>
              </a:spcAft>
            </a:pPr>
            <a:r>
              <a:rPr sz="900">
                <a:solidFill>
                  <a:srgbClr val="4070A0"/>
                </a:solidFill>
                <a:latin typeface="Consolas"/>
              </a:rPr>
              <a:t>&lt;?php</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666666"/>
                </a:solidFill>
                <a:latin typeface="Consolas"/>
              </a:rPr>
              <a:t>PHP</a:t>
            </a:r>
          </a:p>
          <a:p>
            <a:pPr>
              <a:spcAft>
                <a:spcPts val="800"/>
              </a:spcAft>
              <a:defRPr sz="1400" i="1">
                <a:solidFill>
                  <a:srgbClr val="888888"/>
                </a:solidFill>
              </a:defRPr>
            </a:pPr>
            <a:r>
              <a:t>❝ The script goes in through standard input (a heredoc), not as php -r '...' : docker/sdk cli hands its arguments to a shell inside the container, which splits a multi-line argument, and php -r then fails with no argument for option r .</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an id_supplier that exists in pyz_supplier .</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through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table of Exercise 15.</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form of Exercise 16.</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10 and 11).</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