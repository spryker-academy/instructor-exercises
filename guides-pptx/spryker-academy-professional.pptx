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 id="503" r:id="rId254"/>
    <p:sldId id="504" r:id="rId255"/>
    <p:sldId id="505" r:id="rId256"/>
    <p:sldId id="506" r:id="rId257"/>
    <p:sldId id="507" r:id="rId258"/>
    <p:sldId id="508" r:id="rId259"/>
    <p:sldId id="509" r:id="rId260"/>
    <p:sldId id="510" r:id="rId261"/>
    <p:sldId id="511" r:id="rId262"/>
    <p:sldId id="512" r:id="rId263"/>
    <p:sldId id="513" r:id="rId264"/>
    <p:sldId id="514" r:id="rId265"/>
    <p:sldId id="515" r:id="rId266"/>
    <p:sldId id="516" r:id="rId267"/>
    <p:sldId id="517" r:id="rId268"/>
    <p:sldId id="518" r:id="rId26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 Id="rId247" Type="http://schemas.openxmlformats.org/officeDocument/2006/relationships/slide" Target="slides/slide241.xml"/><Relationship Id="rId248" Type="http://schemas.openxmlformats.org/officeDocument/2006/relationships/slide" Target="slides/slide242.xml"/><Relationship Id="rId249" Type="http://schemas.openxmlformats.org/officeDocument/2006/relationships/slide" Target="slides/slide243.xml"/><Relationship Id="rId250" Type="http://schemas.openxmlformats.org/officeDocument/2006/relationships/slide" Target="slides/slide244.xml"/><Relationship Id="rId251" Type="http://schemas.openxmlformats.org/officeDocument/2006/relationships/slide" Target="slides/slide245.xml"/><Relationship Id="rId252" Type="http://schemas.openxmlformats.org/officeDocument/2006/relationships/slide" Target="slides/slide246.xml"/><Relationship Id="rId253" Type="http://schemas.openxmlformats.org/officeDocument/2006/relationships/slide" Target="slides/slide247.xml"/><Relationship Id="rId254" Type="http://schemas.openxmlformats.org/officeDocument/2006/relationships/slide" Target="slides/slide248.xml"/><Relationship Id="rId255" Type="http://schemas.openxmlformats.org/officeDocument/2006/relationships/slide" Target="slides/slide249.xml"/><Relationship Id="rId256" Type="http://schemas.openxmlformats.org/officeDocument/2006/relationships/slide" Target="slides/slide250.xml"/><Relationship Id="rId257" Type="http://schemas.openxmlformats.org/officeDocument/2006/relationships/slide" Target="slides/slide251.xml"/><Relationship Id="rId258" Type="http://schemas.openxmlformats.org/officeDocument/2006/relationships/slide" Target="slides/slide252.xml"/><Relationship Id="rId259" Type="http://schemas.openxmlformats.org/officeDocument/2006/relationships/slide" Target="slides/slide253.xml"/><Relationship Id="rId260" Type="http://schemas.openxmlformats.org/officeDocument/2006/relationships/slide" Target="slides/slide254.xml"/><Relationship Id="rId261" Type="http://schemas.openxmlformats.org/officeDocument/2006/relationships/slide" Target="slides/slide255.xml"/><Relationship Id="rId262" Type="http://schemas.openxmlformats.org/officeDocument/2006/relationships/slide" Target="slides/slide256.xml"/><Relationship Id="rId263" Type="http://schemas.openxmlformats.org/officeDocument/2006/relationships/slide" Target="slides/slide257.xml"/><Relationship Id="rId264" Type="http://schemas.openxmlformats.org/officeDocument/2006/relationships/slide" Target="slides/slide258.xml"/><Relationship Id="rId265" Type="http://schemas.openxmlformats.org/officeDocument/2006/relationships/slide" Target="slides/slide259.xml"/><Relationship Id="rId266" Type="http://schemas.openxmlformats.org/officeDocument/2006/relationships/slide" Target="slides/slide260.xml"/><Relationship Id="rId267" Type="http://schemas.openxmlformats.org/officeDocument/2006/relationships/slide" Target="slides/slide261.xml"/><Relationship Id="rId268" Type="http://schemas.openxmlformats.org/officeDocument/2006/relationships/slide" Target="slides/slide262.xml"/><Relationship Id="rId269" Type="http://schemas.openxmlformats.org/officeDocument/2006/relationships/slide" Target="slides/slide26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011680"/>
            <a:ext cx="10362895" cy="1371600"/>
          </a:xfrm>
          <a:prstGeom prst="rect">
            <a:avLst/>
          </a:prstGeom>
          <a:noFill/>
        </p:spPr>
        <p:txBody>
          <a:bodyPr wrap="square">
            <a:spAutoFit/>
          </a:bodyPr>
          <a:lstStyle/>
          <a:p>
            <a:pPr algn="ctr">
              <a:defRPr sz="4000" b="1">
                <a:solidFill>
                  <a:srgbClr val="00A89B"/>
                </a:solidFill>
              </a:defRPr>
            </a:pPr>
            <a:r>
              <a:t>Spryker Academy — Professional Exercises</a:t>
            </a:r>
          </a:p>
        </p:txBody>
      </p:sp>
      <p:sp>
        <p:nvSpPr>
          <p:cNvPr id="3" name="TextBox 2"/>
          <p:cNvSpPr txBox="1"/>
          <p:nvPr/>
        </p:nvSpPr>
        <p:spPr>
          <a:xfrm>
            <a:off x="914400" y="3474720"/>
            <a:ext cx="10362895" cy="914400"/>
          </a:xfrm>
          <a:prstGeom prst="rect">
            <a:avLst/>
          </a:prstGeom>
          <a:noFill/>
        </p:spPr>
        <p:txBody>
          <a:bodyPr wrap="square">
            <a:spAutoFit/>
          </a:bodyPr>
          <a:lstStyle/>
          <a:p>
            <a:pPr algn="ctr">
              <a:defRPr sz="2000">
                <a:solidFill>
                  <a:srgbClr val="888888"/>
                </a:solidFill>
              </a:defRPr>
            </a:pPr>
            <a:r>
              <a:t>Instructor-Led Training | Advanced Spryker Development</a:t>
            </a:r>
          </a:p>
        </p:txBody>
      </p:sp>
      <p:sp>
        <p:nvSpPr>
          <p:cNvPr id="4" name="Rectangle 3"/>
          <p:cNvSpPr/>
          <p:nvPr/>
        </p:nvSpPr>
        <p:spPr>
          <a:xfrm>
            <a:off x="3657600" y="475488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822960"/>
          </a:xfrm>
          <a:prstGeom prst="rect">
            <a:avLst/>
          </a:prstGeom>
          <a:noFill/>
        </p:spPr>
        <p:txBody>
          <a:bodyPr wrap="square">
            <a:spAutoFit/>
          </a:bodyPr>
          <a:lstStyle/>
          <a:p>
            <a:pPr>
              <a:defRPr sz="3200" b="1">
                <a:solidFill>
                  <a:srgbClr val="00A89B"/>
                </a:solidFill>
              </a:defRPr>
            </a:pPr>
            <a:r>
              <a:t>What You Will Learn</a:t>
            </a:r>
          </a:p>
        </p:txBody>
      </p:sp>
      <p:sp>
        <p:nvSpPr>
          <p:cNvPr id="3" name="Rectangle 2"/>
          <p:cNvSpPr/>
          <p:nvPr/>
        </p:nvSpPr>
        <p:spPr>
          <a:xfrm>
            <a:off x="640080" y="1143000"/>
            <a:ext cx="27432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Import structured data using Spryker's Data Import framework</a:t>
            </a:r>
          </a:p>
          <a:p>
            <a:pPr>
              <a:spcAft>
                <a:spcPts val="1000"/>
              </a:spcAft>
            </a:pPr>
            <a:r>
              <a:rPr sz="1600" b="1">
                <a:solidFill>
                  <a:srgbClr val="00A89B"/>
                </a:solidFill>
              </a:rPr>
              <a:t>✓  </a:t>
            </a:r>
            <a:r>
              <a:rPr sz="1500">
                <a:solidFill>
                  <a:srgbClr val="1A1A1A"/>
                </a:solidFill>
              </a:rPr>
              <a:t>Build advanced Back Office interfaces with tables, forms, and CRUD</a:t>
            </a:r>
          </a:p>
          <a:p>
            <a:pPr>
              <a:spcAft>
                <a:spcPts val="1000"/>
              </a:spcAft>
            </a:pPr>
            <a:r>
              <a:rPr sz="1600" b="1">
                <a:solidFill>
                  <a:srgbClr val="00A89B"/>
                </a:solidFill>
              </a:rPr>
              <a:t>✓  </a:t>
            </a:r>
            <a:r>
              <a:rPr sz="1500">
                <a:solidFill>
                  <a:srgbClr val="1A1A1A"/>
                </a:solidFill>
              </a:rPr>
              <a:t>Implement Publish &amp; Synchronize for real-time data projection</a:t>
            </a:r>
          </a:p>
          <a:p>
            <a:pPr>
              <a:spcAft>
                <a:spcPts val="1000"/>
              </a:spcAft>
            </a:pPr>
            <a:r>
              <a:rPr sz="1600" b="1">
                <a:solidFill>
                  <a:srgbClr val="00A89B"/>
                </a:solidFill>
              </a:rPr>
              <a:t>✓  </a:t>
            </a:r>
            <a:r>
              <a:rPr sz="1500">
                <a:solidFill>
                  <a:srgbClr val="1A1A1A"/>
                </a:solidFill>
              </a:rPr>
              <a:t>Integrate Elasticsearch for product and content search</a:t>
            </a:r>
          </a:p>
          <a:p>
            <a:pPr>
              <a:spcAft>
                <a:spcPts val="1000"/>
              </a:spcAft>
            </a:pPr>
            <a:r>
              <a:rPr sz="1600" b="1">
                <a:solidFill>
                  <a:srgbClr val="00A89B"/>
                </a:solidFill>
              </a:rPr>
              <a:t>✓  </a:t>
            </a:r>
            <a:r>
              <a:rPr sz="1500">
                <a:solidFill>
                  <a:srgbClr val="1A1A1A"/>
                </a:solidFill>
              </a:rPr>
              <a:t>Design RESTful Glue Storefront APIs with resource routing</a:t>
            </a:r>
          </a:p>
        </p:txBody>
      </p:sp>
      <p:sp>
        <p:nvSpPr>
          <p:cNvPr id="5" name="TextBox 4"/>
          <p:cNvSpPr txBox="1"/>
          <p:nvPr/>
        </p:nvSpPr>
        <p:spPr>
          <a:xfrm>
            <a:off x="621792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Model order workflows using the Order Management System (OMS)</a:t>
            </a:r>
          </a:p>
          <a:p>
            <a:pPr>
              <a:spcAft>
                <a:spcPts val="1000"/>
              </a:spcAft>
            </a:pPr>
            <a:r>
              <a:rPr sz="1600" b="1">
                <a:solidFill>
                  <a:srgbClr val="00A89B"/>
                </a:solidFill>
              </a:rPr>
              <a:t>✓  </a:t>
            </a:r>
            <a:r>
              <a:rPr sz="1500">
                <a:solidFill>
                  <a:srgbClr val="1A1A1A"/>
                </a:solidFill>
              </a:rPr>
              <a:t>Read from Storage (Redis) using the Client layer</a:t>
            </a:r>
          </a:p>
          <a:p>
            <a:pPr>
              <a:spcAft>
                <a:spcPts val="1000"/>
              </a:spcAft>
            </a:pPr>
            <a:r>
              <a:rPr sz="1600" b="1">
                <a:solidFill>
                  <a:srgbClr val="00A89B"/>
                </a:solidFill>
              </a:rPr>
              <a:t>✓  </a:t>
            </a:r>
            <a:r>
              <a:rPr sz="1500">
                <a:solidFill>
                  <a:srgbClr val="1A1A1A"/>
                </a:solidFill>
              </a:rPr>
              <a:t>Build Yves Storefront pages with Twig, routing, and controllers</a:t>
            </a:r>
          </a:p>
          <a:p>
            <a:pPr>
              <a:spcAft>
                <a:spcPts val="1000"/>
              </a:spcAft>
            </a:pPr>
            <a:r>
              <a:rPr sz="1600" b="1">
                <a:solidFill>
                  <a:srgbClr val="00A89B"/>
                </a:solidFill>
              </a:rPr>
              <a:t>✓  </a:t>
            </a:r>
            <a:r>
              <a:rPr sz="1500">
                <a:solidFill>
                  <a:srgbClr val="1A1A1A"/>
                </a:solidFill>
              </a:rPr>
              <a:t>Extend the Merchant Portal with tables, forms, and nested tables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8: Data Import - Supplier</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8: Data Import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data import pipeline to populate the database with suppliers from a CSV file. You will learn how Spryker’s DataImport module works: reading CSV files, processing data through steps, and persisting entities.</a:t>
            </a:r>
          </a:p>
          <a:p>
            <a:pPr>
              <a:spcAft>
                <a:spcPts val="800"/>
              </a:spcAft>
              <a:defRPr sz="1600">
                <a:solidFill>
                  <a:srgbClr val="1A1A1A"/>
                </a:solidFill>
              </a:defRPr>
            </a:pPr>
            <a:r>
              <a:t>You will learn how to: - Create and configure CSV data sources - Map import types to YAML configuration - Implement DataImportStepInterface for data processing and writing - Chain steps through the DataSetStepBroker - Expose the import through a Facade and Plugin - Register the plugin in Spryker’s data import stack - Handle entity relationships (many-to-many) during import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the basics exercises (1-7)</a:t>
            </a:r>
          </a:p>
          <a:p>
            <a:pPr>
              <a:spcAft>
                <a:spcPts val="400"/>
              </a:spcAft>
              <a:defRPr sz="1500">
                <a:solidFill>
                  <a:srgbClr val="1A1A1A"/>
                </a:solidFill>
              </a:defRPr>
            </a:pPr>
            <a:r>
              <a:t>• The Supplier module schema is provided (tables pyz_supplier , pyz_supplier_location , pyz_merchant_to_supplier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intermediate/data-import/skeleton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Data Import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Spryker’s data import system processes external data (typically CSV files) through a pipeline of steps:</a:t>
            </a:r>
          </a:p>
          <a:p>
            <a:pPr>
              <a:spcBef>
                <a:spcPts val="0"/>
              </a:spcBef>
              <a:spcAft>
                <a:spcPts val="0"/>
              </a:spcAft>
            </a:pPr>
            <a:r>
              <a:rPr sz="900">
                <a:solidFill>
                  <a:srgbClr val="2D2D2D"/>
                </a:solidFill>
                <a:latin typeface="Consolas"/>
              </a:rPr>
              <a:t>CSV File → DataImporter → DataSetStepBroker → [Step1] → [Step2] → [WriterStep] → Database</a:t>
            </a:r>
          </a:p>
          <a:p>
            <a:pPr>
              <a:spcAft>
                <a:spcPts val="800"/>
              </a:spcAft>
              <a:defRPr sz="1600">
                <a:solidFill>
                  <a:srgbClr val="1A1A1A"/>
                </a:solidFill>
              </a:defRPr>
            </a:pPr>
            <a:r>
              <a:t>Key components:</a:t>
            </a:r>
          </a:p>
          <a:p>
            <a:pPr>
              <a:spcAft>
                <a:spcPts val="100"/>
              </a:spcAft>
              <a:defRPr sz="1000">
                <a:solidFill>
                  <a:srgbClr val="1A1A1A"/>
                </a:solidFill>
                <a:latin typeface="Consolas"/>
              </a:defRPr>
            </a:pPr>
            <a:r>
              <a:t>Component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DataImporterConfigurationTransfer  Holds the CSV file path and import type       </a:t>
            </a:r>
          </a:p>
          <a:p>
            <a:pPr>
              <a:spcAft>
                <a:spcPts val="100"/>
              </a:spcAft>
              <a:defRPr sz="1000">
                <a:solidFill>
                  <a:srgbClr val="1A1A1A"/>
                </a:solidFill>
                <a:latin typeface="Consolas"/>
              </a:defRPr>
            </a:pPr>
            <a:r>
              <a:t>DataImporter                       Reads CSV rows into DataSet objects           </a:t>
            </a:r>
          </a:p>
          <a:p>
            <a:pPr>
              <a:spcAft>
                <a:spcPts val="100"/>
              </a:spcAft>
              <a:defRPr sz="1000">
                <a:solidFill>
                  <a:srgbClr val="1A1A1A"/>
                </a:solidFill>
                <a:latin typeface="Consolas"/>
              </a:defRPr>
            </a:pPr>
            <a:r>
              <a:t>DataSetStepBroker                  Orchestrates the execution of steps in order  </a:t>
            </a:r>
          </a:p>
          <a:p>
            <a:pPr>
              <a:spcAft>
                <a:spcPts val="100"/>
              </a:spcAft>
              <a:defRPr sz="1000">
                <a:solidFill>
                  <a:srgbClr val="1A1A1A"/>
                </a:solidFill>
                <a:latin typeface="Consolas"/>
              </a:defRPr>
            </a:pPr>
            <a:r>
              <a:t>DataImportStepInterface            Each step processes or writes one DataSet row </a:t>
            </a:r>
          </a:p>
          <a:p>
            <a:pPr>
              <a:spcAft>
                <a:spcPts val="100"/>
              </a:spcAft>
              <a:defRPr sz="1000">
                <a:solidFill>
                  <a:srgbClr val="1A1A1A"/>
                </a:solidFill>
                <a:latin typeface="Consolas"/>
              </a:defRPr>
            </a:pPr>
            <a:r>
              <a:t>DataImportPluginInterface          Registers the import in Spryker’s plugin stack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Data Import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DataSet is an ArrayAccess object where keys match the CSV column headers. For example, if your CSV has columns name,description,status , then inside a step you access them as $dataSet['name'] , $dataSet['description'] , etc. — but you should use constants instead of literal strings.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Database Structure</a:t>
            </a:r>
          </a:p>
          <a:p>
            <a:pPr>
              <a:spcAft>
                <a:spcPts val="800"/>
              </a:spcAft>
              <a:defRPr sz="1600">
                <a:solidFill>
                  <a:srgbClr val="1A1A1A"/>
                </a:solidFill>
              </a:defRPr>
            </a:pPr>
            <a:r>
              <a:t>The exercise skeleton provides the Supplier module with the schema files: - src/SprykerAcademy/Zed/Supplier/Persistence/Propel/Schema/pyz_supplier.schema.xml - src/SprykerAcademy/Zed/SupplierLocation/Persistence/Propel/Schema/pyz_supplier_location.schema.xml</a:t>
            </a:r>
          </a:p>
          <a:p>
            <a:pPr>
              <a:spcAft>
                <a:spcPts val="800"/>
              </a:spcAft>
              <a:defRPr sz="1600">
                <a:solidFill>
                  <a:srgbClr val="1A1A1A"/>
                </a:solidFill>
              </a:defRPr>
            </a:pPr>
            <a:r>
              <a:t>These define the tables pyz_supplier (with columns: id_supplier, name, description, status, email, phone) and pyz_supplier_location (with a FK to supplier).</a:t>
            </a:r>
          </a:p>
          <a:p>
            <a:pPr>
              <a:spcAft>
                <a:spcPts val="800"/>
              </a:spcAft>
              <a:defRPr sz="1600">
                <a:solidFill>
                  <a:srgbClr val="1A1A1A"/>
                </a:solidFill>
              </a:defRPr>
            </a:pPr>
            <a:r>
              <a:t>Run propel to create the tables:</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Data Source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2.1 Review the CSV File</a:t>
            </a:r>
          </a:p>
          <a:p>
            <a:pPr>
              <a:spcAft>
                <a:spcPts val="800"/>
              </a:spcAft>
              <a:defRPr sz="1600">
                <a:solidFill>
                  <a:srgbClr val="1A1A1A"/>
                </a:solidFill>
              </a:defRPr>
            </a:pPr>
            <a:r>
              <a:t>The exercise skeleton provides data/import/supplier.csv with 4 supplier rows. Open it and examine the column headers — these will become the keys in the DataSet object during import.</a:t>
            </a:r>
          </a:p>
          <a:p>
            <a:pPr>
              <a:spcAft>
                <a:spcPts val="800"/>
              </a:spcAft>
              <a:defRPr sz="1600">
                <a:solidFill>
                  <a:srgbClr val="1A1A1A"/>
                </a:solidFill>
              </a:defRPr>
            </a:pPr>
            <a:r>
              <a:t>A data/import/supplier_location.csv is also provided for the location import.</a:t>
            </a:r>
          </a:p>
          <a:p>
            <a:pPr>
              <a:spcBef>
                <a:spcPts val="800"/>
              </a:spcBef>
              <a:spcAft>
                <a:spcPts val="400"/>
              </a:spcAft>
              <a:defRPr sz="1700" b="1">
                <a:solidFill>
                  <a:srgbClr val="1A1A1A"/>
                </a:solidFill>
              </a:defRPr>
            </a:pPr>
            <a:r>
              <a:t>2.2 Configure the Import YAML</a:t>
            </a:r>
          </a:p>
          <a:p>
            <a:pPr>
              <a:spcAft>
                <a:spcPts val="800"/>
              </a:spcAft>
              <a:defRPr sz="1600">
                <a:solidFill>
                  <a:srgbClr val="1A1A1A"/>
                </a:solidFill>
              </a:defRPr>
            </a:pPr>
            <a:r>
              <a:t>The import YAML tells Spryker which CSV file to use for each import type. You need to register the supplier imports.</a:t>
            </a:r>
          </a:p>
          <a:p>
            <a:pPr>
              <a:spcAft>
                <a:spcPts val="800"/>
              </a:spcAft>
              <a:defRPr sz="1600">
                <a:solidFill>
                  <a:srgbClr val="1A1A1A"/>
                </a:solidFill>
              </a:defRPr>
            </a:pPr>
            <a:r>
              <a:t>Coding time:</a:t>
            </a:r>
          </a:p>
          <a:p>
            <a:pPr>
              <a:spcAft>
                <a:spcPts val="800"/>
              </a:spcAft>
              <a:defRPr sz="1600">
                <a:solidFill>
                  <a:srgbClr val="1A1A1A"/>
                </a:solidFill>
              </a:defRPr>
            </a:pPr>
            <a:r>
              <a:t>Open data/import/local/full_EU.yml and add two new entries at the bottom of the actions: list: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Data Source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One for suppliers: data_entity must match the value of SupplierDataImportConfig::IMPORT_TYPE_SUPPLIER , and source must point to the supplier CSV file path (relative to project root)</a:t>
            </a:r>
          </a:p>
          <a:p>
            <a:pPr>
              <a:spcAft>
                <a:spcPts val="400"/>
              </a:spcAft>
              <a:defRPr sz="1500">
                <a:solidFill>
                  <a:srgbClr val="1A1A1A"/>
                </a:solidFill>
              </a:defRPr>
            </a:pPr>
            <a:r>
              <a:t>• One for supplier locations: data_entity must match SupplierDataImportConfig::IMPORT_TYPE_SUPPLIER_LOCATION , pointing to the location CSV</a:t>
            </a:r>
          </a:p>
          <a:p>
            <a:pPr>
              <a:spcAft>
                <a:spcPts val="800"/>
              </a:spcAft>
              <a:defRPr sz="1600">
                <a:solidFill>
                  <a:srgbClr val="1A1A1A"/>
                </a:solidFill>
              </a:defRPr>
            </a:pPr>
            <a:r>
              <a:t>Look at how the other entities are configured in the same file for the correct format. Be careful with YAML indentation (spaces, not tabs).</a:t>
            </a:r>
          </a:p>
          <a:p>
            <a:pPr>
              <a:spcAft>
                <a:spcPts val="800"/>
              </a:spcAft>
              <a:defRPr sz="1400" i="1">
                <a:solidFill>
                  <a:srgbClr val="888888"/>
                </a:solidFill>
              </a:defRPr>
            </a:pPr>
            <a:r>
              <a:t>❝ How it works: When you run docker/sdk console data:import supplier , Spryker looks up the data_entity: supplier entry in this YAML to find the CSV path, then passes it to the matching DataImportPlugin via the DataImporterConfigurationTransfer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module SprykerAcademy\Zed\SupplierDataImport follows Spryker’s naming convention: &lt;ModuleName&gt;DataImport .</a:t>
            </a:r>
          </a:p>
          <a:p>
            <a:pPr>
              <a:spcBef>
                <a:spcPts val="800"/>
              </a:spcBef>
              <a:spcAft>
                <a:spcPts val="400"/>
              </a:spcAft>
              <a:defRPr sz="1700" b="1">
                <a:solidFill>
                  <a:srgbClr val="1A1A1A"/>
                </a:solidFill>
              </a:defRPr>
            </a:pPr>
            <a:r>
              <a:t>3.1 Constants for Column Mapping</a:t>
            </a:r>
          </a:p>
          <a:p>
            <a:pPr>
              <a:spcAft>
                <a:spcPts val="800"/>
              </a:spcAft>
              <a:defRPr sz="1600">
                <a:solidFill>
                  <a:srgbClr val="1A1A1A"/>
                </a:solidFill>
              </a:defRPr>
            </a:pPr>
            <a:r>
              <a:t>Review the provided file src/SprykerAcademy/Zed/SupplierDataImport/Business/DataSet/SupplierDataSetInterface.php . It defines constants that map to the CSV column names.</a:t>
            </a:r>
          </a:p>
          <a:p>
            <a:pPr>
              <a:spcAft>
                <a:spcPts val="800"/>
              </a:spcAft>
              <a:defRPr sz="1600">
                <a:solidFill>
                  <a:srgbClr val="1A1A1A"/>
                </a:solidFill>
              </a:defRPr>
            </a:pPr>
            <a:r>
              <a:t>Verify that the constant COLUMN_NAME matches the actual CSV column header. The skeleton may have a mismatch — compare the constant value with the first row of supplier.csv and fix it if needed.</a:t>
            </a:r>
          </a:p>
          <a:p>
            <a:pPr>
              <a:spcAft>
                <a:spcPts val="800"/>
              </a:spcAft>
              <a:defRPr sz="1400" i="1">
                <a:solidFill>
                  <a:srgbClr val="888888"/>
                </a:solidFill>
              </a:defRPr>
            </a:pPr>
            <a:r>
              <a:t>❝ Best practice: Always use constants for column names. Never use literal strings like $dataSet['name'] directly — use $dataSet[SupplierDataSetInterface::COLUMN_NAME] instead.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3.2 Implement the SupplierWriterStep</a:t>
            </a:r>
          </a:p>
          <a:p>
            <a:pPr>
              <a:spcAft>
                <a:spcPts val="800"/>
              </a:spcAft>
              <a:defRPr sz="1600">
                <a:solidFill>
                  <a:srgbClr val="1A1A1A"/>
                </a:solidFill>
              </a:defRPr>
            </a:pPr>
            <a:r>
              <a:t>The SupplierWriterStep is where each CSV row gets persisted to the database. It receives a DataSet for each row.</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src/SprykerAcademy/Zed/SupplierDataImport/Business/DataImportStep/SupplierWriterStep.php and implement the execute() method following the TODO steps:</a:t>
            </a:r>
          </a:p>
          <a:p>
            <a:pPr>
              <a:spcAft>
                <a:spcPts val="400"/>
              </a:spcAft>
              <a:defRPr sz="1500">
                <a:solidFill>
                  <a:srgbClr val="1A1A1A"/>
                </a:solidFill>
              </a:defRPr>
            </a:pPr>
            <a:r>
              <a:t>• Find or create the supplier entity. Propel query classes have a static create() method that returns a query builder. You can chain filterBy&lt;ColumnName&gt;() to build your query, then call findOneOrCreate() to either fetch an existing record or create a fresh (unsaved) entity.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Assign fields from the dataset to the entity. Use the entity’s setter methods ( setDescription() , setStatus() , etc.) and read values from $dataSet using the constants from SupplierDataSetInterface .</a:t>
            </a:r>
          </a:p>
          <a:p>
            <a:pPr>
              <a:spcAft>
                <a:spcPts val="400"/>
              </a:spcAft>
              <a:defRPr sz="1500">
                <a:solidFill>
                  <a:srgbClr val="1A1A1A"/>
                </a:solidFill>
              </a:defRPr>
            </a:pPr>
            <a:r>
              <a:t>• Save conditionally. Only persist the entity if it’s actually new or has been modified. Propel entities provide isNew() and isModified() methods for this check.</a:t>
            </a:r>
          </a:p>
          <a:p>
            <a:pPr>
              <a:spcAft>
                <a:spcPts val="400"/>
              </a:spcAft>
              <a:defRPr sz="1500">
                <a:solidFill>
                  <a:srgbClr val="1A1A1A"/>
                </a:solidFill>
              </a:defRPr>
            </a:pPr>
            <a:r>
              <a:t>• Handle merchant relations (bonus). The CSV may contain a merchant_ids column with comma-separated IDs. Think about how to: Parse the comma-separated string into an array of IDs Query existing relations to avoid duplicates Create only the missing relation records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Why Propel in the Business Layer? Data importers are one exception to the “no Propel in Business Layer” rule. Imports often process thousands of rows, so direct ORM access avoids the overhead of going through Repository/EntityManager for each row.</a:t>
            </a:r>
          </a:p>
          <a:p>
            <a:pPr>
              <a:spcAft>
                <a:spcPts val="800"/>
              </a:spcAft>
              <a:defRPr sz="1400" i="1">
                <a:solidFill>
                  <a:srgbClr val="888888"/>
                </a:solidFill>
              </a:defRPr>
            </a:pPr>
            <a:r>
              <a:t>❝ Hint: Look at the generated class src/Orm/Zed/Supplier/Persistence/Base/PyzSupplierQuery.php to see all available filter and finder methods.</a:t>
            </a:r>
          </a:p>
          <a:p>
            <a:pPr>
              <a:spcBef>
                <a:spcPts val="800"/>
              </a:spcBef>
              <a:spcAft>
                <a:spcPts val="400"/>
              </a:spcAft>
              <a:defRPr sz="1700" b="1">
                <a:solidFill>
                  <a:srgbClr val="1A1A1A"/>
                </a:solidFill>
              </a:defRPr>
            </a:pPr>
            <a:r>
              <a:t>3.3 Implement the DescriptionToLowercaseStep</a:t>
            </a:r>
          </a:p>
          <a:p>
            <a:pPr>
              <a:spcAft>
                <a:spcPts val="800"/>
              </a:spcAft>
              <a:defRPr sz="1600">
                <a:solidFill>
                  <a:srgbClr val="1A1A1A"/>
                </a:solidFill>
              </a:defRPr>
            </a:pPr>
            <a:r>
              <a:t>Before writing data to the database, we often need to normalize or transform it. The DescriptionToLowercaseStep is a data processor step — it transforms data without writing to the database.</a:t>
            </a:r>
          </a:p>
          <a:p>
            <a:pPr>
              <a:spcAft>
                <a:spcPts val="800"/>
              </a:spcAft>
              <a:defRPr sz="1600">
                <a:solidFill>
                  <a:srgbClr val="1A1A1A"/>
                </a:solidFill>
              </a:defRPr>
            </a:pPr>
            <a:r>
              <a:t>Coding time: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src/SprykerAcademy/Zed/SupplierDataImport/Business/DataImportStep/DescriptionToLowercaseStep.php . The class implements DataImportStepInterface and its execute() method receives a DataSet for each CSV row. Your task:</a:t>
            </a:r>
          </a:p>
          <a:p>
            <a:pPr>
              <a:spcAft>
                <a:spcPts val="400"/>
              </a:spcAft>
              <a:defRPr sz="1500">
                <a:solidFill>
                  <a:srgbClr val="1A1A1A"/>
                </a:solidFill>
              </a:defRPr>
            </a:pPr>
            <a:r>
              <a:t>• Read the description value from the dataset using the appropriate constant</a:t>
            </a:r>
          </a:p>
          <a:p>
            <a:pPr>
              <a:spcAft>
                <a:spcPts val="400"/>
              </a:spcAft>
              <a:defRPr sz="1500">
                <a:solidFill>
                  <a:srgbClr val="1A1A1A"/>
                </a:solidFill>
              </a:defRPr>
            </a:pPr>
            <a:r>
              <a:t>• Transform it to lowercase</a:t>
            </a:r>
          </a:p>
          <a:p>
            <a:pPr>
              <a:spcAft>
                <a:spcPts val="400"/>
              </a:spcAft>
              <a:defRPr sz="1500">
                <a:solidFill>
                  <a:srgbClr val="1A1A1A"/>
                </a:solidFill>
              </a:defRPr>
            </a:pPr>
            <a:r>
              <a:t>• Write the result back to the same dataset key</a:t>
            </a:r>
          </a:p>
          <a:p>
            <a:pPr>
              <a:spcAft>
                <a:spcPts val="800"/>
              </a:spcAft>
              <a:defRPr sz="1600">
                <a:solidFill>
                  <a:srgbClr val="1A1A1A"/>
                </a:solidFill>
              </a:defRPr>
            </a:pPr>
            <a:r>
              <a:t>This is a one-liner, but it demonstrates the processor step pattern: modify the DataSet in-place so the next step receives the transformed data.</a:t>
            </a:r>
          </a:p>
          <a:p>
            <a:pPr>
              <a:spcAft>
                <a:spcPts val="800"/>
              </a:spcAft>
              <a:defRPr sz="1400" i="1">
                <a:solidFill>
                  <a:srgbClr val="888888"/>
                </a:solidFill>
              </a:defRPr>
            </a:pPr>
            <a:r>
              <a:t>❝ This step runs before the WriterStep. Steps are executed in the order they’re added to the broker.</a:t>
            </a:r>
          </a:p>
          <a:p>
            <a:pPr>
              <a:spcBef>
                <a:spcPts val="800"/>
              </a:spcBef>
              <a:spcAft>
                <a:spcPts val="400"/>
              </a:spcAft>
              <a:defRPr sz="1700" b="1">
                <a:solidFill>
                  <a:srgbClr val="1A1A1A"/>
                </a:solidFill>
              </a:defRPr>
            </a:pPr>
            <a:r>
              <a:t>3.4 Wire Steps in the BusinessFactory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SupplierDataImportBusinessFactory creates the DataImporter and wires all steps together.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src/SprykerAcademy/Zed/SupplierDataImport/Business/SupplierDataImportBusinessFactory.php . In the getSupplierDataImport() method, you need to:</a:t>
            </a:r>
          </a:p>
          <a:p>
            <a:pPr>
              <a:spcAft>
                <a:spcPts val="400"/>
              </a:spcAft>
              <a:defRPr sz="1500">
                <a:solidFill>
                  <a:srgbClr val="1A1A1A"/>
                </a:solidFill>
              </a:defRPr>
            </a:pPr>
            <a:r>
              <a:t>• Add the processor step to the $dataSetStepBroker</a:t>
            </a:r>
          </a:p>
          <a:p>
            <a:pPr>
              <a:spcAft>
                <a:spcPts val="400"/>
              </a:spcAft>
              <a:defRPr sz="1500">
                <a:solidFill>
                  <a:srgbClr val="1A1A1A"/>
                </a:solidFill>
              </a:defRPr>
            </a:pPr>
            <a:r>
              <a:t>• Add the writer step to the $dataSetStepBroker</a:t>
            </a:r>
          </a:p>
          <a:p>
            <a:pPr>
              <a:spcAft>
                <a:spcPts val="400"/>
              </a:spcAft>
              <a:defRPr sz="1500">
                <a:solidFill>
                  <a:srgbClr val="1A1A1A"/>
                </a:solidFill>
              </a:defRPr>
            </a:pPr>
            <a:r>
              <a:t>• Add the step broker to the $dataImporter</a:t>
            </a:r>
          </a:p>
          <a:p>
            <a:pPr>
              <a:spcAft>
                <a:spcPts val="800"/>
              </a:spcAft>
              <a:defRPr sz="1600">
                <a:solidFill>
                  <a:srgbClr val="1A1A1A"/>
                </a:solidFill>
              </a:defRPr>
            </a:pPr>
            <a:r>
              <a:t>The broker has an addStep() method. The importer has an addDataSetStepBroker() method. The factory already has create*Step() methods you can call.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Step ordering matters: Processor steps (lowercase, validation, enrichment) must be added first. The WriterStep must be last — it persists the final, transformed data.</a:t>
            </a:r>
          </a:p>
          <a:p>
            <a:pPr>
              <a:spcBef>
                <a:spcPts val="800"/>
              </a:spcBef>
              <a:spcAft>
                <a:spcPts val="400"/>
              </a:spcAft>
              <a:defRPr sz="1700" b="1">
                <a:solidFill>
                  <a:srgbClr val="1A1A1A"/>
                </a:solidFill>
              </a:defRPr>
            </a:pPr>
            <a:r>
              <a:t>3.5 Implement the Facade</a:t>
            </a:r>
          </a:p>
          <a:p>
            <a:pPr>
              <a:spcAft>
                <a:spcPts val="800"/>
              </a:spcAft>
              <a:defRPr sz="1600">
                <a:solidFill>
                  <a:srgbClr val="1A1A1A"/>
                </a:solidFill>
              </a:defRPr>
            </a:pPr>
            <a:r>
              <a:t>The Facade exposes the import functionality to other modules and plugins.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src/SprykerAcademy/Zed/SupplierDataImport/Business/SupplierDataImportFacade.php . In importSupplier() :</a:t>
            </a:r>
          </a:p>
          <a:p>
            <a:pPr>
              <a:spcAft>
                <a:spcPts val="400"/>
              </a:spcAft>
              <a:defRPr sz="1500">
                <a:solidFill>
                  <a:srgbClr val="1A1A1A"/>
                </a:solidFill>
              </a:defRPr>
            </a:pPr>
            <a:r>
              <a:t>• Use $this-&gt;getFactory() to access the Business Factory</a:t>
            </a:r>
          </a:p>
          <a:p>
            <a:pPr>
              <a:spcAft>
                <a:spcPts val="400"/>
              </a:spcAft>
              <a:defRPr sz="1500">
                <a:solidFill>
                  <a:srgbClr val="1A1A1A"/>
                </a:solidFill>
              </a:defRPr>
            </a:pPr>
            <a:r>
              <a:t>• The factory has a method that returns a configured DataImporter for suppliers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DataImporter has an import() method that accepts the configuration transfer and returns a report</a:t>
            </a:r>
          </a:p>
          <a:p>
            <a:pPr>
              <a:spcAft>
                <a:spcPts val="800"/>
              </a:spcAft>
              <a:defRPr sz="1600">
                <a:solidFill>
                  <a:srgbClr val="1A1A1A"/>
                </a:solidFill>
              </a:defRPr>
            </a:pPr>
            <a:r>
              <a:t>Remember to pass the $dataImporterConfigurationTransfer parameter through the chain.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Pluginization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plugin makes the import available through Spryker’s standard data:import console command.</a:t>
            </a:r>
          </a:p>
          <a:p>
            <a:pPr>
              <a:spcBef>
                <a:spcPts val="800"/>
              </a:spcBef>
              <a:spcAft>
                <a:spcPts val="400"/>
              </a:spcAft>
              <a:defRPr sz="1700" b="1">
                <a:solidFill>
                  <a:srgbClr val="1A1A1A"/>
                </a:solidFill>
              </a:defRPr>
            </a:pPr>
            <a:r>
              <a:t>4.1 Implement the DataImportPlugin</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src/SprykerAcademy/Zed/SupplierDataImport/Communication/Plugin/DataImport/SupplierDataImportPlugin.php . This class implements DataImportPluginInterface which requires two methods:</a:t>
            </a:r>
          </a:p>
          <a:p>
            <a:pPr>
              <a:spcAft>
                <a:spcPts val="400"/>
              </a:spcAft>
              <a:defRPr sz="1500">
                <a:solidFill>
                  <a:srgbClr val="1A1A1A"/>
                </a:solidFill>
              </a:defRPr>
            </a:pPr>
            <a:r>
              <a:t>• import() — should delegate to the module’s Facade. The plugin extends AbstractPlugin which provides getFacade() to access SupplierDataImportFacade .</a:t>
            </a:r>
          </a:p>
          <a:p>
            <a:pPr>
              <a:spcAft>
                <a:spcPts val="400"/>
              </a:spcAft>
              <a:defRPr sz="1500">
                <a:solidFill>
                  <a:srgbClr val="1A1A1A"/>
                </a:solidFill>
              </a:defRPr>
            </a:pPr>
            <a:r>
              <a:t>• getImportType() — should return the import type string. Look at SupplierDataImportConfig for the right constant.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Pluginization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Plugin pattern: Plugins are the “glue” between modules. They live in the Communication layer and bridge the module’s Facade to another module’s plugin stack. They should contain no business logic — only delegation.</a:t>
            </a:r>
          </a:p>
          <a:p>
            <a:pPr>
              <a:spcBef>
                <a:spcPts val="800"/>
              </a:spcBef>
              <a:spcAft>
                <a:spcPts val="400"/>
              </a:spcAft>
              <a:defRPr sz="1700" b="1">
                <a:solidFill>
                  <a:srgbClr val="1A1A1A"/>
                </a:solidFill>
              </a:defRPr>
            </a:pPr>
            <a:r>
              <a:t>4.2 Register the Plugin</a:t>
            </a:r>
          </a:p>
          <a:p>
            <a:pPr>
              <a:spcAft>
                <a:spcPts val="800"/>
              </a:spcAft>
              <a:defRPr sz="1600">
                <a:solidFill>
                  <a:srgbClr val="1A1A1A"/>
                </a:solidFill>
              </a:defRPr>
            </a:pPr>
            <a:r>
              <a:t>Coding time:</a:t>
            </a:r>
          </a:p>
          <a:p>
            <a:pPr>
              <a:spcAft>
                <a:spcPts val="800"/>
              </a:spcAft>
              <a:defRPr sz="1600">
                <a:solidFill>
                  <a:srgbClr val="1A1A1A"/>
                </a:solidFill>
              </a:defRPr>
            </a:pPr>
            <a:r>
              <a:t>Open src/Pyz/Zed/DataImport/DataImportDependencyProvider.php in the project. Find the getDataImporterPlugins() method and add instances of both SupplierDataImportPlugin and SupplierLocationDataImportPlugin to the returned array.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Run the Import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data:import supplier</a:t>
            </a:r>
          </a:p>
          <a:p>
            <a:pPr>
              <a:spcAft>
                <a:spcPts val="800"/>
              </a:spcAft>
              <a:defRPr sz="1600">
                <a:solidFill>
                  <a:srgbClr val="1A1A1A"/>
                </a:solidFill>
              </a:defRPr>
            </a:pPr>
            <a:r>
              <a:t>This will: 1. Read supplier.csv 2. For each row: run DescriptionToLowercaseStep (lowercase description) then SupplierWriterStep (persist to DB) 3. Output a report with the number of imported rows</a:t>
            </a:r>
          </a:p>
          <a:p>
            <a:pPr>
              <a:spcAft>
                <a:spcPts val="800"/>
              </a:spcAft>
              <a:defRPr sz="1600">
                <a:solidFill>
                  <a:srgbClr val="1A1A1A"/>
                </a:solidFill>
              </a:defRPr>
            </a:pPr>
            <a:r>
              <a:t>You can also import supplier locations:</a:t>
            </a:r>
          </a:p>
          <a:p>
            <a:pPr>
              <a:spcBef>
                <a:spcPts val="0"/>
              </a:spcBef>
              <a:spcAft>
                <a:spcPts val="0"/>
              </a:spcAft>
            </a:pPr>
            <a:r>
              <a:rPr sz="900">
                <a:solidFill>
                  <a:srgbClr val="2D2D2D"/>
                </a:solidFill>
                <a:latin typeface="Consolas"/>
              </a:rPr>
              <a:t>docker/sdk</a:t>
            </a:r>
            <a:r>
              <a:rPr sz="900">
                <a:solidFill>
                  <a:srgbClr val="2D2D2D"/>
                </a:solidFill>
                <a:latin typeface="Consolas"/>
              </a:rPr>
              <a:t> console data:import supplier-location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Step Pipeline</a:t>
            </a:r>
          </a:p>
          <a:p>
            <a:pPr>
              <a:spcBef>
                <a:spcPts val="0"/>
              </a:spcBef>
              <a:spcAft>
                <a:spcPts val="0"/>
              </a:spcAft>
            </a:pPr>
            <a:r>
              <a:rPr sz="900">
                <a:solidFill>
                  <a:srgbClr val="2D2D2D"/>
                </a:solidFill>
                <a:latin typeface="Consolas"/>
              </a:rPr>
              <a:t>CSV Row → DescriptionToLowercaseStep → SupplierWriterStep → Database</a:t>
            </a:r>
          </a:p>
          <a:p>
            <a:pPr>
              <a:spcBef>
                <a:spcPts val="0"/>
              </a:spcBef>
              <a:spcAft>
                <a:spcPts val="0"/>
              </a:spcAft>
            </a:pPr>
            <a:r>
              <a:rPr sz="900">
                <a:solidFill>
                  <a:srgbClr val="2D2D2D"/>
                </a:solidFill>
                <a:latin typeface="Consolas"/>
              </a:rPr>
              <a:t>            (processor: transforms)      (writer: persists)</a:t>
            </a:r>
          </a:p>
          <a:p>
            <a:pPr>
              <a:spcAft>
                <a:spcPts val="400"/>
              </a:spcAft>
              <a:defRPr sz="1500">
                <a:solidFill>
                  <a:srgbClr val="1A1A1A"/>
                </a:solidFill>
              </a:defRPr>
            </a:pPr>
            <a:r>
              <a:t>• Processor steps modify the DataSet in-place (lowercase, trim, validate, enrich)</a:t>
            </a:r>
          </a:p>
          <a:p>
            <a:pPr>
              <a:spcAft>
                <a:spcPts val="400"/>
              </a:spcAft>
              <a:defRPr sz="1500">
                <a:solidFill>
                  <a:srgbClr val="1A1A1A"/>
                </a:solidFill>
              </a:defRPr>
            </a:pPr>
            <a:r>
              <a:t>• Writer steps persist the DataSet to the database (Propel entities)</a:t>
            </a:r>
          </a:p>
          <a:p>
            <a:pPr>
              <a:spcAft>
                <a:spcPts val="400"/>
              </a:spcAft>
              <a:defRPr sz="1500">
                <a:solidFill>
                  <a:srgbClr val="1A1A1A"/>
                </a:solidFill>
              </a:defRPr>
            </a:pPr>
            <a:r>
              <a:t>• Steps are chained via DataSetStepBroker::addStep() in the Factory</a:t>
            </a:r>
          </a:p>
          <a:p>
            <a:pPr>
              <a:spcBef>
                <a:spcPts val="1200"/>
              </a:spcBef>
              <a:spcAft>
                <a:spcPts val="600"/>
              </a:spcAft>
              <a:defRPr sz="2000" b="1">
                <a:solidFill>
                  <a:srgbClr val="1A1A1A"/>
                </a:solidFill>
              </a:defRPr>
            </a:pPr>
            <a:r>
              <a:t>PublishAwareStep (Preview of Publish &amp; Synchronize)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the complete solution, SupplierWriterStep extends PublishAwareStep instead of implementing DataImportStepInterface directly. This enables triggering publish events after saving, which feeds the Publish &amp; Synchronize pipeline (next exercise). This is how imported data flows through the entire Spryker architecture:</a:t>
            </a:r>
          </a:p>
          <a:p>
            <a:pPr>
              <a:spcBef>
                <a:spcPts val="0"/>
              </a:spcBef>
              <a:spcAft>
                <a:spcPts val="0"/>
              </a:spcAft>
            </a:pPr>
            <a:r>
              <a:rPr sz="900">
                <a:solidFill>
                  <a:srgbClr val="2D2D2D"/>
                </a:solidFill>
                <a:latin typeface="Consolas"/>
              </a:rPr>
              <a:t>CSV → DataImport → Database → Event → Publisher → Search/Storage Table → Queue → Elasticsearch/Redis</a:t>
            </a:r>
          </a:p>
          <a:p>
            <a:pPr>
              <a:spcAft>
                <a:spcPts val="800"/>
              </a:spcAft>
              <a:defRPr sz="1600">
                <a:solidFill>
                  <a:srgbClr val="1A1A1A"/>
                </a:solidFill>
              </a:defRPr>
            </a:pPr>
            <a:r>
              <a:t>We will explore this in detail in the Publish &amp; Synchronize exercise.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DependencyProvider Inheritance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SupplierDataImportDependencyProvider extends DataImportDependencyProvider to inherit all dependencies the DataImport module needs (data reader, data set step broker, etc.). This is a common pattern when creating a module that extends a core module’s functionality.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importing, check: 1. pyz_supplier table has 4 rows 2. Descriptions are lowercase (the DescriptionToLowercaseStep transformed them) 3. Run data:import supplier again — it should NOT create duplicates (idempotent import)</a:t>
            </a:r>
          </a:p>
          <a:p>
            <a:pPr>
              <a:spcAft>
                <a:spcPts val="800"/>
              </a:spcAft>
              <a:defRPr sz="1600">
                <a:solidFill>
                  <a:srgbClr val="1A1A1A"/>
                </a:solidFill>
              </a:defRPr>
            </a:pPr>
            <a:r>
              <a:t>Use any database client (DBeaver, TablePlus, CLI) to connect and verify. Connection credentials are in deploy.dev.yml (typically host: localhost , port: 3306 or 5432 , user: spryker , password: secret ).</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intermediate/data-import/complete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9: Back Office - Supplier CRUD</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9: Back Office - Supplier CRUD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complete Back Office interface for managing suppliers: a sortable/searchable table to list them, a form to create new suppliers, and edit/delete functionality. You will use Spryker’s Gui module framework for tables and Symfony forms for data entry.</a:t>
            </a:r>
          </a:p>
          <a:p>
            <a:pPr>
              <a:spcAft>
                <a:spcPts val="800"/>
              </a:spcAft>
              <a:defRPr sz="1600">
                <a:solidFill>
                  <a:srgbClr val="1A1A1A"/>
                </a:solidFill>
              </a:defRPr>
            </a:pPr>
            <a:r>
              <a:t>You will learn how to: - Create a Back Office table extending AbstractTable with sorting, searching, and AJAX loading - Build Symfony forms with validation for the Back Office - Wire dependencies through the DependencyProvider and CommunicationFactory - Implement full CRUD controllers (Index, Create, Edit, Delete) - Register navigation items for the Back Office sidebar - Use the castId() pattern for safe ID handling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Exercise 8 (Data Import) — you should have suppliers in the database</a:t>
            </a:r>
          </a:p>
          <a:p>
            <a:pPr>
              <a:spcAft>
                <a:spcPts val="400"/>
              </a:spcAft>
              <a:defRPr sz="1500">
                <a:solidFill>
                  <a:srgbClr val="1A1A1A"/>
                </a:solidFill>
              </a:defRPr>
            </a:pPr>
            <a:r>
              <a:t>• Understanding of the Facade pattern and DependencyProvider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intermediate/back-office/skeleton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Back Office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Back Office modules in Spryker follow the naming convention &lt;ModuleName&gt;Gui (e.g., SupplierGui ). They live in the Communication layer and depend on the core module’s Facade for business logic.</a:t>
            </a:r>
          </a:p>
          <a:p>
            <a:pPr>
              <a:spcBef>
                <a:spcPts val="0"/>
              </a:spcBef>
              <a:spcAft>
                <a:spcPts val="0"/>
              </a:spcAft>
            </a:pPr>
            <a:r>
              <a:rPr sz="900">
                <a:solidFill>
                  <a:srgbClr val="2D2D2D"/>
                </a:solidFill>
                <a:latin typeface="Consolas"/>
              </a:rPr>
              <a:t>SupplierGui (Communication)  →  Supplier (Business)  →  Supplier (Persistence)</a:t>
            </a:r>
          </a:p>
          <a:p>
            <a:pPr>
              <a:spcBef>
                <a:spcPts val="0"/>
              </a:spcBef>
              <a:spcAft>
                <a:spcPts val="0"/>
              </a:spcAft>
            </a:pPr>
            <a:r>
              <a:rPr sz="900">
                <a:solidFill>
                  <a:srgbClr val="2D2D2D"/>
                </a:solidFill>
                <a:latin typeface="Consolas"/>
              </a:rPr>
              <a:t>  Controllers                      Facade                   Repository</a:t>
            </a:r>
          </a:p>
          <a:p>
            <a:pPr>
              <a:spcBef>
                <a:spcPts val="0"/>
              </a:spcBef>
              <a:spcAft>
                <a:spcPts val="0"/>
              </a:spcAft>
            </a:pPr>
            <a:r>
              <a:rPr sz="900">
                <a:solidFill>
                  <a:srgbClr val="2D2D2D"/>
                </a:solidFill>
                <a:latin typeface="Consolas"/>
              </a:rPr>
              <a:t>  Tables                           Reader/Writer            EntityManager</a:t>
            </a:r>
          </a:p>
          <a:p>
            <a:pPr>
              <a:spcBef>
                <a:spcPts val="0"/>
              </a:spcBef>
              <a:spcAft>
                <a:spcPts val="0"/>
              </a:spcAft>
            </a:pPr>
            <a:r>
              <a:rPr sz="900">
                <a:solidFill>
                  <a:srgbClr val="2D2D2D"/>
                </a:solidFill>
                <a:latin typeface="Consolas"/>
              </a:rPr>
              <a:t>  Forms                            Deleter</a:t>
            </a:r>
          </a:p>
          <a:p>
            <a:pPr>
              <a:spcBef>
                <a:spcPts val="0"/>
              </a:spcBef>
              <a:spcAft>
                <a:spcPts val="0"/>
              </a:spcAft>
            </a:pPr>
            <a:r>
              <a:rPr sz="900">
                <a:solidFill>
                  <a:srgbClr val="2D2D2D"/>
                </a:solidFill>
                <a:latin typeface="Consolas"/>
              </a:rPr>
              <a:t>  Factory</a:t>
            </a:r>
          </a:p>
          <a:p>
            <a:pPr>
              <a:spcAft>
                <a:spcPts val="800"/>
              </a:spcAft>
              <a:defRPr sz="1600">
                <a:solidFill>
                  <a:srgbClr val="1A1A1A"/>
                </a:solidFill>
              </a:defRPr>
            </a:pPr>
            <a:r>
              <a:t>Key classes:</a:t>
            </a:r>
          </a:p>
          <a:p>
            <a:pPr>
              <a:spcAft>
                <a:spcPts val="100"/>
              </a:spcAft>
              <a:defRPr sz="1000">
                <a:solidFill>
                  <a:srgbClr val="1A1A1A"/>
                </a:solidFill>
                <a:latin typeface="Consolas"/>
              </a:defRPr>
            </a:pPr>
            <a:r>
              <a:t>Class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AbstractTable         Base for sortable/searchable Back Office tables                         </a:t>
            </a:r>
          </a:p>
          <a:p>
            <a:pPr>
              <a:spcAft>
                <a:spcPts val="100"/>
              </a:spcAft>
              <a:defRPr sz="1000">
                <a:solidFill>
                  <a:srgbClr val="1A1A1A"/>
                </a:solidFill>
                <a:latin typeface="Consolas"/>
              </a:defRPr>
            </a:pPr>
            <a:r>
              <a:t>AbstractController    Provides viewResponse() , jsonResponse() , castId() , redirectResponse()</a:t>
            </a:r>
          </a:p>
          <a:p>
            <a:pPr>
              <a:spcAft>
                <a:spcPts val="100"/>
              </a:spcAft>
              <a:defRPr sz="1000">
                <a:solidFill>
                  <a:srgbClr val="1A1A1A"/>
                </a:solidFill>
                <a:latin typeface="Consolas"/>
              </a:defRPr>
            </a:pPr>
            <a:r>
              <a:t>AbstractType          Symfony form base for Back Office forms                                 </a:t>
            </a:r>
          </a:p>
          <a:p>
            <a:pPr>
              <a:spcAft>
                <a:spcPts val="100"/>
              </a:spcAft>
              <a:defRPr sz="1000">
                <a:solidFill>
                  <a:srgbClr val="1A1A1A"/>
                </a:solidFill>
                <a:latin typeface="Consolas"/>
              </a:defRPr>
            </a:pPr>
            <a:r>
              <a:t>CommunicationFactory  Creates tables, forms; accesses provided dependencies                   </a:t>
            </a:r>
          </a:p>
          <a:p>
            <a:pPr>
              <a:spcAft>
                <a:spcPts val="100"/>
              </a:spcAft>
              <a:defRPr sz="1000">
                <a:solidFill>
                  <a:srgbClr val="1A1A1A"/>
                </a:solidFill>
                <a:latin typeface="Consolas"/>
              </a:defRPr>
            </a:pPr>
            <a:r>
              <a:t>DependencyProvider    Injects Facade and Propel queries into the module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Database Structure</a:t>
            </a:r>
          </a:p>
          <a:p>
            <a:pPr>
              <a:spcAft>
                <a:spcPts val="800"/>
              </a:spcAft>
              <a:defRPr sz="1600">
                <a:solidFill>
                  <a:srgbClr val="1A1A1A"/>
                </a:solidFill>
              </a:defRPr>
            </a:pPr>
            <a:r>
              <a:t>The exercise skeleton provides the Supplier module with the schema for pyz_supplier (columns: id_supplier, name, description, status, email, phone). A SupplierTransfer DTO is also provided.</a:t>
            </a:r>
          </a:p>
          <a:p>
            <a:pPr>
              <a:spcAft>
                <a:spcPts val="800"/>
              </a:spcAft>
              <a:defRPr sz="1600">
                <a:solidFill>
                  <a:srgbClr val="1A1A1A"/>
                </a:solidFill>
              </a:defRPr>
            </a:pPr>
            <a:r>
              <a:t>If you haven’t already, create the tables and generate transfers:</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Aft>
                <a:spcPts val="800"/>
              </a:spcAft>
              <a:defRPr sz="1600">
                <a:solidFill>
                  <a:srgbClr val="1A1A1A"/>
                </a:solidFill>
              </a:defRPr>
            </a:pPr>
            <a:r>
              <a:t>If you have no supplier data, import it first:</a:t>
            </a:r>
          </a:p>
          <a:p>
            <a:pPr>
              <a:spcBef>
                <a:spcPts val="0"/>
              </a:spcBef>
              <a:spcAft>
                <a:spcPts val="0"/>
              </a:spcAft>
            </a:pPr>
            <a:r>
              <a:rPr sz="900">
                <a:solidFill>
                  <a:srgbClr val="2D2D2D"/>
                </a:solidFill>
                <a:latin typeface="Consolas"/>
              </a:rPr>
              <a:t>docker/sdk</a:t>
            </a:r>
            <a:r>
              <a:rPr sz="900">
                <a:solidFill>
                  <a:srgbClr val="2D2D2D"/>
                </a:solidFill>
                <a:latin typeface="Consolas"/>
              </a:rPr>
              <a:t> console data:import supplier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table displays suppliers in the Back Office with sorting, searching, and action buttons (Edit/Delete).</a:t>
            </a:r>
          </a:p>
          <a:p>
            <a:pPr>
              <a:spcBef>
                <a:spcPts val="800"/>
              </a:spcBef>
              <a:spcAft>
                <a:spcPts val="400"/>
              </a:spcAft>
              <a:defRPr sz="1700" b="1">
                <a:solidFill>
                  <a:srgbClr val="1A1A1A"/>
                </a:solidFill>
              </a:defRPr>
            </a:pPr>
            <a:r>
              <a:t>2.1 Configure the Table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src/SprykerAcademy/Zed/SupplierGui/Communication/Table/SupplierTable.php . The class extends AbstractTable and has two methods to implement: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configure() : 1. TODO-1: Set the table headers using $config-&gt;setHeader() — pass an associative array mapping column constants to display labels. Include COL_ACTIONS =&gt; 'Actions' for the action buttons column. 2. TODO-2: Set sortable columns using $config-&gt;setSortable() — pass an array of column constants (all data columns except Actions) 3. TODO-3: Set searchable columns using $config-&gt;setSearchable() — same pattern, but only text columns that make sense to search (name, description, email, phone) 4. TODO-4: Mark the Actions column as a raw column using $config-&gt;setRawColumns() — this allows HTML content (buttons) to render instead of being escaped</a:t>
            </a:r>
          </a:p>
          <a:p>
            <a:pPr>
              <a:spcAft>
                <a:spcPts val="800"/>
              </a:spcAft>
              <a:defRPr sz="1400" i="1">
                <a:solidFill>
                  <a:srgbClr val="888888"/>
                </a:solidFill>
              </a:defRPr>
            </a:pPr>
            <a:r>
              <a:t>❝ Hint: The class already has constants like COL_ID_SUPPLIER , COL_NAME , COL_ACTIONS , etc. Use these as array keys.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prepareData() : 5. TODO-5: Fetch the supplier data using $this-&gt;runQuery() . This method accepts the Propel query (injected via constructor), the $config , and a boolean true to get raw results. Then map the results using the provided mapReturns() method.</a:t>
            </a:r>
          </a:p>
          <a:p>
            <a:pPr>
              <a:spcAft>
                <a:spcPts val="800"/>
              </a:spcAft>
              <a:defRPr sz="1600">
                <a:solidFill>
                  <a:srgbClr val="1A1A1A"/>
                </a:solidFill>
              </a:defRPr>
            </a:pPr>
            <a:r>
              <a:t>In mapReturns() : 6. TODO-6: Add an actions column entry to each row’s array that calls $this-&gt;buildActionButtons() with the supplier ID. Use static::COL_ACTIONS as the key.</a:t>
            </a:r>
          </a:p>
          <a:p>
            <a:pPr>
              <a:spcAft>
                <a:spcPts val="800"/>
              </a:spcAft>
              <a:defRPr sz="1600">
                <a:solidFill>
                  <a:srgbClr val="1A1A1A"/>
                </a:solidFill>
              </a:defRPr>
            </a:pPr>
            <a:r>
              <a:t>In buildActionButtons() : 7. TODO-7: Build the Edit and Delete action buttons. Spryker’s AbstractTable provides built-in helper methods for generating table row buttons: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 Available in any class extending AbstractTable: $this -&gt;generateEditButton( $url , 'Edit' ) $this -&gt;generateRemoveButton( $url , 'Delete' ) $this -&gt;generateViewButton( $url , 'View' ) $this -&gt;generateCreateButton( $url , 'Create' ) Use Url::generate() from Spryker\Service\UtilText\Model\Url\Url to build URLs with query parameters: $url = U rl::generate( '/supplier-gui/edit' , [ E ditController:: REQUEST_PARAM_ID_SUPPLIER =&gt; $idSupplier , ]) ; Combine multiple buttons with implode(' ', [...]) and assign to the Actions column. The skeleton already provides the constants URL_SUPPLIER_EDIT and URL_SUPPLIER_DELETE as well as imports for EditController and DeleteController .</a:t>
            </a:r>
          </a:p>
          <a:p>
            <a:pPr>
              <a:spcAft>
                <a:spcPts val="800"/>
              </a:spcAft>
              <a:defRPr sz="1400" i="1">
                <a:solidFill>
                  <a:srgbClr val="888888"/>
                </a:solidFill>
              </a:defRPr>
            </a:pPr>
            <a:r>
              <a:t>❝ About Propel in the Communication layer: Tables are an exception to the “no Propel outside Persistence” rule. The AbstractTable class handles pagination, sorting, and filtering internally through the Propel query.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2.2 Wire the DependencyProvider</a:t>
            </a:r>
          </a:p>
          <a:p>
            <a:pPr>
              <a:spcAft>
                <a:spcPts val="800"/>
              </a:spcAft>
              <a:defRPr sz="1600">
                <a:solidFill>
                  <a:srgbClr val="1A1A1A"/>
                </a:solidFill>
              </a:defRPr>
            </a:pPr>
            <a:r>
              <a:t>Every external dependency must be provided through the DependencyProvider .</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src/SprykerAcademy/Zed/SupplierGui/SupplierGuiDependencyProvider.php :</a:t>
            </a:r>
          </a:p>
          <a:p>
            <a:pPr>
              <a:spcAft>
                <a:spcPts val="400"/>
              </a:spcAft>
              <a:defRPr sz="1500">
                <a:solidFill>
                  <a:srgbClr val="1A1A1A"/>
                </a:solidFill>
              </a:defRPr>
            </a:pPr>
            <a:r>
              <a:t>• Implement addSupplierPropelQuery() — use $container-&gt;set() with the PROPEL_QUERY_SUPPLIER constant. For Propel queries, use $container-&gt;factory() to ensure a fresh instance on every request (not a singleton).</a:t>
            </a:r>
          </a:p>
          <a:p>
            <a:pPr>
              <a:spcAft>
                <a:spcPts val="800"/>
              </a:spcAft>
              <a:defRPr sz="1400" i="1">
                <a:solidFill>
                  <a:srgbClr val="888888"/>
                </a:solidFill>
              </a:defRPr>
            </a:pPr>
            <a:r>
              <a:t>❝ Important: Always use $container-&gt;factory(fn () =&gt; PyzSupplierQuery::create()) for Propel queries. A shared query instance would carry state between requests.</a:t>
            </a:r>
          </a:p>
          <a:p>
            <a:pPr>
              <a:spcAft>
                <a:spcPts val="400"/>
              </a:spcAft>
              <a:defRPr sz="1500">
                <a:solidFill>
                  <a:srgbClr val="1A1A1A"/>
                </a:solidFill>
              </a:defRPr>
            </a:pPr>
            <a:r>
              <a:t>• Call addSupplierPropelQuery() in provideCommunicationLayerDependencies() .</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2.3 Wire the Factory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src/SprykerAcademy/Zed/SupplierGui/Communication/SupplierGuiCommunicationFactory.php :</a:t>
            </a:r>
          </a:p>
          <a:p>
            <a:pPr>
              <a:spcAft>
                <a:spcPts val="400"/>
              </a:spcAft>
              <a:defRPr sz="1500">
                <a:solidFill>
                  <a:srgbClr val="1A1A1A"/>
                </a:solidFill>
              </a:defRPr>
            </a:pPr>
            <a:r>
              <a:t>• Implement getSupplierQuery() — use getProvidedDependency() with the appropriate constant to retrieve the Propel query</a:t>
            </a:r>
          </a:p>
          <a:p>
            <a:pPr>
              <a:spcAft>
                <a:spcPts val="400"/>
              </a:spcAft>
              <a:defRPr sz="1500">
                <a:solidFill>
                  <a:srgbClr val="1A1A1A"/>
                </a:solidFill>
              </a:defRPr>
            </a:pPr>
            <a:r>
              <a:t>• Implement createSupplierTable() — instantiate SupplierTable passing the Propel query as constructor argument</a:t>
            </a:r>
          </a:p>
          <a:p>
            <a:pPr>
              <a:spcAft>
                <a:spcPts val="800"/>
              </a:spcAft>
              <a:defRPr sz="1400" i="1">
                <a:solidFill>
                  <a:srgbClr val="888888"/>
                </a:solidFill>
              </a:defRPr>
            </a:pPr>
            <a:r>
              <a:t>❝ Naming convention: get*() for retrieving provided dependencies, create*() for instantiating new objects.</a:t>
            </a:r>
          </a:p>
          <a:p>
            <a:pPr>
              <a:spcBef>
                <a:spcPts val="800"/>
              </a:spcBef>
              <a:spcAft>
                <a:spcPts val="400"/>
              </a:spcAft>
              <a:defRPr sz="1700" b="1">
                <a:solidFill>
                  <a:srgbClr val="1A1A1A"/>
                </a:solidFill>
              </a:defRPr>
            </a:pPr>
            <a:r>
              <a:t>2.4 Implement the IndexController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src/SprykerAcademy/Zed/SupplierGui/Communication/Controller/IndexController.php :</a:t>
            </a:r>
          </a:p>
          <a:p>
            <a:pPr>
              <a:spcAft>
                <a:spcPts val="800"/>
              </a:spcAft>
              <a:defRPr sz="1600">
                <a:solidFill>
                  <a:srgbClr val="1A1A1A"/>
                </a:solidFill>
              </a:defRPr>
            </a:pPr>
            <a:r>
              <a:t>The controller needs two actions:</a:t>
            </a:r>
          </a:p>
          <a:p>
            <a:pPr>
              <a:spcAft>
                <a:spcPts val="400"/>
              </a:spcAft>
              <a:defRPr sz="1500">
                <a:solidFill>
                  <a:srgbClr val="1A1A1A"/>
                </a:solidFill>
              </a:defRPr>
            </a:pPr>
            <a:r>
              <a:t>• indexAction() — Gets the table from the factory, calls render() on it, and returns a viewResponse() with the rendered HTML. The template variable should be supplierTable .</a:t>
            </a:r>
          </a:p>
          <a:p>
            <a:pPr>
              <a:spcAft>
                <a:spcPts val="400"/>
              </a:spcAft>
              <a:defRPr sz="1500">
                <a:solidFill>
                  <a:srgbClr val="1A1A1A"/>
                </a:solidFill>
              </a:defRPr>
            </a:pPr>
            <a:r>
              <a:t>• tableAction() — Gets the table from the factory, calls fetchData() on it, and returns a jsonResponse() . This is called via AJAX by the table’s built-in JavaScript.</a:t>
            </a:r>
          </a:p>
          <a:p>
            <a:pPr>
              <a:spcAft>
                <a:spcPts val="800"/>
              </a:spcAft>
              <a:defRPr sz="1400" i="1">
                <a:solidFill>
                  <a:srgbClr val="888888"/>
                </a:solidFill>
              </a:defRPr>
            </a:pPr>
            <a:r>
              <a:t>❝ Two-action pattern: Every Back Office table needs both: indexAction() renders the HTML container, tableAction() returns JSON data via AJAX. The AbstractTable handles the AJAX logic automatically.</a:t>
            </a:r>
          </a:p>
          <a:p>
            <a:pPr>
              <a:spcBef>
                <a:spcPts val="800"/>
              </a:spcBef>
              <a:spcAft>
                <a:spcPts val="400"/>
              </a:spcAft>
              <a:defRPr sz="1700" b="1">
                <a:solidFill>
                  <a:srgbClr val="1A1A1A"/>
                </a:solidFill>
              </a:defRPr>
            </a:pPr>
            <a:r>
              <a:t>2.5 Add the Twig Template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src/SprykerAcademy/Zed/SupplierGui/Presentation/Index/index.twig : 1. Add a “Create Supplier” button linking to /supplier-gui/create 2. Render the supplierTable variable using the raw filter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Buttons in Spryker Back Office Twig templates: Spryker registers Twig helper functions for consistent button rendering. Use these instead of raw HTML: {# Action buttons (page-level) — rendered above forms/tables #} {{ createActionButton('/supplier-gui/create', 'Create Supplier') }} {{ editActionButton('/supplier-gui/edit?id-supplier=' ~ id, 'Edit') }} {{ backActionButton(backUrl, 'Back') }} {{ removeActionButton('/supplier-gui/delete?id-supplier=' ~ id, 'Delete') }} These functions are provided by the Gui module’s Twig plugins ( CreateActionButtonTwigPlugin , etc.) and automatically apply the correct CSS classes and styling. Rendering raw HTML: The controller passes pre-rendered HTML from $table-&gt;render() . Use the raw filter to prevent Twig from escaping it: {{ supplierTable | raw }} Without | raw , Twig would escape the HTML tags and you’d see raw &lt;table&gt; markup as text.</a:t>
            </a:r>
          </a:p>
          <a:p>
            <a:pPr>
              <a:spcAft>
                <a:spcPts val="800"/>
              </a:spcAft>
              <a:defRPr sz="1600">
                <a:solidFill>
                  <a:srgbClr val="1A1A1A"/>
                </a:solidFill>
              </a:defRPr>
            </a:pPr>
            <a:r>
              <a:t>Clear cache: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Aft>
                <a:spcPts val="800"/>
              </a:spcAft>
              <a:defRPr sz="1600">
                <a:solidFill>
                  <a:srgbClr val="1A1A1A"/>
                </a:solidFill>
              </a:defRPr>
            </a:pPr>
            <a:r>
              <a:t>Visit http://backoffice.eu.spryker.local/supplier-gui to see the table.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Build the Form Class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src/SprykerAcademy/Zed/SupplierGui/Communication/Form/SupplierCreateForm.php . The class extends AbstractType . In the buildForm() method, add fields using the Symfony form builder.</a:t>
            </a:r>
          </a:p>
          <a:p>
            <a:pPr>
              <a:spcAft>
                <a:spcPts val="800"/>
              </a:spcAft>
              <a:defRPr sz="1600">
                <a:solidFill>
                  <a:srgbClr val="1A1A1A"/>
                </a:solidFill>
              </a:defRPr>
            </a:pPr>
            <a:r>
              <a:t>TODO-1: Add fields using $builder-&gt;add() . Each call takes a field name, a field type class, and an options array. You can chain multiple -&gt;add() calls: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19177C"/>
                </a:solidFill>
                <a:latin typeface="Consolas"/>
              </a:rPr>
              <a:t>$builder</a:t>
            </a:r>
          </a:p>
          <a:p>
            <a:pPr>
              <a:spcBef>
                <a:spcPts val="0"/>
              </a:spcBef>
              <a:spcAft>
                <a:spcPts val="0"/>
              </a:spcAft>
            </a:pPr>
            <a:r>
              <a:rPr sz="900">
                <a:solidFill>
                  <a:srgbClr val="2D2D2D"/>
                </a:solidFill>
                <a:latin typeface="Consolas"/>
              </a:rPr>
              <a:t>    -&gt;add(</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FIELD_NAME</a:t>
            </a:r>
            <a:r>
              <a:rPr sz="900">
                <a:solidFill>
                  <a:srgbClr val="007020"/>
                </a:solidFill>
                <a:latin typeface="Consolas"/>
              </a:rPr>
              <a:t>,</a:t>
            </a:r>
            <a:r>
              <a:rPr sz="900">
                <a:solidFill>
                  <a:srgbClr val="2D2D2D"/>
                </a:solidFill>
                <a:latin typeface="Consolas"/>
              </a:rPr>
              <a:t> </a:t>
            </a:r>
            <a:r>
              <a:rPr sz="900">
                <a:solidFill>
                  <a:srgbClr val="880000"/>
                </a:solidFill>
                <a:latin typeface="Consolas"/>
              </a:rPr>
              <a:t>T</a:t>
            </a:r>
            <a:r>
              <a:rPr sz="900">
                <a:solidFill>
                  <a:srgbClr val="2D2D2D"/>
                </a:solidFill>
                <a:latin typeface="Consolas"/>
              </a:rPr>
              <a:t>extType::</a:t>
            </a:r>
            <a:r>
              <a:rPr sz="900" b="1">
                <a:solidFill>
                  <a:srgbClr val="007020"/>
                </a:solidFill>
                <a:latin typeface="Consolas"/>
              </a:rPr>
              <a:t>class</a:t>
            </a:r>
            <a:r>
              <a:rPr sz="900">
                <a:solidFill>
                  <a:srgbClr val="007020"/>
                </a:solidFill>
                <a:latin typeface="Consolas"/>
              </a:rPr>
              <a: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'label'</a:t>
            </a:r>
            <a:r>
              <a:rPr sz="900">
                <a:solidFill>
                  <a:srgbClr val="2D2D2D"/>
                </a:solidFill>
                <a:latin typeface="Consolas"/>
              </a:rPr>
              <a:t> =&gt; </a:t>
            </a:r>
            <a:r>
              <a:rPr sz="900">
                <a:solidFill>
                  <a:srgbClr val="4070A0"/>
                </a:solidFill>
                <a:latin typeface="Consolas"/>
              </a:rPr>
              <a:t>'Name'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'constraints'</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-&gt;createNotBlankConstraint()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-&gt;add(</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FIELD_DESCRIPTION</a:t>
            </a:r>
            <a:r>
              <a:rPr sz="900">
                <a:solidFill>
                  <a:srgbClr val="007020"/>
                </a:solidFill>
                <a:latin typeface="Consolas"/>
              </a:rPr>
              <a:t>,</a:t>
            </a:r>
            <a:r>
              <a:rPr sz="900">
                <a:solidFill>
                  <a:srgbClr val="2D2D2D"/>
                </a:solidFill>
                <a:latin typeface="Consolas"/>
              </a:rPr>
              <a:t> </a:t>
            </a:r>
            <a:r>
              <a:rPr sz="900">
                <a:solidFill>
                  <a:srgbClr val="880000"/>
                </a:solidFill>
                <a:latin typeface="Consolas"/>
              </a:rPr>
              <a:t>T</a:t>
            </a:r>
            <a:r>
              <a:rPr sz="900">
                <a:solidFill>
                  <a:srgbClr val="2D2D2D"/>
                </a:solidFill>
                <a:latin typeface="Consolas"/>
              </a:rPr>
              <a:t>extType::</a:t>
            </a:r>
            <a:r>
              <a:rPr sz="900" b="1">
                <a:solidFill>
                  <a:srgbClr val="007020"/>
                </a:solidFill>
                <a:latin typeface="Consolas"/>
              </a:rPr>
              <a:t>class</a:t>
            </a:r>
            <a:r>
              <a:rPr sz="900">
                <a:solidFill>
                  <a:srgbClr val="007020"/>
                </a:solidFill>
                <a:latin typeface="Consolas"/>
              </a:rPr>
              <a: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'label'</a:t>
            </a:r>
            <a:r>
              <a:rPr sz="900">
                <a:solidFill>
                  <a:srgbClr val="2D2D2D"/>
                </a:solidFill>
                <a:latin typeface="Consolas"/>
              </a:rPr>
              <a:t> =&gt; </a:t>
            </a:r>
            <a:r>
              <a:rPr sz="900">
                <a:solidFill>
                  <a:srgbClr val="4070A0"/>
                </a:solidFill>
                <a:latin typeface="Consolas"/>
              </a:rPr>
              <a:t>'Description'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'constraints'</a:t>
            </a:r>
            <a:r>
              <a:rPr sz="900">
                <a:solidFill>
                  <a:srgbClr val="2D2D2D"/>
                </a:solidFill>
                <a:latin typeface="Consolas"/>
              </a:rPr>
              <a:t> =&gt;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Aft>
                <a:spcPts val="800"/>
              </a:spcAft>
              <a:defRPr sz="1600">
                <a:solidFill>
                  <a:srgbClr val="1A1A1A"/>
                </a:solidFill>
              </a:defRPr>
            </a:pPr>
            <a:r>
              <a:t>Fields to add:</a:t>
            </a:r>
          </a:p>
          <a:p>
            <a:pPr>
              <a:spcAft>
                <a:spcPts val="400"/>
              </a:spcAft>
              <a:defRPr sz="1500">
                <a:solidFill>
                  <a:srgbClr val="1A1A1A"/>
                </a:solidFill>
              </a:defRPr>
            </a:pPr>
            <a:r>
              <a:t>• FIELD_NAME — TextType with a NotBlank constraint</a:t>
            </a:r>
          </a:p>
          <a:p>
            <a:pPr>
              <a:spcAft>
                <a:spcPts val="400"/>
              </a:spcAft>
              <a:defRPr sz="1500">
                <a:solidFill>
                  <a:srgbClr val="1A1A1A"/>
                </a:solidFill>
              </a:defRPr>
            </a:pPr>
            <a:r>
              <a:t>• FIELD_DESCRIPTION — TextType with a NotBlank constraint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FIELD_IS_ACTIVE — CheckboxType , unmapped ( 'mapped' =&gt; false ), not required, with default value from form options ( 'data' =&gt; (bool)$options[static::FIELD_IS_ACTIVE] )</a:t>
            </a:r>
          </a:p>
          <a:p>
            <a:pPr>
              <a:spcAft>
                <a:spcPts val="400"/>
              </a:spcAft>
              <a:defRPr sz="1500">
                <a:solidFill>
                  <a:srgbClr val="1A1A1A"/>
                </a:solidFill>
              </a:defRPr>
            </a:pPr>
            <a:r>
              <a:t>• FIELD_EMAIL — TextType with a NotBlank constraint</a:t>
            </a:r>
          </a:p>
          <a:p>
            <a:pPr>
              <a:spcAft>
                <a:spcPts val="400"/>
              </a:spcAft>
              <a:defRPr sz="1500">
                <a:solidFill>
                  <a:srgbClr val="1A1A1A"/>
                </a:solidFill>
              </a:defRPr>
            </a:pPr>
            <a:r>
              <a:t>• FIELD_PHONE — TextType with a NotBlank constraint</a:t>
            </a:r>
          </a:p>
          <a:p>
            <a:pPr>
              <a:spcAft>
                <a:spcPts val="800"/>
              </a:spcAft>
              <a:defRPr sz="1400" i="1">
                <a:solidFill>
                  <a:srgbClr val="888888"/>
                </a:solidFill>
              </a:defRPr>
            </a:pPr>
            <a:r>
              <a:t>❝ Unmapped fields: The isActive checkbox doesn’t map directly to the SupplierTransfer (which has a numeric status field). Use 'mapped' =&gt; false to exclude it from automatic data binding. The controller will manually convert the boolean to a status integer.</a:t>
            </a:r>
          </a:p>
          <a:p>
            <a:pPr>
              <a:spcAft>
                <a:spcPts val="800"/>
              </a:spcAft>
              <a:defRPr sz="1600">
                <a:solidFill>
                  <a:srgbClr val="1A1A1A"/>
                </a:solidFill>
              </a:defRPr>
            </a:pPr>
            <a:r>
              <a:t>TODO-2: Override configureOptions() to set data_class and define defaults for custom options: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configureOptions(</a:t>
            </a:r>
            <a:r>
              <a:rPr sz="900">
                <a:solidFill>
                  <a:srgbClr val="880000"/>
                </a:solidFill>
                <a:latin typeface="Consolas"/>
              </a:rPr>
              <a:t>O</a:t>
            </a:r>
            <a:r>
              <a:rPr sz="900">
                <a:solidFill>
                  <a:srgbClr val="2D2D2D"/>
                </a:solidFill>
                <a:latin typeface="Consolas"/>
              </a:rPr>
              <a:t>ptionsResolver </a:t>
            </a:r>
            <a:r>
              <a:rPr sz="900">
                <a:solidFill>
                  <a:srgbClr val="19177C"/>
                </a:solidFill>
                <a:latin typeface="Consolas"/>
              </a:rPr>
              <a:t>$resolver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$resolver</a:t>
            </a:r>
            <a:r>
              <a:rPr sz="900">
                <a:solidFill>
                  <a:srgbClr val="2D2D2D"/>
                </a:solidFill>
                <a:latin typeface="Consolas"/>
              </a:rPr>
              <a:t>-&gt;setDefaults([</a:t>
            </a:r>
          </a:p>
          <a:p>
            <a:pPr>
              <a:spcBef>
                <a:spcPts val="0"/>
              </a:spcBef>
              <a:spcAft>
                <a:spcPts val="0"/>
              </a:spcAft>
            </a:pPr>
            <a:r>
              <a:rPr sz="900">
                <a:solidFill>
                  <a:srgbClr val="2D2D2D"/>
                </a:solidFill>
                <a:latin typeface="Consolas"/>
              </a:rPr>
              <a:t>        </a:t>
            </a:r>
            <a:r>
              <a:rPr sz="900">
                <a:solidFill>
                  <a:srgbClr val="4070A0"/>
                </a:solidFill>
                <a:latin typeface="Consolas"/>
              </a:rPr>
              <a:t>'data_class'</a:t>
            </a:r>
            <a:r>
              <a:rPr sz="900">
                <a:solidFill>
                  <a:srgbClr val="2D2D2D"/>
                </a:solidFill>
                <a:latin typeface="Consolas"/>
              </a:rPr>
              <a:t> =&gt; </a:t>
            </a:r>
            <a:r>
              <a:rPr sz="900">
                <a:solidFill>
                  <a:srgbClr val="4070A0"/>
                </a:solidFill>
                <a:latin typeface="Consolas"/>
              </a:rPr>
              <a:t>'Generated\Shared\Transfer\SupplierTransfer'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FIELD_IS_ACTIVE</a:t>
            </a:r>
            <a:r>
              <a:rPr sz="900">
                <a:solidFill>
                  <a:srgbClr val="2D2D2D"/>
                </a:solidFill>
                <a:latin typeface="Consolas"/>
              </a:rPr>
              <a:t> =&gt; </a:t>
            </a:r>
            <a:r>
              <a:rPr sz="900" b="1">
                <a:solidFill>
                  <a:srgbClr val="007020"/>
                </a:solidFill>
                <a:latin typeface="Consolas"/>
              </a:rPr>
              <a:t>true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$resolver</a:t>
            </a:r>
            <a:r>
              <a:rPr sz="900">
                <a:solidFill>
                  <a:srgbClr val="2D2D2D"/>
                </a:solidFill>
                <a:latin typeface="Consolas"/>
              </a:rPr>
              <a:t>-&gt;setAllowedTypes(</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FIELD_IS_ACTIVE</a:t>
            </a:r>
            <a:r>
              <a:rPr sz="900">
                <a:solidFill>
                  <a:srgbClr val="007020"/>
                </a:solidFill>
                <a:latin typeface="Consolas"/>
              </a:rPr>
              <a:t>,</a:t>
            </a:r>
            <a:r>
              <a:rPr sz="900">
                <a:solidFill>
                  <a:srgbClr val="2D2D2D"/>
                </a:solidFill>
                <a:latin typeface="Consolas"/>
              </a:rPr>
              <a:t> </a:t>
            </a:r>
            <a:r>
              <a:rPr sz="900">
                <a:solidFill>
                  <a:srgbClr val="4070A0"/>
                </a:solidFill>
                <a:latin typeface="Consolas"/>
              </a:rPr>
              <a:t>'bool'</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400" i="1">
                <a:solidFill>
                  <a:srgbClr val="888888"/>
                </a:solidFill>
              </a:defRPr>
            </a:pPr>
            <a:r>
              <a:t>❝ Form options: The data_class tells Symfony which object to hydrate with form data. Custom options like isActive let the controller pass dynamic defaults (e.g. the current status when editing).</a:t>
            </a:r>
          </a:p>
          <a:p>
            <a:pPr>
              <a:spcBef>
                <a:spcPts val="800"/>
              </a:spcBef>
              <a:spcAft>
                <a:spcPts val="400"/>
              </a:spcAft>
              <a:defRPr sz="1700" b="1">
                <a:solidFill>
                  <a:srgbClr val="1A1A1A"/>
                </a:solidFill>
              </a:defRPr>
            </a:pPr>
            <a:r>
              <a:t>3.2 Provide the Supplier Facade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src/SprykerAcademy/Zed/SupplierGui/SupplierGuiDependencyProvider.php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Implement addSupplierFacade() — use $container-&gt;set() with the FACADE_SUPPLIER constant and the locator to retrieve the Supplier facade</a:t>
            </a:r>
          </a:p>
          <a:p>
            <a:pPr>
              <a:spcAft>
                <a:spcPts val="400"/>
              </a:spcAft>
              <a:defRPr sz="1500">
                <a:solidFill>
                  <a:srgbClr val="1A1A1A"/>
                </a:solidFill>
              </a:defRPr>
            </a:pPr>
            <a:r>
              <a:t>• Call it in provideCommunicationLayerDependencies()</a:t>
            </a:r>
          </a:p>
          <a:p>
            <a:pPr>
              <a:spcAft>
                <a:spcPts val="800"/>
              </a:spcAft>
              <a:defRPr sz="1600">
                <a:solidFill>
                  <a:srgbClr val="1A1A1A"/>
                </a:solidFill>
              </a:defRPr>
            </a:pPr>
            <a:r>
              <a:t>Then open src/SprykerAcademy/Zed/SupplierGui/Communication/SupplierGuiCommunicationFactory.php :</a:t>
            </a:r>
          </a:p>
          <a:p>
            <a:pPr>
              <a:spcAft>
                <a:spcPts val="400"/>
              </a:spcAft>
              <a:defRPr sz="1500">
                <a:solidFill>
                  <a:srgbClr val="1A1A1A"/>
                </a:solidFill>
              </a:defRPr>
            </a:pPr>
            <a:r>
              <a:t>• Implement getSupplierFacade() — retrieve using getProvidedDependency()</a:t>
            </a:r>
          </a:p>
          <a:p>
            <a:pPr>
              <a:spcAft>
                <a:spcPts val="800"/>
              </a:spcAft>
              <a:defRPr sz="1400" i="1">
                <a:solidFill>
                  <a:srgbClr val="888888"/>
                </a:solidFill>
              </a:defRPr>
            </a:pPr>
            <a:r>
              <a:t>❝ Locator pattern: $container-&gt;getLocator()-&gt;supplier()-&gt;facade() auto-resolves the Supplier module’s Facade.</a:t>
            </a:r>
          </a:p>
          <a:p>
            <a:pPr>
              <a:spcBef>
                <a:spcPts val="800"/>
              </a:spcBef>
              <a:spcAft>
                <a:spcPts val="400"/>
              </a:spcAft>
              <a:defRPr sz="1700" b="1">
                <a:solidFill>
                  <a:srgbClr val="1A1A1A"/>
                </a:solidFill>
              </a:defRPr>
            </a:pPr>
            <a:r>
              <a:t>3.3 Implement the CreateController</a:t>
            </a:r>
          </a:p>
          <a:p>
            <a:pPr>
              <a:spcAft>
                <a:spcPts val="800"/>
              </a:spcAft>
              <a:defRPr sz="1600">
                <a:solidFill>
                  <a:srgbClr val="1A1A1A"/>
                </a:solidFill>
              </a:defRPr>
            </a:pPr>
            <a:r>
              <a:t>Coding time: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src/SprykerAcademy/Zed/SupplierGui/Communication/Controller/CreateController.php . The indexAction() handles both GET (show form) and POST (process submission):</a:t>
            </a:r>
          </a:p>
          <a:p>
            <a:pPr>
              <a:spcAft>
                <a:spcPts val="400"/>
              </a:spcAft>
              <a:defRPr sz="1500">
                <a:solidFill>
                  <a:srgbClr val="1A1A1A"/>
                </a:solidFill>
              </a:defRPr>
            </a:pPr>
            <a:r>
              <a:t>• Create the form via the factory, passing a new SupplierTransfer and default options</a:t>
            </a:r>
          </a:p>
          <a:p>
            <a:pPr>
              <a:spcAft>
                <a:spcPts val="400"/>
              </a:spcAft>
              <a:defRPr sz="1500">
                <a:solidFill>
                  <a:srgbClr val="1A1A1A"/>
                </a:solidFill>
              </a:defRPr>
            </a:pPr>
            <a:r>
              <a:t>• Handle the request with $form-&gt;handleRequest($request)</a:t>
            </a:r>
          </a:p>
          <a:p>
            <a:pPr>
              <a:spcAft>
                <a:spcPts val="400"/>
              </a:spcAft>
              <a:defRPr sz="1500">
                <a:solidFill>
                  <a:srgbClr val="1A1A1A"/>
                </a:solidFill>
              </a:defRPr>
            </a:pPr>
            <a:r>
              <a:t>• If submitted and valid, get the transfer from $form-&gt;getData() , set the status from the checkbox value, persist via the Facade, and redirect to the overview</a:t>
            </a:r>
          </a:p>
          <a:p>
            <a:pPr>
              <a:spcAft>
                <a:spcPts val="400"/>
              </a:spcAft>
              <a:defRPr sz="1500">
                <a:solidFill>
                  <a:srgbClr val="1A1A1A"/>
                </a:solidFill>
              </a:defRPr>
            </a:pPr>
            <a:r>
              <a:t>• If not submitted or invalid, return a viewResponse() with the form view</a:t>
            </a:r>
          </a:p>
          <a:p>
            <a:pPr>
              <a:spcAft>
                <a:spcPts val="800"/>
              </a:spcAft>
              <a:defRPr sz="1400" i="1">
                <a:solidFill>
                  <a:srgbClr val="888888"/>
                </a:solidFill>
              </a:defRPr>
            </a:pPr>
            <a:r>
              <a:t>❝ Duplicate name handling: Before creating, consider checking if a supplier with the same name already exists. You can add a form error with $form-&gt;get('name')-&gt;addError(new FormError('message'))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Status conversion: The checkbox gives a boolean, but the database expects an integer. Convert in the controller: $supplierTransfer-&gt;setStatus($isActive ? 1 : 0) .</a:t>
            </a:r>
          </a:p>
          <a:p>
            <a:pPr>
              <a:spcAft>
                <a:spcPts val="800"/>
              </a:spcAft>
              <a:defRPr sz="1400" i="1">
                <a:solidFill>
                  <a:srgbClr val="888888"/>
                </a:solidFill>
              </a:defRPr>
            </a:pPr>
            <a:r>
              <a:t>❝ Exception handling: Wrap the Facade createSupplier() call in a try/catch (Throwable) block. Database operations can fail (e.g. duplicate entries, constraint violations). On failure, use $this-&gt;addErrorMessage() to show the error on the overview page, then redirect. The error message constants are already provided in the skeleton ( MESSAGE_SUPPLIER_CREATE_FAILED ). Spryker’s AbstractController flash messages ( addErrorMessage() , addSuccessMessage() ) persist through redirects, so errors will appear on the index page after redirect.</a:t>
            </a:r>
          </a:p>
          <a:p>
            <a:pPr>
              <a:spcBef>
                <a:spcPts val="800"/>
              </a:spcBef>
              <a:spcAft>
                <a:spcPts val="400"/>
              </a:spcAft>
              <a:defRPr sz="1700" b="1">
                <a:solidFill>
                  <a:srgbClr val="1A1A1A"/>
                </a:solidFill>
              </a:defRPr>
            </a:pPr>
            <a:r>
              <a:t>3.4 Implement the EditController</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src/SprykerAcademy/Zed/SupplierGui/Communication/Controller/EditController.php :</a:t>
            </a:r>
          </a:p>
          <a:p>
            <a:pPr>
              <a:spcAft>
                <a:spcPts val="400"/>
              </a:spcAft>
              <a:defRPr sz="1500">
                <a:solidFill>
                  <a:srgbClr val="1A1A1A"/>
                </a:solidFill>
              </a:defRPr>
            </a:pPr>
            <a:r>
              <a:t>• Extract the supplier ID from the request using $this-&gt;castId()</a:t>
            </a:r>
          </a:p>
          <a:p>
            <a:pPr>
              <a:spcAft>
                <a:spcPts val="400"/>
              </a:spcAft>
              <a:defRPr sz="1500">
                <a:solidFill>
                  <a:srgbClr val="1A1A1A"/>
                </a:solidFill>
              </a:defRPr>
            </a:pPr>
            <a:r>
              <a:t>• Fetch the existing supplier via the Facade’s findSupplierById()</a:t>
            </a:r>
          </a:p>
          <a:p>
            <a:pPr>
              <a:spcAft>
                <a:spcPts val="400"/>
              </a:spcAft>
              <a:defRPr sz="1500">
                <a:solidFill>
                  <a:srgbClr val="1A1A1A"/>
                </a:solidFill>
              </a:defRPr>
            </a:pPr>
            <a:r>
              <a:t>• Handle the “not found” case with an error message and redirect</a:t>
            </a:r>
          </a:p>
          <a:p>
            <a:pPr>
              <a:spcAft>
                <a:spcPts val="400"/>
              </a:spcAft>
              <a:defRPr sz="1500">
                <a:solidFill>
                  <a:srgbClr val="1A1A1A"/>
                </a:solidFill>
              </a:defRPr>
            </a:pPr>
            <a:r>
              <a:t>• Create the form pre-filled with the fetched SupplierTransfer , passing the current status as the isActive option</a:t>
            </a:r>
          </a:p>
          <a:p>
            <a:pPr>
              <a:spcAft>
                <a:spcPts val="400"/>
              </a:spcAft>
              <a:defRPr sz="1500">
                <a:solidFill>
                  <a:srgbClr val="1A1A1A"/>
                </a:solidFill>
              </a:defRPr>
            </a:pPr>
            <a:r>
              <a:t>• On valid submission, update via the Facade and redirect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Exception handling: Same pattern as Create — wrap updateSupplier() in try/catch (Throwable) . On failure, use $this-&gt;addErrorMessage(static::MESSAGE_SUPPLIER_UPDATE_FAILED) and redirect to the overview. The error will be displayed as a flash message on the index page.</a:t>
            </a:r>
          </a:p>
          <a:p>
            <a:pPr>
              <a:spcBef>
                <a:spcPts val="800"/>
              </a:spcBef>
              <a:spcAft>
                <a:spcPts val="400"/>
              </a:spcAft>
              <a:defRPr sz="1700" b="1">
                <a:solidFill>
                  <a:srgbClr val="1A1A1A"/>
                </a:solidFill>
              </a:defRPr>
            </a:pPr>
            <a:r>
              <a:t>3.5 Implement the DeleteController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src/SprykerAcademy/Zed/SupplierGui/Communication/Controller/DeleteController.php :</a:t>
            </a:r>
          </a:p>
          <a:p>
            <a:pPr>
              <a:spcAft>
                <a:spcPts val="400"/>
              </a:spcAft>
              <a:defRPr sz="1500">
                <a:solidFill>
                  <a:srgbClr val="1A1A1A"/>
                </a:solidFill>
              </a:defRPr>
            </a:pPr>
            <a:r>
              <a:t>• Extract and validate the supplier ID using $this-&gt;castId()</a:t>
            </a:r>
          </a:p>
          <a:p>
            <a:pPr>
              <a:spcAft>
                <a:spcPts val="400"/>
              </a:spcAft>
              <a:defRPr sz="1500">
                <a:solidFill>
                  <a:srgbClr val="1A1A1A"/>
                </a:solidFill>
              </a:defRPr>
            </a:pPr>
            <a:r>
              <a:t>• Call the Facade’s deleteSupplier() passing a SupplierTransfer with the ID set</a:t>
            </a:r>
          </a:p>
          <a:p>
            <a:pPr>
              <a:spcAft>
                <a:spcPts val="400"/>
              </a:spcAft>
              <a:defRPr sz="1500">
                <a:solidFill>
                  <a:srgbClr val="1A1A1A"/>
                </a:solidFill>
              </a:defRPr>
            </a:pPr>
            <a:r>
              <a:t>• Add a success message and redirect to the overview</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Exception handling: Wrap deleteSupplier() in try/catch (Throwable) — deletion can fail due to foreign key constraints (e.g. if the supplier is referenced by other tables). On failure, use $this-&gt;addErrorMessage(static::MESSAGE_SUPPLIER_DELETE_FAILED) and redirect to the overview.</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Navigation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navigation XML ( config/Zed/navigation.xml ) is provided by the exercise skeleton. It registers the “Suppliers” menu item in the Back Office sidebar with sub-pages for Overview, Create, Edit, and Delete.</a:t>
            </a:r>
          </a:p>
          <a:p>
            <a:pPr>
              <a:spcAft>
                <a:spcPts val="800"/>
              </a:spcAft>
              <a:defRPr sz="1600">
                <a:solidFill>
                  <a:srgbClr val="1A1A1A"/>
                </a:solidFill>
              </a:defRPr>
            </a:pPr>
            <a:r>
              <a:t>After loading the exercise, clear cache to see the navigation:</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Back Office Table Pattern</a:t>
            </a:r>
          </a:p>
          <a:p>
            <a:pPr>
              <a:spcBef>
                <a:spcPts val="0"/>
              </a:spcBef>
              <a:spcAft>
                <a:spcPts val="0"/>
              </a:spcAft>
            </a:pPr>
            <a:r>
              <a:rPr sz="900">
                <a:solidFill>
                  <a:srgbClr val="2D2D2D"/>
                </a:solidFill>
                <a:latin typeface="Consolas"/>
              </a:rPr>
              <a:t>IndexController::indexAction()  →  render() → HTML page with table container</a:t>
            </a:r>
          </a:p>
          <a:p>
            <a:pPr>
              <a:spcBef>
                <a:spcPts val="0"/>
              </a:spcBef>
              <a:spcAft>
                <a:spcPts val="0"/>
              </a:spcAft>
            </a:pPr>
            <a:r>
              <a:rPr sz="900">
                <a:solidFill>
                  <a:srgbClr val="2D2D2D"/>
                </a:solidFill>
                <a:latin typeface="Consolas"/>
              </a:rPr>
              <a:t>IndexController::tableAction()  →  fetchData() → JSON data via AJAX</a:t>
            </a:r>
          </a:p>
          <a:p>
            <a:pPr>
              <a:spcAft>
                <a:spcPts val="800"/>
              </a:spcAft>
              <a:defRPr sz="1600">
                <a:solidFill>
                  <a:srgbClr val="1A1A1A"/>
                </a:solidFill>
              </a:defRPr>
            </a:pPr>
            <a:r>
              <a:t>The AbstractTable handles pagination, sorting, and search automatically through the Propel query.</a:t>
            </a:r>
          </a:p>
          <a:p>
            <a:pPr>
              <a:spcBef>
                <a:spcPts val="1200"/>
              </a:spcBef>
              <a:spcAft>
                <a:spcPts val="600"/>
              </a:spcAft>
              <a:defRPr sz="2000" b="1">
                <a:solidFill>
                  <a:srgbClr val="1A1A1A"/>
                </a:solidFill>
              </a:defRPr>
            </a:pPr>
            <a:r>
              <a:t>Form Lifecycle</a:t>
            </a:r>
          </a:p>
          <a:p>
            <a:pPr>
              <a:spcBef>
                <a:spcPts val="0"/>
              </a:spcBef>
              <a:spcAft>
                <a:spcPts val="0"/>
              </a:spcAft>
            </a:pPr>
            <a:r>
              <a:rPr sz="900">
                <a:solidFill>
                  <a:srgbClr val="2D2D2D"/>
                </a:solidFill>
                <a:latin typeface="Consolas"/>
              </a:rPr>
              <a:t>GET  → Create form → Pass to viewResponse() → Twig renders form</a:t>
            </a:r>
          </a:p>
          <a:p>
            <a:pPr>
              <a:spcBef>
                <a:spcPts val="0"/>
              </a:spcBef>
              <a:spcAft>
                <a:spcPts val="0"/>
              </a:spcAft>
            </a:pPr>
            <a:r>
              <a:rPr sz="900">
                <a:solidFill>
                  <a:srgbClr val="2D2D2D"/>
                </a:solidFill>
                <a:latin typeface="Consolas"/>
              </a:rPr>
              <a:t>POST → Create form → handleRequest() → isSubmitted() + isValid() → getData() → Facade → redirect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DependencyProvider → Factory → Controller Chain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DependencyProvider: $container-&gt;set(FACADE_SUPPLIER, locator)</a:t>
            </a:r>
          </a:p>
          <a:p>
            <a:pPr>
              <a:spcBef>
                <a:spcPts val="0"/>
              </a:spcBef>
              <a:spcAft>
                <a:spcPts val="0"/>
              </a:spcAft>
            </a:pPr>
            <a:r>
              <a:rPr sz="900">
                <a:solidFill>
                  <a:srgbClr val="2D2D2D"/>
                </a:solidFill>
                <a:latin typeface="Consolas"/>
              </a:rPr>
              <a:t>                    $container-&gt;factory(fn() =&gt; PyzSupplierQuery::create())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Factory: getSupplierFacade() → getProvidedDependency(FACADE_SUPPLIER)</a:t>
            </a:r>
          </a:p>
          <a:p>
            <a:pPr>
              <a:spcBef>
                <a:spcPts val="0"/>
              </a:spcBef>
              <a:spcAft>
                <a:spcPts val="0"/>
              </a:spcAft>
            </a:pPr>
            <a:r>
              <a:rPr sz="900">
                <a:solidFill>
                  <a:srgbClr val="2D2D2D"/>
                </a:solidFill>
                <a:latin typeface="Consolas"/>
              </a:rPr>
              <a:t>         createSupplierTable() → new SupplierTable(getSupplierQuery())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Controller: getFactory()-&gt;createSupplierTable()</a:t>
            </a:r>
          </a:p>
          <a:p>
            <a:pPr>
              <a:spcBef>
                <a:spcPts val="0"/>
              </a:spcBef>
              <a:spcAft>
                <a:spcPts val="0"/>
              </a:spcAft>
            </a:pPr>
            <a:r>
              <a:rPr sz="900">
                <a:solidFill>
                  <a:srgbClr val="2D2D2D"/>
                </a:solidFill>
                <a:latin typeface="Consolas"/>
              </a:rPr>
              <a:t>            getFactory()-&gt;getSupplierFacade()-&gt;createSupplier(...)</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Visit the Back Office: 1. http://backoffice.eu.spryker.local/supplier-gui — Table with suppliers 2. Click “Create Supplier” — Fill the form and submit 3. Click “Edit” on a row — Modify and save 4. Click “Delete” on a row — Confirm removal</a:t>
            </a:r>
          </a:p>
          <a:p>
            <a:pPr>
              <a:spcAft>
                <a:spcPts val="800"/>
              </a:spcAft>
              <a:defRPr sz="1600">
                <a:solidFill>
                  <a:srgbClr val="1A1A1A"/>
                </a:solidFill>
              </a:defRPr>
            </a:pPr>
            <a:r>
              <a:t>Run the automated tests:</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BackOffice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intermediate/back-office/complete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9b: Configure AI Commerce in the Back Office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9b: Configure AI Commerce in the Back Office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Exercise 9 you built Back Office pages by hand. Spryker also generates Back Office pages from YAML: the Configuration module turns setting schemas into the Configuration menu, stores the values in the database and hands them to the code at runtime. The AI Commerce feature of the demo shop is configured entirely this way. In this exercise you connect the shop to OpenAI, try the Smart PIM features on a product, and add a setting of your own.</a:t>
            </a:r>
          </a:p>
          <a:p>
            <a:pPr>
              <a:spcAft>
                <a:spcPts val="800"/>
              </a:spcAft>
              <a:defRPr sz="1600">
                <a:solidFill>
                  <a:srgbClr val="1A1A1A"/>
                </a:solidFill>
              </a:defRPr>
            </a:pPr>
            <a:r>
              <a:t>You will learn how to:</a:t>
            </a:r>
          </a:p>
          <a:p>
            <a:pPr>
              <a:spcAft>
                <a:spcPts val="400"/>
              </a:spcAft>
              <a:defRPr sz="1500">
                <a:solidFill>
                  <a:srgbClr val="1A1A1A"/>
                </a:solidFill>
              </a:defRPr>
            </a:pPr>
            <a:r>
              <a:t>• Read a configuration schema ( *.configuration.yml ): features, tabs, groups, settings, scopes, secrets</a:t>
            </a:r>
          </a:p>
          <a:p>
            <a:pPr>
              <a:spcAft>
                <a:spcPts val="400"/>
              </a:spcAft>
              <a:defRPr sz="1500">
                <a:solidFill>
                  <a:srgbClr val="1A1A1A"/>
                </a:solidFill>
              </a:defRPr>
            </a:pPr>
            <a:r>
              <a:t>• Publish schemas with configuration:sync and edit values in Back Office &gt; Configuration</a:t>
            </a:r>
          </a:p>
          <a:p>
            <a:pPr>
              <a:spcAft>
                <a:spcPts val="400"/>
              </a:spcAft>
              <a:defRPr sz="1500">
                <a:solidFill>
                  <a:srgbClr val="1A1A1A"/>
                </a:solidFill>
              </a:defRPr>
            </a:pPr>
            <a:r>
              <a:t>• Understand the AI configurations in config/Shared/config_ai.php and the configuration:: references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9b: Configure AI Commerce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Use the Smart PIM features of AI Commerce from the product form</a:t>
            </a:r>
          </a:p>
          <a:p>
            <a:pPr>
              <a:spcAft>
                <a:spcPts val="400"/>
              </a:spcAft>
              <a:defRPr sz="1500">
                <a:solidFill>
                  <a:srgbClr val="1A1A1A"/>
                </a:solidFill>
              </a:defRPr>
            </a:pPr>
            <a:r>
              <a:t>• Read a configuration value from code</a:t>
            </a:r>
          </a:p>
          <a:p>
            <a:pPr>
              <a:spcAft>
                <a:spcPts val="800"/>
              </a:spcAft>
              <a:defRPr sz="1600">
                <a:solidFill>
                  <a:srgbClr val="1A1A1A"/>
                </a:solidFill>
              </a:defRPr>
            </a:pPr>
            <a:r>
              <a:t>Official documentation:</a:t>
            </a:r>
          </a:p>
          <a:p>
            <a:pPr>
              <a:spcAft>
                <a:spcPts val="400"/>
              </a:spcAft>
              <a:defRPr sz="1500">
                <a:solidFill>
                  <a:srgbClr val="1A1A1A"/>
                </a:solidFill>
              </a:defRPr>
            </a:pPr>
            <a:r>
              <a:t>• AI Foundation module</a:t>
            </a:r>
          </a:p>
          <a:p>
            <a:pPr>
              <a:spcAft>
                <a:spcPts val="400"/>
              </a:spcAft>
              <a:defRPr sz="1500">
                <a:solidFill>
                  <a:srgbClr val="1A1A1A"/>
                </a:solidFill>
              </a:defRPr>
            </a:pPr>
            <a:r>
              <a:t>• Configuration module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Exercise 9 completed.</a:t>
            </a:r>
          </a:p>
          <a:p>
            <a:pPr>
              <a:spcAft>
                <a:spcPts val="400"/>
              </a:spcAft>
              <a:defRPr sz="1500">
                <a:solidFill>
                  <a:srgbClr val="1A1A1A"/>
                </a:solidFill>
              </a:defRPr>
            </a:pPr>
            <a:r>
              <a:t>• An OpenAI API token. The instructor provides one per participant. Every call to OpenAI costs money, so use the small model named below.</a:t>
            </a:r>
          </a:p>
          <a:p>
            <a:pPr>
              <a:spcAft>
                <a:spcPts val="800"/>
              </a:spcAft>
              <a:defRPr sz="1600">
                <a:solidFill>
                  <a:srgbClr val="1A1A1A"/>
                </a:solidFill>
              </a:defRPr>
            </a:pPr>
            <a:r>
              <a:t>No exercise branch is needed. Everything happens in the demo shop.</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Three Files, One Menu</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File                                              Owner    What it is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data/configuration/ai_vendor.configuration.yml    project  Schema of Configuration &gt; AI Vendor : the API tokens of OpenAI, Anthropic and AWS Bedrock. Tokens are secret: true , so they are encrypted in the database and never shown again</a:t>
            </a:r>
          </a:p>
          <a:p>
            <a:pPr>
              <a:spcAft>
                <a:spcPts val="100"/>
              </a:spcAft>
              <a:defRPr sz="1000">
                <a:solidFill>
                  <a:srgbClr val="1A1A1A"/>
                </a:solidFill>
                <a:latin typeface="Consolas"/>
              </a:defRPr>
            </a:pPr>
            <a:r>
              <a:t>data/configuration/ai_commerce.configuration.yml  project  Schema of Configuration &gt; AI Commerce : which AI configuration and which model the Smart PIM features and the Back Office Assistant use                                         </a:t>
            </a:r>
          </a:p>
          <a:p>
            <a:pPr>
              <a:spcAft>
                <a:spcPts val="100"/>
              </a:spcAft>
              <a:defRPr sz="1000">
                <a:solidFill>
                  <a:srgbClr val="1A1A1A"/>
                </a:solidFill>
                <a:latin typeface="Consolas"/>
              </a:defRPr>
            </a:pPr>
            <a:r>
              <a:t>config/Shared/config_ai.php                       project  The AI configurations of AiFoundation: named entries with provider_name , provider_config ( key , model ) and optionally system_prompt</a:t>
            </a:r>
          </a:p>
          <a:p>
            <a:pPr>
              <a:spcAft>
                <a:spcPts val="800"/>
              </a:spcAft>
              <a:defRPr sz="1600">
                <a:solidFill>
                  <a:srgbClr val="1A1A1A"/>
                </a:solidFill>
              </a:defRPr>
            </a:pPr>
            <a:r>
              <a:t>A schema is a tree feature &gt; tab &gt; group &gt; setting . A setting has a type ( string , boolean , radio , color , regex , ...), a default_value , scopes ( global or per store) and secret . The key of a setting is the path through the tree with colons, for example ai_vendor:openai:general:api_token .</a:t>
            </a:r>
          </a:p>
          <a:p>
            <a:pPr>
              <a:spcAft>
                <a:spcPts val="800"/>
              </a:spcAft>
              <a:defRPr sz="1600">
                <a:solidFill>
                  <a:srgbClr val="1A1A1A"/>
                </a:solidFill>
              </a:defRPr>
            </a:pPr>
            <a:r>
              <a:t>docker/sdk console configuration:sync reads every *.configuration.yml of the project and of the vendor modules, merges them and writes the schema to the database. The Back Office renders the menu from that schema. Values are edited in the Back Office, without a deployment.</a:t>
            </a:r>
          </a:p>
          <a:p>
            <a:pPr>
              <a:spcAft>
                <a:spcPts val="800"/>
              </a:spcAft>
              <a:defRPr sz="1600">
                <a:solidFill>
                  <a:srgbClr val="1A1A1A"/>
                </a:solidFill>
              </a:defRPr>
            </a:pPr>
            <a:r>
              <a:t>The AI configurations connect the two worlds. Look at config/Shared/config_ai.php :</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Three Files, One Menu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AI_CONFIGURATION_SMART_PIM_OPENAI</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4070A0"/>
                </a:solidFill>
                <a:latin typeface="Consolas"/>
              </a:rPr>
              <a:t>'provider_name'</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PROVIDER_OPENAI</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'provider_config'</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4070A0"/>
                </a:solidFill>
                <a:latin typeface="Consolas"/>
              </a:rPr>
              <a:t>'key'</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CONFIGURATION_KEY_OPENAI_API_TOKEN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'model'</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CONFIGURATION_KEY_SMART_PIM_OPENAI_MODEL</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800"/>
              </a:spcAft>
              <a:defRPr sz="1600">
                <a:solidFill>
                  <a:srgbClr val="1A1A1A"/>
                </a:solidFill>
              </a:defRPr>
            </a:pPr>
            <a:r>
              <a:t>CONFIGURATION_REFERENCE_PREFIX is the string configuration:: . A value with that prefix is not a value but a reference to a setting key : AiFoundation reads ai_vendor:openai:general:api_token from the Configuration module at the moment of the call. A plain string ( 'model' =&gt; 'gpt-4.1-mini' ) is fixed in code. Use references for secrets and for everything an admin should be able to change.</a:t>
            </a:r>
          </a:p>
          <a:p>
            <a:pPr>
              <a:spcAft>
                <a:spcPts val="800"/>
              </a:spcAft>
              <a:defRPr sz="1400" i="1">
                <a:solidFill>
                  <a:srgbClr val="888888"/>
                </a:solidFill>
              </a:defRPr>
            </a:pPr>
            <a:r>
              <a:t>❝ Where is the cache? cache:empty-all deletes data/cache/configuration , the synced schema. After every cache clear run configuration:sync again, otherwise AI calls fail with an unknown setting.</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1: Connect the Shop to OpenAI (5 minutes)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Log in to the Back Office ( admin@spryker.com / change123 ).</a:t>
            </a:r>
          </a:p>
          <a:p>
            <a:pPr>
              <a:spcAft>
                <a:spcPts val="400"/>
              </a:spcAft>
              <a:defRPr sz="1500">
                <a:solidFill>
                  <a:srgbClr val="1A1A1A"/>
                </a:solidFill>
              </a:defRPr>
            </a:pPr>
            <a:r>
              <a:t>• Open Configuration &gt; AI Vendor &gt; OpenAI and enter your API token. Save. The token is stored encrypted, because the setting is secret: true .</a:t>
            </a:r>
          </a:p>
          <a:p>
            <a:pPr>
              <a:spcAft>
                <a:spcPts val="400"/>
              </a:spcAft>
              <a:defRPr sz="1500">
                <a:solidFill>
                  <a:srgbClr val="1A1A1A"/>
                </a:solidFill>
              </a:defRPr>
            </a:pPr>
            <a:r>
              <a:t>• Open Configuration &gt; AI Commerce &gt; Smart PIM . Keep AI Configuration on OpenAI and set OpenAI Model to gpt-4.1-mini . Save.</a:t>
            </a:r>
          </a:p>
          <a:p>
            <a:pPr>
              <a:spcAft>
                <a:spcPts val="800"/>
              </a:spcAft>
              <a:defRPr sz="1600">
                <a:solidFill>
                  <a:srgbClr val="1A1A1A"/>
                </a:solidFill>
              </a:defRPr>
            </a:pPr>
            <a:r>
              <a:t>Where did those pages come from? Open data/configuration/ai_vendor.configuration.yml and find the api_token setting. Note secret: true and scopes: [global] . Other possible scopes are store , locale , customer_group and customer . Then open ai_commerce.configuration.yml and find the smart_pim tab with the ai_configuration radio and the openai_model string.</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Try Smart PIM (10 minutes)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Smart PIM is the group of AI helpers in the product form. Open Catalog &gt; Products , edit any abstract product, and try:</a:t>
            </a:r>
          </a:p>
          <a:p>
            <a:pPr>
              <a:spcAft>
                <a:spcPts val="400"/>
              </a:spcAft>
              <a:defRPr sz="1500">
                <a:solidFill>
                  <a:srgbClr val="1A1A1A"/>
                </a:solidFill>
              </a:defRPr>
            </a:pPr>
            <a:r>
              <a:t>• Category suggestion : the AI proposes categories from the product name and description.</a:t>
            </a:r>
          </a:p>
          <a:p>
            <a:pPr>
              <a:spcAft>
                <a:spcPts val="400"/>
              </a:spcAft>
              <a:defRPr sz="1500">
                <a:solidFill>
                  <a:srgbClr val="1A1A1A"/>
                </a:solidFill>
              </a:defRPr>
            </a:pPr>
            <a:r>
              <a:t>• Translate : fills the other locale from the one you wrote.</a:t>
            </a:r>
          </a:p>
          <a:p>
            <a:pPr>
              <a:spcAft>
                <a:spcPts val="400"/>
              </a:spcAft>
              <a:defRPr sz="1500">
                <a:solidFill>
                  <a:srgbClr val="1A1A1A"/>
                </a:solidFill>
              </a:defRPr>
            </a:pPr>
            <a:r>
              <a:t>• Content improver : rewrites a description.</a:t>
            </a:r>
          </a:p>
          <a:p>
            <a:pPr>
              <a:spcAft>
                <a:spcPts val="400"/>
              </a:spcAft>
              <a:defRPr sz="1500">
                <a:solidFill>
                  <a:srgbClr val="1A1A1A"/>
                </a:solidFill>
              </a:defRPr>
            </a:pPr>
            <a:r>
              <a:t>• Image alt text : generates alt texts for the product images.</a:t>
            </a:r>
          </a:p>
          <a:p>
            <a:pPr>
              <a:spcAft>
                <a:spcPts val="800"/>
              </a:spcAft>
              <a:defRPr sz="1600">
                <a:solidFill>
                  <a:srgbClr val="1A1A1A"/>
                </a:solidFill>
              </a:defRPr>
            </a:pPr>
            <a:r>
              <a:t>Each button sends a prompt through AiFoundation with the SMART_PIM_OPENAI configuration, so it uses the token and the model you just saved. Change the model to a name that does not exist, save, and try again: the error shows you that the configuration is read at call time, not at deployment.</a:t>
            </a:r>
          </a:p>
          <a:p>
            <a:pPr>
              <a:spcAft>
                <a:spcPts val="800"/>
              </a:spcAft>
              <a:defRPr sz="1600">
                <a:solidFill>
                  <a:srgbClr val="1A1A1A"/>
                </a:solidFill>
              </a:defRPr>
            </a:pPr>
            <a:r>
              <a:t>Set the model back to gpt-4.1-mini .</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Add a tone of voice setting that a content manager can change. Open data/configuration/ai_commerce.configuration.yml and add a group to the smart_pim tab, after the ai_vendor group:</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content_style</a:t>
            </a:r>
          </a:p>
          <a:p>
            <a:pPr>
              <a:spcBef>
                <a:spcPts val="0"/>
              </a:spcBef>
              <a:spcAft>
                <a:spcPts val="0"/>
              </a:spcAft>
            </a:pPr>
            <a:r>
              <a:rPr sz="900">
                <a:solidFill>
                  <a:srgbClr val="2D2D2D"/>
                </a:solidFill>
                <a:latin typeface="Consolas"/>
              </a:rPr>
              <a:t>                  </a:t>
            </a:r>
            <a:r>
              <a:rPr sz="900">
                <a:solidFill>
                  <a:srgbClr val="06287E"/>
                </a:solidFill>
                <a:latin typeface="Consolas"/>
              </a:rPr>
              <a:t>name</a:t>
            </a:r>
            <a:r>
              <a:rPr sz="900" b="1">
                <a:solidFill>
                  <a:srgbClr val="007020"/>
                </a:solidFill>
                <a:latin typeface="Consolas"/>
              </a:rPr>
              <a:t>:</a:t>
            </a:r>
            <a:r>
              <a:rPr sz="900">
                <a:solidFill>
                  <a:srgbClr val="2D2D2D"/>
                </a:solidFill>
                <a:latin typeface="Consolas"/>
              </a:rPr>
              <a:t> Content Style</a:t>
            </a:r>
          </a:p>
          <a:p>
            <a:pPr>
              <a:spcBef>
                <a:spcPts val="0"/>
              </a:spcBef>
              <a:spcAft>
                <a:spcPts val="0"/>
              </a:spcAft>
            </a:pPr>
            <a:r>
              <a:rPr sz="900">
                <a:solidFill>
                  <a:srgbClr val="2D2D2D"/>
                </a:solidFill>
                <a:latin typeface="Consolas"/>
              </a:rPr>
              <a:t>                  </a:t>
            </a:r>
            <a:r>
              <a:rPr sz="900">
                <a:solidFill>
                  <a:srgbClr val="06287E"/>
                </a:solidFill>
                <a:latin typeface="Consolas"/>
              </a:rPr>
              <a:t>description</a:t>
            </a:r>
            <a:r>
              <a:rPr sz="900" b="1">
                <a:solidFill>
                  <a:srgbClr val="007020"/>
                </a:solidFill>
                <a:latin typeface="Consolas"/>
              </a:rPr>
              <a:t>:</a:t>
            </a:r>
            <a:r>
              <a:rPr sz="900">
                <a:solidFill>
                  <a:srgbClr val="2D2D2D"/>
                </a:solidFill>
                <a:latin typeface="Consolas"/>
              </a:rPr>
              <a:t> How Smart PIM should write product content.</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order</a:t>
            </a:r>
            <a:r>
              <a:rPr sz="900" b="1">
                <a:solidFill>
                  <a:srgbClr val="007020"/>
                </a:solidFill>
                <a:latin typeface="Consolas"/>
              </a:rPr>
              <a:t>:</a:t>
            </a:r>
            <a:r>
              <a:rPr sz="900">
                <a:solidFill>
                  <a:srgbClr val="2D2D2D"/>
                </a:solidFill>
                <a:latin typeface="Consolas"/>
              </a:rPr>
              <a:t> </a:t>
            </a:r>
            <a:r>
              <a:rPr sz="900">
                <a:solidFill>
                  <a:srgbClr val="40A070"/>
                </a:solidFill>
                <a:latin typeface="Consolas"/>
              </a:rPr>
              <a:t>2</a:t>
            </a:r>
          </a:p>
          <a:p>
            <a:pPr>
              <a:spcBef>
                <a:spcPts val="0"/>
              </a:spcBef>
              <a:spcAft>
                <a:spcPts val="0"/>
              </a:spcAft>
            </a:pPr>
            <a:r>
              <a:rPr sz="900">
                <a:solidFill>
                  <a:srgbClr val="2D2D2D"/>
                </a:solidFill>
                <a:latin typeface="Consolas"/>
              </a:rPr>
              <a:t>                  </a:t>
            </a:r>
            <a:r>
              <a:rPr sz="900">
                <a:solidFill>
                  <a:srgbClr val="06287E"/>
                </a:solidFill>
                <a:latin typeface="Consolas"/>
              </a:rPr>
              <a:t>scopes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global</a:t>
            </a:r>
          </a:p>
          <a:p>
            <a:pPr>
              <a:spcBef>
                <a:spcPts val="0"/>
              </a:spcBef>
              <a:spcAft>
                <a:spcPts val="0"/>
              </a:spcAft>
            </a:pPr>
            <a:r>
              <a:rPr sz="900">
                <a:solidFill>
                  <a:srgbClr val="2D2D2D"/>
                </a:solidFill>
                <a:latin typeface="Consolas"/>
              </a:rPr>
              <a:t>                  </a:t>
            </a:r>
            <a:r>
              <a:rPr sz="900">
                <a:solidFill>
                  <a:srgbClr val="06287E"/>
                </a:solidFill>
                <a:latin typeface="Consolas"/>
              </a:rPr>
              <a:t>settings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tone</a:t>
            </a:r>
          </a:p>
          <a:p>
            <a:pPr>
              <a:spcBef>
                <a:spcPts val="0"/>
              </a:spcBef>
              <a:spcAft>
                <a:spcPts val="0"/>
              </a:spcAft>
            </a:pPr>
            <a:r>
              <a:rPr sz="900">
                <a:solidFill>
                  <a:srgbClr val="2D2D2D"/>
                </a:solidFill>
                <a:latin typeface="Consolas"/>
              </a:rPr>
              <a:t>                        </a:t>
            </a:r>
            <a:r>
              <a:rPr sz="900">
                <a:solidFill>
                  <a:srgbClr val="06287E"/>
                </a:solidFill>
                <a:latin typeface="Consolas"/>
              </a:rPr>
              <a:t>name</a:t>
            </a:r>
            <a:r>
              <a:rPr sz="900" b="1">
                <a:solidFill>
                  <a:srgbClr val="007020"/>
                </a:solidFill>
                <a:latin typeface="Consolas"/>
              </a:rPr>
              <a:t>:</a:t>
            </a:r>
            <a:r>
              <a:rPr sz="900">
                <a:solidFill>
                  <a:srgbClr val="2D2D2D"/>
                </a:solidFill>
                <a:latin typeface="Consolas"/>
              </a:rPr>
              <a:t> Tone of voice</a:t>
            </a:r>
          </a:p>
          <a:p>
            <a:pPr>
              <a:spcBef>
                <a:spcPts val="0"/>
              </a:spcBef>
              <a:spcAft>
                <a:spcPts val="0"/>
              </a:spcAft>
            </a:pPr>
            <a:r>
              <a:rPr sz="900">
                <a:solidFill>
                  <a:srgbClr val="2D2D2D"/>
                </a:solidFill>
                <a:latin typeface="Consolas"/>
              </a:rPr>
              <a:t>                        </a:t>
            </a:r>
            <a:r>
              <a:rPr sz="900">
                <a:solidFill>
                  <a:srgbClr val="06287E"/>
                </a:solidFill>
                <a:latin typeface="Consolas"/>
              </a:rPr>
              <a:t>description</a:t>
            </a:r>
            <a:r>
              <a:rPr sz="900" b="1">
                <a:solidFill>
                  <a:srgbClr val="007020"/>
                </a:solidFill>
                <a:latin typeface="Consolas"/>
              </a:rPr>
              <a:t>:</a:t>
            </a:r>
            <a:r>
              <a:rPr sz="900">
                <a:solidFill>
                  <a:srgbClr val="2D2D2D"/>
                </a:solidFill>
                <a:latin typeface="Consolas"/>
              </a:rPr>
              <a:t> Adjective the AI uses when it rewrites descriptions, for example "friendly" or "technical".</a:t>
            </a:r>
          </a:p>
          <a:p>
            <a:pPr>
              <a:spcBef>
                <a:spcPts val="0"/>
              </a:spcBef>
              <a:spcAft>
                <a:spcPts val="0"/>
              </a:spcAft>
            </a:pPr>
            <a:r>
              <a:rPr sz="900">
                <a:solidFill>
                  <a:srgbClr val="2D2D2D"/>
                </a:solidFill>
                <a:latin typeface="Consolas"/>
              </a:rPr>
              <a:t>                        </a:t>
            </a:r>
            <a:r>
              <a:rPr sz="900">
                <a:solidFill>
                  <a:srgbClr val="06287E"/>
                </a:solidFill>
                <a:latin typeface="Consolas"/>
              </a:rPr>
              <a:t>type</a:t>
            </a:r>
            <a:r>
              <a:rPr sz="900" b="1">
                <a:solidFill>
                  <a:srgbClr val="007020"/>
                </a:solidFill>
                <a:latin typeface="Consolas"/>
              </a:rPr>
              <a:t>:</a:t>
            </a:r>
            <a:r>
              <a:rPr sz="900">
                <a:solidFill>
                  <a:srgbClr val="2D2D2D"/>
                </a:solidFill>
                <a:latin typeface="Consolas"/>
              </a:rPr>
              <a:t> string</a:t>
            </a:r>
          </a:p>
          <a:p>
            <a:pPr>
              <a:spcBef>
                <a:spcPts val="0"/>
              </a:spcBef>
              <a:spcAft>
                <a:spcPts val="0"/>
              </a:spcAft>
            </a:pPr>
            <a:r>
              <a:rPr sz="900">
                <a:solidFill>
                  <a:srgbClr val="2D2D2D"/>
                </a:solidFill>
                <a:latin typeface="Consolas"/>
              </a:rPr>
              <a:t>                        </a:t>
            </a:r>
            <a:r>
              <a:rPr sz="900">
                <a:solidFill>
                  <a:srgbClr val="06287E"/>
                </a:solidFill>
                <a:latin typeface="Consolas"/>
              </a:rPr>
              <a:t>default_value</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'friendly'</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secret</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false</a:t>
            </a:r>
          </a:p>
          <a:p>
            <a:pPr>
              <a:spcBef>
                <a:spcPts val="0"/>
              </a:spcBef>
              <a:spcAft>
                <a:spcPts val="0"/>
              </a:spcAft>
            </a:pPr>
            <a:r>
              <a:rPr sz="900">
                <a:solidFill>
                  <a:srgbClr val="2D2D2D"/>
                </a:solidFill>
                <a:latin typeface="Consolas"/>
              </a:rPr>
              <a:t>                        </a:t>
            </a:r>
            <a:r>
              <a:rPr sz="900">
                <a:solidFill>
                  <a:srgbClr val="06287E"/>
                </a:solidFill>
                <a:latin typeface="Consolas"/>
              </a:rPr>
              <a:t>storefront</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false</a:t>
            </a:r>
          </a:p>
          <a:p>
            <a:pPr>
              <a:spcBef>
                <a:spcPts val="0"/>
              </a:spcBef>
              <a:spcAft>
                <a:spcPts val="0"/>
              </a:spcAft>
            </a:pPr>
            <a:r>
              <a:rPr sz="900">
                <a:solidFill>
                  <a:srgbClr val="2D2D2D"/>
                </a:solidFill>
                <a:latin typeface="Consolas"/>
              </a:rPr>
              <a:t>                        </a:t>
            </a:r>
            <a:r>
              <a:rPr sz="900">
                <a:solidFill>
                  <a:srgbClr val="06287E"/>
                </a:solidFill>
                <a:latin typeface="Consolas"/>
              </a:rPr>
              <a:t>order</a:t>
            </a:r>
            <a:r>
              <a:rPr sz="900" b="1">
                <a:solidFill>
                  <a:srgbClr val="007020"/>
                </a:solidFill>
                <a:latin typeface="Consolas"/>
              </a:rPr>
              <a:t>:</a:t>
            </a:r>
            <a:r>
              <a:rPr sz="900">
                <a:solidFill>
                  <a:srgbClr val="2D2D2D"/>
                </a:solidFill>
                <a:latin typeface="Consolas"/>
              </a:rPr>
              <a:t> </a:t>
            </a:r>
            <a:r>
              <a:rPr sz="900">
                <a:solidFill>
                  <a:srgbClr val="40A070"/>
                </a:solidFill>
                <a:latin typeface="Consolas"/>
              </a:rPr>
              <a:t>1</a:t>
            </a:r>
          </a:p>
          <a:p>
            <a:pPr>
              <a:spcBef>
                <a:spcPts val="0"/>
              </a:spcBef>
              <a:spcAft>
                <a:spcPts val="0"/>
              </a:spcAft>
            </a:pPr>
            <a:r>
              <a:rPr sz="900">
                <a:solidFill>
                  <a:srgbClr val="2D2D2D"/>
                </a:solidFill>
                <a:latin typeface="Consolas"/>
              </a:rPr>
              <a:t>                        </a:t>
            </a:r>
            <a:r>
              <a:rPr sz="900">
                <a:solidFill>
                  <a:srgbClr val="06287E"/>
                </a:solidFill>
                <a:latin typeface="Consolas"/>
              </a:rPr>
              <a:t>scopes</a:t>
            </a:r>
            <a:r>
              <a:rPr sz="900" b="1">
                <a:solidFill>
                  <a:srgbClr val="007020"/>
                </a:solidFill>
                <a:latin typeface="Consolas"/>
              </a:rPr>
              <a: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global</a:t>
            </a:r>
          </a:p>
          <a:p>
            <a:pPr>
              <a:spcAft>
                <a:spcPts val="800"/>
              </a:spcAft>
              <a:defRPr sz="1600">
                <a:solidFill>
                  <a:srgbClr val="1A1A1A"/>
                </a:solidFill>
              </a:defRPr>
            </a:pPr>
            <a:r>
              <a:t>Indentation matters: - key: content_style sits at the same depth as - key: ai_vendor . Then publish the schema:</a:t>
            </a:r>
          </a:p>
          <a:p>
            <a:pPr>
              <a:spcBef>
                <a:spcPts val="0"/>
              </a:spcBef>
              <a:spcAft>
                <a:spcPts val="0"/>
              </a:spcAft>
            </a:pPr>
            <a:r>
              <a:rPr sz="900">
                <a:solidFill>
                  <a:srgbClr val="2D2D2D"/>
                </a:solidFill>
                <a:latin typeface="Consolas"/>
              </a:rPr>
              <a:t>docker/sdk</a:t>
            </a:r>
            <a:r>
              <a:rPr sz="900">
                <a:solidFill>
                  <a:srgbClr val="2D2D2D"/>
                </a:solidFill>
                <a:latin typeface="Consolas"/>
              </a:rPr>
              <a:t> console configuration:sync</a:t>
            </a:r>
          </a:p>
          <a:p>
            <a:pPr>
              <a:spcAft>
                <a:spcPts val="800"/>
              </a:spcAft>
              <a:defRPr sz="1600">
                <a:solidFill>
                  <a:srgbClr val="1A1A1A"/>
                </a:solidFill>
              </a:defRPr>
            </a:pPr>
            <a:r>
              <a:t>The command reports the number of processed settings. It is one higher than before. Open Configuration &gt; AI Commerce &gt; Smart PIM and find your group. Set the value to technical and save.</a:t>
            </a:r>
          </a:p>
          <a:p>
            <a:pPr>
              <a:spcAft>
                <a:spcPts val="800"/>
              </a:spcAft>
              <a:defRPr sz="1600">
                <a:solidFill>
                  <a:srgbClr val="1A1A1A"/>
                </a:solidFill>
              </a:defRPr>
            </a:pPr>
            <a:r>
              <a:t>Read it from code. The key is ai_commerce:smart_pim:content_style:tone . In Zed:</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G</a:t>
            </a:r>
            <a:r>
              <a:rPr sz="900">
                <a:solidFill>
                  <a:srgbClr val="2D2D2D"/>
                </a:solidFill>
                <a:latin typeface="Consolas"/>
              </a:rPr>
              <a:t>enerated\</a:t>
            </a:r>
            <a:r>
              <a:rPr sz="900">
                <a:solidFill>
                  <a:srgbClr val="880000"/>
                </a:solidFill>
                <a:latin typeface="Consolas"/>
              </a:rPr>
              <a:t>S</a:t>
            </a:r>
            <a:r>
              <a:rPr sz="900">
                <a:solidFill>
                  <a:srgbClr val="2D2D2D"/>
                </a:solidFill>
                <a:latin typeface="Consolas"/>
              </a:rPr>
              <a:t>hared\</a:t>
            </a:r>
            <a:r>
              <a:rPr sz="900">
                <a:solidFill>
                  <a:srgbClr val="880000"/>
                </a:solidFill>
                <a:latin typeface="Consolas"/>
              </a:rPr>
              <a:t>T</a:t>
            </a:r>
            <a:r>
              <a:rPr sz="900">
                <a:solidFill>
                  <a:srgbClr val="2D2D2D"/>
                </a:solidFill>
                <a:latin typeface="Consolas"/>
              </a:rPr>
              <a:t>ransfer\</a:t>
            </a:r>
            <a:r>
              <a:rPr sz="900">
                <a:solidFill>
                  <a:srgbClr val="880000"/>
                </a:solidFill>
                <a:latin typeface="Consolas"/>
              </a:rPr>
              <a:t>C</a:t>
            </a:r>
            <a:r>
              <a:rPr sz="900">
                <a:solidFill>
                  <a:srgbClr val="2D2D2D"/>
                </a:solidFill>
                <a:latin typeface="Consolas"/>
              </a:rPr>
              <a:t>onfigurationValueRequestTransfer</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19177C"/>
                </a:solidFill>
                <a:latin typeface="Consolas"/>
              </a:rPr>
              <a:t>$tone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-&gt;getFactory()-&gt;getConfigurationFacade()-&gt;getConfigurationValue(</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onfigurationValueRequestTransfer())-&gt;setKey(</a:t>
            </a:r>
            <a:r>
              <a:rPr sz="900">
                <a:solidFill>
                  <a:srgbClr val="4070A0"/>
                </a:solidFill>
                <a:latin typeface="Consolas"/>
              </a:rPr>
              <a:t>'ai_commerce:smart_pim:content_style:tone'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facade resolves the scope, decrypts secrets and casts the value to the type of the setting. Try it in a quick way: add the three lines to indexAction() of your SupplierGui IndexController from Exercise 9, inject the Configuration facade through the DependencyProvider as you learned, and dump the value with dd($tone) . Remove it again.</a:t>
            </a:r>
          </a:p>
          <a:p>
            <a:pPr>
              <a:spcAft>
                <a:spcPts val="800"/>
              </a:spcAft>
              <a:defRPr sz="1600">
                <a:solidFill>
                  <a:srgbClr val="1A1A1A"/>
                </a:solidFill>
              </a:defRPr>
            </a:pPr>
            <a:r>
              <a:t>Bonus. Reference the setting from an AI configuration. In config/Shared/config_ai.php add to the Smart PIM OpenAI entry:</a:t>
            </a:r>
          </a:p>
          <a:p>
            <a:pPr>
              <a:spcBef>
                <a:spcPts val="0"/>
              </a:spcBef>
              <a:spcAft>
                <a:spcPts val="0"/>
              </a:spcAft>
            </a:pPr>
            <a:r>
              <a:rPr sz="900">
                <a:solidFill>
                  <a:srgbClr val="4070A0"/>
                </a:solidFill>
                <a:latin typeface="Consolas"/>
              </a:rPr>
              <a:t>'system_prompt'</a:t>
            </a:r>
            <a:r>
              <a:rPr sz="900">
                <a:solidFill>
                  <a:srgbClr val="2D2D2D"/>
                </a:solidFill>
                <a:latin typeface="Consolas"/>
              </a:rPr>
              <a:t> =&gt; </a:t>
            </a:r>
            <a:r>
              <a:rPr sz="900">
                <a:solidFill>
                  <a:srgbClr val="4070A0"/>
                </a:solidFill>
                <a:latin typeface="Consolas"/>
              </a:rPr>
              <a:t>'Write in a '</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'ai_commerce:smart_pim:content_style:tone'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 tone.'</a:t>
            </a:r>
            <a:r>
              <a:rPr sz="900">
                <a:solidFill>
                  <a:srgbClr val="007020"/>
                </a:solidFill>
                <a:latin typeface="Consolas"/>
              </a:rPr>
              <a: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This does not work: a reference must be the whole value, not part of a string. Replace it with a reference to a new system_prompt setting of type string that holds the complete sentence, sync, and try the content improver again. That is the pattern the Back Office Assistant uses for all its system prompts (see guides/advanced/01-back-office-assistant-setup.md ).</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Configuration &gt; AI Vendor &gt; OpenAI shows the token field empty after saving; a Smart PIM action returns a result.</a:t>
            </a:r>
          </a:p>
          <a:p>
            <a:pPr>
              <a:spcAft>
                <a:spcPts val="400"/>
              </a:spcAft>
              <a:defRPr sz="1500">
                <a:solidFill>
                  <a:srgbClr val="1A1A1A"/>
                </a:solidFill>
              </a:defRPr>
            </a:pPr>
            <a:r>
              <a:t>• A wrong model name makes the Smart PIM action fail with a provider error; the correct name fixes it without a deployment.</a:t>
            </a:r>
          </a:p>
          <a:p>
            <a:pPr>
              <a:spcAft>
                <a:spcPts val="400"/>
              </a:spcAft>
              <a:defRPr sz="1500">
                <a:solidFill>
                  <a:srgbClr val="1A1A1A"/>
                </a:solidFill>
              </a:defRPr>
            </a:pPr>
            <a:r>
              <a:t>• After configuration:sync , the Content Style group appears under Smart PIM and its value survives a page reload.</a:t>
            </a:r>
          </a:p>
          <a:p>
            <a:pPr>
              <a:spcAft>
                <a:spcPts val="400"/>
              </a:spcAft>
              <a:defRPr sz="1500">
                <a:solidFill>
                  <a:srgbClr val="1A1A1A"/>
                </a:solidFill>
              </a:defRPr>
            </a:pPr>
            <a:r>
              <a:t>• The dumped value in the controller is the string you saved, or friendly if you saved nothing.</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Cleanup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Remove the dd() from the controller and, if you did the bonus, keep or remove the system_prompt entry as you prefer. Leave your token in place: the AI Development course uses it.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Going Further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Give the tone setting scopes: [store] and see how the Back Office lets you set it per store.</a:t>
            </a:r>
          </a:p>
          <a:p>
            <a:pPr>
              <a:spcAft>
                <a:spcPts val="400"/>
              </a:spcAft>
              <a:defRPr sz="1500">
                <a:solidFill>
                  <a:srgbClr val="1A1A1A"/>
                </a:solidFill>
              </a:defRPr>
            </a:pPr>
            <a:r>
              <a:t>• Look at how the Back Office Assistant guide (advanced, Exercise 21 prerequisites) adds a whole tab with the same mechanics.</a:t>
            </a:r>
          </a:p>
          <a:p>
            <a:pPr>
              <a:spcAft>
                <a:spcPts val="400"/>
              </a:spcAft>
              <a:defRPr sz="1500">
                <a:solidFill>
                  <a:srgbClr val="1A1A1A"/>
                </a:solidFill>
              </a:defRPr>
            </a:pPr>
            <a:r>
              <a:t>• Exercise 19 of the AI Development course registers an AI configuration of your own with a configuration:: reference for the key and a plain string for the model.</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10: Publish &amp; Synchronize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10: Publish &amp; Synchronize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make supplier data available in Elasticsearch (search) and Redis (storage) using Spryker’s Publish &amp; Synchronize (P&amp;S) pattern. This is a two-step process: first you publish data from the main database into intermediate tables, then the synchronization behavior automatically pushes that data to the storefront storages.</a:t>
            </a:r>
          </a:p>
          <a:p>
            <a:pPr>
              <a:spcAft>
                <a:spcPts val="800"/>
              </a:spcAft>
              <a:defRPr sz="1600">
                <a:solidFill>
                  <a:srgbClr val="1A1A1A"/>
                </a:solidFill>
              </a:defRPr>
            </a:pPr>
            <a:r>
              <a:t>You will learn how to: - Configure publish and synchronize queues in RabbitMQ - Set up queue message processors to handle events - Add Propel behaviors (event + synchronization) to trigger and sync data - Register publisher plugins that react to entity events - Implement publisher plugins that delegate to business logic - Build writers that process events in bulk - Trigger publish events manually from data import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Exercise 8 (Data Import) — suppliers must be in the database</a:t>
            </a:r>
          </a:p>
          <a:p>
            <a:pPr>
              <a:spcAft>
                <a:spcPts val="400"/>
              </a:spcAft>
              <a:defRPr sz="1500">
                <a:solidFill>
                  <a:srgbClr val="1A1A1A"/>
                </a:solidFill>
              </a:defRPr>
            </a:pPr>
            <a:r>
              <a:t>• Understanding of the Facade, DependencyProvider, and Factory patterns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intermediate/publish-synchronize/skeleton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Bef>
                <a:spcPts val="0"/>
              </a:spcBef>
              <a:spcAft>
                <a:spcPts val="0"/>
              </a:spcAft>
            </a:pPr>
            <a:r>
              <a:rPr sz="900">
                <a:solidFill>
                  <a:srgbClr val="2D2D2D"/>
                </a:solidFill>
                <a:latin typeface="Consolas"/>
              </a:rPr>
              <a:t>docker/sdk</a:t>
            </a:r>
            <a:r>
              <a:rPr sz="900">
                <a:solidFill>
                  <a:srgbClr val="2D2D2D"/>
                </a:solidFill>
                <a:latin typeface="Consolas"/>
              </a:rPr>
              <a:t> console messenger:setup-transports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Publish &amp; Synchronize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uses a two-step process to move data from the Zed database to the storefront storages (Elasticsearch, Redis):</a:t>
            </a:r>
          </a:p>
          <a:p>
            <a:pPr>
              <a:spcBef>
                <a:spcPts val="0"/>
              </a:spcBef>
              <a:spcAft>
                <a:spcPts val="0"/>
              </a:spcAft>
            </a:pPr>
            <a:r>
              <a:rPr sz="900">
                <a:solidFill>
                  <a:srgbClr val="2D2D2D"/>
                </a:solidFill>
                <a:latin typeface="Consolas"/>
              </a:rPr>
              <a:t>Step 1: PUBLISH                          Step 2: SYNCHRONIZE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Entity change                            Synchronization behavior</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Event (entity.create/update)             Auto-triggers on table write</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Publish queue                            Sync queue</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Queue processor → Publisher Plugin       Queue processor → Sync plugin</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Writer (business logic)                  Elasticsearch / Redis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Insert/Update pyz_*_search/storage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Publish &amp; Synchronize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Why two modules? Spryker separates the logic by target storage: - SupplierSearch — publishes to Elasticsearch (for full-text search) - SupplierStorage — publishes to Redis (for key-value lookups)</a:t>
            </a:r>
          </a:p>
          <a:p>
            <a:pPr>
              <a:spcAft>
                <a:spcPts val="800"/>
              </a:spcAft>
              <a:defRPr sz="1600">
                <a:solidFill>
                  <a:srgbClr val="1A1A1A"/>
                </a:solidFill>
              </a:defRPr>
            </a:pPr>
            <a:r>
              <a:t>Both follow the same pattern but write to different intermediate tables.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Understand the Constants</a:t>
            </a:r>
          </a:p>
          <a:p>
            <a:pPr>
              <a:spcAft>
                <a:spcPts val="800"/>
              </a:spcAft>
              <a:defRPr sz="1600">
                <a:solidFill>
                  <a:srgbClr val="1A1A1A"/>
                </a:solidFill>
              </a:defRPr>
            </a:pPr>
            <a:r>
              <a:t>Open src/SprykerAcademy/Shared/SupplierSearch/SupplierSearchConfig.php and review the constants:</a:t>
            </a:r>
          </a:p>
          <a:p>
            <a:pPr>
              <a:spcAft>
                <a:spcPts val="100"/>
              </a:spcAft>
              <a:defRPr sz="1000">
                <a:solidFill>
                  <a:srgbClr val="1A1A1A"/>
                </a:solidFill>
                <a:latin typeface="Consolas"/>
              </a:defRPr>
            </a:pPr>
            <a:r>
              <a:t>Constant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SUPPLIER_PUBLISH_SEARCH_QUEUE             Queue name for publish events (step 1) </a:t>
            </a:r>
          </a:p>
          <a:p>
            <a:pPr>
              <a:spcAft>
                <a:spcPts val="100"/>
              </a:spcAft>
              <a:defRPr sz="1000">
                <a:solidFill>
                  <a:srgbClr val="1A1A1A"/>
                </a:solidFill>
                <a:latin typeface="Consolas"/>
              </a:defRPr>
            </a:pPr>
            <a:r>
              <a:t>SUPPLIER_SYNC_SEARCH_QUEUE                Queue name for sync events (step 2)    </a:t>
            </a:r>
          </a:p>
          <a:p>
            <a:pPr>
              <a:spcAft>
                <a:spcPts val="100"/>
              </a:spcAft>
              <a:defRPr sz="1000">
                <a:solidFill>
                  <a:srgbClr val="1A1A1A"/>
                </a:solidFill>
                <a:latin typeface="Consolas"/>
              </a:defRPr>
            </a:pPr>
            <a:r>
              <a:t>ENTITY_PYZ_SUPPLIER_CREATE/UPDATE/DELETE  Events fired by Propel’s event behavior</a:t>
            </a:r>
          </a:p>
          <a:p>
            <a:pPr>
              <a:spcAft>
                <a:spcPts val="100"/>
              </a:spcAft>
              <a:defRPr sz="1000">
                <a:solidFill>
                  <a:srgbClr val="1A1A1A"/>
                </a:solidFill>
                <a:latin typeface="Consolas"/>
              </a:defRPr>
            </a:pPr>
            <a:r>
              <a:t>SUPPLIER_PUBLISH                          Manual publish event (fired from code)</a:t>
            </a:r>
          </a:p>
          <a:p>
            <a:pPr>
              <a:spcAft>
                <a:spcPts val="800"/>
              </a:spcAft>
              <a:defRPr sz="1600">
                <a:solidFill>
                  <a:srgbClr val="1A1A1A"/>
                </a:solidFill>
              </a:defRPr>
            </a:pPr>
            <a:r>
              <a:t>Similar constants exist in SupplierStorageConfig for the Redis pipeline. You’ll use these constants throughout the exercise — never use plain strings for queue names or event names.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Set Up the Queues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P&amp;S uses four queues — two per pipeline (Search + Storage):</a:t>
            </a:r>
          </a:p>
          <a:p>
            <a:pPr>
              <a:spcAft>
                <a:spcPts val="100"/>
              </a:spcAft>
              <a:defRPr sz="1000">
                <a:solidFill>
                  <a:srgbClr val="1A1A1A"/>
                </a:solidFill>
                <a:latin typeface="Consolas"/>
              </a:defRPr>
            </a:pPr>
            <a:r>
              <a:t>Queue                     Purpose                                 Step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publish.search.supplier   Carries publish events for search       Publish    </a:t>
            </a:r>
          </a:p>
          <a:p>
            <a:pPr>
              <a:spcAft>
                <a:spcPts val="100"/>
              </a:spcAft>
              <a:defRPr sz="1000">
                <a:solidFill>
                  <a:srgbClr val="1A1A1A"/>
                </a:solidFill>
                <a:latin typeface="Consolas"/>
              </a:defRPr>
            </a:pPr>
            <a:r>
              <a:t>sync.search.supplier      Carries sync messages to Elasticsearch  Synchronize</a:t>
            </a:r>
          </a:p>
          <a:p>
            <a:pPr>
              <a:spcAft>
                <a:spcPts val="100"/>
              </a:spcAft>
              <a:defRPr sz="1000">
                <a:solidFill>
                  <a:srgbClr val="1A1A1A"/>
                </a:solidFill>
                <a:latin typeface="Consolas"/>
              </a:defRPr>
            </a:pPr>
            <a:r>
              <a:t>publish.storage.supplier  Carries publish events for storage      Publish    </a:t>
            </a:r>
          </a:p>
          <a:p>
            <a:pPr>
              <a:spcAft>
                <a:spcPts val="100"/>
              </a:spcAft>
              <a:defRPr sz="1000">
                <a:solidFill>
                  <a:srgbClr val="1A1A1A"/>
                </a:solidFill>
                <a:latin typeface="Consolas"/>
              </a:defRPr>
            </a:pPr>
            <a:r>
              <a:t>sync.storage.supplier     Carries sync messages to Redis          Synchronize</a:t>
            </a:r>
          </a:p>
          <a:p>
            <a:pPr>
              <a:spcAft>
                <a:spcPts val="800"/>
              </a:spcAft>
              <a:defRPr sz="1600">
                <a:solidFill>
                  <a:srgbClr val="1A1A1A"/>
                </a:solidFill>
              </a:defRPr>
            </a:pPr>
            <a:r>
              <a:t>Coding time:</a:t>
            </a:r>
          </a:p>
          <a:p>
            <a:pPr>
              <a:spcAft>
                <a:spcPts val="800"/>
              </a:spcAft>
              <a:defRPr sz="1600">
                <a:solidFill>
                  <a:srgbClr val="1A1A1A"/>
                </a:solidFill>
              </a:defRPr>
            </a:pPr>
            <a:r>
              <a:t>Open src/Pyz/Client/SymfonyMessenger/SymfonyMessengerConfig.php :</a:t>
            </a:r>
          </a:p>
          <a:p>
            <a:pPr>
              <a:spcAft>
                <a:spcPts val="400"/>
              </a:spcAft>
              <a:defRPr sz="1500">
                <a:solidFill>
                  <a:srgbClr val="1A1A1A"/>
                </a:solidFill>
              </a:defRPr>
            </a:pPr>
            <a:r>
              <a:t>• In getPublishQueueConfiguration() , add both publish queue constants ( SupplierSearchConfig::SUPPLIER_PUBLISH and SupplierStorageConfig::SUPPLIER_PUBLISH )</a:t>
            </a:r>
          </a:p>
          <a:p>
            <a:pPr>
              <a:spcAft>
                <a:spcPts val="400"/>
              </a:spcAft>
              <a:defRPr sz="1500">
                <a:solidFill>
                  <a:srgbClr val="1A1A1A"/>
                </a:solidFill>
              </a:defRPr>
            </a:pPr>
            <a:r>
              <a:t>• In getSynchronizationQueueConfiguration() , add both sync queue constants ( SupplierSearchConfig::SUPPLIER_SYNC_SEARCH_QUEUE and SupplierStorageConfig::SUPPLIER_SYNC_STORAGE_QUEUE )</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Set Up the Queues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Symfony Messenger: Spryker 202512.0+ uses Symfony Messenger as the queue transport instead of direct RabbitMQ. Queues are configured in SymfonyMessengerConfig and the transport handles queue creation automatically. The queue worker processes messages through the same queue:worker:start command.</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Set Up Queue Processors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Each queue needs a processor to handle its messages. Spryker provides out-of-the-box processor plugins.</a:t>
            </a:r>
          </a:p>
          <a:p>
            <a:pPr>
              <a:spcAft>
                <a:spcPts val="800"/>
              </a:spcAft>
              <a:defRPr sz="1600">
                <a:solidFill>
                  <a:srgbClr val="1A1A1A"/>
                </a:solidFill>
              </a:defRPr>
            </a:pPr>
            <a:r>
              <a:t>Coding time:</a:t>
            </a:r>
          </a:p>
          <a:p>
            <a:pPr>
              <a:spcAft>
                <a:spcPts val="800"/>
              </a:spcAft>
              <a:defRPr sz="1600">
                <a:solidFill>
                  <a:srgbClr val="1A1A1A"/>
                </a:solidFill>
              </a:defRPr>
            </a:pPr>
            <a:r>
              <a:t>Open src/Pyz/Zed/Queue/QueueDependencyProvider.php . For each queue, assign the appropriate processor:</a:t>
            </a:r>
          </a:p>
          <a:p>
            <a:pPr>
              <a:spcAft>
                <a:spcPts val="100"/>
              </a:spcAft>
              <a:defRPr sz="1000">
                <a:solidFill>
                  <a:srgbClr val="1A1A1A"/>
                </a:solidFill>
                <a:latin typeface="Consolas"/>
              </a:defRPr>
            </a:pPr>
            <a:r>
              <a:t>Queue                  Processor Plugin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Publish queues (both)  EventQueueMessageProcessorPlugin                 </a:t>
            </a:r>
          </a:p>
          <a:p>
            <a:pPr>
              <a:spcAft>
                <a:spcPts val="100"/>
              </a:spcAft>
              <a:defRPr sz="1000">
                <a:solidFill>
                  <a:srgbClr val="1A1A1A"/>
                </a:solidFill>
                <a:latin typeface="Consolas"/>
              </a:defRPr>
            </a:pPr>
            <a:r>
              <a:t>Search sync queue      SynchronizationSearchQueueMessageProcessorPlugin </a:t>
            </a:r>
          </a:p>
          <a:p>
            <a:pPr>
              <a:spcAft>
                <a:spcPts val="100"/>
              </a:spcAft>
              <a:defRPr sz="1000">
                <a:solidFill>
                  <a:srgbClr val="1A1A1A"/>
                </a:solidFill>
                <a:latin typeface="Consolas"/>
              </a:defRPr>
            </a:pPr>
            <a:r>
              <a:t>Storage sync queue     SynchronizationStorageQueueMessageProcessorPlugin</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Set Up Queue Processors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How it works: The queue worker reads messages from a queue and passes them to the assigned processor. Publish queues contain “event” messages (processed by EventQueueMessageProcessorPlugin ), while sync queues contain serialized data (processed by Synchronization* plugins that push to Elasticsearch/Redis).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Propel behaviors are declared inside a &lt;table&gt; tag in schema XML files. Each behavior has a name attribute and contains &lt;parameter&gt; child tags that configure it. The general structure is:</a:t>
            </a:r>
          </a:p>
          <a:p>
            <a:pPr>
              <a:spcBef>
                <a:spcPts val="0"/>
              </a:spcBef>
              <a:spcAft>
                <a:spcPts val="0"/>
              </a:spcAft>
            </a:pPr>
            <a:r>
              <a:rPr sz="900" b="1">
                <a:solidFill>
                  <a:srgbClr val="007020"/>
                </a:solidFill>
                <a:latin typeface="Consolas"/>
              </a:rPr>
              <a:t>&lt;table</a:t>
            </a:r>
            <a:r>
              <a:rPr sz="900">
                <a:solidFill>
                  <a:srgbClr val="007020"/>
                </a:solidFill>
                <a:latin typeface="Consolas"/>
              </a:rPr>
              <a:t> name=</a:t>
            </a:r>
            <a:r>
              <a:rPr sz="900">
                <a:solidFill>
                  <a:srgbClr val="4070A0"/>
                </a:solidFill>
                <a:latin typeface="Consolas"/>
              </a:rPr>
              <a:t>"my_table"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2D2D2D"/>
                </a:solidFill>
                <a:latin typeface="Consolas"/>
              </a:rPr>
              <a:t> </a:t>
            </a:r>
            <a:r>
              <a:rPr sz="900" b="1">
                <a:solidFill>
                  <a:srgbClr val="FF0000"/>
                </a:solidFill>
                <a:latin typeface="Consolas"/>
              </a:rPr>
              <a:t>...</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&lt;behavior</a:t>
            </a:r>
            <a:r>
              <a:rPr sz="900">
                <a:solidFill>
                  <a:srgbClr val="007020"/>
                </a:solidFill>
                <a:latin typeface="Consolas"/>
              </a:rPr>
              <a:t> name=</a:t>
            </a:r>
            <a:r>
              <a:rPr sz="900">
                <a:solidFill>
                  <a:srgbClr val="4070A0"/>
                </a:solidFill>
                <a:latin typeface="Consolas"/>
              </a:rPr>
              <a:t>"behavior_name"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"param_name"</a:t>
            </a:r>
            <a:r>
              <a:rPr sz="900">
                <a:solidFill>
                  <a:srgbClr val="007020"/>
                </a:solidFill>
                <a:latin typeface="Consolas"/>
              </a:rPr>
              <a:t> value=</a:t>
            </a:r>
            <a:r>
              <a:rPr sz="900">
                <a:solidFill>
                  <a:srgbClr val="4070A0"/>
                </a:solidFill>
                <a:latin typeface="Consolas"/>
              </a:rPr>
              <a:t>"param_value"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"another_param"</a:t>
            </a:r>
            <a:r>
              <a:rPr sz="900">
                <a:solidFill>
                  <a:srgbClr val="007020"/>
                </a:solidFill>
                <a:latin typeface="Consolas"/>
              </a:rPr>
              <a:t> value=</a:t>
            </a:r>
            <a:r>
              <a:rPr sz="900">
                <a:solidFill>
                  <a:srgbClr val="4070A0"/>
                </a:solidFill>
                <a:latin typeface="Consolas"/>
              </a:rPr>
              <a:t>"another_value"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&lt;/behavior&gt;</a:t>
            </a:r>
          </a:p>
          <a:p>
            <a:pPr>
              <a:spcBef>
                <a:spcPts val="0"/>
              </a:spcBef>
              <a:spcAft>
                <a:spcPts val="0"/>
              </a:spcAft>
            </a:pPr>
            <a:r>
              <a:rPr sz="900" b="1">
                <a:solidFill>
                  <a:srgbClr val="007020"/>
                </a:solidFill>
                <a:latin typeface="Consolas"/>
              </a:rPr>
              <a:t>&lt;/table&gt;</a:t>
            </a:r>
          </a:p>
          <a:p>
            <a:pPr>
              <a:spcAft>
                <a:spcPts val="800"/>
              </a:spcAft>
              <a:defRPr sz="1600">
                <a:solidFill>
                  <a:srgbClr val="1A1A1A"/>
                </a:solidFill>
              </a:defRPr>
            </a:pPr>
            <a:r>
              <a:t>Each &lt;parameter&gt; has a name attribute (what to configure) and a value attribute (the setting). Some parameters also support column instead of value — this is specific to the event behavior.</a:t>
            </a:r>
          </a:p>
          <a:p>
            <a:pPr>
              <a:spcBef>
                <a:spcPts val="800"/>
              </a:spcBef>
              <a:spcAft>
                <a:spcPts val="400"/>
              </a:spcAft>
              <a:defRPr sz="1700" b="1">
                <a:solidFill>
                  <a:srgbClr val="1A1A1A"/>
                </a:solidFill>
              </a:defRPr>
            </a:pPr>
            <a:r>
              <a:t>4.1 Event Behavior — Fire Events on Entity Changes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event behavior makes Propel fire events whenever an entity is created, updated, or deleted. These events are the starting point of the P&amp;S flow.</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src/SprykerAcademy/Zed/Supplier/Persistence/Propel/Schema/pyz_supplier.schema.xml . Add the event behavior to the pyz_supplier table.</a:t>
            </a:r>
          </a:p>
          <a:p>
            <a:pPr>
              <a:spcAft>
                <a:spcPts val="800"/>
              </a:spcAft>
              <a:defRPr sz="1600">
                <a:solidFill>
                  <a:srgbClr val="1A1A1A"/>
                </a:solidFill>
              </a:defRPr>
            </a:pPr>
            <a:r>
              <a:t>The event behavior uses &lt;parameter&gt; tags where: - name — an arbitrary label, conventionally tablename_all (e.g., pyz_supplier_all ) - column — which columns to watch for changes. Use "*" to watch all columns</a:t>
            </a:r>
          </a:p>
          <a:p>
            <a:pPr>
              <a:spcBef>
                <a:spcPts val="0"/>
              </a:spcBef>
              <a:spcAft>
                <a:spcPts val="0"/>
              </a:spcAft>
            </a:pPr>
            <a:r>
              <a:rPr sz="900" b="1">
                <a:solidFill>
                  <a:srgbClr val="007020"/>
                </a:solidFill>
                <a:latin typeface="Consolas"/>
              </a:rPr>
              <a:t>&lt;behavior</a:t>
            </a:r>
            <a:r>
              <a:rPr sz="900">
                <a:solidFill>
                  <a:srgbClr val="007020"/>
                </a:solidFill>
                <a:latin typeface="Consolas"/>
              </a:rPr>
              <a:t> name=</a:t>
            </a:r>
            <a:r>
              <a:rPr sz="900">
                <a:solidFill>
                  <a:srgbClr val="4070A0"/>
                </a:solidFill>
                <a:latin typeface="Consolas"/>
              </a:rPr>
              <a:t>"event"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t>
            </a:r>
            <a:r>
              <a:rPr sz="900">
                <a:solidFill>
                  <a:srgbClr val="007020"/>
                </a:solidFill>
                <a:latin typeface="Consolas"/>
              </a:rPr>
              <a:t> column=</a:t>
            </a:r>
            <a:r>
              <a:rPr sz="900">
                <a:solidFill>
                  <a:srgbClr val="4070A0"/>
                </a:solidFill>
                <a:latin typeface="Consolas"/>
              </a:rPr>
              <a:t>"..."</a:t>
            </a:r>
            <a:r>
              <a:rPr sz="900" b="1">
                <a:solidFill>
                  <a:srgbClr val="007020"/>
                </a:solidFill>
                <a:latin typeface="Consolas"/>
              </a:rPr>
              <a:t>/&gt;</a:t>
            </a:r>
          </a:p>
          <a:p>
            <a:pPr>
              <a:spcBef>
                <a:spcPts val="0"/>
              </a:spcBef>
              <a:spcAft>
                <a:spcPts val="0"/>
              </a:spcAft>
            </a:pPr>
            <a:r>
              <a:rPr sz="900" b="1">
                <a:solidFill>
                  <a:srgbClr val="007020"/>
                </a:solidFill>
                <a:latin typeface="Consolas"/>
              </a:rPr>
              <a:t>&lt;/behavior&gt;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What this triggers: Once added, Propel automatically fires events like Entity.pyz_supplier.create , Entity.pyz_supplier.update , and Entity.pyz_supplier.delete whenever the table is modified.</a:t>
            </a:r>
          </a:p>
          <a:p>
            <a:pPr>
              <a:spcBef>
                <a:spcPts val="800"/>
              </a:spcBef>
              <a:spcAft>
                <a:spcPts val="400"/>
              </a:spcAft>
              <a:defRPr sz="1700" b="1">
                <a:solidFill>
                  <a:srgbClr val="1A1A1A"/>
                </a:solidFill>
              </a:defRPr>
            </a:pPr>
            <a:r>
              <a:t>4.2 Synchronization Behavior — Auto-Sync to Storefront</a:t>
            </a:r>
          </a:p>
          <a:p>
            <a:pPr>
              <a:spcAft>
                <a:spcPts val="800"/>
              </a:spcAft>
              <a:defRPr sz="1600">
                <a:solidFill>
                  <a:srgbClr val="1A1A1A"/>
                </a:solidFill>
              </a:defRPr>
            </a:pPr>
            <a:r>
              <a:t>The synchronization behavior on the intermediate tables ( pyz_supplier_search , pyz_supplier_storage ) automatically pushes data to the sync queue whenever a record is written.</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src/SprykerAcademy/Zed/SupplierSearch/Persistence/Propel/Schema/pyz_supplier_search.schema.xml . Add the synchronization behavior using &lt;parameter&gt; child tags.</a:t>
            </a:r>
          </a:p>
          <a:p>
            <a:pPr>
              <a:spcAft>
                <a:spcPts val="800"/>
              </a:spcAft>
              <a:defRPr sz="1600">
                <a:solidFill>
                  <a:srgbClr val="1A1A1A"/>
                </a:solidFill>
              </a:defRPr>
            </a:pPr>
            <a:r>
              <a:t>Available parameters for the synchronization behavior:</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Parameter          Value                                                Purpose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resource           A resource name string (e.g., "supplier" )           Used to build the storage key (e.g., supplier:1 )</a:t>
            </a:r>
          </a:p>
          <a:p>
            <a:pPr>
              <a:spcAft>
                <a:spcPts val="100"/>
              </a:spcAft>
              <a:defRPr sz="1000">
                <a:solidFill>
                  <a:srgbClr val="1A1A1A"/>
                </a:solidFill>
                <a:latin typeface="Consolas"/>
              </a:defRPr>
            </a:pPr>
            <a:r>
              <a:t>key_suffix_column  A column name from the table (e.g., "fk_supplier" )  The column whose value becomes the key suffix    </a:t>
            </a:r>
          </a:p>
          <a:p>
            <a:pPr>
              <a:spcAft>
                <a:spcPts val="100"/>
              </a:spcAft>
              <a:defRPr sz="1000">
                <a:solidFill>
                  <a:srgbClr val="1A1A1A"/>
                </a:solidFill>
                <a:latin typeface="Consolas"/>
              </a:defRPr>
            </a:pPr>
            <a:r>
              <a:t>queue_group        A sync queue name (e.g., "sync.search.supplier" )    Which queue receives the sync messages           </a:t>
            </a:r>
          </a:p>
          <a:p>
            <a:pPr>
              <a:spcAft>
                <a:spcPts val="100"/>
              </a:spcAft>
              <a:defRPr sz="1000">
                <a:solidFill>
                  <a:srgbClr val="1A1A1A"/>
                </a:solidFill>
                <a:latin typeface="Consolas"/>
              </a:defRPr>
            </a:pPr>
            <a:r>
              <a:t>params             JSON string (e.g., '{"type":"page"}' )               Extra parameters — for search, set type to "page"</a:t>
            </a:r>
          </a:p>
          <a:p>
            <a:pPr>
              <a:spcAft>
                <a:spcPts val="800"/>
              </a:spcAft>
              <a:defRPr sz="1600">
                <a:solidFill>
                  <a:srgbClr val="1A1A1A"/>
                </a:solidFill>
              </a:defRPr>
            </a:pPr>
            <a:r>
              <a:t>For the search table, you need all four parameters (including params with type: page for Elasticsearch indexing). For the storage table ( pyz_supplier_storage.schema.xml ), it is already provided.</a:t>
            </a:r>
          </a:p>
          <a:p>
            <a:pPr>
              <a:spcBef>
                <a:spcPts val="0"/>
              </a:spcBef>
              <a:spcAft>
                <a:spcPts val="0"/>
              </a:spcAft>
            </a:pPr>
            <a:r>
              <a:rPr sz="900" b="1">
                <a:solidFill>
                  <a:srgbClr val="007020"/>
                </a:solidFill>
                <a:latin typeface="Consolas"/>
              </a:rPr>
              <a:t>&lt;behavior</a:t>
            </a:r>
            <a:r>
              <a:rPr sz="900">
                <a:solidFill>
                  <a:srgbClr val="007020"/>
                </a:solidFill>
                <a:latin typeface="Consolas"/>
              </a:rPr>
              <a:t> name=</a:t>
            </a:r>
            <a:r>
              <a:rPr sz="900">
                <a:solidFill>
                  <a:srgbClr val="4070A0"/>
                </a:solidFill>
                <a:latin typeface="Consolas"/>
              </a:rPr>
              <a:t>"synchronization"</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t>
            </a:r>
            <a:r>
              <a:rPr sz="900">
                <a:solidFill>
                  <a:srgbClr val="007020"/>
                </a:solidFill>
                <a:latin typeface="Consolas"/>
              </a:rPr>
              <a:t> value=</a:t>
            </a:r>
            <a:r>
              <a:rPr sz="900">
                <a:solidFill>
                  <a:srgbClr val="4070A0"/>
                </a:solidFill>
                <a:latin typeface="Consolas"/>
              </a:rPr>
              <a: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t>
            </a:r>
            <a:r>
              <a:rPr sz="900">
                <a:solidFill>
                  <a:srgbClr val="007020"/>
                </a:solidFill>
                <a:latin typeface="Consolas"/>
              </a:rPr>
              <a:t> value=</a:t>
            </a:r>
            <a:r>
              <a:rPr sz="900">
                <a:solidFill>
                  <a:srgbClr val="4070A0"/>
                </a:solidFill>
                <a:latin typeface="Consolas"/>
              </a:rPr>
              <a: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i="1">
                <a:solidFill>
                  <a:srgbClr val="60A0B0"/>
                </a:solidFill>
                <a:latin typeface="Consolas"/>
              </a:rPr>
              <a:t>&lt;!-- ... --&gt;</a:t>
            </a:r>
          </a:p>
          <a:p>
            <a:pPr>
              <a:spcBef>
                <a:spcPts val="0"/>
              </a:spcBef>
              <a:spcAft>
                <a:spcPts val="0"/>
              </a:spcAft>
            </a:pPr>
            <a:r>
              <a:rPr sz="900" b="1">
                <a:solidFill>
                  <a:srgbClr val="007020"/>
                </a:solidFill>
                <a:latin typeface="Consolas"/>
              </a:rPr>
              <a:t>&lt;/behavior&gt;</a:t>
            </a:r>
          </a:p>
          <a:p>
            <a:pPr>
              <a:spcAft>
                <a:spcPts val="800"/>
              </a:spcAft>
              <a:defRPr sz="1600">
                <a:solidFill>
                  <a:srgbClr val="1A1A1A"/>
                </a:solidFill>
              </a:defRPr>
            </a:pPr>
            <a:r>
              <a:t>After adding the behaviors:</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What the synchronization behavior does: It auto-adds key , data , created_at , and updated_at columns to the table. When you save an entity to this table, the behavior automatically generates a key (e.g., supplier:1 ), serializes the data as JSON, and emits a message to the sync queue.</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Register Publisher Plugins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Publisher plugins react to entity events and delegate to the business logic. You need to register them so the system knows which plugins handle which events.</a:t>
            </a:r>
          </a:p>
          <a:p>
            <a:pPr>
              <a:spcAft>
                <a:spcPts val="800"/>
              </a:spcAft>
              <a:defRPr sz="1600">
                <a:solidFill>
                  <a:srgbClr val="1A1A1A"/>
                </a:solidFill>
              </a:defRPr>
            </a:pPr>
            <a:r>
              <a:t>Coding time:</a:t>
            </a:r>
          </a:p>
          <a:p>
            <a:pPr>
              <a:spcAft>
                <a:spcPts val="800"/>
              </a:spcAft>
              <a:defRPr sz="1600">
                <a:solidFill>
                  <a:srgbClr val="1A1A1A"/>
                </a:solidFill>
              </a:defRPr>
            </a:pPr>
            <a:r>
              <a:t>Open src/Pyz/Zed/Publisher/PublisherDependencyProvider.php . The format maps a queue name to an array of publisher plugins:</a:t>
            </a:r>
          </a:p>
          <a:p>
            <a:pPr>
              <a:spcBef>
                <a:spcPts val="0"/>
              </a:spcBef>
              <a:spcAft>
                <a:spcPts val="0"/>
              </a:spcAft>
            </a:pPr>
            <a:r>
              <a:rPr sz="900" b="1">
                <a:solidFill>
                  <a:srgbClr val="007020"/>
                </a:solidFill>
                <a:latin typeface="Consolas"/>
              </a:rPr>
              <a:t>return</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880000"/>
                </a:solidFill>
                <a:latin typeface="Consolas"/>
              </a:rPr>
              <a:t>Q</a:t>
            </a:r>
            <a:r>
              <a:rPr sz="900">
                <a:solidFill>
                  <a:srgbClr val="2D2D2D"/>
                </a:solidFill>
                <a:latin typeface="Consolas"/>
              </a:rPr>
              <a:t>ueueName::</a:t>
            </a:r>
            <a:r>
              <a:rPr sz="900">
                <a:solidFill>
                  <a:srgbClr val="06287E"/>
                </a:solidFill>
                <a:latin typeface="Consolas"/>
              </a:rPr>
              <a:t>CONSTANT</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yWritePublisherPlugin()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400"/>
              </a:spcAft>
              <a:defRPr sz="1500">
                <a:solidFill>
                  <a:srgbClr val="1A1A1A"/>
                </a:solidFill>
              </a:defRPr>
            </a:pPr>
            <a:r>
              <a:t>• Create a method that returns the Search publisher plugin mapped to the search publish queue</a:t>
            </a:r>
          </a:p>
          <a:p>
            <a:pPr>
              <a:spcAft>
                <a:spcPts val="400"/>
              </a:spcAft>
              <a:defRPr sz="1500">
                <a:solidFill>
                  <a:srgbClr val="1A1A1A"/>
                </a:solidFill>
              </a:defRPr>
            </a:pPr>
            <a:r>
              <a:t>• Create a method that returns the Storage publisher plugin mapped to the storage publish queue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Register Publisher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both to getPublisherPlugins()</a:t>
            </a:r>
          </a:p>
          <a:p>
            <a:pPr>
              <a:spcAft>
                <a:spcPts val="800"/>
              </a:spcAft>
              <a:defRPr sz="1400" i="1">
                <a:solidFill>
                  <a:srgbClr val="888888"/>
                </a:solidFill>
              </a:defRPr>
            </a:pPr>
            <a:r>
              <a:t>❝ Queue routing: By specifying the queue as the array key, you tell the system: “put events for these plugins on this queue.” If no key is specified, events go to the default publish queue.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Implement Publisher Plugins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publisher plugin is the entry point for handling events. It receives a batch of event transfers and delegates to the Facade.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src/SprykerAcademy/Zed/SupplierSearch/Communication/Plugin/Publisher/SupplierSearchWritePublisherPlugin.php :</a:t>
            </a:r>
          </a:p>
          <a:p>
            <a:pPr>
              <a:spcAft>
                <a:spcPts val="400"/>
              </a:spcAft>
              <a:defRPr sz="1500">
                <a:solidFill>
                  <a:srgbClr val="1A1A1A"/>
                </a:solidFill>
              </a:defRPr>
            </a:pPr>
            <a:r>
              <a:t>• getSubscribedEvents() — return an array of event names this plugin reacts to. Use constants from SupplierSearchConfig : the manual publish event, plus entity create and update events</a:t>
            </a:r>
          </a:p>
          <a:p>
            <a:pPr>
              <a:spcAft>
                <a:spcPts val="400"/>
              </a:spcAft>
              <a:defRPr sz="1500">
                <a:solidFill>
                  <a:srgbClr val="1A1A1A"/>
                </a:solidFill>
              </a:defRPr>
            </a:pPr>
            <a:r>
              <a:t>• handleBulk() — use $this-&gt;getFacade() to call the write method, passing the event transfers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Implement Publisher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Why subscribe to both manual and entity events? Entity events ( Entity.pyz_supplier.create ) are triggered automatically by the event behavior on pyz_supplier . The manual event ( SupplierSearch.supplier.publish ) is triggered explicitly from code (e.g., data import). The plugin handles both the same way.</a:t>
            </a:r>
          </a:p>
          <a:p>
            <a:pPr>
              <a:spcAft>
                <a:spcPts val="800"/>
              </a:spcAft>
              <a:defRPr sz="1600">
                <a:solidFill>
                  <a:srgbClr val="1A1A1A"/>
                </a:solidFill>
              </a:defRPr>
            </a:pPr>
            <a:r>
              <a:t>Do the same for SupplierStorageWritePublisherPlugin using SupplierStorageConfig constants.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Now implement the chain that the publisher plugin calls: Facade → Factory → Writer.</a:t>
            </a:r>
          </a:p>
          <a:p>
            <a:pPr>
              <a:spcBef>
                <a:spcPts val="800"/>
              </a:spcBef>
              <a:spcAft>
                <a:spcPts val="400"/>
              </a:spcAft>
              <a:defRPr sz="1700" b="1">
                <a:solidFill>
                  <a:srgbClr val="1A1A1A"/>
                </a:solidFill>
              </a:defRPr>
            </a:pPr>
            <a:r>
              <a:t>7.1 Implement the Writer</a:t>
            </a:r>
          </a:p>
          <a:p>
            <a:pPr>
              <a:spcAft>
                <a:spcPts val="800"/>
              </a:spcAft>
              <a:defRPr sz="1600">
                <a:solidFill>
                  <a:srgbClr val="1A1A1A"/>
                </a:solidFill>
              </a:defRPr>
            </a:pPr>
            <a:r>
              <a:t>The writer is the core business logic. It processes a batch of events in bulk.</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src/SprykerAcademy/Zed/SupplierSearch/Business/Writer/SupplierSearchWriter.php . The skeleton has the iteration logic. You need to fill in the data-loading methods:</a:t>
            </a:r>
          </a:p>
          <a:p>
            <a:pPr>
              <a:spcAft>
                <a:spcPts val="400"/>
              </a:spcAft>
              <a:defRPr sz="1500">
                <a:solidFill>
                  <a:srgbClr val="1A1A1A"/>
                </a:solidFill>
              </a:defRPr>
            </a:pPr>
            <a:r>
              <a:t>• Create a SupplierCriteriaTransfer , populate it with the supplier IDs, and use the SupplierFacade to load supplier entities</a:t>
            </a:r>
          </a:p>
          <a:p>
            <a:pPr>
              <a:spcAft>
                <a:spcPts val="400"/>
              </a:spcAft>
              <a:defRPr sz="1500">
                <a:solidFill>
                  <a:srgbClr val="1A1A1A"/>
                </a:solidFill>
              </a:defRPr>
            </a:pPr>
            <a:r>
              <a:t>• Create a SupplierSearchCriteriaTransfer , populate it with the same IDs, and use the Repository to load existing search records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rest of the loop (create/update per supplier) is provided</a:t>
            </a:r>
          </a:p>
          <a:p>
            <a:pPr>
              <a:spcAft>
                <a:spcPts val="800"/>
              </a:spcAft>
              <a:defRPr sz="1400" i="1">
                <a:solidFill>
                  <a:srgbClr val="888888"/>
                </a:solidFill>
              </a:defRPr>
            </a:pPr>
            <a:r>
              <a:t>❝ Bulk processing: Loading all suppliers in one query is critical. The writer receives an array of events (potentially hundreds) — doing one query per event would be extremely slow.</a:t>
            </a:r>
          </a:p>
          <a:p>
            <a:pPr>
              <a:spcAft>
                <a:spcPts val="800"/>
              </a:spcAft>
              <a:defRPr sz="1600">
                <a:solidFill>
                  <a:srgbClr val="1A1A1A"/>
                </a:solidFill>
              </a:defRPr>
            </a:pPr>
            <a:r>
              <a:t>Apply the same pattern to SupplierStorageWriter .</a:t>
            </a:r>
          </a:p>
          <a:p>
            <a:pPr>
              <a:spcBef>
                <a:spcPts val="800"/>
              </a:spcBef>
              <a:spcAft>
                <a:spcPts val="400"/>
              </a:spcAft>
              <a:defRPr sz="1700" b="1">
                <a:solidFill>
                  <a:srgbClr val="1A1A1A"/>
                </a:solidFill>
              </a:defRPr>
            </a:pPr>
            <a:r>
              <a:t>7.2 Provide Module Dependencies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src/SprykerAcademy/Zed/SupplierSearch/SupplierSearchDependencyProvider.php :</a:t>
            </a:r>
          </a:p>
          <a:p>
            <a:pPr>
              <a:spcAft>
                <a:spcPts val="400"/>
              </a:spcAft>
              <a:defRPr sz="1500">
                <a:solidFill>
                  <a:srgbClr val="1A1A1A"/>
                </a:solidFill>
              </a:defRPr>
            </a:pPr>
            <a:r>
              <a:t>• Implement addEventBehaviorFacade() — the EventBehaviorFacade provides helpers to extract entity IDs from event transfers. Access via $container-&gt;getLocator()-&gt;eventBehavior()-&gt;facade()</a:t>
            </a:r>
          </a:p>
          <a:p>
            <a:pPr>
              <a:spcAft>
                <a:spcPts val="400"/>
              </a:spcAft>
              <a:defRPr sz="1500">
                <a:solidFill>
                  <a:srgbClr val="1A1A1A"/>
                </a:solidFill>
              </a:defRPr>
            </a:pPr>
            <a:r>
              <a:t>• Implement addSupplierFacade() — the core SupplierFacade for reading supplier data</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Call both in provideBusinessLayerDependencies()</a:t>
            </a:r>
          </a:p>
          <a:p>
            <a:pPr>
              <a:spcAft>
                <a:spcPts val="800"/>
              </a:spcAft>
              <a:defRPr sz="1600">
                <a:solidFill>
                  <a:srgbClr val="1A1A1A"/>
                </a:solidFill>
              </a:defRPr>
            </a:pPr>
            <a:r>
              <a:t>Do the same for SupplierStorageDependencyProvider .</a:t>
            </a:r>
          </a:p>
          <a:p>
            <a:pPr>
              <a:spcBef>
                <a:spcPts val="800"/>
              </a:spcBef>
              <a:spcAft>
                <a:spcPts val="400"/>
              </a:spcAft>
              <a:defRPr sz="1700" b="1">
                <a:solidFill>
                  <a:srgbClr val="1A1A1A"/>
                </a:solidFill>
              </a:defRPr>
            </a:pPr>
            <a:r>
              <a:t>7.3 Implement the BusinessFactory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src/SprykerAcademy/Zed/SupplierSearch/Business/SupplierSearchBusinessFactory.php :</a:t>
            </a:r>
          </a:p>
          <a:p>
            <a:pPr>
              <a:spcAft>
                <a:spcPts val="400"/>
              </a:spcAft>
              <a:defRPr sz="1500">
                <a:solidFill>
                  <a:srgbClr val="1A1A1A"/>
                </a:solidFill>
              </a:defRPr>
            </a:pPr>
            <a:r>
              <a:t>• Implement getEventBehaviorFacade() and getSupplierFacade() using getProvidedDependency()</a:t>
            </a:r>
          </a:p>
          <a:p>
            <a:pPr>
              <a:spcAft>
                <a:spcPts val="400"/>
              </a:spcAft>
              <a:defRPr sz="1500">
                <a:solidFill>
                  <a:srgbClr val="1A1A1A"/>
                </a:solidFill>
              </a:defRPr>
            </a:pPr>
            <a:r>
              <a:t>• Wire all four dependencies into the Writer constructor: the two facades, plus getRepository() and getEntityManager() (available from the parent class)</a:t>
            </a:r>
          </a:p>
          <a:p>
            <a:pPr>
              <a:spcAft>
                <a:spcPts val="800"/>
              </a:spcAft>
              <a:defRPr sz="1600">
                <a:solidFill>
                  <a:srgbClr val="1A1A1A"/>
                </a:solidFill>
              </a:defRPr>
            </a:pPr>
            <a:r>
              <a:t>Do the same for SupplierStorageBusinessFactory .</a:t>
            </a:r>
          </a:p>
          <a:p>
            <a:pPr>
              <a:spcBef>
                <a:spcPts val="800"/>
              </a:spcBef>
              <a:spcAft>
                <a:spcPts val="400"/>
              </a:spcAft>
              <a:defRPr sz="1700" b="1">
                <a:solidFill>
                  <a:srgbClr val="1A1A1A"/>
                </a:solidFill>
              </a:defRPr>
            </a:pPr>
            <a:r>
              <a:t>7.4 Implement the Facade</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src/SprykerAcademy/Zed/SupplierSearch/Business/SupplierSearchFacade.php . Delegate writeCollectionBySupplierEvents() to the writer via the factory.</a:t>
            </a:r>
          </a:p>
          <a:p>
            <a:pPr>
              <a:spcAft>
                <a:spcPts val="800"/>
              </a:spcAft>
              <a:defRPr sz="1600">
                <a:solidFill>
                  <a:srgbClr val="1A1A1A"/>
                </a:solidFill>
              </a:defRPr>
            </a:pPr>
            <a:r>
              <a:t>Do the same for SupplierStorageFacade .</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8: Trigger Publish from Data Import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Propel event behavior is disabled during data import for performance (to avoid millions of events during bulk imports). You need to manually trigger publish events.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src/SprykerAcademy/Zed/SupplierDataImport/Business/DataImportStep/SupplierWriterStep.php . The step extends PublishAwareStep which provides addPublishEvents() . After saving a supplier entity (inside the isNew() || isModified() condition), call it twice: - Once for search (using SupplierSearchConfig::SUPPLIER_PUBLISH ) - Once for storage (using SupplierStorageConfig::SUPPLIER_PUBLISH )</a:t>
            </a:r>
          </a:p>
          <a:p>
            <a:pPr>
              <a:spcAft>
                <a:spcPts val="800"/>
              </a:spcAft>
              <a:defRPr sz="1600">
                <a:solidFill>
                  <a:srgbClr val="1A1A1A"/>
                </a:solidFill>
              </a:defRPr>
            </a:pPr>
            <a:r>
              <a:t>Pass the supplier ID as the second parameter.</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Complete Flow</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implementing all parts, here’s what happens when a supplier is created or imported:</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Complete Flow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1. Supplier entity saved</a:t>
            </a:r>
          </a:p>
          <a:p>
            <a:pPr>
              <a:spcBef>
                <a:spcPts val="0"/>
              </a:spcBef>
              <a:spcAft>
                <a:spcPts val="0"/>
              </a:spcAft>
            </a:pPr>
            <a:r>
              <a:rPr sz="900">
                <a:solidFill>
                  <a:srgbClr val="2D2D2D"/>
                </a:solidFill>
                <a:latin typeface="Consolas"/>
              </a:rPr>
              <a:t>   → Event behavior fires Entity.pyz_supplier.create</a:t>
            </a:r>
          </a:p>
          <a:p>
            <a:pPr>
              <a:spcBef>
                <a:spcPts val="0"/>
              </a:spcBef>
              <a:spcAft>
                <a:spcPts val="0"/>
              </a:spcAft>
            </a:pPr>
            <a:r>
              <a:rPr sz="900">
                <a:solidFill>
                  <a:srgbClr val="2D2D2D"/>
                </a:solidFill>
                <a:latin typeface="Consolas"/>
              </a:rPr>
              <a:t>   → (or DataImport fires SupplierSearch.supplier.publish manually)</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2. Event goes to publish.search.supplier queue</a:t>
            </a:r>
          </a:p>
          <a:p>
            <a:pPr>
              <a:spcBef>
                <a:spcPts val="0"/>
              </a:spcBef>
              <a:spcAft>
                <a:spcPts val="0"/>
              </a:spcAft>
            </a:pPr>
            <a:r>
              <a:rPr sz="900">
                <a:solidFill>
                  <a:srgbClr val="2D2D2D"/>
                </a:solidFill>
                <a:latin typeface="Consolas"/>
              </a:rPr>
              <a:t>   → EventQueueMessageProcessorPlugin processes it</a:t>
            </a:r>
          </a:p>
          <a:p>
            <a:pPr>
              <a:spcBef>
                <a:spcPts val="0"/>
              </a:spcBef>
              <a:spcAft>
                <a:spcPts val="0"/>
              </a:spcAft>
            </a:pPr>
            <a:r>
              <a:rPr sz="900">
                <a:solidFill>
                  <a:srgbClr val="2D2D2D"/>
                </a:solidFill>
                <a:latin typeface="Consolas"/>
              </a:rPr>
              <a:t>   → SupplierSearchWritePublisherPlugin.handleBulk() called</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3. Plugin calls Facade → Factory → Writer</a:t>
            </a:r>
          </a:p>
          <a:p>
            <a:pPr>
              <a:spcBef>
                <a:spcPts val="0"/>
              </a:spcBef>
              <a:spcAft>
                <a:spcPts val="0"/>
              </a:spcAft>
            </a:pPr>
            <a:r>
              <a:rPr sz="900">
                <a:solidFill>
                  <a:srgbClr val="2D2D2D"/>
                </a:solidFill>
                <a:latin typeface="Consolas"/>
              </a:rPr>
              <a:t>   → Writer loads supplier data from DB</a:t>
            </a:r>
          </a:p>
          <a:p>
            <a:pPr>
              <a:spcBef>
                <a:spcPts val="0"/>
              </a:spcBef>
              <a:spcAft>
                <a:spcPts val="0"/>
              </a:spcAft>
            </a:pPr>
            <a:r>
              <a:rPr sz="900">
                <a:solidFill>
                  <a:srgbClr val="2D2D2D"/>
                </a:solidFill>
                <a:latin typeface="Consolas"/>
              </a:rPr>
              <a:t>   → Writer inserts/updates pyz_supplier_search row</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4. Synchronization behavior on pyz_supplier_search triggers</a:t>
            </a:r>
          </a:p>
          <a:p>
            <a:pPr>
              <a:spcBef>
                <a:spcPts val="0"/>
              </a:spcBef>
              <a:spcAft>
                <a:spcPts val="0"/>
              </a:spcAft>
            </a:pPr>
            <a:r>
              <a:rPr sz="900">
                <a:solidFill>
                  <a:srgbClr val="2D2D2D"/>
                </a:solidFill>
                <a:latin typeface="Consolas"/>
              </a:rPr>
              <a:t>   → Message goes to sync.search.supplier queue</a:t>
            </a:r>
          </a:p>
          <a:p>
            <a:pPr>
              <a:spcBef>
                <a:spcPts val="0"/>
              </a:spcBef>
              <a:spcAft>
                <a:spcPts val="0"/>
              </a:spcAft>
            </a:pPr>
            <a:r>
              <a:rPr sz="900">
                <a:solidFill>
                  <a:srgbClr val="2D2D2D"/>
                </a:solidFill>
                <a:latin typeface="Consolas"/>
              </a:rPr>
              <a:t>   → SynchronizationSearchQueueMessageProcessorPlugin processes it</a:t>
            </a:r>
          </a:p>
          <a:p>
            <a:pPr>
              <a:spcBef>
                <a:spcPts val="0"/>
              </a:spcBef>
              <a:spcAft>
                <a:spcPts val="0"/>
              </a:spcAft>
            </a:pPr>
            <a:r>
              <a:rPr sz="900">
                <a:solidFill>
                  <a:srgbClr val="2D2D2D"/>
                </a:solidFill>
                <a:latin typeface="Consolas"/>
              </a:rPr>
              <a:t>   → Data pushed to Elasticsearch</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(Same flow in parallel for Storage → Redis)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Flow</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Setup: Ensure Queues and Exchanges Exist</a:t>
            </a:r>
          </a:p>
          <a:p>
            <a:pPr>
              <a:spcAft>
                <a:spcPts val="800"/>
              </a:spcAft>
              <a:defRPr sz="1600">
                <a:solidFill>
                  <a:srgbClr val="1A1A1A"/>
                </a:solidFill>
              </a:defRPr>
            </a:pPr>
            <a:r>
              <a:t>After registering queues in the config files, you must create the AMQP infrastructure (queues, exchanges, bindings) in RabbitMQ:</a:t>
            </a:r>
          </a:p>
          <a:p>
            <a:pPr>
              <a:spcBef>
                <a:spcPts val="0"/>
              </a:spcBef>
              <a:spcAft>
                <a:spcPts val="0"/>
              </a:spcAft>
            </a:pPr>
            <a:r>
              <a:rPr sz="900">
                <a:solidFill>
                  <a:srgbClr val="2D2D2D"/>
                </a:solidFill>
                <a:latin typeface="Consolas"/>
              </a:rPr>
              <a:t>docker/sdk</a:t>
            </a:r>
            <a:r>
              <a:rPr sz="900">
                <a:solidFill>
                  <a:srgbClr val="2D2D2D"/>
                </a:solidFill>
                <a:latin typeface="Consolas"/>
              </a:rPr>
              <a:t> console messenger:setup-transports</a:t>
            </a:r>
          </a:p>
          <a:p>
            <a:pPr>
              <a:spcAft>
                <a:spcPts val="800"/>
              </a:spcAft>
              <a:defRPr sz="1600">
                <a:solidFill>
                  <a:srgbClr val="1A1A1A"/>
                </a:solidFill>
              </a:defRPr>
            </a:pPr>
            <a:r>
              <a:t>This reads the SymfonyMessengerConfig::getQueueConfiguration() and creates the corresponding AMQP exchanges and queues. Without this step, messages are silently dropped because the Symfony Messenger transport has no exchange to route them through.</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Flow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Three config files required: Queues must be registered in: 1. SymfonyMessengerConfig — Symfony Messenger transport routing 2. RabbitMqConfig — AMQP queue declaration 3. QueueDependencyProvider — queue message processors The load.sh script handles all three and also creates queues/exchanges via the RabbitMQ management API as a fallback.</a:t>
            </a:r>
          </a:p>
          <a:p>
            <a:pPr>
              <a:spcAft>
                <a:spcPts val="800"/>
              </a:spcAft>
              <a:defRPr sz="1600">
                <a:solidFill>
                  <a:srgbClr val="1A1A1A"/>
                </a:solidFill>
              </a:defRPr>
            </a:pPr>
            <a:r>
              <a:t>Verify the queues exist at http://queue.spryker.local (login: spryker / secret ): - publish.search.supplier - publish.storage.supplier - sync.search.supplier - sync.storage.supplier</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the Flow</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a new supplier to the CSV and import: docker/sdk console data:import supplier</a:t>
            </a:r>
          </a:p>
          <a:p>
            <a:pPr>
              <a:spcAft>
                <a:spcPts val="400"/>
              </a:spcAft>
              <a:defRPr sz="1500">
                <a:solidFill>
                  <a:srgbClr val="1A1A1A"/>
                </a:solidFill>
              </a:defRPr>
            </a:pPr>
            <a:r>
              <a:t>• Process the event queue first (routes events to publish queues): docker/sdk console queue:worker:start --stop-when-empty</a:t>
            </a:r>
          </a:p>
          <a:p>
            <a:pPr>
              <a:spcAft>
                <a:spcPts val="400"/>
              </a:spcAft>
              <a:defRPr sz="1500">
                <a:solidFill>
                  <a:srgbClr val="1A1A1A"/>
                </a:solidFill>
              </a:defRPr>
            </a:pPr>
            <a:r>
              <a:t>• Process again (handles publish → search/storage tables → sync queues → Elasticsearch/Redis): docker/sdk console queue:worker:start --stop-when-empty You may need to run the worker multiple times — the first run processes publish events (writes to intermediate tables), the second processes sync events (pushes to Elasticsearch/Redis).</a:t>
            </a:r>
          </a:p>
          <a:p>
            <a:pPr>
              <a:spcAft>
                <a:spcPts val="400"/>
              </a:spcAft>
              <a:defRPr sz="1500">
                <a:solidFill>
                  <a:srgbClr val="1A1A1A"/>
                </a:solidFill>
              </a:defRPr>
            </a:pPr>
            <a:r>
              <a:t>• Check the intermediate tables using any DB client (credentials in deploy.dev.yml ): SELECT count ( * ) FROM pyz_supplier_search; SELECT count ( * ) FROM pyz_supplier_storage;</a:t>
            </a:r>
          </a:p>
          <a:p>
            <a:pPr>
              <a:spcAft>
                <a:spcPts val="400"/>
              </a:spcAft>
              <a:defRPr sz="1500">
                <a:solidFill>
                  <a:srgbClr val="1A1A1A"/>
                </a:solidFill>
              </a:defRPr>
            </a:pPr>
            <a:r>
              <a:t>• Verify Elasticsearch: curl -s 'localhost:9200/_search' -H 'Content-type: application/json' \ -d '{"query":{"exists":{"field":"id_supplier"}}}'</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the Flow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Creating a supplier via the Back Office also triggers P&amp;S automatically (via the event behavior) — no manual queue processing needed if the scheduler is running.</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Troubleshooting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No messages in queues after import: Ensure DataImportPublisherPlugin is registered in DataImportDependencyProvider::getDataImportAfterImportHookPlugins()</a:t>
            </a:r>
          </a:p>
          <a:p>
            <a:pPr>
              <a:spcAft>
                <a:spcPts val="400"/>
              </a:spcAft>
              <a:defRPr sz="1500">
                <a:solidFill>
                  <a:srgbClr val="1A1A1A"/>
                </a:solidFill>
              </a:defRPr>
            </a:pPr>
            <a:r>
              <a:t>• Queue not found error: Run docker/sdk boot deploy.dev.yml to recreate infrastructure, or create queues manually via the RabbitMQ API</a:t>
            </a:r>
          </a:p>
          <a:p>
            <a:pPr>
              <a:spcAft>
                <a:spcPts val="400"/>
              </a:spcAft>
              <a:defRPr sz="1500">
                <a:solidFill>
                  <a:srgbClr val="1A1A1A"/>
                </a:solidFill>
              </a:defRPr>
            </a:pPr>
            <a:r>
              <a:t>• Data in tables but not in Elasticsearch: Process the sync queues with queue:worker:start --stop-when-empty</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PublishSync</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intermediate/publish-synchronize/complete</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11: Search - Supplier</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11: Search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search client that queries Elasticsearch for suppliers by name and displays the result in the Yves storefront. You will work with Spryker’s Elasticsearch abstraction: query plugins, result formatter plugins, and the SearchClient.</a:t>
            </a:r>
          </a:p>
          <a:p>
            <a:pPr>
              <a:spcAft>
                <a:spcPts val="800"/>
              </a:spcAft>
              <a:defRPr sz="1600">
                <a:solidFill>
                  <a:srgbClr val="1A1A1A"/>
                </a:solidFill>
              </a:defRPr>
            </a:pPr>
            <a:r>
              <a:t>You will learn how to: - Define an Elasticsearch mapping (analyzer, index schema) - Build a search query plugin using Elastica’s BoolQuery - Build a result formatter plugin to convert Elasticsearch results to Transfer objects - Wire the SearchClient through the DependencyProvider and Factory - Create a Client module that exposes search functionality - Display search results in a Yves storefront page</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Exercise 10 (Publish &amp; Synchronize) — suppliers must be indexed in Elasticsearch</a:t>
            </a:r>
          </a:p>
          <a:p>
            <a:pPr>
              <a:spcAft>
                <a:spcPts val="400"/>
              </a:spcAft>
              <a:defRPr sz="1500">
                <a:solidFill>
                  <a:srgbClr val="1A1A1A"/>
                </a:solidFill>
              </a:defRPr>
            </a:pPr>
            <a:r>
              <a:t>• Suppliers should exist in the pyz_supplier_search table</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intermediate/search/skeleton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Bef>
                <a:spcPts val="0"/>
              </a:spcBef>
              <a:spcAft>
                <a:spcPts val="0"/>
              </a:spcAft>
            </a:pPr>
            <a:r>
              <a:rPr sz="900">
                <a:solidFill>
                  <a:srgbClr val="2D2D2D"/>
                </a:solidFill>
                <a:latin typeface="Consolas"/>
              </a:rPr>
              <a:t>docker/sdk</a:t>
            </a:r>
            <a:r>
              <a:rPr sz="900">
                <a:solidFill>
                  <a:srgbClr val="2D2D2D"/>
                </a:solidFill>
                <a:latin typeface="Consolas"/>
              </a:rPr>
              <a:t> console search:setup</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Architecture in Spryker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uses Elasticsearch as the search storage. The Client layer provides an abstraction over raw Elasticsearch queries:</a:t>
            </a:r>
          </a:p>
          <a:p>
            <a:pPr>
              <a:spcBef>
                <a:spcPts val="0"/>
              </a:spcBef>
              <a:spcAft>
                <a:spcPts val="0"/>
              </a:spcAft>
            </a:pPr>
            <a:r>
              <a:rPr sz="900">
                <a:solidFill>
                  <a:srgbClr val="2D2D2D"/>
                </a:solidFill>
                <a:latin typeface="Consolas"/>
              </a:rPr>
              <a:t>SupplierSearchClient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SupplierSearchFactory</a:t>
            </a:r>
          </a:p>
          <a:p>
            <a:pPr>
              <a:spcBef>
                <a:spcPts val="0"/>
              </a:spcBef>
              <a:spcAft>
                <a:spcPts val="0"/>
              </a:spcAft>
            </a:pPr>
            <a:r>
              <a:rPr sz="900">
                <a:solidFill>
                  <a:srgbClr val="2D2D2D"/>
                </a:solidFill>
                <a:latin typeface="Consolas"/>
              </a:rPr>
              <a:t>    ├── createSupplierQueryPlugin(name) → builds Elastica Query</a:t>
            </a:r>
          </a:p>
          <a:p>
            <a:pPr>
              <a:spcBef>
                <a:spcPts val="0"/>
              </a:spcBef>
              <a:spcAft>
                <a:spcPts val="0"/>
              </a:spcAft>
            </a:pPr>
            <a:r>
              <a:rPr sz="900">
                <a:solidFill>
                  <a:srgbClr val="2D2D2D"/>
                </a:solidFill>
                <a:latin typeface="Consolas"/>
              </a:rPr>
              <a:t>    ├── getSearchQueryFormatters()      → result formatter plugins</a:t>
            </a:r>
          </a:p>
          <a:p>
            <a:pPr>
              <a:spcBef>
                <a:spcPts val="0"/>
              </a:spcBef>
              <a:spcAft>
                <a:spcPts val="0"/>
              </a:spcAft>
            </a:pPr>
            <a:r>
              <a:rPr sz="900">
                <a:solidFill>
                  <a:srgbClr val="2D2D2D"/>
                </a:solidFill>
                <a:latin typeface="Consolas"/>
              </a:rPr>
              <a:t>    └── getSearchClient()               → Spryker SearchClient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Elasticsearch</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ResultSet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SupplierSearchResultFormatterPlugin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SupplierTransfer</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Architecture in Spryker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Key components:</a:t>
            </a:r>
          </a:p>
          <a:p>
            <a:pPr>
              <a:spcAft>
                <a:spcPts val="100"/>
              </a:spcAft>
              <a:defRPr sz="1000">
                <a:solidFill>
                  <a:srgbClr val="1A1A1A"/>
                </a:solidFill>
                <a:latin typeface="Consolas"/>
              </a:defRPr>
            </a:pPr>
            <a:r>
              <a:t>Component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Query Plugin       Builds the Elastica Query with filters and search terms        </a:t>
            </a:r>
          </a:p>
          <a:p>
            <a:pPr>
              <a:spcAft>
                <a:spcPts val="100"/>
              </a:spcAft>
              <a:defRPr sz="1000">
                <a:solidFill>
                  <a:srgbClr val="1A1A1A"/>
                </a:solidFill>
                <a:latin typeface="Consolas"/>
              </a:defRPr>
            </a:pPr>
            <a:r>
              <a:t>Result Formatter   Converts Elastica ResultSet into Transfer objects              </a:t>
            </a:r>
          </a:p>
          <a:p>
            <a:pPr>
              <a:spcAft>
                <a:spcPts val="100"/>
              </a:spcAft>
              <a:defRPr sz="1000">
                <a:solidFill>
                  <a:srgbClr val="1A1A1A"/>
                </a:solidFill>
                <a:latin typeface="Consolas"/>
              </a:defRPr>
            </a:pPr>
            <a:r>
              <a:t>SearchClient       Core Spryker client that executes queries against Elasticsearch</a:t>
            </a:r>
          </a:p>
          <a:p>
            <a:pPr>
              <a:spcAft>
                <a:spcPts val="100"/>
              </a:spcAft>
              <a:defRPr sz="1000">
                <a:solidFill>
                  <a:srgbClr val="1A1A1A"/>
                </a:solidFill>
                <a:latin typeface="Consolas"/>
              </a:defRPr>
            </a:pPr>
            <a:r>
              <a:t>Source Identifier  Maps the query to a specific Elasticsearch index</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Elasticsearch Mapping</a:t>
            </a:r>
          </a:p>
          <a:p>
            <a:pPr>
              <a:spcAft>
                <a:spcPts val="800"/>
              </a:spcAft>
              <a:defRPr sz="1600">
                <a:solidFill>
                  <a:srgbClr val="1A1A1A"/>
                </a:solidFill>
              </a:defRPr>
            </a:pPr>
            <a:r>
              <a:t>The exercise provides an Elasticsearch mapping schema at src/SprykerAcademy/Shared/SupplierSearch/Schema/supplier.json . Open it and review:</a:t>
            </a:r>
          </a:p>
          <a:p>
            <a:pPr>
              <a:spcAft>
                <a:spcPts val="400"/>
              </a:spcAft>
              <a:defRPr sz="1500">
                <a:solidFill>
                  <a:srgbClr val="1A1A1A"/>
                </a:solidFill>
              </a:defRPr>
            </a:pPr>
            <a:r>
              <a:t>• The settings define an edge_ngram analyzer for partial matching (typing “Acm” matches “Acme”)</a:t>
            </a:r>
          </a:p>
          <a:p>
            <a:pPr>
              <a:spcAft>
                <a:spcPts val="400"/>
              </a:spcAft>
              <a:defRPr sz="1500">
                <a:solidFill>
                  <a:srgbClr val="1A1A1A"/>
                </a:solidFill>
              </a:defRPr>
            </a:pPr>
            <a:r>
              <a:t>• The mappings define field types: text for searchable fields, keyword for exact match fields</a:t>
            </a:r>
          </a:p>
          <a:p>
            <a:pPr>
              <a:spcAft>
                <a:spcPts val="800"/>
              </a:spcAft>
              <a:defRPr sz="1600">
                <a:solidFill>
                  <a:srgbClr val="1A1A1A"/>
                </a:solidFill>
              </a:defRPr>
            </a:pPr>
            <a:r>
              <a:t>After loading the exercise, run docker/sdk console search:setup to create the index in Elasticsearch.</a:t>
            </a:r>
          </a:p>
          <a:p>
            <a:pPr>
              <a:spcAft>
                <a:spcPts val="800"/>
              </a:spcAft>
              <a:defRPr sz="1400" i="1">
                <a:solidFill>
                  <a:srgbClr val="888888"/>
                </a:solidFill>
              </a:defRPr>
            </a:pPr>
            <a:r>
              <a:t>❝ Index name whitelisting: The schema filename ( supplier.json ) must be whitelisted in SearchElasticsearchConfig for auto-discovery. Check if this is configured in the project.</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Build the Search Query Plugin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query plugin builds the Elastica query that gets sent to Elasticsearch.</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src/SprykerAcademy/Client/SupplierSearch/Plugin/Elasticsearch/Query/SupplierSearchQueryPlugin.php :</a:t>
            </a:r>
          </a:p>
          <a:p>
            <a:pPr>
              <a:spcAft>
                <a:spcPts val="400"/>
              </a:spcAft>
              <a:defRPr sz="1500">
                <a:solidFill>
                  <a:srgbClr val="1A1A1A"/>
                </a:solidFill>
              </a:defRPr>
            </a:pPr>
            <a:r>
              <a:t>• Set the SOURCE_IDENTIFIER constant — this must match the type parameter from the synchronization behavior in pyz_supplier_search.schema.xml</a:t>
            </a:r>
          </a:p>
          <a:p>
            <a:pPr>
              <a:spcAft>
                <a:spcPts val="400"/>
              </a:spcAft>
              <a:defRPr sz="1500">
                <a:solidFill>
                  <a:srgbClr val="1A1A1A"/>
                </a:solidFill>
              </a:defRPr>
            </a:pPr>
            <a:r>
              <a:t>• In getSearchQuery() , build a BoolQuery with two addMust() conditions: An Exists filter ensuring the document has an id_supplier field (only supplier documents) A MatchQuery on the name field with the search term stored in $this-&gt;name</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Build the Search Query Plugin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BoolQuery: Elasticsearch’s boolean query combines multiple conditions with must/should/must_not logic. addMust() means ALL conditions must match (AND logic).</a:t>
            </a:r>
          </a:p>
          <a:p>
            <a:pPr>
              <a:spcAft>
                <a:spcPts val="800"/>
              </a:spcAft>
              <a:defRPr sz="1400" i="1">
                <a:solidFill>
                  <a:srgbClr val="888888"/>
                </a:solidFill>
              </a:defRPr>
            </a:pPr>
            <a:r>
              <a:t>❝ SearchContextAwareQueryInterface: The plugin implements this to tell Spryker which Elasticsearch index to query. The SOURCE_IDENTIFIER gets resolved to the actual index name by the search infrastructure.</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Build the Result Formatter Plugin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result formatter converts raw Elasticsearch results into Spryker Transfer objects.</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src/SprykerAcademy/Client/SupplierSearch/Plugin/Elasticsearch/ResultFormatter/SupplierSearchResultFormatterPlugin.php :</a:t>
            </a:r>
          </a:p>
          <a:p>
            <a:pPr>
              <a:spcAft>
                <a:spcPts val="800"/>
              </a:spcAft>
              <a:defRPr sz="1600">
                <a:solidFill>
                  <a:srgbClr val="1A1A1A"/>
                </a:solidFill>
              </a:defRPr>
            </a:pPr>
            <a:r>
              <a:t>In formatSearchResult() , iterate through the result set, get the source data from the first document, and create a SupplierTransfer from it.</a:t>
            </a:r>
          </a:p>
          <a:p>
            <a:pPr>
              <a:spcAft>
                <a:spcPts val="800"/>
              </a:spcAft>
              <a:defRPr sz="1400" i="1">
                <a:solidFill>
                  <a:srgbClr val="888888"/>
                </a:solidFill>
              </a:defRPr>
            </a:pPr>
            <a:r>
              <a:t>❝ Document source: Each Elasticsearch result has a _source field containing the original JSON document. Elastica provides it via $document-&gt;getSource() , which returns an array.</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Build the Result Formatter Plugin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Transfer fromArray(): Spryker transfers can be populated from arrays: (new SupplierTransfer())-&gt;fromArray($sourceArray) . This works because the keys in Elasticsearch match the transfer property names.</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Wire the Dependencies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4.1 DependencyProvider</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src/SprykerAcademy/Client/SupplierSearch/SupplierSearchDependencyProvider.php :</a:t>
            </a:r>
          </a:p>
          <a:p>
            <a:pPr>
              <a:spcAft>
                <a:spcPts val="400"/>
              </a:spcAft>
              <a:defRPr sz="1500">
                <a:solidFill>
                  <a:srgbClr val="1A1A1A"/>
                </a:solidFill>
              </a:defRPr>
            </a:pPr>
            <a:r>
              <a:t>• In provideServiceLayerDependencies() , call addSearchClient() and addSupplierSearchResultFormatterPlugins()</a:t>
            </a:r>
          </a:p>
          <a:p>
            <a:pPr>
              <a:spcAft>
                <a:spcPts val="400"/>
              </a:spcAft>
              <a:defRPr sz="1500">
                <a:solidFill>
                  <a:srgbClr val="1A1A1A"/>
                </a:solidFill>
              </a:defRPr>
            </a:pPr>
            <a:r>
              <a:t>• In addSearchClient() , provide the core SearchClient via the locator</a:t>
            </a:r>
          </a:p>
          <a:p>
            <a:pPr>
              <a:spcAft>
                <a:spcPts val="400"/>
              </a:spcAft>
              <a:defRPr sz="1500">
                <a:solidFill>
                  <a:srgbClr val="1A1A1A"/>
                </a:solidFill>
              </a:defRPr>
            </a:pPr>
            <a:r>
              <a:t>• In getSupplierSearchResultFormatterPlugins() , return an array containing the SupplierSearchResultFormatterPlugin instance</a:t>
            </a:r>
          </a:p>
          <a:p>
            <a:pPr>
              <a:spcAft>
                <a:spcPts val="800"/>
              </a:spcAft>
              <a:defRPr sz="1400" i="1">
                <a:solidFill>
                  <a:srgbClr val="888888"/>
                </a:solidFill>
              </a:defRPr>
            </a:pPr>
            <a:r>
              <a:t>❝ Client vs Zed DependencyProvider: In the Client layer, the method is provideServiceLayerDependencies() (not provideBusinessLayerDependencies() like in Zed).</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Wire the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4.2 Factory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src/SprykerAcademy/Client/SupplierSearch/SupplierSearchFactory.php :</a:t>
            </a:r>
          </a:p>
          <a:p>
            <a:pPr>
              <a:spcAft>
                <a:spcPts val="400"/>
              </a:spcAft>
              <a:defRPr sz="1500">
                <a:solidFill>
                  <a:srgbClr val="1A1A1A"/>
                </a:solidFill>
              </a:defRPr>
            </a:pPr>
            <a:r>
              <a:t>• getSearchQueryFormatters() — return the formatters from the DependencyProvider</a:t>
            </a:r>
          </a:p>
          <a:p>
            <a:pPr>
              <a:spcAft>
                <a:spcPts val="400"/>
              </a:spcAft>
              <a:defRPr sz="1500">
                <a:solidFill>
                  <a:srgbClr val="1A1A1A"/>
                </a:solidFill>
              </a:defRPr>
            </a:pPr>
            <a:r>
              <a:t>• getSearchClient() — return the SearchClient from the DependencyProvider</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Implement the SupplierSearchClient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client orchestrates the search: creates the query, gets the formatters, executes the search, and returns the result.</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src/SprykerAcademy/Client/SupplierSearch/SupplierSearchClient.php . In getSupplierByName() :</a:t>
            </a:r>
          </a:p>
          <a:p>
            <a:pPr>
              <a:spcAft>
                <a:spcPts val="400"/>
              </a:spcAft>
              <a:defRPr sz="1500">
                <a:solidFill>
                  <a:srgbClr val="1A1A1A"/>
                </a:solidFill>
              </a:defRPr>
            </a:pPr>
            <a:r>
              <a:t>• Create the query plugin via the factory (passing the name)</a:t>
            </a:r>
          </a:p>
          <a:p>
            <a:pPr>
              <a:spcAft>
                <a:spcPts val="400"/>
              </a:spcAft>
              <a:defRPr sz="1500">
                <a:solidFill>
                  <a:srgbClr val="1A1A1A"/>
                </a:solidFill>
              </a:defRPr>
            </a:pPr>
            <a:r>
              <a:t>• Get the result formatter plugins via the factory</a:t>
            </a:r>
          </a:p>
          <a:p>
            <a:pPr>
              <a:spcAft>
                <a:spcPts val="400"/>
              </a:spcAft>
              <a:defRPr sz="1500">
                <a:solidFill>
                  <a:srgbClr val="1A1A1A"/>
                </a:solidFill>
              </a:defRPr>
            </a:pPr>
            <a:r>
              <a:t>• Execute the search using the SearchClient’s search() method (passing query + formatters)</a:t>
            </a:r>
          </a:p>
          <a:p>
            <a:pPr>
              <a:spcAft>
                <a:spcPts val="400"/>
              </a:spcAft>
              <a:defRPr sz="1500">
                <a:solidFill>
                  <a:srgbClr val="1A1A1A"/>
                </a:solidFill>
              </a:defRPr>
            </a:pPr>
            <a:r>
              <a:t>• Return the supplier from the results array using the formatter’s NAME constant as key</a:t>
            </a:r>
          </a:p>
          <a:p>
            <a:pPr>
              <a:spcAft>
                <a:spcPts val="800"/>
              </a:spcAft>
              <a:defRPr sz="1400" i="1">
                <a:solidFill>
                  <a:srgbClr val="888888"/>
                </a:solidFill>
              </a:defRPr>
            </a:pPr>
            <a:r>
              <a:t>❝ SearchClient::search() returns an associative array keyed by formatter names. Since our formatter is named 'supplier' , the result is at $results['supplier'] .</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Display in Yves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exercise provides a SupplierPage Yves module with a route /supplier/{name} . Review these files: - SupplierPageRouteProviderPlugin — registers the route - SupplierPageDependencyProvider — provides the SupplierSearchClient - SupplierPageFactory — accesses the client</a:t>
            </a:r>
          </a:p>
          <a:p>
            <a:pPr>
              <a:spcAft>
                <a:spcPts val="800"/>
              </a:spcAft>
              <a:defRPr sz="1600">
                <a:solidFill>
                  <a:srgbClr val="1A1A1A"/>
                </a:solidFill>
              </a:defRPr>
            </a:pPr>
            <a:r>
              <a:t>The controller uses the SupplierSearchClient to find a supplier by name and passes it to the Twig template.</a:t>
            </a:r>
          </a:p>
          <a:p>
            <a:pPr>
              <a:spcAft>
                <a:spcPts val="800"/>
              </a:spcAft>
              <a:defRPr sz="1600">
                <a:solidFill>
                  <a:srgbClr val="1A1A1A"/>
                </a:solidFill>
              </a:defRPr>
            </a:pPr>
            <a:r>
              <a:t>After completing all parts:</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Aft>
                <a:spcPts val="800"/>
              </a:spcAft>
              <a:defRPr sz="1600">
                <a:solidFill>
                  <a:srgbClr val="1A1A1A"/>
                </a:solidFill>
              </a:defRPr>
            </a:pPr>
            <a:r>
              <a:t>Visit http://yves.eu.spryker.local/supplier/Acme%20Supplies to see the result.</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Ensure suppliers are indexed in Elasticsearch: curl -s 'localhost:9200/_search' -H 'Content-type: application/json' \ -d '{"query":{"exists":{"field":"id_supplier"}}}'</a:t>
            </a:r>
          </a:p>
          <a:p>
            <a:pPr>
              <a:spcAft>
                <a:spcPts val="400"/>
              </a:spcAft>
              <a:defRPr sz="1500">
                <a:solidFill>
                  <a:srgbClr val="1A1A1A"/>
                </a:solidFill>
              </a:defRPr>
            </a:pPr>
            <a:r>
              <a:t>• Visit the Yves page with a known supplier name</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Search</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intermediate/search/complete</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12: Glue Storefront API</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12: Glue Storefront API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expose supplier data through a REST API endpoint using Spryker’s API Platform. You will create a Glue Storefront API resource that provides both single-item and collection endpoints for suppliers.</a:t>
            </a:r>
          </a:p>
          <a:p>
            <a:pPr>
              <a:spcAft>
                <a:spcPts val="800"/>
              </a:spcAft>
              <a:defRPr sz="1600">
                <a:solidFill>
                  <a:srgbClr val="1A1A1A"/>
                </a:solidFill>
              </a:defRPr>
            </a:pPr>
            <a:r>
              <a:t>You will learn how to: - Define an API resource using YAML configuration ( .resource.yml ) - Implement a Provider class that fetches and maps data - Map internal Transfer objects to generated API Resource objects - Work with Spryker’s API Platform (not the legacy GlueApplication approach) - Handle both Get (single) and GetCollection (list) operations</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Exercises 8-11 (Data Import, Back Office, P&amp;S, Search)</a:t>
            </a:r>
          </a:p>
          <a:p>
            <a:pPr>
              <a:spcAft>
                <a:spcPts val="400"/>
              </a:spcAft>
              <a:defRPr sz="1500">
                <a:solidFill>
                  <a:srgbClr val="1A1A1A"/>
                </a:solidFill>
              </a:defRPr>
            </a:pPr>
            <a:r>
              <a:t>• Suppliers should exist in the database</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intermediate/glue-storefront/skeleton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Setup: Register Custom Namespace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API Platform discovers resource YAML files by scanning source directories configured in config/GlueStorefront/packages/spryker_api_platform.php . By default, only src/Spryker , src/SprykerFeature , and src/Pyz are registered.</a:t>
            </a:r>
          </a:p>
          <a:p>
            <a:pPr>
              <a:spcAft>
                <a:spcPts val="800"/>
              </a:spcAft>
              <a:defRPr sz="1600">
                <a:solidFill>
                  <a:srgbClr val="1A1A1A"/>
                </a:solidFill>
              </a:defRPr>
            </a:pPr>
            <a:r>
              <a:t>Since our code lives in src/SprykerAcademy/ , we need to add it:</a:t>
            </a:r>
          </a:p>
          <a:p>
            <a:pPr>
              <a:spcBef>
                <a:spcPts val="0"/>
              </a:spcBef>
              <a:spcAft>
                <a:spcPts val="0"/>
              </a:spcAft>
            </a:pPr>
            <a:r>
              <a:rPr sz="900" i="1">
                <a:solidFill>
                  <a:srgbClr val="60A0B0"/>
                </a:solidFill>
                <a:latin typeface="Consolas"/>
              </a:rPr>
              <a:t>// config/GlueStorefront/packages/spryker_api_platform.php</a:t>
            </a:r>
          </a:p>
          <a:p>
            <a:pPr>
              <a:spcBef>
                <a:spcPts val="0"/>
              </a:spcBef>
              <a:spcAft>
                <a:spcPts val="0"/>
              </a:spcAft>
            </a:pPr>
            <a:r>
              <a:rPr sz="900">
                <a:solidFill>
                  <a:srgbClr val="19177C"/>
                </a:solidFill>
                <a:latin typeface="Consolas"/>
              </a:rPr>
              <a:t>$sprykerApiPlatform</a:t>
            </a:r>
            <a:r>
              <a:rPr sz="900">
                <a:solidFill>
                  <a:srgbClr val="2D2D2D"/>
                </a:solidFill>
                <a:latin typeface="Consolas"/>
              </a:rPr>
              <a:t>-&gt;sourceDirectories([</a:t>
            </a:r>
          </a:p>
          <a:p>
            <a:pPr>
              <a:spcBef>
                <a:spcPts val="0"/>
              </a:spcBef>
              <a:spcAft>
                <a:spcPts val="0"/>
              </a:spcAft>
            </a:pPr>
            <a:r>
              <a:rPr sz="900">
                <a:solidFill>
                  <a:srgbClr val="2D2D2D"/>
                </a:solidFill>
                <a:latin typeface="Consolas"/>
              </a:rPr>
              <a:t>    </a:t>
            </a:r>
            <a:r>
              <a:rPr sz="900">
                <a:solidFill>
                  <a:srgbClr val="4070A0"/>
                </a:solidFill>
                <a:latin typeface="Consolas"/>
              </a:rPr>
              <a:t>'src/Spryker'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'src/SprykerFeature'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'src/Pyz'</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'src/SprykerAcademy'</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&lt;-- Add this</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800"/>
              </a:spcAft>
              <a:defRPr sz="1400" i="1">
                <a:solidFill>
                  <a:srgbClr val="888888"/>
                </a:solidFill>
              </a:defRPr>
            </a:pPr>
            <a:r>
              <a:t>❝ Backend API: If you also need to expose resources via the Backend API, add src/SprykerAcademy to config/GlueBackend/packages/spryker_api_platform.php as well.</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Setup: Register Custom Namespace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adding the source directory, generate the API resources:</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GLUE_APPLICATION=GLUE_STOREFRONT glue api:generate</a:t>
            </a:r>
          </a:p>
          <a:p>
            <a:pPr>
              <a:spcAft>
                <a:spcPts val="800"/>
              </a:spcAft>
              <a:defRPr sz="1400" i="1">
                <a:solidFill>
                  <a:srgbClr val="888888"/>
                </a:solidFill>
              </a:defRPr>
            </a:pPr>
            <a:r>
              <a:t>❝ Important: You must specify the Glue application via the GLUE_APPLICATION environment variable. Without it, the command doesn’t know which API type to generate for and may fail or generate for the wrong application.</a:t>
            </a:r>
          </a:p>
          <a:p>
            <a:pPr>
              <a:spcAft>
                <a:spcPts val="800"/>
              </a:spcAft>
              <a:defRPr sz="1600">
                <a:solidFill>
                  <a:srgbClr val="1A1A1A"/>
                </a:solidFill>
              </a:defRPr>
            </a:pPr>
            <a:r>
              <a:t>This command scans all registered source directories for .resource.yml files and generates PHP Resource classes (e.g., Generated\Api\Storefront\SuppliersStorefrontResource ).</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API Platform Commands Reference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Command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GLUE_APPLICATION=GLUE_STOREFRONT glue api:generate                        Generate Storefront API resources              </a:t>
            </a:r>
          </a:p>
          <a:p>
            <a:pPr>
              <a:spcAft>
                <a:spcPts val="100"/>
              </a:spcAft>
              <a:defRPr sz="1000">
                <a:solidFill>
                  <a:srgbClr val="1A1A1A"/>
                </a:solidFill>
                <a:latin typeface="Consolas"/>
              </a:defRPr>
            </a:pPr>
            <a:r>
              <a:t>GLUE_APPLICATION=GLUE_BACKEND glue api:generate                           Generate Backend API resources                 </a:t>
            </a:r>
          </a:p>
          <a:p>
            <a:pPr>
              <a:spcAft>
                <a:spcPts val="100"/>
              </a:spcAft>
              <a:defRPr sz="1000">
                <a:solidFill>
                  <a:srgbClr val="1A1A1A"/>
                </a:solidFill>
                <a:latin typeface="Consolas"/>
              </a:defRPr>
            </a:pPr>
            <a:r>
              <a:t>GLUE_APPLICATION=GLUE_STOREFRONT glue api:generate --dry-run              Preview what would be generated without writing</a:t>
            </a:r>
          </a:p>
          <a:p>
            <a:pPr>
              <a:spcAft>
                <a:spcPts val="100"/>
              </a:spcAft>
              <a:defRPr sz="1000">
                <a:solidFill>
                  <a:srgbClr val="1A1A1A"/>
                </a:solidFill>
                <a:latin typeface="Consolas"/>
              </a:defRPr>
            </a:pPr>
            <a:r>
              <a:t>GLUE_APPLICATION=GLUE_STOREFRONT glue api:generate --validate-only        Validate schemas without generating            </a:t>
            </a:r>
          </a:p>
          <a:p>
            <a:pPr>
              <a:spcAft>
                <a:spcPts val="100"/>
              </a:spcAft>
              <a:defRPr sz="1000">
                <a:solidFill>
                  <a:srgbClr val="1A1A1A"/>
                </a:solidFill>
                <a:latin typeface="Consolas"/>
              </a:defRPr>
            </a:pPr>
            <a:r>
              <a:t>GLUE_APPLICATION=GLUE_STOREFRONT glue api:generate -r suppliers           Generate only the suppliers resource           </a:t>
            </a:r>
          </a:p>
          <a:p>
            <a:pPr>
              <a:spcAft>
                <a:spcPts val="100"/>
              </a:spcAft>
              <a:defRPr sz="1000">
                <a:solidFill>
                  <a:srgbClr val="1A1A1A"/>
                </a:solidFill>
                <a:latin typeface="Consolas"/>
              </a:defRPr>
            </a:pPr>
            <a:r>
              <a:t>GLUE_APPLICATION=GLUE_STOREFRONT glue api:debug --list                    List all registered resources                  </a:t>
            </a:r>
          </a:p>
          <a:p>
            <a:pPr>
              <a:spcAft>
                <a:spcPts val="100"/>
              </a:spcAft>
              <a:defRPr sz="1000">
                <a:solidFill>
                  <a:srgbClr val="1A1A1A"/>
                </a:solidFill>
                <a:latin typeface="Consolas"/>
              </a:defRPr>
            </a:pPr>
            <a:r>
              <a:t>GLUE_APPLICATION=GLUE_STOREFRONT glue api:debug suppliers                 Inspect a specific resource’s merged schema    </a:t>
            </a:r>
          </a:p>
          <a:p>
            <a:pPr>
              <a:spcAft>
                <a:spcPts val="100"/>
              </a:spcAft>
              <a:defRPr sz="1000">
                <a:solidFill>
                  <a:srgbClr val="1A1A1A"/>
                </a:solidFill>
                <a:latin typeface="Consolas"/>
              </a:defRPr>
            </a:pPr>
            <a:r>
              <a:t>GLUE_APPLICATION=GLUE_STOREFRONT glue api:debug suppliers --show-sources  Show all source files with priority            </a:t>
            </a:r>
          </a:p>
          <a:p>
            <a:pPr>
              <a:spcAft>
                <a:spcPts val="100"/>
              </a:spcAft>
              <a:defRPr sz="1000">
                <a:solidFill>
                  <a:srgbClr val="1A1A1A"/>
                </a:solidFill>
                <a:latin typeface="Consolas"/>
              </a:defRPr>
            </a:pPr>
            <a:r>
              <a:t>GLUE_APPLICATION=GLUE_STOREFRONT glue api:debug suppliers --show-merged   Display the final merged YAML schema</a:t>
            </a:r>
          </a:p>
          <a:p>
            <a:pPr>
              <a:spcAft>
                <a:spcPts val="800"/>
              </a:spcAft>
              <a:defRPr sz="1400" i="1">
                <a:solidFill>
                  <a:srgbClr val="888888"/>
                </a:solidFill>
              </a:defRPr>
            </a:pPr>
            <a:r>
              <a:t>❝ Tip: All glue CLI commands require the GLUE_APPLICATION env var. Prefix every command with GLUE_APPLICATION=GLUE_STOREFRONT or GLUE_APPLICATION=GLUE_BACKEND as needed.</a:t>
            </a:r>
          </a:p>
          <a:p>
            <a:pPr>
              <a:spcAft>
                <a:spcPts val="800"/>
              </a:spcAft>
              <a:defRPr sz="1400" i="1">
                <a:solidFill>
                  <a:srgbClr val="888888"/>
                </a:solidFill>
              </a:defRPr>
            </a:pPr>
            <a:r>
              <a:t>❝ Docs: Spryker API Platform Architecture | Resource Schemas</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API Platform</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202512.0+ introduces API Platform as the recommended approach for building new REST APIs. The existing GlueApplication APIs remain retrocompatible (not deprecated) — they continue to work alongside API Platform.</a:t>
            </a:r>
          </a:p>
          <a:p>
            <a:pPr>
              <a:spcAft>
                <a:spcPts val="800"/>
              </a:spcAft>
              <a:defRPr sz="1600">
                <a:solidFill>
                  <a:srgbClr val="1A1A1A"/>
                </a:solidFill>
              </a:defRPr>
            </a:pPr>
            <a:r>
              <a:t>For all new API development, use API Platform.</a:t>
            </a:r>
          </a:p>
          <a:p>
            <a:pPr>
              <a:spcAft>
                <a:spcPts val="100"/>
              </a:spcAft>
              <a:defRPr sz="1000">
                <a:solidFill>
                  <a:srgbClr val="1A1A1A"/>
                </a:solidFill>
                <a:latin typeface="Consolas"/>
              </a:defRPr>
            </a:pPr>
            <a:r>
              <a:t>Aspect                GlueApplication (retrocompatible)                 API Platform (recommended)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Resource definition   PHP plugin classes                                YAML .resource.yml files                     </a:t>
            </a:r>
          </a:p>
          <a:p>
            <a:pPr>
              <a:spcAft>
                <a:spcPts val="100"/>
              </a:spcAft>
              <a:defRPr sz="1000">
                <a:solidFill>
                  <a:srgbClr val="1A1A1A"/>
                </a:solidFill>
                <a:latin typeface="Consolas"/>
              </a:defRPr>
            </a:pPr>
            <a:r>
              <a:t>Controller            Custom controller extending AbstractRestResource  Provider class implementing ProviderInterface</a:t>
            </a:r>
          </a:p>
          <a:p>
            <a:pPr>
              <a:spcAft>
                <a:spcPts val="100"/>
              </a:spcAft>
              <a:defRPr sz="1000">
                <a:solidFill>
                  <a:srgbClr val="1A1A1A"/>
                </a:solidFill>
                <a:latin typeface="Consolas"/>
              </a:defRPr>
            </a:pPr>
            <a:r>
              <a:t>Registration          Plugin registered in DependencyProvider           Provider referenced in YAML config           </a:t>
            </a:r>
          </a:p>
          <a:p>
            <a:pPr>
              <a:spcAft>
                <a:spcPts val="100"/>
              </a:spcAft>
              <a:defRPr sz="1000">
                <a:solidFill>
                  <a:srgbClr val="1A1A1A"/>
                </a:solidFill>
                <a:latin typeface="Consolas"/>
              </a:defRPr>
            </a:pPr>
            <a:r>
              <a:t>Dependency injection  Factory + DependencyProvider                      Constructor injection (auto-wired)           </a:t>
            </a:r>
          </a:p>
          <a:p>
            <a:pPr>
              <a:spcAft>
                <a:spcPts val="100"/>
              </a:spcAft>
              <a:defRPr sz="1000">
                <a:solidFill>
                  <a:srgbClr val="1A1A1A"/>
                </a:solidFill>
                <a:latin typeface="Consolas"/>
              </a:defRPr>
            </a:pPr>
            <a:r>
              <a:t>Response format       Manual RestResource building                      Generated Resource classes</a:t>
            </a:r>
          </a:p>
          <a:p>
            <a:pPr>
              <a:spcAft>
                <a:spcPts val="800"/>
              </a:spcAft>
              <a:defRPr sz="1600">
                <a:solidFill>
                  <a:srgbClr val="1A1A1A"/>
                </a:solidFill>
              </a:defRPr>
            </a:pPr>
            <a:r>
              <a:t>API Platform flow:</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API Platform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GET /suppliers/1</a:t>
            </a:r>
          </a:p>
          <a:p>
            <a:pPr>
              <a:spcBef>
                <a:spcPts val="0"/>
              </a:spcBef>
              <a:spcAft>
                <a:spcPts val="0"/>
              </a:spcAft>
            </a:pPr>
            <a:r>
              <a:rPr sz="900">
                <a:solidFill>
                  <a:srgbClr val="2D2D2D"/>
                </a:solidFill>
                <a:latin typeface="Consolas"/>
              </a:rPr>
              <a:t>    → YAML resource definition (suppliers.resource.yml)</a:t>
            </a:r>
          </a:p>
          <a:p>
            <a:pPr>
              <a:spcBef>
                <a:spcPts val="0"/>
              </a:spcBef>
              <a:spcAft>
                <a:spcPts val="0"/>
              </a:spcAft>
            </a:pPr>
            <a:r>
              <a:rPr sz="900">
                <a:solidFill>
                  <a:srgbClr val="2D2D2D"/>
                </a:solidFill>
                <a:latin typeface="Consolas"/>
              </a:rPr>
              <a:t>    → Provider::provide($operation, $uriVariables)</a:t>
            </a:r>
          </a:p>
          <a:p>
            <a:pPr>
              <a:spcBef>
                <a:spcPts val="0"/>
              </a:spcBef>
              <a:spcAft>
                <a:spcPts val="0"/>
              </a:spcAft>
            </a:pPr>
            <a:r>
              <a:rPr sz="900">
                <a:solidFill>
                  <a:srgbClr val="2D2D2D"/>
                </a:solidFill>
                <a:latin typeface="Consolas"/>
              </a:rPr>
              <a:t>    → Load data from Client/Facade</a:t>
            </a:r>
          </a:p>
          <a:p>
            <a:pPr>
              <a:spcBef>
                <a:spcPts val="0"/>
              </a:spcBef>
              <a:spcAft>
                <a:spcPts val="0"/>
              </a:spcAft>
            </a:pPr>
            <a:r>
              <a:rPr sz="900">
                <a:solidFill>
                  <a:srgbClr val="2D2D2D"/>
                </a:solidFill>
                <a:latin typeface="Consolas"/>
              </a:rPr>
              <a:t>    → Map Transfer → Generated Resource class</a:t>
            </a:r>
          </a:p>
          <a:p>
            <a:pPr>
              <a:spcBef>
                <a:spcPts val="0"/>
              </a:spcBef>
              <a:spcAft>
                <a:spcPts val="0"/>
              </a:spcAft>
            </a:pPr>
            <a:r>
              <a:rPr sz="900">
                <a:solidFill>
                  <a:srgbClr val="2D2D2D"/>
                </a:solidFill>
                <a:latin typeface="Consolas"/>
              </a:rPr>
              <a:t>    → JSON:API response</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Define the API Resource (YAML)</a:t>
            </a:r>
          </a:p>
          <a:p>
            <a:pPr>
              <a:spcAft>
                <a:spcPts val="800"/>
              </a:spcAft>
              <a:defRPr sz="1600">
                <a:solidFill>
                  <a:srgbClr val="1A1A1A"/>
                </a:solidFill>
              </a:defRPr>
            </a:pPr>
            <a:r>
              <a:t>The API resource definition tells Spryker what endpoints to expose, which Provider handles the requests, and what properties the resource has.</a:t>
            </a:r>
          </a:p>
          <a:p>
            <a:pPr>
              <a:spcAft>
                <a:spcPts val="800"/>
              </a:spcAft>
              <a:defRPr sz="1600">
                <a:solidFill>
                  <a:srgbClr val="1A1A1A"/>
                </a:solidFill>
              </a:defRPr>
            </a:pPr>
            <a:r>
              <a:t>Coding time:</a:t>
            </a:r>
          </a:p>
          <a:p>
            <a:pPr>
              <a:spcAft>
                <a:spcPts val="800"/>
              </a:spcAft>
              <a:defRPr sz="1600">
                <a:solidFill>
                  <a:srgbClr val="1A1A1A"/>
                </a:solidFill>
              </a:defRPr>
            </a:pPr>
            <a:r>
              <a:t>Open src/SprykerAcademy/Glue/SuppliersApi/resources/api/storefront/suppliers.resource.yml :</a:t>
            </a:r>
          </a:p>
          <a:p>
            <a:pPr>
              <a:spcAft>
                <a:spcPts val="400"/>
              </a:spcAft>
              <a:defRPr sz="1500">
                <a:solidFill>
                  <a:srgbClr val="1A1A1A"/>
                </a:solidFill>
              </a:defRPr>
            </a:pPr>
            <a:r>
              <a:t>• Add the provider field pointing to the full class name of the Provider class</a:t>
            </a:r>
          </a:p>
          <a:p>
            <a:pPr>
              <a:spcAft>
                <a:spcPts val="400"/>
              </a:spcAft>
              <a:defRPr sz="1500">
                <a:solidFill>
                  <a:srgbClr val="1A1A1A"/>
                </a:solidFill>
              </a:defRPr>
            </a:pPr>
            <a:r>
              <a:t>• Add the resource properties: name (string), description (string), status (int), email (string), phone (string)</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skeleton already has the resource name, operations (Get + GetCollection), pagination config, and the idSupplier identifier property.</a:t>
            </a:r>
          </a:p>
          <a:p>
            <a:pPr>
              <a:spcAft>
                <a:spcPts val="800"/>
              </a:spcAft>
              <a:defRPr sz="1400" i="1">
                <a:solidFill>
                  <a:srgbClr val="888888"/>
                </a:solidFill>
              </a:defRPr>
            </a:pPr>
            <a:r>
              <a:t>❝ Resource YAML structure: - provider: — full class name of the PHP Provider that handles requests - operations: — list of HTTP operations (Get, GetCollection, Post, Patch, Delete) - properties: — schema definition with types, descriptions, and identifier flag - identifier: true — marks the property used in the URL path (e.g., /suppliers/{idSupplier} )</a:t>
            </a:r>
          </a:p>
          <a:p>
            <a:pPr>
              <a:spcAft>
                <a:spcPts val="800"/>
              </a:spcAft>
              <a:defRPr sz="1600">
                <a:solidFill>
                  <a:srgbClr val="1A1A1A"/>
                </a:solidFill>
              </a:defRPr>
            </a:pPr>
            <a:r>
              <a:t>After modifying the YAML, regenerate: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Aft>
                <a:spcPts val="800"/>
              </a:spcAft>
              <a:defRPr sz="1600">
                <a:solidFill>
                  <a:srgbClr val="1A1A1A"/>
                </a:solidFill>
              </a:defRPr>
            </a:pPr>
            <a:r>
              <a:t>This generates a SuppliersStorefrontResource class in Generated\Api\Storefront\ that the Provider returns.</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Provider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Provider is the core of the API resource. It receives the HTTP request context and returns data. It replaces the controller + reader pattern from the old approach.</a:t>
            </a:r>
          </a:p>
          <a:p>
            <a:pPr>
              <a:spcAft>
                <a:spcPts val="800"/>
              </a:spcAft>
              <a:defRPr sz="1600">
                <a:solidFill>
                  <a:srgbClr val="1A1A1A"/>
                </a:solidFill>
              </a:defRPr>
            </a:pPr>
            <a:r>
              <a:t>Coding time:</a:t>
            </a:r>
          </a:p>
          <a:p>
            <a:pPr>
              <a:spcAft>
                <a:spcPts val="800"/>
              </a:spcAft>
              <a:defRPr sz="1600">
                <a:solidFill>
                  <a:srgbClr val="1A1A1A"/>
                </a:solidFill>
              </a:defRPr>
            </a:pPr>
            <a:r>
              <a:t>Open src/SprykerAcademy/Glue/SuppliersApi/Api/Storefront/Provider/SuppliersStorefrontProvider.php . The class implements ApiPlatform\State\ProviderInterface . In the provide() method:</a:t>
            </a:r>
          </a:p>
          <a:p>
            <a:pPr>
              <a:spcAft>
                <a:spcPts val="400"/>
              </a:spcAft>
              <a:defRPr sz="1500">
                <a:solidFill>
                  <a:srgbClr val="1A1A1A"/>
                </a:solidFill>
              </a:defRPr>
            </a:pPr>
            <a:r>
              <a:t>• Read the supplier identifier from $uriVariables — the key name must match the identifier property in the YAML</a:t>
            </a:r>
          </a:p>
          <a:p>
            <a:pPr>
              <a:spcAft>
                <a:spcPts val="400"/>
              </a:spcAft>
              <a:defRPr sz="1500">
                <a:solidFill>
                  <a:srgbClr val="1A1A1A"/>
                </a:solidFill>
              </a:defRPr>
            </a:pPr>
            <a:r>
              <a:t>• If the identifier is null, this is a collection request — return an array of mapped resources (load all suppliers via the Client)</a:t>
            </a:r>
          </a:p>
          <a:p>
            <a:pPr>
              <a:spcAft>
                <a:spcPts val="400"/>
              </a:spcAft>
              <a:defRPr sz="1500">
                <a:solidFill>
                  <a:srgbClr val="1A1A1A"/>
                </a:solidFill>
              </a:defRPr>
            </a:pPr>
            <a:r>
              <a:t>• If the identifier is present, load the single supplier by ID via the Client</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Provider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If the supplier is not found, return null (API Platform handles the 404)</a:t>
            </a:r>
          </a:p>
          <a:p>
            <a:pPr>
              <a:spcAft>
                <a:spcPts val="400"/>
              </a:spcAft>
              <a:defRPr sz="1500">
                <a:solidFill>
                  <a:srgbClr val="1A1A1A"/>
                </a:solidFill>
              </a:defRPr>
            </a:pPr>
            <a:r>
              <a:t>• Map the SupplierTransfer to a SuppliersStorefrontResource using the provided Mapper</a:t>
            </a:r>
          </a:p>
          <a:p>
            <a:pPr>
              <a:spcAft>
                <a:spcPts val="800"/>
              </a:spcAft>
              <a:defRPr sz="1400" i="1">
                <a:solidFill>
                  <a:srgbClr val="888888"/>
                </a:solidFill>
              </a:defRPr>
            </a:pPr>
            <a:r>
              <a:t>❝ $uriVariables : For a GET request to /suppliers/5 , this array contains ['idSupplier' =&gt; '5'] . The key name comes from the identifier property in the resource YAML.</a:t>
            </a:r>
          </a:p>
          <a:p>
            <a:pPr>
              <a:spcAft>
                <a:spcPts val="800"/>
              </a:spcAft>
              <a:defRPr sz="1400" i="1">
                <a:solidFill>
                  <a:srgbClr val="888888"/>
                </a:solidFill>
              </a:defRPr>
            </a:pPr>
            <a:r>
              <a:t>❝ Collection vs Single: The provide() method handles both. When idSupplier is null, it’s a GetCollection request; when present, it’s a Get request.</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Review the Mapper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Mapper converts internal SupplierTransfer objects to generated SuppliersStorefrontResource objects.</a:t>
            </a:r>
          </a:p>
          <a:p>
            <a:pPr>
              <a:spcAft>
                <a:spcPts val="800"/>
              </a:spcAft>
              <a:defRPr sz="1600">
                <a:solidFill>
                  <a:srgbClr val="1A1A1A"/>
                </a:solidFill>
              </a:defRPr>
            </a:pPr>
            <a:r>
              <a:t>Open src/SprykerAcademy/Glue/SuppliersApi/Processor/Mapper/SupplierMapper.php and review how it maps transfers to API resources.</a:t>
            </a:r>
          </a:p>
          <a:p>
            <a:pPr>
              <a:spcAft>
                <a:spcPts val="800"/>
              </a:spcAft>
              <a:defRPr sz="1400" i="1">
                <a:solidFill>
                  <a:srgbClr val="888888"/>
                </a:solidFill>
              </a:defRPr>
            </a:pPr>
            <a:r>
              <a:t>❝ Generated Resource classes: API Platform generates PHP classes from the YAML properties. These classes have fromArray() and expose the properties defined in the YAML. The Mapper bridges the internal domain model (Transfer) to the API model (Resource).</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Test the Endpoint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completing all parts, generate the API resources and clear cache:</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GLUE_APPLICATION=GLUE_STOREFRONT glue api:generate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Aft>
                <a:spcPts val="800"/>
              </a:spcAft>
              <a:defRPr sz="1600">
                <a:solidFill>
                  <a:srgbClr val="1A1A1A"/>
                </a:solidFill>
              </a:defRPr>
            </a:pPr>
            <a:r>
              <a:t>Test single supplier:</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4070A0"/>
                </a:solidFill>
                <a:latin typeface="Consolas"/>
              </a:rPr>
              <a:t>'http://glue-storefront.eu.spryker.local/suppliers/1'</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'Content-Type: application/vnd.api+json'</a:t>
            </a: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2D2D2D"/>
                </a:solidFill>
                <a:latin typeface="Consolas"/>
              </a:rPr>
              <a:t>python3</a:t>
            </a:r>
            <a:r>
              <a:rPr sz="900">
                <a:solidFill>
                  <a:srgbClr val="2D2D2D"/>
                </a:solidFill>
                <a:latin typeface="Consolas"/>
              </a:rPr>
              <a:t> </a:t>
            </a:r>
            <a:r>
              <a:rPr sz="900">
                <a:solidFill>
                  <a:srgbClr val="2D2D2D"/>
                </a:solidFill>
                <a:latin typeface="Consolas"/>
              </a:rPr>
              <a:t>-m</a:t>
            </a:r>
            <a:r>
              <a:rPr sz="900">
                <a:solidFill>
                  <a:srgbClr val="2D2D2D"/>
                </a:solidFill>
                <a:latin typeface="Consolas"/>
              </a:rPr>
              <a:t> json.tool</a:t>
            </a:r>
          </a:p>
          <a:p>
            <a:pPr>
              <a:spcAft>
                <a:spcPts val="800"/>
              </a:spcAft>
              <a:defRPr sz="1600">
                <a:solidFill>
                  <a:srgbClr val="1A1A1A"/>
                </a:solidFill>
              </a:defRPr>
            </a:pPr>
            <a:r>
              <a:t>Test collection:</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4070A0"/>
                </a:solidFill>
                <a:latin typeface="Consolas"/>
              </a:rPr>
              <a:t>'http://glue-storefront.eu.spryker.local/suppliers'</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'Content-Type: application/vnd.api+json'</a:t>
            </a: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2D2D2D"/>
                </a:solidFill>
                <a:latin typeface="Consolas"/>
              </a:rPr>
              <a:t>python3</a:t>
            </a:r>
            <a:r>
              <a:rPr sz="900">
                <a:solidFill>
                  <a:srgbClr val="2D2D2D"/>
                </a:solidFill>
                <a:latin typeface="Consolas"/>
              </a:rPr>
              <a:t> </a:t>
            </a:r>
            <a:r>
              <a:rPr sz="900">
                <a:solidFill>
                  <a:srgbClr val="2D2D2D"/>
                </a:solidFill>
                <a:latin typeface="Consolas"/>
              </a:rPr>
              <a:t>-m</a:t>
            </a:r>
            <a:r>
              <a:rPr sz="900">
                <a:solidFill>
                  <a:srgbClr val="2D2D2D"/>
                </a:solidFill>
                <a:latin typeface="Consolas"/>
              </a:rPr>
              <a:t> json.tool</a:t>
            </a:r>
          </a:p>
          <a:p>
            <a:pPr>
              <a:spcAft>
                <a:spcPts val="800"/>
              </a:spcAft>
              <a:defRPr sz="1600">
                <a:solidFill>
                  <a:srgbClr val="1A1A1A"/>
                </a:solidFill>
              </a:defRPr>
            </a:pPr>
            <a:r>
              <a:t>Expected response format:</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Test the Endpoint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"data"</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"suppliers"</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a:t>
            </a:r>
            <a:r>
              <a:rPr sz="900">
                <a:solidFill>
                  <a:srgbClr val="06287E"/>
                </a:solidFill>
                <a:latin typeface="Consolas"/>
              </a:rPr>
              <a:t>:</a:t>
            </a:r>
            <a:r>
              <a:rPr sz="900">
                <a:solidFill>
                  <a:srgbClr val="2D2D2D"/>
                </a:solidFill>
                <a:latin typeface="Consolas"/>
              </a:rPr>
              <a:t> </a:t>
            </a:r>
            <a:r>
              <a:rPr sz="900">
                <a:solidFill>
                  <a:srgbClr val="4070A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"attributes"</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"name"</a:t>
            </a:r>
            <a:r>
              <a:rPr sz="900">
                <a:solidFill>
                  <a:srgbClr val="06287E"/>
                </a:solidFill>
                <a:latin typeface="Consolas"/>
              </a:rPr>
              <a:t>:</a:t>
            </a:r>
            <a:r>
              <a:rPr sz="900">
                <a:solidFill>
                  <a:srgbClr val="2D2D2D"/>
                </a:solidFill>
                <a:latin typeface="Consolas"/>
              </a:rPr>
              <a:t> </a:t>
            </a:r>
            <a:r>
              <a:rPr sz="900">
                <a:solidFill>
                  <a:srgbClr val="4070A0"/>
                </a:solidFill>
                <a:latin typeface="Consolas"/>
              </a:rPr>
              <a:t>"Acme Supplies"</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"description"</a:t>
            </a:r>
            <a:r>
              <a:rPr sz="900">
                <a:solidFill>
                  <a:srgbClr val="06287E"/>
                </a:solidFill>
                <a:latin typeface="Consolas"/>
              </a:rPr>
              <a:t>:</a:t>
            </a:r>
            <a:r>
              <a:rPr sz="900">
                <a:solidFill>
                  <a:srgbClr val="2D2D2D"/>
                </a:solidFill>
                <a:latin typeface="Consolas"/>
              </a:rPr>
              <a:t> </a:t>
            </a:r>
            <a:r>
              <a:rPr sz="900">
                <a:solidFill>
                  <a:srgbClr val="4070A0"/>
                </a:solidFill>
                <a:latin typeface="Consolas"/>
              </a:rPr>
              <a:t>"leading supplier of industrial equipment"</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"status"</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"email"</a:t>
            </a:r>
            <a:r>
              <a:rPr sz="900">
                <a:solidFill>
                  <a:srgbClr val="06287E"/>
                </a:solidFill>
                <a:latin typeface="Consolas"/>
              </a:rPr>
              <a:t>:</a:t>
            </a:r>
            <a:r>
              <a:rPr sz="900">
                <a:solidFill>
                  <a:srgbClr val="2D2D2D"/>
                </a:solidFill>
                <a:latin typeface="Consolas"/>
              </a:rPr>
              <a:t> </a:t>
            </a:r>
            <a:r>
              <a:rPr sz="900">
                <a:solidFill>
                  <a:srgbClr val="4070A0"/>
                </a:solidFill>
                <a:latin typeface="Consolas"/>
              </a:rPr>
              <a:t>"contact@acmesupplies.com"</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"phone"</a:t>
            </a:r>
            <a:r>
              <a:rPr sz="900">
                <a:solidFill>
                  <a:srgbClr val="06287E"/>
                </a:solidFill>
                <a:latin typeface="Consolas"/>
              </a:rPr>
              <a:t>:</a:t>
            </a:r>
            <a:r>
              <a:rPr sz="900">
                <a:solidFill>
                  <a:srgbClr val="2D2D2D"/>
                </a:solidFill>
                <a:latin typeface="Consolas"/>
              </a:rPr>
              <a:t> </a:t>
            </a:r>
            <a:r>
              <a:rPr sz="900">
                <a:solidFill>
                  <a:srgbClr val="4070A0"/>
                </a:solidFill>
                <a:latin typeface="Consolas"/>
              </a:rPr>
              <a:t>"+1-555-1234"</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06287E"/>
                </a:solidFill>
                <a:latin typeface="Consolas"/>
              </a:rPr>
              <a:t>}</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API Platform vs Legacy</a:t>
            </a:r>
          </a:p>
          <a:p>
            <a:pPr>
              <a:spcAft>
                <a:spcPts val="800"/>
              </a:spcAft>
              <a:defRPr sz="1600">
                <a:solidFill>
                  <a:srgbClr val="1A1A1A"/>
                </a:solidFill>
              </a:defRPr>
            </a:pPr>
            <a:r>
              <a:t>With API Platform, there’s no need for : - DependencyProvider in the Glue layer (constructor injection is auto-wired) - Factory in the Glue layer - Controller class (the Provider IS the handler) - Plugin registration in GlueStorefrontApiApplicationDependencyProvider</a:t>
            </a:r>
          </a:p>
          <a:p>
            <a:pPr>
              <a:spcAft>
                <a:spcPts val="800"/>
              </a:spcAft>
              <a:defRPr sz="1600">
                <a:solidFill>
                  <a:srgbClr val="1A1A1A"/>
                </a:solidFill>
              </a:defRPr>
            </a:pPr>
            <a:r>
              <a:t>Everything is defined in YAML + one Provider class.</a:t>
            </a:r>
          </a:p>
          <a:p>
            <a:pPr>
              <a:spcBef>
                <a:spcPts val="1200"/>
              </a:spcBef>
              <a:spcAft>
                <a:spcPts val="600"/>
              </a:spcAft>
              <a:defRPr sz="2000" b="1">
                <a:solidFill>
                  <a:srgbClr val="1A1A1A"/>
                </a:solidFill>
              </a:defRPr>
            </a:pPr>
            <a:r>
              <a:t>Provider Pattern</a:t>
            </a:r>
          </a:p>
          <a:p>
            <a:pPr>
              <a:spcAft>
                <a:spcPts val="800"/>
              </a:spcAft>
              <a:defRPr sz="1600">
                <a:solidFill>
                  <a:srgbClr val="1A1A1A"/>
                </a:solidFill>
              </a:defRPr>
            </a:pPr>
            <a:r>
              <a:t>The Provider implements a single method:</a:t>
            </a:r>
          </a:p>
          <a:p>
            <a:pPr>
              <a:spcBef>
                <a:spcPts val="0"/>
              </a:spcBef>
              <a:spcAft>
                <a:spcPts val="0"/>
              </a:spcAft>
            </a:pPr>
            <a:r>
              <a:rPr sz="900">
                <a:solidFill>
                  <a:srgbClr val="2D2D2D"/>
                </a:solidFill>
                <a:latin typeface="Consolas"/>
              </a:rPr>
              <a:t>provide(Operation $operation, array $uriVariables, array $context): object|array|null</a:t>
            </a:r>
          </a:p>
          <a:p>
            <a:pPr>
              <a:spcAft>
                <a:spcPts val="400"/>
              </a:spcAft>
              <a:defRPr sz="1500">
                <a:solidFill>
                  <a:srgbClr val="1A1A1A"/>
                </a:solidFill>
              </a:defRPr>
            </a:pPr>
            <a:r>
              <a:t>• Return an object → single resource response</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Return an array → collection response</a:t>
            </a:r>
          </a:p>
          <a:p>
            <a:pPr>
              <a:spcAft>
                <a:spcPts val="400"/>
              </a:spcAft>
              <a:defRPr sz="1500">
                <a:solidFill>
                  <a:srgbClr val="1A1A1A"/>
                </a:solidFill>
              </a:defRPr>
            </a:pPr>
            <a:r>
              <a:t>• Return null → 404 response</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GlueApi</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intermediate/glue-storefront/complete</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13: Order Management System (OMS)</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13: Order Management System (OMS)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complete order management process using Spryker’s OMS State Machine. You will define states, transitions, events, commands, and conditions in XML, then implement the command and condition plugins in PHP.</a:t>
            </a:r>
          </a:p>
          <a:p>
            <a:pPr>
              <a:spcAft>
                <a:spcPts val="800"/>
              </a:spcAft>
              <a:defRPr sz="1600">
                <a:solidFill>
                  <a:srgbClr val="1A1A1A"/>
                </a:solidFill>
              </a:defRPr>
            </a:pPr>
            <a:r>
              <a:t>You will learn how to: - Define states with reserved and display properties - Create transitions between states with events and conditions - Add commands (business logic) and conditions (routing logic) to the state machine - Implement CommandByOrderInterface and ConditionInterface plugins - Register OMS plugins in the DependencyProvider - Visualize and test the state machine in the Back Office - Mark the “happy path” for visual representation</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 running Spryker demo shop with products available for checkout</a:t>
            </a:r>
          </a:p>
          <a:p>
            <a:pPr>
              <a:spcAft>
                <a:spcPts val="400"/>
              </a:spcAft>
              <a:defRPr sz="1500">
                <a:solidFill>
                  <a:srgbClr val="1A1A1A"/>
                </a:solidFill>
              </a:defRPr>
            </a:pPr>
            <a:r>
              <a:t>• Understanding of the Facade and DependencyProvider patterns</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intermediate/oms/skeleton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OMS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Spryker’s Order Management System uses an XML-based state machine to define the lifecycle of an order. Each order item moves through states based on events, commands, and conditions.</a:t>
            </a:r>
          </a:p>
          <a:p>
            <a:pPr>
              <a:spcBef>
                <a:spcPts val="0"/>
              </a:spcBef>
              <a:spcAft>
                <a:spcPts val="0"/>
              </a:spcAft>
            </a:pPr>
            <a:r>
              <a:rPr sz="900">
                <a:solidFill>
                  <a:srgbClr val="2D2D2D"/>
                </a:solidFill>
                <a:latin typeface="Consolas"/>
              </a:rPr>
              <a:t>State Machine XML (config/Zed/oms/Demo01.xml)</a:t>
            </a:r>
          </a:p>
          <a:p>
            <a:pPr>
              <a:spcBef>
                <a:spcPts val="0"/>
              </a:spcBef>
              <a:spcAft>
                <a:spcPts val="0"/>
              </a:spcAft>
            </a:pPr>
            <a:r>
              <a:rPr sz="900">
                <a:solidFill>
                  <a:srgbClr val="2D2D2D"/>
                </a:solidFill>
                <a:latin typeface="Consolas"/>
              </a:rPr>
              <a:t>    ├── States      — positions in the workflow (new, paid, shipped, closed)</a:t>
            </a:r>
          </a:p>
          <a:p>
            <a:pPr>
              <a:spcBef>
                <a:spcPts val="0"/>
              </a:spcBef>
              <a:spcAft>
                <a:spcPts val="0"/>
              </a:spcAft>
            </a:pPr>
            <a:r>
              <a:rPr sz="900">
                <a:solidFill>
                  <a:srgbClr val="2D2D2D"/>
                </a:solidFill>
                <a:latin typeface="Consolas"/>
              </a:rPr>
              <a:t>    ├── Transitions — connections between states (source → target)</a:t>
            </a:r>
          </a:p>
          <a:p>
            <a:pPr>
              <a:spcBef>
                <a:spcPts val="0"/>
              </a:spcBef>
              <a:spcAft>
                <a:spcPts val="0"/>
              </a:spcAft>
            </a:pPr>
            <a:r>
              <a:rPr sz="900">
                <a:solidFill>
                  <a:srgbClr val="2D2D2D"/>
                </a:solidFill>
                <a:latin typeface="Consolas"/>
              </a:rPr>
              <a:t>    ├── Events      — triggers for transitions (manual, onEnter, timeout)</a:t>
            </a:r>
          </a:p>
          <a:p>
            <a:pPr>
              <a:spcBef>
                <a:spcPts val="0"/>
              </a:spcBef>
              <a:spcAft>
                <a:spcPts val="0"/>
              </a:spcAft>
            </a:pPr>
            <a:r>
              <a:rPr sz="900">
                <a:solidFill>
                  <a:srgbClr val="2D2D2D"/>
                </a:solidFill>
                <a:latin typeface="Consolas"/>
              </a:rPr>
              <a:t>    ├── Commands    — PHP plugins that execute business logic</a:t>
            </a:r>
          </a:p>
          <a:p>
            <a:pPr>
              <a:spcBef>
                <a:spcPts val="0"/>
              </a:spcBef>
              <a:spcAft>
                <a:spcPts val="0"/>
              </a:spcAft>
            </a:pPr>
            <a:r>
              <a:rPr sz="900">
                <a:solidFill>
                  <a:srgbClr val="2D2D2D"/>
                </a:solidFill>
                <a:latin typeface="Consolas"/>
              </a:rPr>
              <a:t>    └── Conditions  — PHP plugins that decide which transition to take</a:t>
            </a:r>
          </a:p>
          <a:p>
            <a:pPr>
              <a:spcAft>
                <a:spcPts val="800"/>
              </a:spcAft>
              <a:defRPr sz="1600">
                <a:solidFill>
                  <a:srgbClr val="1A1A1A"/>
                </a:solidFill>
              </a:defRPr>
            </a:pPr>
            <a:r>
              <a:t>Key concepts:</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OMS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Concept     XML Element                   PHP Interface            Purpose                   </a:t>
            </a:r>
          </a:p>
          <a:p>
            <a:pPr>
              <a:spcAft>
                <a:spcPts val="100"/>
              </a:spcAft>
              <a:defRPr sz="1000">
                <a:solidFill>
                  <a:srgbClr val="1A1A1A"/>
                </a:solidFill>
                <a:latin typeface="Consolas"/>
              </a:defRPr>
            </a:pPr>
            <a:r>
              <a:t>----------  ----------------------------  -----------------------  --------------------------</a:t>
            </a:r>
          </a:p>
          <a:p>
            <a:pPr>
              <a:spcAft>
                <a:spcPts val="100"/>
              </a:spcAft>
              <a:defRPr sz="1000">
                <a:solidFill>
                  <a:srgbClr val="1A1A1A"/>
                </a:solidFill>
                <a:latin typeface="Consolas"/>
              </a:defRPr>
            </a:pPr>
            <a:r>
              <a:t>State       &lt;state name="new"/&gt;           —                        Order’s current position  </a:t>
            </a:r>
          </a:p>
          <a:p>
            <a:pPr>
              <a:spcAft>
                <a:spcPts val="100"/>
              </a:spcAft>
              <a:defRPr sz="1000">
                <a:solidFill>
                  <a:srgbClr val="1A1A1A"/>
                </a:solidFill>
                <a:latin typeface="Consolas"/>
              </a:defRPr>
            </a:pPr>
            <a:r>
              <a:t>Transition  &lt;transition&gt;                  —                        Connects two states       </a:t>
            </a:r>
          </a:p>
          <a:p>
            <a:pPr>
              <a:spcAft>
                <a:spcPts val="100"/>
              </a:spcAft>
              <a:defRPr sz="1000">
                <a:solidFill>
                  <a:srgbClr val="1A1A1A"/>
                </a:solidFill>
                <a:latin typeface="Consolas"/>
              </a:defRPr>
            </a:pPr>
            <a:r>
              <a:t>Event       &lt;event name="pay"/&gt;           —                        Triggers a transition     </a:t>
            </a:r>
          </a:p>
          <a:p>
            <a:pPr>
              <a:spcAft>
                <a:spcPts val="100"/>
              </a:spcAft>
              <a:defRPr sz="1000">
                <a:solidFill>
                  <a:srgbClr val="1A1A1A"/>
                </a:solidFill>
                <a:latin typeface="Consolas"/>
              </a:defRPr>
            </a:pPr>
            <a:r>
              <a:t>Command     command="Oms/Pay"             CommandByOrderInterface  Executes logic on event   </a:t>
            </a:r>
          </a:p>
          <a:p>
            <a:pPr>
              <a:spcAft>
                <a:spcPts val="100"/>
              </a:spcAft>
              <a:defRPr sz="1000">
                <a:solidFill>
                  <a:srgbClr val="1A1A1A"/>
                </a:solidFill>
                <a:latin typeface="Consolas"/>
              </a:defRPr>
            </a:pPr>
            <a:r>
              <a:t>Condition   condition="Oms/IsAuthorized"  ConditionInterface       Routes to different states</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Enable the State Machine</a:t>
            </a:r>
          </a:p>
          <a:p>
            <a:pPr>
              <a:spcAft>
                <a:spcPts val="800"/>
              </a:spcAft>
              <a:defRPr sz="1600">
                <a:solidFill>
                  <a:srgbClr val="1A1A1A"/>
                </a:solidFill>
              </a:defRPr>
            </a:pPr>
            <a:r>
              <a:t>The OMS process must be registered as an active process and mapped to a payment method.</a:t>
            </a:r>
          </a:p>
          <a:p>
            <a:pPr>
              <a:spcAft>
                <a:spcPts val="800"/>
              </a:spcAft>
              <a:defRPr sz="1600">
                <a:solidFill>
                  <a:srgbClr val="1A1A1A"/>
                </a:solidFill>
              </a:defRPr>
            </a:pPr>
            <a:r>
              <a:t>Coding time:</a:t>
            </a:r>
          </a:p>
          <a:p>
            <a:pPr>
              <a:spcAft>
                <a:spcPts val="800"/>
              </a:spcAft>
              <a:defRPr sz="1600">
                <a:solidFill>
                  <a:srgbClr val="1A1A1A"/>
                </a:solidFill>
              </a:defRPr>
            </a:pPr>
            <a:r>
              <a:t>Open config/Shared/common/config_oms-development.php :</a:t>
            </a:r>
          </a:p>
          <a:p>
            <a:pPr>
              <a:spcAft>
                <a:spcPts val="400"/>
              </a:spcAft>
              <a:defRPr sz="1500">
                <a:solidFill>
                  <a:srgbClr val="1A1A1A"/>
                </a:solidFill>
              </a:defRPr>
            </a:pPr>
            <a:r>
              <a:t>• Add the state machine name to the list of active processes. The name must match the XML filename without the .xml extension (e.g., 'Demo01' ).</a:t>
            </a:r>
          </a:p>
          <a:p>
            <a:pPr>
              <a:spcAft>
                <a:spcPts val="400"/>
              </a:spcAft>
              <a:defRPr sz="1500">
                <a:solidFill>
                  <a:srgbClr val="1A1A1A"/>
                </a:solidFill>
              </a:defRPr>
            </a:pPr>
            <a:r>
              <a:t>• Map the state machine to the invoice payment method by replacing the current process name with your new one.</a:t>
            </a:r>
          </a:p>
          <a:p>
            <a:pPr>
              <a:spcAft>
                <a:spcPts val="800"/>
              </a:spcAft>
              <a:defRPr sz="1400" i="1">
                <a:solidFill>
                  <a:srgbClr val="888888"/>
                </a:solidFill>
              </a:defRPr>
            </a:pPr>
            <a:r>
              <a:t>❝ Verify: Visit http://backoffice.eu.spryker.local/oms — the Demo01 process should be listed. Clicking it shows a blank page (the state machine is still empty).</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Define States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States represent the positions an order item can be in during its lifecycle.</a:t>
            </a:r>
          </a:p>
          <a:p>
            <a:pPr>
              <a:spcAft>
                <a:spcPts val="800"/>
              </a:spcAft>
              <a:defRPr sz="1600">
                <a:solidFill>
                  <a:srgbClr val="1A1A1A"/>
                </a:solidFill>
              </a:defRPr>
            </a:pPr>
            <a:r>
              <a:t>Coding time:</a:t>
            </a:r>
          </a:p>
          <a:p>
            <a:pPr>
              <a:spcAft>
                <a:spcPts val="800"/>
              </a:spcAft>
              <a:defRPr sz="1600">
                <a:solidFill>
                  <a:srgbClr val="1A1A1A"/>
                </a:solidFill>
              </a:defRPr>
            </a:pPr>
            <a:r>
              <a:t>Open config/Zed/oms/Demo01.xml . Inside the &lt;states&gt; element, add the following states: - new (reserved) - payment pending (reserved) - invalid - payment authorized (reserved) - paid (reserved) - closed</a:t>
            </a:r>
          </a:p>
          <a:p>
            <a:pPr>
              <a:spcAft>
                <a:spcPts val="800"/>
              </a:spcAft>
              <a:defRPr sz="1400" i="1">
                <a:solidFill>
                  <a:srgbClr val="888888"/>
                </a:solidFill>
              </a:defRPr>
            </a:pPr>
            <a:r>
              <a:t>❝ reserved="true" : Reserved states indicate that the order item is still “active” — the associated stock is reserved. Non-reserved states (like closed or invalid ) release the stock reservation. display attribute: Optional — provides a translation key for the Back Office UI (e.g., display="oms.state.new" ).</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Define States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adding states, refresh the OMS visualization in the Back Office — you should see all states displayed.</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Define Transitions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Transitions connect states. They define how an order item moves from one state to another.</a:t>
            </a:r>
          </a:p>
          <a:p>
            <a:pPr>
              <a:spcAft>
                <a:spcPts val="800"/>
              </a:spcAft>
              <a:defRPr sz="1600">
                <a:solidFill>
                  <a:srgbClr val="1A1A1A"/>
                </a:solidFill>
              </a:defRPr>
            </a:pPr>
            <a:r>
              <a:t>Coding time:</a:t>
            </a:r>
          </a:p>
          <a:p>
            <a:pPr>
              <a:spcAft>
                <a:spcPts val="800"/>
              </a:spcAft>
              <a:defRPr sz="1600">
                <a:solidFill>
                  <a:srgbClr val="1A1A1A"/>
                </a:solidFill>
              </a:defRPr>
            </a:pPr>
            <a:r>
              <a:t>In the same file, inside the &lt;transitions&gt; element, add transitions:</a:t>
            </a:r>
          </a:p>
          <a:p>
            <a:pPr>
              <a:spcAft>
                <a:spcPts val="400"/>
              </a:spcAft>
              <a:defRPr sz="1500">
                <a:solidFill>
                  <a:srgbClr val="1A1A1A"/>
                </a:solidFill>
              </a:defRPr>
            </a:pPr>
            <a:r>
              <a:t>• new → payment pending</a:t>
            </a:r>
          </a:p>
          <a:p>
            <a:pPr>
              <a:spcAft>
                <a:spcPts val="400"/>
              </a:spcAft>
              <a:defRPr sz="1500">
                <a:solidFill>
                  <a:srgbClr val="1A1A1A"/>
                </a:solidFill>
              </a:defRPr>
            </a:pPr>
            <a:r>
              <a:t>• new → invalid</a:t>
            </a:r>
          </a:p>
          <a:p>
            <a:pPr>
              <a:spcAft>
                <a:spcPts val="400"/>
              </a:spcAft>
              <a:defRPr sz="1500">
                <a:solidFill>
                  <a:srgbClr val="1A1A1A"/>
                </a:solidFill>
              </a:defRPr>
            </a:pPr>
            <a:r>
              <a:t>• payment pending → payment authorized</a:t>
            </a:r>
          </a:p>
          <a:p>
            <a:pPr>
              <a:spcAft>
                <a:spcPts val="400"/>
              </a:spcAft>
              <a:defRPr sz="1500">
                <a:solidFill>
                  <a:srgbClr val="1A1A1A"/>
                </a:solidFill>
              </a:defRPr>
            </a:pPr>
            <a:r>
              <a:t>• payment authorized → paid (auto-transition, no event)</a:t>
            </a:r>
          </a:p>
          <a:p>
            <a:pPr>
              <a:spcAft>
                <a:spcPts val="400"/>
              </a:spcAft>
              <a:defRPr sz="1500">
                <a:solidFill>
                  <a:srgbClr val="1A1A1A"/>
                </a:solidFill>
              </a:defRPr>
            </a:pPr>
            <a:r>
              <a:t>• paid → closed (auto-transition, no event)</a:t>
            </a:r>
          </a:p>
          <a:p>
            <a:pPr>
              <a:spcAft>
                <a:spcPts val="800"/>
              </a:spcAft>
              <a:defRPr sz="1400" i="1">
                <a:solidFill>
                  <a:srgbClr val="888888"/>
                </a:solidFill>
              </a:defRPr>
            </a:pPr>
            <a:r>
              <a:t>❝ Auto-transitions: Transitions without an event happen automatically when the order enters the source state. Use them for states that should flow through immediately.</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Define Events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Events are the triggers that cause transitions to happen. They can be: - onEnter="true" — triggered automatically when entering the target state - manual="true" — triggered by a user clicking a button in the Back Office - timeout="N days" — triggered after a time delay - command="Module/Name" — executes a PHP plugin when the event fires</a:t>
            </a:r>
          </a:p>
          <a:p>
            <a:pPr>
              <a:spcAft>
                <a:spcPts val="800"/>
              </a:spcAft>
              <a:defRPr sz="1600">
                <a:solidFill>
                  <a:srgbClr val="1A1A1A"/>
                </a:solidFill>
              </a:defRPr>
            </a:pPr>
            <a:r>
              <a:t>Coding time:</a:t>
            </a:r>
          </a:p>
          <a:p>
            <a:pPr>
              <a:spcAft>
                <a:spcPts val="800"/>
              </a:spcAft>
              <a:defRPr sz="1600">
                <a:solidFill>
                  <a:srgbClr val="1A1A1A"/>
                </a:solidFill>
              </a:defRPr>
            </a:pPr>
            <a:r>
              <a:t>In the &lt;events&gt; element, add: - authorize — with onEnter="true" and manual="true" - pay — with onEnter="true" and manual="true"</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Assign Events to Transitions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Connect events to transitions so the state machine knows which event triggers which transition.</a:t>
            </a:r>
          </a:p>
          <a:p>
            <a:pPr>
              <a:spcAft>
                <a:spcPts val="800"/>
              </a:spcAft>
              <a:defRPr sz="1600">
                <a:solidFill>
                  <a:srgbClr val="1A1A1A"/>
                </a:solidFill>
              </a:defRPr>
            </a:pPr>
            <a:r>
              <a:t>Coding time:</a:t>
            </a:r>
          </a:p>
          <a:p>
            <a:pPr>
              <a:spcAft>
                <a:spcPts val="800"/>
              </a:spcAft>
              <a:defRPr sz="1600">
                <a:solidFill>
                  <a:srgbClr val="1A1A1A"/>
                </a:solidFill>
              </a:defRPr>
            </a:pPr>
            <a:r>
              <a:t>Update the transitions to include &lt;event&gt; elements: - new → payment pending with the authorize event - new → invalid with the authorize event - payment pending → payment authorized with the pay event</a:t>
            </a:r>
          </a:p>
          <a:p>
            <a:pPr>
              <a:spcAft>
                <a:spcPts val="800"/>
              </a:spcAft>
              <a:defRPr sz="1400" i="1">
                <a:solidFill>
                  <a:srgbClr val="888888"/>
                </a:solidFill>
              </a:defRPr>
            </a:pPr>
            <a:r>
              <a:t>❝ Two transitions with the same event: When authorize fires from the new state, the system needs a condition to decide which transition to take (→ payment pending or → invalid ). We’ll add that next.</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Add Command and Condition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6.1 Add Command to State Machine XML</a:t>
            </a:r>
          </a:p>
          <a:p>
            <a:pPr>
              <a:spcAft>
                <a:spcPts val="800"/>
              </a:spcAft>
              <a:defRPr sz="1600">
                <a:solidFill>
                  <a:srgbClr val="1A1A1A"/>
                </a:solidFill>
              </a:defRPr>
            </a:pPr>
            <a:r>
              <a:t>A command executes PHP logic when an event triggers. Add the command attribute to the authorize event:</a:t>
            </a:r>
          </a:p>
          <a:p>
            <a:pPr>
              <a:spcBef>
                <a:spcPts val="0"/>
              </a:spcBef>
              <a:spcAft>
                <a:spcPts val="0"/>
              </a:spcAft>
            </a:pPr>
            <a:r>
              <a:rPr sz="900">
                <a:solidFill>
                  <a:srgbClr val="2D2D2D"/>
                </a:solidFill>
                <a:latin typeface="Consolas"/>
              </a:rPr>
              <a:t>command="Demo/Pay"</a:t>
            </a:r>
          </a:p>
          <a:p>
            <a:pPr>
              <a:spcAft>
                <a:spcPts val="800"/>
              </a:spcAft>
              <a:defRPr sz="1600">
                <a:solidFill>
                  <a:srgbClr val="1A1A1A"/>
                </a:solidFill>
              </a:defRPr>
            </a:pPr>
            <a:r>
              <a:t>The string Demo/Pay is a key that maps to a PHP plugin registered in the DependencyProvider.</a:t>
            </a:r>
          </a:p>
          <a:p>
            <a:pPr>
              <a:spcBef>
                <a:spcPts val="800"/>
              </a:spcBef>
              <a:spcAft>
                <a:spcPts val="400"/>
              </a:spcAft>
              <a:defRPr sz="1700" b="1">
                <a:solidFill>
                  <a:srgbClr val="1A1A1A"/>
                </a:solidFill>
              </a:defRPr>
            </a:pPr>
            <a:r>
              <a:t>6.2 Add Condition to State Machine XML</a:t>
            </a:r>
          </a:p>
          <a:p>
            <a:pPr>
              <a:spcAft>
                <a:spcPts val="800"/>
              </a:spcAft>
              <a:defRPr sz="1600">
                <a:solidFill>
                  <a:srgbClr val="1A1A1A"/>
                </a:solidFill>
              </a:defRPr>
            </a:pPr>
            <a:r>
              <a:t>A condition decides which transition to take when multiple transitions share the same event from the same source state. Add the condition attribute to the transition from new → payment pending :</a:t>
            </a:r>
          </a:p>
          <a:p>
            <a:pPr>
              <a:spcBef>
                <a:spcPts val="0"/>
              </a:spcBef>
              <a:spcAft>
                <a:spcPts val="0"/>
              </a:spcAft>
            </a:pPr>
            <a:r>
              <a:rPr sz="900">
                <a:solidFill>
                  <a:srgbClr val="2D2D2D"/>
                </a:solidFill>
                <a:latin typeface="Consolas"/>
              </a:rPr>
              <a:t>condition="Demo/IsAuthorized"</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Add Command and Condition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When the condition returns true , the order goes to payment pending (happy path). When false , it goes to invalid .</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Implement the Command Plugin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src/SprykerAcademy/Zed/Oms/Communication/Plugin/Oms/Command/PayCommandPlugin.php . Implement the run() method from CommandByOrderInterface .</a:t>
            </a:r>
          </a:p>
          <a:p>
            <a:pPr>
              <a:spcAft>
                <a:spcPts val="800"/>
              </a:spcAft>
              <a:defRPr sz="1600">
                <a:solidFill>
                  <a:srgbClr val="1A1A1A"/>
                </a:solidFill>
              </a:defRPr>
            </a:pPr>
            <a:r>
              <a:t>The method receives the order items, the order entity, and a data object. For this exercise, return an empty array.</a:t>
            </a:r>
          </a:p>
          <a:p>
            <a:pPr>
              <a:spcAft>
                <a:spcPts val="800"/>
              </a:spcAft>
              <a:defRPr sz="1400" i="1">
                <a:solidFill>
                  <a:srgbClr val="888888"/>
                </a:solidFill>
              </a:defRPr>
            </a:pPr>
            <a:r>
              <a:t>❝ In production: The command would call a payment gateway, update order data, send notifications, etc. The empty implementation is just for the exercise. Method signature: Check vendor/spryker/oms/src/Spryker/Zed/Oms/Dependency/Plugin/Command/CommandByOrderInterface.php for the exact parameters.</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8: Implement the Condition Plugin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src/SprykerAcademy/Zed/Oms/Communication/Plugin/Oms/Condition/IsAuthorizedConditionPlugin.php . Implement the check() method from ConditionInterface .</a:t>
            </a:r>
          </a:p>
          <a:p>
            <a:pPr>
              <a:spcAft>
                <a:spcPts val="800"/>
              </a:spcAft>
              <a:defRPr sz="1600">
                <a:solidFill>
                  <a:srgbClr val="1A1A1A"/>
                </a:solidFill>
              </a:defRPr>
            </a:pPr>
            <a:r>
              <a:t>Return true to always authorize (happy path). In production, this would check payment authorization status.</a:t>
            </a:r>
          </a:p>
          <a:p>
            <a:pPr>
              <a:spcAft>
                <a:spcPts val="800"/>
              </a:spcAft>
              <a:defRPr sz="1400" i="1">
                <a:solidFill>
                  <a:srgbClr val="888888"/>
                </a:solidFill>
              </a:defRPr>
            </a:pPr>
            <a:r>
              <a:t>❝ Method signature: Check vendor/spryker/oms/src/Spryker/Zed/Oms/Dependency/Plugin/Condition/ConditionInterface.php .</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9: Register Plugins in DependencyProvider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src/SprykerAcademy/Zed/Oms/OmsDependencyProvider.php :</a:t>
            </a:r>
          </a:p>
          <a:p>
            <a:pPr>
              <a:spcAft>
                <a:spcPts val="400"/>
              </a:spcAft>
              <a:defRPr sz="1500">
                <a:solidFill>
                  <a:srgbClr val="1A1A1A"/>
                </a:solidFill>
              </a:defRPr>
            </a:pPr>
            <a:r>
              <a:t>• Add the PayCommandPlugin to the command collection with the key 'Demo/Pay'</a:t>
            </a:r>
          </a:p>
          <a:p>
            <a:pPr>
              <a:spcAft>
                <a:spcPts val="400"/>
              </a:spcAft>
              <a:defRPr sz="1500">
                <a:solidFill>
                  <a:srgbClr val="1A1A1A"/>
                </a:solidFill>
              </a:defRPr>
            </a:pPr>
            <a:r>
              <a:t>• Add the IsAuthorizedConditionPlugin to the condition collection with the key 'Demo/IsAuthorized'</a:t>
            </a:r>
          </a:p>
          <a:p>
            <a:pPr>
              <a:spcAft>
                <a:spcPts val="800"/>
              </a:spcAft>
              <a:defRPr sz="1400" i="1">
                <a:solidFill>
                  <a:srgbClr val="888888"/>
                </a:solidFill>
              </a:defRPr>
            </a:pPr>
            <a:r>
              <a:t>❝ String matching: The plugin key strings must match EXACTLY what you defined in the XML ( command="Demo/Pay" and condition="Demo/IsAuthorized" ). Including the slash.</a:t>
            </a:r>
          </a:p>
          <a:p>
            <a:pPr>
              <a:spcAft>
                <a:spcPts val="800"/>
              </a:spcAft>
              <a:defRPr sz="1600">
                <a:solidFill>
                  <a:srgbClr val="1A1A1A"/>
                </a:solidFill>
              </a:defRPr>
            </a:pPr>
            <a:r>
              <a:t>After registering, refresh the OMS visualization — the red warnings about missing command/condition implementations should disappear.</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10: Mark the Happy Path</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happy path is the expected/successful flow through the state machine. Marking it with happy="true" on transitions renders them in green in the Back Office visualization.</a:t>
            </a:r>
          </a:p>
          <a:p>
            <a:pPr>
              <a:spcAft>
                <a:spcPts val="800"/>
              </a:spcAft>
              <a:defRPr sz="1600">
                <a:solidFill>
                  <a:srgbClr val="1A1A1A"/>
                </a:solidFill>
              </a:defRPr>
            </a:pPr>
            <a:r>
              <a:t>Coding time:</a:t>
            </a:r>
          </a:p>
          <a:p>
            <a:pPr>
              <a:spcAft>
                <a:spcPts val="800"/>
              </a:spcAft>
              <a:defRPr sz="1600">
                <a:solidFill>
                  <a:srgbClr val="1A1A1A"/>
                </a:solidFill>
              </a:defRPr>
            </a:pPr>
            <a:r>
              <a:t>Add happy="true" to the transitions that form the successful flow: new → payment pending → payment authorized → paid → closed</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the State Machine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Visit http://backoffice.eu.spryker.local/oms and verify the Demo01 process visualization</a:t>
            </a:r>
          </a:p>
          <a:p>
            <a:pPr>
              <a:spcAft>
                <a:spcPts val="400"/>
              </a:spcAft>
              <a:defRPr sz="1500">
                <a:solidFill>
                  <a:srgbClr val="1A1A1A"/>
                </a:solidFill>
              </a:defRPr>
            </a:pPr>
            <a:r>
              <a:t>• Go to http://yves.eu.spryker.local/ and place an order using the Invoice payment method</a:t>
            </a:r>
          </a:p>
          <a:p>
            <a:pPr>
              <a:spcAft>
                <a:spcPts val="400"/>
              </a:spcAft>
              <a:defRPr sz="1500">
                <a:solidFill>
                  <a:srgbClr val="1A1A1A"/>
                </a:solidFill>
              </a:defRPr>
            </a:pPr>
            <a:r>
              <a:t>• Open the order in http://backoffice.eu.spryker.local/sales/</a:t>
            </a:r>
          </a:p>
          <a:p>
            <a:pPr>
              <a:spcAft>
                <a:spcPts val="400"/>
              </a:spcAft>
              <a:defRPr sz="1500">
                <a:solidFill>
                  <a:srgbClr val="1A1A1A"/>
                </a:solidFill>
              </a:defRPr>
            </a:pPr>
            <a:r>
              <a:t>• The order should flow through the states: new → payment pending → payment authorized → paid → closed</a:t>
            </a:r>
          </a:p>
          <a:p>
            <a:pPr>
              <a:spcAft>
                <a:spcPts val="400"/>
              </a:spcAft>
              <a:defRPr sz="1500">
                <a:solidFill>
                  <a:srgbClr val="1A1A1A"/>
                </a:solidFill>
              </a:defRPr>
            </a:pPr>
            <a:r>
              <a:t>• Manual events (like pay ) show as buttons next to the order item — click them to advance the state</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Event Types</a:t>
            </a:r>
          </a:p>
          <a:p>
            <a:pPr>
              <a:spcAft>
                <a:spcPts val="100"/>
              </a:spcAft>
              <a:defRPr sz="1000">
                <a:solidFill>
                  <a:srgbClr val="1A1A1A"/>
                </a:solidFill>
                <a:latin typeface="Consolas"/>
              </a:defRPr>
            </a:pPr>
            <a:r>
              <a:t>Type     Attribute          When it fires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Auto     onEnter="true"     Immediately when entering the source state  </a:t>
            </a:r>
          </a:p>
          <a:p>
            <a:pPr>
              <a:spcAft>
                <a:spcPts val="100"/>
              </a:spcAft>
              <a:defRPr sz="1000">
                <a:solidFill>
                  <a:srgbClr val="1A1A1A"/>
                </a:solidFill>
                <a:latin typeface="Consolas"/>
              </a:defRPr>
            </a:pPr>
            <a:r>
              <a:t>Manual   manual="true"      When a user clicks the button in Back Office</a:t>
            </a:r>
          </a:p>
          <a:p>
            <a:pPr>
              <a:spcAft>
                <a:spcPts val="100"/>
              </a:spcAft>
              <a:defRPr sz="1000">
                <a:solidFill>
                  <a:srgbClr val="1A1A1A"/>
                </a:solidFill>
                <a:latin typeface="Consolas"/>
              </a:defRPr>
            </a:pPr>
            <a:r>
              <a:t>Timeout  timeout="14 days"  After the specified time has elapsed</a:t>
            </a:r>
          </a:p>
          <a:p>
            <a:pPr>
              <a:spcBef>
                <a:spcPts val="1200"/>
              </a:spcBef>
              <a:spcAft>
                <a:spcPts val="600"/>
              </a:spcAft>
              <a:defRPr sz="2000" b="1">
                <a:solidFill>
                  <a:srgbClr val="1A1A1A"/>
                </a:solidFill>
              </a:defRPr>
            </a:pPr>
            <a:r>
              <a:t>Condition Routing</a:t>
            </a:r>
          </a:p>
          <a:p>
            <a:pPr>
              <a:spcAft>
                <a:spcPts val="800"/>
              </a:spcAft>
              <a:defRPr sz="1600">
                <a:solidFill>
                  <a:srgbClr val="1A1A1A"/>
                </a:solidFill>
              </a:defRPr>
            </a:pPr>
            <a:r>
              <a:t>When two transitions share the same event from the same source state: - The transition with a condition is checked first - If the condition returns true , that transition is taken - If false , the transition without a condition is taken (fallback)</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Plugin Registration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XML: command="Demo/Pay" → PHP: $commandCollection-&gt;add(new PayCommandPlugin(), 'Demo/Pay')</a:t>
            </a:r>
          </a:p>
          <a:p>
            <a:pPr>
              <a:spcBef>
                <a:spcPts val="0"/>
              </a:spcBef>
              <a:spcAft>
                <a:spcPts val="0"/>
              </a:spcAft>
            </a:pPr>
            <a:r>
              <a:rPr sz="900">
                <a:solidFill>
                  <a:srgbClr val="2D2D2D"/>
                </a:solidFill>
                <a:latin typeface="Consolas"/>
              </a:rPr>
              <a:t>XML: condition="Demo/IsAuthorized" → PHP: $conditionCollection-&gt;add(new IsAuthorizedConditionPlugin(), 'Demo/IsAuthorized')</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intermediate/oms/complete</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14: Storage Client - Redis Supplier Lookup</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14: Storage Client - Redis Supplier Lookup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Client module that reads supplier data from Redis (the key-value storage). While the Search module uses Elasticsearch for full-text search, the Storage module uses Redis for fast key-value lookups by ID.</a:t>
            </a:r>
          </a:p>
          <a:p>
            <a:pPr>
              <a:spcAft>
                <a:spcPts val="800"/>
              </a:spcAft>
              <a:defRPr sz="1600">
                <a:solidFill>
                  <a:srgbClr val="1A1A1A"/>
                </a:solidFill>
              </a:defRPr>
            </a:pPr>
            <a:r>
              <a:t>You will learn how to: - Read data from Redis using the StorageClient - Generate storage keys using the SynchronizationService - Build a Storage Reader pattern for key-value access - Wire dependencies through the Client layer’s DependencyProvider and Factory - Distinguish between Search (Elasticsearch) and Storage (Redis) use cases</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Exercise 10 (Publish &amp; Synchronize) — suppliers must be synchronized to Redis</a:t>
            </a:r>
          </a:p>
          <a:p>
            <a:pPr>
              <a:spcAft>
                <a:spcPts val="400"/>
              </a:spcAft>
              <a:defRPr sz="1500">
                <a:solidFill>
                  <a:srgbClr val="1A1A1A"/>
                </a:solidFill>
              </a:defRPr>
            </a:pPr>
            <a:r>
              <a:t>• Understanding of the Client layer and DependencyProvider pattern</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intermediate/storage-client/skeleton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vs Storage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uses two different storage systems for different access patterns:</a:t>
            </a:r>
          </a:p>
          <a:p>
            <a:pPr>
              <a:spcAft>
                <a:spcPts val="100"/>
              </a:spcAft>
              <a:defRPr sz="1000">
                <a:solidFill>
                  <a:srgbClr val="1A1A1A"/>
                </a:solidFill>
                <a:latin typeface="Consolas"/>
              </a:defRPr>
            </a:pPr>
            <a:r>
              <a:t>Feature         Search (Elasticsearch)                    Storage (Redis)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Use case        Full-text search, filtering, aggregation  Fast key-value lookup by ID</a:t>
            </a:r>
          </a:p>
          <a:p>
            <a:pPr>
              <a:spcAft>
                <a:spcPts val="100"/>
              </a:spcAft>
              <a:defRPr sz="1000">
                <a:solidFill>
                  <a:srgbClr val="1A1A1A"/>
                </a:solidFill>
                <a:latin typeface="Consolas"/>
              </a:defRPr>
            </a:pPr>
            <a:r>
              <a:t>Query type      Complex queries (BoolQuery, Match, etc.)  Simple key lookup          </a:t>
            </a:r>
          </a:p>
          <a:p>
            <a:pPr>
              <a:spcAft>
                <a:spcPts val="100"/>
              </a:spcAft>
              <a:defRPr sz="1000">
                <a:solidFill>
                  <a:srgbClr val="1A1A1A"/>
                </a:solidFill>
                <a:latin typeface="Consolas"/>
              </a:defRPr>
            </a:pPr>
            <a:r>
              <a:t>Data structure  Indexed documents with analyzers          Serialized JSON by key     </a:t>
            </a:r>
          </a:p>
          <a:p>
            <a:pPr>
              <a:spcAft>
                <a:spcPts val="100"/>
              </a:spcAft>
              <a:defRPr sz="1000">
                <a:solidFill>
                  <a:srgbClr val="1A1A1A"/>
                </a:solidFill>
                <a:latin typeface="Consolas"/>
              </a:defRPr>
            </a:pPr>
            <a:r>
              <a:t>Key format      Index + type + ID                         Resource name + ID         </a:t>
            </a:r>
          </a:p>
          <a:p>
            <a:pPr>
              <a:spcAft>
                <a:spcPts val="100"/>
              </a:spcAft>
              <a:defRPr sz="1000">
                <a:solidFill>
                  <a:srgbClr val="1A1A1A"/>
                </a:solidFill>
                <a:latin typeface="Consolas"/>
              </a:defRPr>
            </a:pPr>
            <a:r>
              <a:t>Spryker module  SupplierSearch (Client)                   SupplierStorage (Client)</a:t>
            </a:r>
          </a:p>
          <a:p>
            <a:pPr>
              <a:spcAft>
                <a:spcPts val="800"/>
              </a:spcAft>
              <a:defRPr sz="1600">
                <a:solidFill>
                  <a:srgbClr val="1A1A1A"/>
                </a:solidFill>
              </a:defRPr>
            </a:pPr>
            <a:r>
              <a:t>Storage Key Format:</a:t>
            </a:r>
          </a:p>
          <a:p>
            <a:pPr>
              <a:spcBef>
                <a:spcPts val="0"/>
              </a:spcBef>
              <a:spcAft>
                <a:spcPts val="0"/>
              </a:spcAft>
            </a:pPr>
            <a:r>
              <a:rPr sz="900">
                <a:solidFill>
                  <a:srgbClr val="2D2D2D"/>
                </a:solidFill>
                <a:latin typeface="Consolas"/>
              </a:rPr>
              <a:t>resource_name:id</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Example:</a:t>
            </a:r>
          </a:p>
          <a:p>
            <a:pPr>
              <a:spcBef>
                <a:spcPts val="0"/>
              </a:spcBef>
              <a:spcAft>
                <a:spcPts val="0"/>
              </a:spcAft>
            </a:pPr>
            <a:r>
              <a:rPr sz="900">
                <a:solidFill>
                  <a:srgbClr val="2D2D2D"/>
                </a:solidFill>
                <a:latin typeface="Consolas"/>
              </a:rPr>
              <a:t>supplier:1</a:t>
            </a:r>
          </a:p>
          <a:p>
            <a:pPr>
              <a:spcBef>
                <a:spcPts val="0"/>
              </a:spcBef>
              <a:spcAft>
                <a:spcPts val="0"/>
              </a:spcAft>
            </a:pPr>
            <a:r>
              <a:rPr sz="900">
                <a:solidFill>
                  <a:srgbClr val="2D2D2D"/>
                </a:solidFill>
                <a:latin typeface="Consolas"/>
              </a:rPr>
              <a:t>supplier:2</a:t>
            </a:r>
          </a:p>
          <a:p>
            <a:pPr>
              <a:spcAft>
                <a:spcPts val="800"/>
              </a:spcAft>
              <a:defRPr sz="1600">
                <a:solidFill>
                  <a:srgbClr val="1A1A1A"/>
                </a:solidFill>
              </a:defRPr>
            </a:pPr>
            <a:r>
              <a:t>Flow for Storage Read:</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vs Storage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Yves/Client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SupplierStorageClient::findSupplierById()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SupplierStorageReader::findSupplierStorageData()</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SynchronizationService::getStorageKeyBuilder('supplier')-&gt;buildKey(1)</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StorageClient::get('supplier:1')</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Redis</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Understand the Storage Key Generation</a:t>
            </a:r>
          </a:p>
          <a:p>
            <a:pPr>
              <a:spcAft>
                <a:spcPts val="800"/>
              </a:spcAft>
              <a:defRPr sz="1600">
                <a:solidFill>
                  <a:srgbClr val="1A1A1A"/>
                </a:solidFill>
              </a:defRPr>
            </a:pPr>
            <a:r>
              <a:t>When data is synchronized to Redis (via the Publish &amp; Synchronize flow), the synchronization behavior on pyz_supplier_storage automatically:</a:t>
            </a:r>
          </a:p>
          <a:p>
            <a:pPr>
              <a:spcAft>
                <a:spcPts val="400"/>
              </a:spcAft>
              <a:defRPr sz="1500">
                <a:solidFill>
                  <a:srgbClr val="1A1A1A"/>
                </a:solidFill>
              </a:defRPr>
            </a:pPr>
            <a:r>
              <a:t>• Generates a storage key using the resource parameter (e.g., "supplier" )</a:t>
            </a:r>
          </a:p>
          <a:p>
            <a:pPr>
              <a:spcAft>
                <a:spcPts val="400"/>
              </a:spcAft>
              <a:defRPr sz="1500">
                <a:solidFill>
                  <a:srgbClr val="1A1A1A"/>
                </a:solidFill>
              </a:defRPr>
            </a:pPr>
            <a:r>
              <a:t>• Serializes the supplier data as JSON</a:t>
            </a:r>
          </a:p>
          <a:p>
            <a:pPr>
              <a:spcAft>
                <a:spcPts val="400"/>
              </a:spcAft>
              <a:defRPr sz="1500">
                <a:solidFill>
                  <a:srgbClr val="1A1A1A"/>
                </a:solidFill>
              </a:defRPr>
            </a:pPr>
            <a:r>
              <a:t>• Stores it in Redis with the key supplier:{fk_supplier}</a:t>
            </a:r>
          </a:p>
          <a:p>
            <a:pPr>
              <a:spcAft>
                <a:spcPts val="800"/>
              </a:spcAft>
              <a:defRPr sz="1600">
                <a:solidFill>
                  <a:srgbClr val="1A1A1A"/>
                </a:solidFill>
              </a:defRPr>
            </a:pPr>
            <a:r>
              <a:t>The SynchronizationService provides a key builder to generate these keys consistently:</a:t>
            </a:r>
          </a:p>
          <a:p>
            <a:pPr>
              <a:spcBef>
                <a:spcPts val="0"/>
              </a:spcBef>
              <a:spcAft>
                <a:spcPts val="0"/>
              </a:spcAft>
            </a:pPr>
            <a:r>
              <a:rPr sz="900">
                <a:solidFill>
                  <a:srgbClr val="19177C"/>
                </a:solidFill>
                <a:latin typeface="Consolas"/>
              </a:rPr>
              <a:t>$key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-&gt;synchronizationService</a:t>
            </a:r>
          </a:p>
          <a:p>
            <a:pPr>
              <a:spcBef>
                <a:spcPts val="0"/>
              </a:spcBef>
              <a:spcAft>
                <a:spcPts val="0"/>
              </a:spcAft>
            </a:pPr>
            <a:r>
              <a:rPr sz="900">
                <a:solidFill>
                  <a:srgbClr val="2D2D2D"/>
                </a:solidFill>
                <a:latin typeface="Consolas"/>
              </a:rPr>
              <a:t>    -&gt;getStorageKeyBuilder(</a:t>
            </a:r>
            <a:r>
              <a:rPr sz="900">
                <a:solidFill>
                  <a:srgbClr val="4070A0"/>
                </a:solidFill>
                <a:latin typeface="Consolas"/>
              </a:rPr>
              <a:t>'supplier'</a:t>
            </a:r>
            <a:r>
              <a:rPr sz="900">
                <a:solidFill>
                  <a:srgbClr val="2D2D2D"/>
                </a:solidFill>
                <a:latin typeface="Consolas"/>
              </a:rPr>
              <a:t>)</a:t>
            </a:r>
          </a:p>
          <a:p>
            <a:pPr>
              <a:spcBef>
                <a:spcPts val="0"/>
              </a:spcBef>
              <a:spcAft>
                <a:spcPts val="0"/>
              </a:spcAft>
            </a:pPr>
            <a:r>
              <a:rPr sz="900">
                <a:solidFill>
                  <a:srgbClr val="2D2D2D"/>
                </a:solidFill>
                <a:latin typeface="Consolas"/>
              </a:rPr>
              <a:t>    -&gt;buildKey(</a:t>
            </a:r>
            <a:r>
              <a:rPr sz="900">
                <a:solidFill>
                  <a:srgbClr val="902000"/>
                </a:solidFill>
                <a:latin typeface="Consolas"/>
              </a:rPr>
              <a:t>(string)</a:t>
            </a:r>
            <a:r>
              <a:rPr sz="900">
                <a:solidFill>
                  <a:srgbClr val="19177C"/>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i="1">
                <a:solidFill>
                  <a:srgbClr val="60A0B0"/>
                </a:solidFill>
                <a:latin typeface="Consolas"/>
              </a:rPr>
              <a:t>// Result: "supplier:1"</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Resource name: This must match the resource parameter in the synchronization behavior from pyz_supplier_storage.schema.xml (not to be confused with pyz_supplier_search which goes to Elasticsearch).</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SupplierStorageReader is the core class that fetches data from Redis.</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src/SprykerAcademy/Client/SupplierStorage/Storage/SupplierStorageReader.php :</a:t>
            </a:r>
          </a:p>
          <a:p>
            <a:pPr>
              <a:spcBef>
                <a:spcPts val="800"/>
              </a:spcBef>
              <a:spcAft>
                <a:spcPts val="400"/>
              </a:spcAft>
              <a:defRPr sz="1700" b="1">
                <a:solidFill>
                  <a:srgbClr val="1A1A1A"/>
                </a:solidFill>
              </a:defRPr>
            </a:pPr>
            <a:r>
              <a:t>2.1 Add the Resource Name Constant</a:t>
            </a:r>
          </a:p>
          <a:p>
            <a:pPr>
              <a:spcAft>
                <a:spcPts val="800"/>
              </a:spcAft>
              <a:defRPr sz="1600">
                <a:solidFill>
                  <a:srgbClr val="1A1A1A"/>
                </a:solidFill>
              </a:defRPr>
            </a:pPr>
            <a:r>
              <a:t>Add a class constant for the resource name to avoid hardcoding strings:</a:t>
            </a:r>
          </a:p>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RESOURCE_NAME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'supplier'</a:t>
            </a:r>
            <a:r>
              <a:rPr sz="900">
                <a:solidFill>
                  <a:srgbClr val="007020"/>
                </a:solidFill>
                <a:latin typeface="Consolas"/>
              </a:rPr>
              <a:t>;</a:t>
            </a:r>
          </a:p>
          <a:p>
            <a:pPr>
              <a:spcAft>
                <a:spcPts val="800"/>
              </a:spcAft>
              <a:defRPr sz="1400" i="1">
                <a:solidFill>
                  <a:srgbClr val="888888"/>
                </a:solidFill>
              </a:defRPr>
            </a:pPr>
            <a:r>
              <a:t>❝ Best practice: Use constants for resource identifiers. This prevents typos and makes refactoring easier.</a:t>
            </a:r>
          </a:p>
          <a:p>
            <a:pPr>
              <a:spcBef>
                <a:spcPts val="800"/>
              </a:spcBef>
              <a:spcAft>
                <a:spcPts val="400"/>
              </a:spcAft>
              <a:defRPr sz="1700" b="1">
                <a:solidFill>
                  <a:srgbClr val="1A1A1A"/>
                </a:solidFill>
              </a:defRPr>
            </a:pPr>
            <a:r>
              <a:t>2.2 Add Static Cache for Key Builder</a:t>
            </a:r>
          </a:p>
          <a:p>
            <a:pPr>
              <a:spcAft>
                <a:spcPts val="800"/>
              </a:spcAft>
              <a:defRPr sz="1600">
                <a:solidFill>
                  <a:srgbClr val="1A1A1A"/>
                </a:solidFill>
              </a:defRPr>
            </a:pPr>
            <a:r>
              <a:t>Add a static property to cache the key builder instance (avoid repeated service lookups):</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 </a:t>
            </a:r>
            <a:r>
              <a:rPr sz="900">
                <a:solidFill>
                  <a:srgbClr val="007020"/>
                </a:solidFill>
                <a:latin typeface="Consolas"/>
              </a:rPr>
              <a:t>?</a:t>
            </a:r>
            <a:r>
              <a:rPr sz="900">
                <a:solidFill>
                  <a:srgbClr val="880000"/>
                </a:solidFill>
                <a:latin typeface="Consolas"/>
              </a:rPr>
              <a:t>S</a:t>
            </a:r>
            <a:r>
              <a:rPr sz="900">
                <a:solidFill>
                  <a:srgbClr val="2D2D2D"/>
                </a:solidFill>
                <a:latin typeface="Consolas"/>
              </a:rPr>
              <a:t>ynchronizationKeyGeneratorPluginInterface </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a:p>
            <a:pPr>
              <a:spcBef>
                <a:spcPts val="800"/>
              </a:spcBef>
              <a:spcAft>
                <a:spcPts val="400"/>
              </a:spcAft>
              <a:defRPr sz="1700" b="1">
                <a:solidFill>
                  <a:srgbClr val="1A1A1A"/>
                </a:solidFill>
              </a:defRPr>
            </a:pPr>
            <a:r>
              <a:t>2.3 Implement findSupplierStorageData()</a:t>
            </a:r>
          </a:p>
          <a:p>
            <a:pPr>
              <a:spcAft>
                <a:spcPts val="800"/>
              </a:spcAft>
              <a:defRPr sz="1600">
                <a:solidFill>
                  <a:srgbClr val="1A1A1A"/>
                </a:solidFill>
              </a:defRPr>
            </a:pPr>
            <a:r>
              <a:t>This method fetches a single supplier by ID from Redis:</a:t>
            </a:r>
          </a:p>
          <a:p>
            <a:pPr>
              <a:spcAft>
                <a:spcPts val="400"/>
              </a:spcAft>
              <a:defRPr sz="1500">
                <a:solidFill>
                  <a:srgbClr val="1A1A1A"/>
                </a:solidFill>
              </a:defRPr>
            </a:pPr>
            <a:r>
              <a:t>• Generate the storage key using generateStorageKey()</a:t>
            </a:r>
          </a:p>
          <a:p>
            <a:pPr>
              <a:spcAft>
                <a:spcPts val="400"/>
              </a:spcAft>
              <a:defRPr sz="1500">
                <a:solidFill>
                  <a:srgbClr val="1A1A1A"/>
                </a:solidFill>
              </a:defRPr>
            </a:pPr>
            <a:r>
              <a:t>• Call $this-&gt;storageClient-&gt;get($key) to fetch from Redis</a:t>
            </a:r>
          </a:p>
          <a:p>
            <a:pPr>
              <a:spcAft>
                <a:spcPts val="400"/>
              </a:spcAft>
              <a:defRPr sz="1500">
                <a:solidFill>
                  <a:srgbClr val="1A1A1A"/>
                </a:solidFill>
              </a:defRPr>
            </a:pPr>
            <a:r>
              <a:t>• Return the data array or null if not found</a:t>
            </a:r>
          </a:p>
          <a:p>
            <a:pPr>
              <a:spcAft>
                <a:spcPts val="800"/>
              </a:spcAft>
              <a:defRPr sz="1400" i="1">
                <a:solidFill>
                  <a:srgbClr val="888888"/>
                </a:solidFill>
              </a:defRPr>
            </a:pPr>
            <a:r>
              <a:t>❝ Note: The StorageClient-&gt;get() method already performs json_decode automatically. The returned data is already a PHP array.</a:t>
            </a:r>
          </a:p>
          <a:p>
            <a:pPr>
              <a:spcBef>
                <a:spcPts val="800"/>
              </a:spcBef>
              <a:spcAft>
                <a:spcPts val="400"/>
              </a:spcAft>
              <a:defRPr sz="1700" b="1">
                <a:solidFill>
                  <a:srgbClr val="1A1A1A"/>
                </a:solidFill>
              </a:defRPr>
            </a:pPr>
            <a:r>
              <a:t>2.4 Implement getAllSuppliers()</a:t>
            </a:r>
          </a:p>
          <a:p>
            <a:pPr>
              <a:spcAft>
                <a:spcPts val="800"/>
              </a:spcAft>
              <a:defRPr sz="1600">
                <a:solidFill>
                  <a:srgbClr val="1A1A1A"/>
                </a:solidFill>
              </a:defRPr>
            </a:pPr>
            <a:r>
              <a:t>This method returns all suppliers from Redis (useful for dropdowns):</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Generate a pattern using generateStorageKeyPattern() (use * as wildcard)</a:t>
            </a:r>
          </a:p>
          <a:p>
            <a:pPr>
              <a:spcAft>
                <a:spcPts val="400"/>
              </a:spcAft>
              <a:defRPr sz="1500">
                <a:solidFill>
                  <a:srgbClr val="1A1A1A"/>
                </a:solidFill>
              </a:defRPr>
            </a:pPr>
            <a:r>
              <a:t>• Get all matching keys using $this-&gt;storageClient-&gt;getKeys($pattern)</a:t>
            </a:r>
          </a:p>
          <a:p>
            <a:pPr>
              <a:spcAft>
                <a:spcPts val="400"/>
              </a:spcAft>
              <a:defRPr sz="1500">
                <a:solidFill>
                  <a:srgbClr val="1A1A1A"/>
                </a:solidFill>
              </a:defRPr>
            </a:pPr>
            <a:r>
              <a:t>• Fetch data for each key and filter out nulls</a:t>
            </a:r>
          </a:p>
          <a:p>
            <a:pPr>
              <a:spcAft>
                <a:spcPts val="800"/>
              </a:spcAft>
              <a:defRPr sz="1400" i="1">
                <a:solidFill>
                  <a:srgbClr val="888888"/>
                </a:solidFill>
              </a:defRPr>
            </a:pPr>
            <a:r>
              <a:t>❝ Redis Pattern: The buildKey('*') generates a pattern like supplier:* which matches all supplier keys.</a:t>
            </a:r>
          </a:p>
          <a:p>
            <a:pPr>
              <a:spcBef>
                <a:spcPts val="800"/>
              </a:spcBef>
              <a:spcAft>
                <a:spcPts val="400"/>
              </a:spcAft>
              <a:defRPr sz="1700" b="1">
                <a:solidFill>
                  <a:srgbClr val="1A1A1A"/>
                </a:solidFill>
              </a:defRPr>
            </a:pPr>
            <a:r>
              <a:t>2.5 Add Helper Methods</a:t>
            </a:r>
          </a:p>
          <a:p>
            <a:pPr>
              <a:spcAft>
                <a:spcPts val="800"/>
              </a:spcAft>
              <a:defRPr sz="1600">
                <a:solidFill>
                  <a:srgbClr val="1A1A1A"/>
                </a:solidFill>
              </a:defRPr>
            </a:pPr>
            <a:r>
              <a:t>Implement the helper methods for clean code:</a:t>
            </a:r>
          </a:p>
          <a:p>
            <a:pPr>
              <a:spcAft>
                <a:spcPts val="400"/>
              </a:spcAft>
              <a:defRPr sz="1500">
                <a:solidFill>
                  <a:srgbClr val="1A1A1A"/>
                </a:solidFill>
              </a:defRPr>
            </a:pPr>
            <a:r>
              <a:t>• generateStorageKey(int $idSupplier): string — Uses SynchronizationDataTransfer to generate a single key</a:t>
            </a:r>
          </a:p>
          <a:p>
            <a:pPr>
              <a:spcAft>
                <a:spcPts val="400"/>
              </a:spcAft>
              <a:defRPr sz="1500">
                <a:solidFill>
                  <a:srgbClr val="1A1A1A"/>
                </a:solidFill>
              </a:defRPr>
            </a:pPr>
            <a:r>
              <a:t>• generateStorageKeyPattern(): string — Uses SynchronizationDataTransfer with wildcard reference</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getStorageKeyBuilder(): SynchronizationKeyGeneratorPluginInterface — Returns cached key builder (creates if null)</a:t>
            </a:r>
          </a:p>
          <a:p>
            <a:pPr>
              <a:spcAft>
                <a:spcPts val="400"/>
              </a:spcAft>
              <a:defRPr sz="1500">
                <a:solidFill>
                  <a:srgbClr val="1A1A1A"/>
                </a:solidFill>
              </a:defRPr>
            </a:pPr>
            <a:r>
              <a:t>• getDataByKey(string $key): ?array — Fetches and returns data for a single key</a:t>
            </a:r>
          </a:p>
          <a:p>
            <a:pPr>
              <a:spcAft>
                <a:spcPts val="800"/>
              </a:spcAft>
              <a:defRPr sz="1400" i="1">
                <a:solidFill>
                  <a:srgbClr val="888888"/>
                </a:solidFill>
              </a:defRPr>
            </a:pPr>
            <a:r>
              <a:t>❝ SynchronizationDataTransfer: This transfer object is used by the key builder. Set the reference (ID) and optionally parameters: $synchronizationDataTransfer = ( new S ynchronizationDataTransfer()) -&gt;setReference( (string) $idSupplier ) ; $key = $this -&gt;getStorageKeyBuilder()-&gt;generateKey( $synchronizationDataTransfer ) ;</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Wire the Dependencies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DependencyProvider</a:t>
            </a:r>
          </a:p>
          <a:p>
            <a:pPr>
              <a:spcAft>
                <a:spcPts val="800"/>
              </a:spcAft>
              <a:defRPr sz="1600">
                <a:solidFill>
                  <a:srgbClr val="1A1A1A"/>
                </a:solidFill>
              </a:defRPr>
            </a:pPr>
            <a:r>
              <a:t>Open src/SprykerAcademy/Client/SupplierStorage/SupplierStorageDependencyProvider.php :</a:t>
            </a:r>
          </a:p>
          <a:p>
            <a:pPr>
              <a:spcAft>
                <a:spcPts val="800"/>
              </a:spcAft>
              <a:defRPr sz="1600">
                <a:solidFill>
                  <a:srgbClr val="1A1A1A"/>
                </a:solidFill>
              </a:defRPr>
            </a:pPr>
            <a:r>
              <a:t>Implement the two provider methods:</a:t>
            </a:r>
          </a:p>
          <a:p>
            <a:pPr>
              <a:spcAft>
                <a:spcPts val="400"/>
              </a:spcAft>
              <a:defRPr sz="1500">
                <a:solidFill>
                  <a:srgbClr val="1A1A1A"/>
                </a:solidFill>
              </a:defRPr>
            </a:pPr>
            <a:r>
              <a:t>• addStorageClient() — Uses $container-&gt;set() with CLIENT_STORAGE constant and locator: $container-&gt;getLocator()-&gt;storage()-&gt;client()</a:t>
            </a:r>
          </a:p>
          <a:p>
            <a:pPr>
              <a:spcAft>
                <a:spcPts val="400"/>
              </a:spcAft>
              <a:defRPr sz="1500">
                <a:solidFill>
                  <a:srgbClr val="1A1A1A"/>
                </a:solidFill>
              </a:defRPr>
            </a:pPr>
            <a:r>
              <a:t>• addSynchronizationService() — Uses $container-&gt;set() with SERVICE_SYNCHRONIZATION constant and locator: $container-&gt;getLocator()-&gt;synchronization()-&gt;service()</a:t>
            </a:r>
          </a:p>
          <a:p>
            <a:pPr>
              <a:spcAft>
                <a:spcPts val="800"/>
              </a:spcAft>
              <a:defRPr sz="1600">
                <a:solidFill>
                  <a:srgbClr val="1A1A1A"/>
                </a:solidFill>
              </a:defRPr>
            </a:pPr>
            <a:r>
              <a:t>Call both methods in provideServiceLayerDependencies() .</a:t>
            </a:r>
          </a:p>
          <a:p>
            <a:pPr>
              <a:spcAft>
                <a:spcPts val="800"/>
              </a:spcAft>
              <a:defRPr sz="1400" i="1">
                <a:solidFill>
                  <a:srgbClr val="888888"/>
                </a:solidFill>
              </a:defRPr>
            </a:pPr>
            <a:r>
              <a:t>❝ Client layer difference: The method is provideServiceLayerDependencies() (not Business like in Zed).</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Wire the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3.2 Factory</a:t>
            </a:r>
          </a:p>
          <a:p>
            <a:pPr>
              <a:spcAft>
                <a:spcPts val="800"/>
              </a:spcAft>
              <a:defRPr sz="1600">
                <a:solidFill>
                  <a:srgbClr val="1A1A1A"/>
                </a:solidFill>
              </a:defRPr>
            </a:pPr>
            <a:r>
              <a:t>Open src/SprykerAcademy/Client/SupplierStorage/SupplierStorageFactory.php :</a:t>
            </a:r>
          </a:p>
          <a:p>
            <a:pPr>
              <a:spcAft>
                <a:spcPts val="400"/>
              </a:spcAft>
              <a:defRPr sz="1500">
                <a:solidFill>
                  <a:srgbClr val="1A1A1A"/>
                </a:solidFill>
              </a:defRPr>
            </a:pPr>
            <a:r>
              <a:t>• Implement getStorageClient() — Returns the StorageClient using getProvidedDependency()</a:t>
            </a:r>
          </a:p>
          <a:p>
            <a:pPr>
              <a:spcAft>
                <a:spcPts val="400"/>
              </a:spcAft>
              <a:defRPr sz="1500">
                <a:solidFill>
                  <a:srgbClr val="1A1A1A"/>
                </a:solidFill>
              </a:defRPr>
            </a:pPr>
            <a:r>
              <a:t>• Implement getSynchronizationService() — Returns the SynchronizationService using getProvidedDependency()</a:t>
            </a:r>
          </a:p>
          <a:p>
            <a:pPr>
              <a:spcAft>
                <a:spcPts val="400"/>
              </a:spcAft>
              <a:defRPr sz="1500">
                <a:solidFill>
                  <a:srgbClr val="1A1A1A"/>
                </a:solidFill>
              </a:defRPr>
            </a:pPr>
            <a:r>
              <a:t>• Implement createSupplierStorageReader() — Instantiates SupplierStorageReader passing both dependencies</a:t>
            </a:r>
          </a:p>
          <a:p>
            <a:pPr>
              <a:spcAft>
                <a:spcPts val="800"/>
              </a:spcAft>
              <a:defRPr sz="1400" i="1">
                <a:solidFill>
                  <a:srgbClr val="888888"/>
                </a:solidFill>
              </a:defRPr>
            </a:pPr>
            <a:r>
              <a:t>❝ Naming convention: get*() for dependencies, create*() for new object instantiation.</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Implement the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Client is the public API that other modules use.</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src/SprykerAcademy/Client/SupplierStorage/SupplierStorageClient.php :</a:t>
            </a:r>
          </a:p>
          <a:p>
            <a:pPr>
              <a:spcAft>
                <a:spcPts val="800"/>
              </a:spcAft>
              <a:defRPr sz="1600">
                <a:solidFill>
                  <a:srgbClr val="1A1A1A"/>
                </a:solidFill>
              </a:defRPr>
            </a:pPr>
            <a:r>
              <a:t>Implement the two methods:</a:t>
            </a:r>
          </a:p>
          <a:p>
            <a:pPr>
              <a:spcAft>
                <a:spcPts val="400"/>
              </a:spcAft>
              <a:defRPr sz="1500">
                <a:solidFill>
                  <a:srgbClr val="1A1A1A"/>
                </a:solidFill>
              </a:defRPr>
            </a:pPr>
            <a:r>
              <a:t>• findSupplierById(int $idSupplier): ?SupplierTransfer Get the reader from the factory Call findSupplierStorageData() If data exists, create a SupplierTransfer and call fromArray() Return the transfer or null</a:t>
            </a:r>
          </a:p>
          <a:p>
            <a:pPr>
              <a:spcAft>
                <a:spcPts val="400"/>
              </a:spcAft>
              <a:defRPr sz="1500">
                <a:solidFill>
                  <a:srgbClr val="1A1A1A"/>
                </a:solidFill>
              </a:defRPr>
            </a:pPr>
            <a:r>
              <a:t>• getAllSuppliers(): SupplierCollectionTransfer Get the reader from the factory Call getAllSuppliers() to get array of arrays Map each array to a SupplierTransfer using fromArray() Create a SupplierCollectionTransfer , set the suppliers using setSuppliers() Return the collection</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Implement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Transfer hydration: The fromArray() method automatically maps array keys to transfer properties. Ensure the array keys match the transfer property names.</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Storage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Verify Data Exists in Redis</a:t>
            </a:r>
          </a:p>
          <a:p>
            <a:pPr>
              <a:spcAft>
                <a:spcPts val="800"/>
              </a:spcAft>
              <a:defRPr sz="1600">
                <a:solidFill>
                  <a:srgbClr val="1A1A1A"/>
                </a:solidFill>
              </a:defRPr>
            </a:pPr>
            <a:r>
              <a:t>First, ensure suppliers are synchronized to Redis (from the P&amp;S exercise):</a:t>
            </a:r>
          </a:p>
          <a:p>
            <a:pPr>
              <a:spcBef>
                <a:spcPts val="0"/>
              </a:spcBef>
              <a:spcAft>
                <a:spcPts val="0"/>
              </a:spcAft>
            </a:pPr>
            <a:r>
              <a:rPr sz="900" i="1">
                <a:solidFill>
                  <a:srgbClr val="60A0B0"/>
                </a:solidFill>
                <a:latin typeface="Consolas"/>
              </a:rPr>
              <a:t># Check if data exists in the storage table</a:t>
            </a:r>
          </a:p>
          <a:p>
            <a:pPr>
              <a:spcBef>
                <a:spcPts val="0"/>
              </a:spcBef>
              <a:spcAft>
                <a:spcPts val="0"/>
              </a:spcAft>
            </a:pPr>
            <a:r>
              <a:rPr sz="900">
                <a:solidFill>
                  <a:srgbClr val="2D2D2D"/>
                </a:solidFill>
                <a:latin typeface="Consolas"/>
              </a:rPr>
              <a:t>docker/sdk</a:t>
            </a:r>
            <a:r>
              <a:rPr sz="900">
                <a:solidFill>
                  <a:srgbClr val="2D2D2D"/>
                </a:solidFill>
                <a:latin typeface="Consolas"/>
              </a:rPr>
              <a:t> cli mysql </a:t>
            </a:r>
            <a:r>
              <a:rPr sz="900">
                <a:solidFill>
                  <a:srgbClr val="2D2D2D"/>
                </a:solidFill>
                <a:latin typeface="Consolas"/>
              </a:rPr>
              <a:t>-e</a:t>
            </a:r>
            <a:r>
              <a:rPr sz="900">
                <a:solidFill>
                  <a:srgbClr val="2D2D2D"/>
                </a:solidFill>
                <a:latin typeface="Consolas"/>
              </a:rPr>
              <a:t> </a:t>
            </a:r>
            <a:r>
              <a:rPr sz="900">
                <a:solidFill>
                  <a:srgbClr val="4070A0"/>
                </a:solidFill>
                <a:latin typeface="Consolas"/>
              </a:rPr>
              <a:t>"SELECT COUNT(*) FROM pyz_supplier_storage;"</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If empty, run data import and trigger P&amp;S</a:t>
            </a:r>
          </a:p>
          <a:p>
            <a:pPr>
              <a:spcBef>
                <a:spcPts val="0"/>
              </a:spcBef>
              <a:spcAft>
                <a:spcPts val="0"/>
              </a:spcAft>
            </a:pPr>
            <a:r>
              <a:rPr sz="900">
                <a:solidFill>
                  <a:srgbClr val="2D2D2D"/>
                </a:solidFill>
                <a:latin typeface="Consolas"/>
              </a:rPr>
              <a:t>docker/sdk</a:t>
            </a:r>
            <a:r>
              <a:rPr sz="900">
                <a:solidFill>
                  <a:srgbClr val="2D2D2D"/>
                </a:solidFill>
                <a:latin typeface="Consolas"/>
              </a:rPr>
              <a:t> console data:import supplier</a:t>
            </a:r>
          </a:p>
          <a:p>
            <a:pPr>
              <a:spcBef>
                <a:spcPts val="0"/>
              </a:spcBef>
              <a:spcAft>
                <a:spcPts val="0"/>
              </a:spcAft>
            </a:pPr>
            <a:r>
              <a:rPr sz="900">
                <a:solidFill>
                  <a:srgbClr val="2D2D2D"/>
                </a:solidFill>
                <a:latin typeface="Consolas"/>
              </a:rPr>
              <a:t>docker/sdk</a:t>
            </a:r>
            <a:r>
              <a:rPr sz="900">
                <a:solidFill>
                  <a:srgbClr val="2D2D2D"/>
                </a:solidFill>
                <a:latin typeface="Consolas"/>
              </a:rPr>
              <a:t> console queue:worker:start </a:t>
            </a:r>
            <a:r>
              <a:rPr sz="900">
                <a:solidFill>
                  <a:srgbClr val="2D2D2D"/>
                </a:solidFill>
                <a:latin typeface="Consolas"/>
              </a:rPr>
              <a:t>--stop-when-empty</a:t>
            </a:r>
          </a:p>
          <a:p>
            <a:pPr>
              <a:spcBef>
                <a:spcPts val="1200"/>
              </a:spcBef>
              <a:spcAft>
                <a:spcPts val="600"/>
              </a:spcAft>
              <a:defRPr sz="2000" b="1">
                <a:solidFill>
                  <a:srgbClr val="1A1A1A"/>
                </a:solidFill>
              </a:defRPr>
            </a:pPr>
            <a:r>
              <a:t>Test via Debug Console</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Storage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Open CLI</a:t>
            </a:r>
          </a:p>
          <a:p>
            <a:pPr>
              <a:spcBef>
                <a:spcPts val="0"/>
              </a:spcBef>
              <a:spcAft>
                <a:spcPts val="0"/>
              </a:spcAft>
            </a:pPr>
            <a:r>
              <a:rPr sz="900">
                <a:solidFill>
                  <a:srgbClr val="2D2D2D"/>
                </a:solidFill>
                <a:latin typeface="Consolas"/>
              </a:rPr>
              <a:t>docker/sdk</a:t>
            </a:r>
            <a:r>
              <a:rPr sz="900">
                <a:solidFill>
                  <a:srgbClr val="2D2D2D"/>
                </a:solidFill>
                <a:latin typeface="Consolas"/>
              </a:rPr>
              <a:t> cli</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PHP one-liner to test</a:t>
            </a:r>
          </a:p>
          <a:p>
            <a:pPr>
              <a:spcBef>
                <a:spcPts val="0"/>
              </a:spcBef>
              <a:spcAft>
                <a:spcPts val="0"/>
              </a:spcAft>
            </a:pPr>
            <a:r>
              <a:rPr sz="900">
                <a:solidFill>
                  <a:srgbClr val="2D2D2D"/>
                </a:solidFill>
                <a:latin typeface="Consolas"/>
              </a:rPr>
              <a:t>php</a:t>
            </a:r>
            <a:r>
              <a:rPr sz="900">
                <a:solidFill>
                  <a:srgbClr val="2D2D2D"/>
                </a:solidFill>
                <a:latin typeface="Consolas"/>
              </a:rPr>
              <a:t> </a:t>
            </a:r>
            <a:r>
              <a:rPr sz="900">
                <a:solidFill>
                  <a:srgbClr val="2D2D2D"/>
                </a:solidFill>
                <a:latin typeface="Consolas"/>
              </a:rPr>
              <a:t>-r</a:t>
            </a:r>
            <a:r>
              <a:rPr sz="900">
                <a:solidFill>
                  <a:srgbClr val="2D2D2D"/>
                </a:solidFill>
                <a:latin typeface="Consolas"/>
              </a:rPr>
              <a:t> </a:t>
            </a:r>
            <a:r>
              <a:rPr sz="900">
                <a:solidFill>
                  <a:srgbClr val="4070A0"/>
                </a:solidFill>
                <a:latin typeface="Consolas"/>
              </a:rPr>
              <a:t>"</a:t>
            </a:r>
          </a:p>
          <a:p>
            <a:pPr>
              <a:spcBef>
                <a:spcPts val="0"/>
              </a:spcBef>
              <a:spcAft>
                <a:spcPts val="0"/>
              </a:spcAft>
            </a:pPr>
            <a:r>
              <a:rPr sz="900">
                <a:solidFill>
                  <a:srgbClr val="4070A0"/>
                </a:solidFill>
                <a:latin typeface="Consolas"/>
              </a:rPr>
              <a:t>require 'vendor/autoload.php';</a:t>
            </a:r>
          </a:p>
          <a:p>
            <a:pPr>
              <a:spcBef>
                <a:spcPts val="0"/>
              </a:spcBef>
              <a:spcAft>
                <a:spcPts val="0"/>
              </a:spcAft>
            </a:pPr>
            <a:r>
              <a:rPr sz="900">
                <a:solidFill>
                  <a:srgbClr val="902000"/>
                </a:solidFill>
                <a:latin typeface="Consolas"/>
              </a:rPr>
              <a:t>\$</a:t>
            </a:r>
            <a:r>
              <a:rPr sz="900">
                <a:solidFill>
                  <a:srgbClr val="4070A0"/>
                </a:solidFill>
                <a:latin typeface="Consolas"/>
              </a:rPr>
              <a:t>client = \Spryker\Client\Kernel\Locator::getInstance()-&gt;supplierStorage()-&gt;client();</a:t>
            </a:r>
          </a:p>
          <a:p>
            <a:pPr>
              <a:spcBef>
                <a:spcPts val="0"/>
              </a:spcBef>
              <a:spcAft>
                <a:spcPts val="0"/>
              </a:spcAft>
            </a:pPr>
            <a:r>
              <a:rPr sz="900">
                <a:solidFill>
                  <a:srgbClr val="902000"/>
                </a:solidFill>
                <a:latin typeface="Consolas"/>
              </a:rPr>
              <a:t>\$</a:t>
            </a:r>
            <a:r>
              <a:rPr sz="900">
                <a:solidFill>
                  <a:srgbClr val="4070A0"/>
                </a:solidFill>
                <a:latin typeface="Consolas"/>
              </a:rPr>
              <a:t>supplier = </a:t>
            </a:r>
            <a:r>
              <a:rPr sz="900">
                <a:solidFill>
                  <a:srgbClr val="902000"/>
                </a:solidFill>
                <a:latin typeface="Consolas"/>
              </a:rPr>
              <a:t>\$</a:t>
            </a:r>
            <a:r>
              <a:rPr sz="900">
                <a:solidFill>
                  <a:srgbClr val="4070A0"/>
                </a:solidFill>
                <a:latin typeface="Consolas"/>
              </a:rPr>
              <a:t>client-&gt;findSupplierById(1);</a:t>
            </a:r>
          </a:p>
          <a:p>
            <a:pPr>
              <a:spcBef>
                <a:spcPts val="0"/>
              </a:spcBef>
              <a:spcAft>
                <a:spcPts val="0"/>
              </a:spcAft>
            </a:pPr>
            <a:r>
              <a:rPr sz="900">
                <a:solidFill>
                  <a:srgbClr val="4070A0"/>
                </a:solidFill>
                <a:latin typeface="Consolas"/>
              </a:rPr>
              <a:t>var_dump(</a:t>
            </a:r>
            <a:r>
              <a:rPr sz="900">
                <a:solidFill>
                  <a:srgbClr val="902000"/>
                </a:solidFill>
                <a:latin typeface="Consolas"/>
              </a:rPr>
              <a:t>\$</a:t>
            </a:r>
            <a:r>
              <a:rPr sz="900">
                <a:solidFill>
                  <a:srgbClr val="4070A0"/>
                </a:solidFill>
                <a:latin typeface="Consolas"/>
              </a:rPr>
              <a:t>supplier);</a:t>
            </a:r>
          </a:p>
          <a:p>
            <a:pPr>
              <a:spcBef>
                <a:spcPts val="0"/>
              </a:spcBef>
              <a:spcAft>
                <a:spcPts val="0"/>
              </a:spcAft>
            </a:pPr>
            <a:r>
              <a:rPr sz="900">
                <a:solidFill>
                  <a:srgbClr val="4070A0"/>
                </a:solidFill>
                <a:latin typeface="Consolas"/>
              </a:rPr>
              <a:t>"</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Expected Data Format in Redis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Connect to Redis</a:t>
            </a:r>
          </a:p>
          <a:p>
            <a:pPr>
              <a:spcBef>
                <a:spcPts val="0"/>
              </a:spcBef>
              <a:spcAft>
                <a:spcPts val="0"/>
              </a:spcAft>
            </a:pPr>
            <a:r>
              <a:rPr sz="900">
                <a:solidFill>
                  <a:srgbClr val="2D2D2D"/>
                </a:solidFill>
                <a:latin typeface="Consolas"/>
              </a:rPr>
              <a:t>docker/sdk</a:t>
            </a:r>
            <a:r>
              <a:rPr sz="900">
                <a:solidFill>
                  <a:srgbClr val="2D2D2D"/>
                </a:solidFill>
                <a:latin typeface="Consolas"/>
              </a:rPr>
              <a:t> cli redis-cli </a:t>
            </a:r>
            <a:r>
              <a:rPr sz="900">
                <a:solidFill>
                  <a:srgbClr val="2D2D2D"/>
                </a:solidFill>
                <a:latin typeface="Consolas"/>
              </a:rPr>
              <a:t>-h</a:t>
            </a:r>
            <a:r>
              <a:rPr sz="900">
                <a:solidFill>
                  <a:srgbClr val="2D2D2D"/>
                </a:solidFill>
                <a:latin typeface="Consolas"/>
              </a:rPr>
              <a:t> key_value_store</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Get a supplier</a:t>
            </a:r>
          </a:p>
          <a:p>
            <a:pPr>
              <a:spcBef>
                <a:spcPts val="0"/>
              </a:spcBef>
              <a:spcAft>
                <a:spcPts val="0"/>
              </a:spcAft>
            </a:pPr>
            <a:r>
              <a:rPr sz="900">
                <a:solidFill>
                  <a:srgbClr val="2D2D2D"/>
                </a:solidFill>
                <a:latin typeface="Consolas"/>
              </a:rPr>
              <a:t>GET</a:t>
            </a:r>
            <a:r>
              <a:rPr sz="900">
                <a:solidFill>
                  <a:srgbClr val="2D2D2D"/>
                </a:solidFill>
                <a:latin typeface="Consolas"/>
              </a:rPr>
              <a:t> </a:t>
            </a:r>
            <a:r>
              <a:rPr sz="900">
                <a:solidFill>
                  <a:srgbClr val="4070A0"/>
                </a:solidFill>
                <a:latin typeface="Consolas"/>
              </a:rPr>
              <a:t>"supplier:1"</a:t>
            </a:r>
          </a:p>
          <a:p>
            <a:pPr>
              <a:spcAft>
                <a:spcPts val="800"/>
              </a:spcAft>
              <a:defRPr sz="1600">
                <a:solidFill>
                  <a:srgbClr val="1A1A1A"/>
                </a:solidFill>
              </a:defRPr>
            </a:pPr>
            <a:r>
              <a:t>Expected response (JSON):</a:t>
            </a:r>
          </a:p>
          <a:p>
            <a:pPr>
              <a:spcBef>
                <a:spcPts val="0"/>
              </a:spcBef>
              <a:spcAft>
                <a:spcPts val="0"/>
              </a:spcAft>
            </a:pP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"id_supplier"</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"name"</a:t>
            </a:r>
            <a:r>
              <a:rPr sz="900">
                <a:solidFill>
                  <a:srgbClr val="06287E"/>
                </a:solidFill>
                <a:latin typeface="Consolas"/>
              </a:rPr>
              <a:t>:</a:t>
            </a:r>
            <a:r>
              <a:rPr sz="900">
                <a:solidFill>
                  <a:srgbClr val="2D2D2D"/>
                </a:solidFill>
                <a:latin typeface="Consolas"/>
              </a:rPr>
              <a:t> </a:t>
            </a:r>
            <a:r>
              <a:rPr sz="900">
                <a:solidFill>
                  <a:srgbClr val="4070A0"/>
                </a:solidFill>
                <a:latin typeface="Consolas"/>
              </a:rPr>
              <a:t>"Acme Supplies"</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"description"</a:t>
            </a:r>
            <a:r>
              <a:rPr sz="900">
                <a:solidFill>
                  <a:srgbClr val="06287E"/>
                </a:solidFill>
                <a:latin typeface="Consolas"/>
              </a:rPr>
              <a:t>:</a:t>
            </a:r>
            <a:r>
              <a:rPr sz="900">
                <a:solidFill>
                  <a:srgbClr val="2D2D2D"/>
                </a:solidFill>
                <a:latin typeface="Consolas"/>
              </a:rPr>
              <a:t> </a:t>
            </a:r>
            <a:r>
              <a:rPr sz="900">
                <a:solidFill>
                  <a:srgbClr val="4070A0"/>
                </a:solidFill>
                <a:latin typeface="Consolas"/>
              </a:rPr>
              <a:t>"Leading supplier of industrial equipment"</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"status"</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"email"</a:t>
            </a:r>
            <a:r>
              <a:rPr sz="900">
                <a:solidFill>
                  <a:srgbClr val="06287E"/>
                </a:solidFill>
                <a:latin typeface="Consolas"/>
              </a:rPr>
              <a:t>:</a:t>
            </a:r>
            <a:r>
              <a:rPr sz="900">
                <a:solidFill>
                  <a:srgbClr val="2D2D2D"/>
                </a:solidFill>
                <a:latin typeface="Consolas"/>
              </a:rPr>
              <a:t> </a:t>
            </a:r>
            <a:r>
              <a:rPr sz="900">
                <a:solidFill>
                  <a:srgbClr val="4070A0"/>
                </a:solidFill>
                <a:latin typeface="Consolas"/>
              </a:rPr>
              <a:t>"contact@acmesupplies.com"</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"phone"</a:t>
            </a:r>
            <a:r>
              <a:rPr sz="900">
                <a:solidFill>
                  <a:srgbClr val="06287E"/>
                </a:solidFill>
                <a:latin typeface="Consolas"/>
              </a:rPr>
              <a:t>:</a:t>
            </a:r>
            <a:r>
              <a:rPr sz="900">
                <a:solidFill>
                  <a:srgbClr val="2D2D2D"/>
                </a:solidFill>
                <a:latin typeface="Consolas"/>
              </a:rPr>
              <a:t> </a:t>
            </a:r>
            <a:r>
              <a:rPr sz="900">
                <a:solidFill>
                  <a:srgbClr val="4070A0"/>
                </a:solidFill>
                <a:latin typeface="Consolas"/>
              </a:rPr>
              <a:t>"+1-555-1234"</a:t>
            </a:r>
          </a:p>
          <a:p>
            <a:pPr>
              <a:spcBef>
                <a:spcPts val="0"/>
              </a:spcBef>
              <a:spcAft>
                <a:spcPts val="0"/>
              </a:spcAft>
            </a:pPr>
            <a:r>
              <a:rPr sz="900">
                <a:solidFill>
                  <a:srgbClr val="06287E"/>
                </a:solidFill>
                <a:latin typeface="Consolas"/>
              </a:rPr>
              <a:t>}</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Storage vs Search Client Pattern</a:t>
            </a:r>
          </a:p>
          <a:p>
            <a:pPr>
              <a:spcAft>
                <a:spcPts val="100"/>
              </a:spcAft>
              <a:defRPr sz="1000">
                <a:solidFill>
                  <a:srgbClr val="1A1A1A"/>
                </a:solidFill>
                <a:latin typeface="Consolas"/>
              </a:defRPr>
            </a:pPr>
            <a:r>
              <a:t>Aspect          Search (SupplierSearchClient)      Storage (SupplierStorageClient)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Query           Complex (Elastica Query)           Simple key lookup                    </a:t>
            </a:r>
          </a:p>
          <a:p>
            <a:pPr>
              <a:spcAft>
                <a:spcPts val="100"/>
              </a:spcAft>
              <a:defRPr sz="1000">
                <a:solidFill>
                  <a:srgbClr val="1A1A1A"/>
                </a:solidFill>
                <a:latin typeface="Consolas"/>
              </a:defRPr>
            </a:pPr>
            <a:r>
              <a:t>Key generation  Source identifier in query plugin  SynchronizationService key builder   </a:t>
            </a:r>
          </a:p>
          <a:p>
            <a:pPr>
              <a:spcAft>
                <a:spcPts val="100"/>
              </a:spcAft>
              <a:defRPr sz="1000">
                <a:solidFill>
                  <a:srgbClr val="1A1A1A"/>
                </a:solidFill>
                <a:latin typeface="Consolas"/>
              </a:defRPr>
            </a:pPr>
            <a:r>
              <a:t>Dependencies    SearchClient, Query plugins        StorageClient, SynchronizationService</a:t>
            </a:r>
          </a:p>
          <a:p>
            <a:pPr>
              <a:spcAft>
                <a:spcPts val="100"/>
              </a:spcAft>
              <a:defRPr sz="1000">
                <a:solidFill>
                  <a:srgbClr val="1A1A1A"/>
                </a:solidFill>
                <a:latin typeface="Consolas"/>
              </a:defRPr>
            </a:pPr>
            <a:r>
              <a:t>Use case        Search by name, filter, aggregate  Lookup by ID, get all for dropdown</a:t>
            </a:r>
          </a:p>
          <a:p>
            <a:pPr>
              <a:spcBef>
                <a:spcPts val="1200"/>
              </a:spcBef>
              <a:spcAft>
                <a:spcPts val="600"/>
              </a:spcAft>
              <a:defRPr sz="2000" b="1">
                <a:solidFill>
                  <a:srgbClr val="1A1A1A"/>
                </a:solidFill>
              </a:defRPr>
            </a:pPr>
            <a:r>
              <a:t>Storage Key Generation Pattern</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1. Create transfer with reference (ID)</a:t>
            </a:r>
          </a:p>
          <a:p>
            <a:pPr>
              <a:spcBef>
                <a:spcPts val="0"/>
              </a:spcBef>
              <a:spcAft>
                <a:spcPts val="0"/>
              </a:spcAft>
            </a:pPr>
            <a:r>
              <a:rPr sz="900">
                <a:solidFill>
                  <a:srgbClr val="19177C"/>
                </a:solidFill>
                <a:latin typeface="Consolas"/>
              </a:rPr>
              <a:t>$synchronizationDataTransfer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ynchronizationDataTransfer())</a:t>
            </a:r>
          </a:p>
          <a:p>
            <a:pPr>
              <a:spcBef>
                <a:spcPts val="0"/>
              </a:spcBef>
              <a:spcAft>
                <a:spcPts val="0"/>
              </a:spcAft>
            </a:pPr>
            <a:r>
              <a:rPr sz="900">
                <a:solidFill>
                  <a:srgbClr val="2D2D2D"/>
                </a:solidFill>
                <a:latin typeface="Consolas"/>
              </a:rPr>
              <a:t>    -&gt;setReference(</a:t>
            </a:r>
            <a:r>
              <a:rPr sz="900">
                <a:solidFill>
                  <a:srgbClr val="902000"/>
                </a:solidFill>
                <a:latin typeface="Consolas"/>
              </a:rPr>
              <a:t>(string)</a:t>
            </a:r>
            <a:r>
              <a:rPr sz="900">
                <a:solidFill>
                  <a:srgbClr val="19177C"/>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2. Get key builder for resource</a:t>
            </a:r>
          </a:p>
          <a:p>
            <a:pPr>
              <a:spcBef>
                <a:spcPts val="0"/>
              </a:spcBef>
              <a:spcAft>
                <a:spcPts val="0"/>
              </a:spcAft>
            </a:pPr>
            <a:r>
              <a:rPr sz="900">
                <a:solidFill>
                  <a:srgbClr val="19177C"/>
                </a:solidFill>
                <a:latin typeface="Consolas"/>
              </a:rPr>
              <a:t>$keyBuilder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-&gt;synchronizationService</a:t>
            </a:r>
          </a:p>
          <a:p>
            <a:pPr>
              <a:spcBef>
                <a:spcPts val="0"/>
              </a:spcBef>
              <a:spcAft>
                <a:spcPts val="0"/>
              </a:spcAft>
            </a:pPr>
            <a:r>
              <a:rPr sz="900">
                <a:solidFill>
                  <a:srgbClr val="2D2D2D"/>
                </a:solidFill>
                <a:latin typeface="Consolas"/>
              </a:rPr>
              <a:t>    -&gt;getStorageKeyBuilder(</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RESOURCE_NAME</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'supplier'</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3. Generate key</a:t>
            </a:r>
          </a:p>
          <a:p>
            <a:pPr>
              <a:spcBef>
                <a:spcPts val="0"/>
              </a:spcBef>
              <a:spcAft>
                <a:spcPts val="0"/>
              </a:spcAft>
            </a:pPr>
            <a:r>
              <a:rPr sz="900">
                <a:solidFill>
                  <a:srgbClr val="19177C"/>
                </a:solidFill>
                <a:latin typeface="Consolas"/>
              </a:rPr>
              <a:t>$key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$keyBuilder</a:t>
            </a:r>
            <a:r>
              <a:rPr sz="900">
                <a:solidFill>
                  <a:srgbClr val="2D2D2D"/>
                </a:solidFill>
                <a:latin typeface="Consolas"/>
              </a:rPr>
              <a:t>-&gt;generateKey(</a:t>
            </a:r>
            <a:r>
              <a:rPr sz="900">
                <a:solidFill>
                  <a:srgbClr val="19177C"/>
                </a:solidFill>
                <a:latin typeface="Consolas"/>
              </a:rPr>
              <a:t>$synchronizationDataTransfer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i="1">
                <a:solidFill>
                  <a:srgbClr val="60A0B0"/>
                </a:solidFill>
                <a:latin typeface="Consolas"/>
              </a:rPr>
              <a:t>// Result: "supplier:1"</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Static Caching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 </a:t>
            </a:r>
            <a:r>
              <a:rPr sz="900">
                <a:solidFill>
                  <a:srgbClr val="007020"/>
                </a:solidFill>
                <a:latin typeface="Consolas"/>
              </a:rPr>
              <a:t>?</a:t>
            </a:r>
            <a:r>
              <a:rPr sz="900">
                <a:solidFill>
                  <a:srgbClr val="880000"/>
                </a:solidFill>
                <a:latin typeface="Consolas"/>
              </a:rPr>
              <a:t>S</a:t>
            </a:r>
            <a:r>
              <a:rPr sz="900">
                <a:solidFill>
                  <a:srgbClr val="2D2D2D"/>
                </a:solidFill>
                <a:latin typeface="Consolas"/>
              </a:rPr>
              <a:t>ynchronizationKeyGeneratorPluginInterface </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getStorageKeyBuilder()</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ynchronizationKeyGeneratorPluginInterface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-&gt;synchronizationService</a:t>
            </a:r>
          </a:p>
          <a:p>
            <a:pPr>
              <a:spcBef>
                <a:spcPts val="0"/>
              </a:spcBef>
              <a:spcAft>
                <a:spcPts val="0"/>
              </a:spcAft>
            </a:pPr>
            <a:r>
              <a:rPr sz="900">
                <a:solidFill>
                  <a:srgbClr val="2D2D2D"/>
                </a:solidFill>
                <a:latin typeface="Consolas"/>
              </a:rPr>
              <a:t>            -&gt;getStorageKeyBuilder(</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RESOURCE_NAME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19177C"/>
                </a:solidFill>
                <a:latin typeface="Consolas"/>
              </a:rPr>
              <a:t>$storageKeyBuilder</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400" i="1">
                <a:solidFill>
                  <a:srgbClr val="888888"/>
                </a:solidFill>
              </a:defRPr>
            </a:pPr>
            <a:r>
              <a:t>❝ Why static? The key builder is stateless. Caching it avoids repeated service locator calls.</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StorageClient</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intermediate/storage-client/complete</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15: Merchant Portal — Supplier Table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15: Merchant Portal — Supplier Table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supplier list page in the Merchant Portal using Spryker’s GuiTable framework. The table displays only suppliers belonging to the current merchant and supports pagination, sorting, searching, and filtering.</a:t>
            </a:r>
          </a:p>
          <a:p>
            <a:pPr>
              <a:spcAft>
                <a:spcPts val="800"/>
              </a:spcAft>
              <a:defRPr sz="1600">
                <a:solidFill>
                  <a:srgbClr val="1A1A1A"/>
                </a:solidFill>
              </a:defRPr>
            </a:pPr>
            <a:r>
              <a:t>You will learn how to: - Create a Merchant Portal GUI module ( SupplierMerchantPortalGui ) - Build a GuiTable configuration (columns, filters, row actions) - Implement a data provider that fetches merchant-scoped data - Write a repository query that joins suppliers with merchant assignments - Register an Angular web component in the module - Configure ACL rules and Merchant Portal navigation</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Exercise 9 (Back Office) — supplier facade, repository, and entity manager must exist</a:t>
            </a:r>
          </a:p>
          <a:p>
            <a:pPr>
              <a:spcAft>
                <a:spcPts val="400"/>
              </a:spcAft>
              <a:defRPr sz="1500">
                <a:solidFill>
                  <a:srgbClr val="1A1A1A"/>
                </a:solidFill>
              </a:defRPr>
            </a:pPr>
            <a:r>
              <a:t>• Suppliers assigned to a merchant via pyz_merchant_to_supplier</a:t>
            </a:r>
          </a:p>
          <a:p>
            <a:pPr>
              <a:spcAft>
                <a:spcPts val="400"/>
              </a:spcAft>
              <a:defRPr sz="1500">
                <a:solidFill>
                  <a:srgbClr val="1A1A1A"/>
                </a:solidFill>
              </a:defRPr>
            </a:pPr>
            <a:r>
              <a:t>• Logged in as a demo merchant user</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intermediate/merchant-portal-table/skeleton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Merchant Portal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Merchant Portal uses a different architecture from the Back Office:</a:t>
            </a:r>
          </a:p>
          <a:p>
            <a:pPr>
              <a:spcAft>
                <a:spcPts val="100"/>
              </a:spcAft>
              <a:defRPr sz="1000">
                <a:solidFill>
                  <a:srgbClr val="1A1A1A"/>
                </a:solidFill>
                <a:latin typeface="Consolas"/>
              </a:defRPr>
            </a:pPr>
            <a:r>
              <a:t>Aspect          Back Office                           Merchant Portal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Frontend        Twig + jQuery                         Angular Web Components                     </a:t>
            </a:r>
          </a:p>
          <a:p>
            <a:pPr>
              <a:spcAft>
                <a:spcPts val="100"/>
              </a:spcAft>
              <a:defRPr sz="1000">
                <a:solidFill>
                  <a:srgbClr val="1A1A1A"/>
                </a:solidFill>
                <a:latin typeface="Consolas"/>
              </a:defRPr>
            </a:pPr>
            <a:r>
              <a:t>Tables          AbstractTable (server-rendered HTML)  GuiTable (JSON config + Angular)           </a:t>
            </a:r>
          </a:p>
          <a:p>
            <a:pPr>
              <a:spcAft>
                <a:spcPts val="100"/>
              </a:spcAft>
              <a:defRPr sz="1000">
                <a:solidFill>
                  <a:srgbClr val="1A1A1A"/>
                </a:solidFill>
                <a:latin typeface="Consolas"/>
              </a:defRPr>
            </a:pPr>
            <a:r>
              <a:t>Data flow       Controller renders full page          Controller returns JSON, Angular renders UI</a:t>
            </a:r>
          </a:p>
          <a:p>
            <a:pPr>
              <a:spcAft>
                <a:spcPts val="100"/>
              </a:spcAft>
              <a:defRPr sz="1000">
                <a:solidFill>
                  <a:srgbClr val="1A1A1A"/>
                </a:solidFill>
                <a:latin typeface="Consolas"/>
              </a:defRPr>
            </a:pPr>
            <a:r>
              <a:t>Layout          @Gui/Layout/layout.twig               @ZedUi/Layout/merchant-layout-main.twig    </a:t>
            </a:r>
          </a:p>
          <a:p>
            <a:pPr>
              <a:spcAft>
                <a:spcPts val="100"/>
              </a:spcAft>
              <a:defRPr sz="1000">
                <a:solidFill>
                  <a:srgbClr val="1A1A1A"/>
                </a:solidFill>
                <a:latin typeface="Consolas"/>
              </a:defRPr>
            </a:pPr>
            <a:r>
              <a:t>Navigation      navigation.xml                        navigation-main-merchant-portal.xml        </a:t>
            </a:r>
          </a:p>
          <a:p>
            <a:pPr>
              <a:spcAft>
                <a:spcPts val="100"/>
              </a:spcAft>
              <a:defRPr sz="1000">
                <a:solidFill>
                  <a:srgbClr val="1A1A1A"/>
                </a:solidFill>
                <a:latin typeface="Consolas"/>
              </a:defRPr>
            </a:pPr>
            <a:r>
              <a:t>Access control  Back Office ACL                       Merchant Portal ACL plugins</a:t>
            </a:r>
          </a:p>
          <a:p>
            <a:pPr>
              <a:spcAft>
                <a:spcPts val="800"/>
              </a:spcAft>
              <a:defRPr sz="1600">
                <a:solidFill>
                  <a:srgbClr val="1A1A1A"/>
                </a:solidFill>
              </a:defRPr>
            </a:pPr>
            <a:r>
              <a:t>GuiTable flow:</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Merchant Portal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GET /supplier-merchant-portal-gui/supplier (page load)</a:t>
            </a:r>
          </a:p>
          <a:p>
            <a:pPr>
              <a:spcBef>
                <a:spcPts val="0"/>
              </a:spcBef>
              <a:spcAft>
                <a:spcPts val="0"/>
              </a:spcAft>
            </a:pPr>
            <a:r>
              <a:rPr sz="900">
                <a:solidFill>
                  <a:srgbClr val="2D2D2D"/>
                </a:solidFill>
                <a:latin typeface="Consolas"/>
              </a:rPr>
              <a:t>├── SupplierController::indexAction()</a:t>
            </a:r>
          </a:p>
          <a:p>
            <a:pPr>
              <a:spcBef>
                <a:spcPts val="0"/>
              </a:spcBef>
              <a:spcAft>
                <a:spcPts val="0"/>
              </a:spcAft>
            </a:pPr>
            <a:r>
              <a:rPr sz="900">
                <a:solidFill>
                  <a:srgbClr val="2D2D2D"/>
                </a:solidFill>
                <a:latin typeface="Consolas"/>
              </a:rPr>
              <a:t>├── Returns GuiTable configuration as JSON in Twig</a:t>
            </a:r>
          </a:p>
          <a:p>
            <a:pPr>
              <a:spcBef>
                <a:spcPts val="0"/>
              </a:spcBef>
              <a:spcAft>
                <a:spcPts val="0"/>
              </a:spcAft>
            </a:pPr>
            <a:r>
              <a:rPr sz="900">
                <a:solidFill>
                  <a:srgbClr val="2D2D2D"/>
                </a:solidFill>
                <a:latin typeface="Consolas"/>
              </a:rPr>
              <a:t>└── Angular &lt;web-mp-supplier-list&gt; renders the table shell</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GET /supplier-merchant-portal-gui/supplier/table-data (AJAX)</a:t>
            </a:r>
          </a:p>
          <a:p>
            <a:pPr>
              <a:spcBef>
                <a:spcPts val="0"/>
              </a:spcBef>
              <a:spcAft>
                <a:spcPts val="0"/>
              </a:spcAft>
            </a:pPr>
            <a:r>
              <a:rPr sz="900">
                <a:solidFill>
                  <a:srgbClr val="2D2D2D"/>
                </a:solidFill>
                <a:latin typeface="Consolas"/>
              </a:rPr>
              <a:t>├── SupplierController::tableDataAction()</a:t>
            </a:r>
          </a:p>
          <a:p>
            <a:pPr>
              <a:spcBef>
                <a:spcPts val="0"/>
              </a:spcBef>
              <a:spcAft>
                <a:spcPts val="0"/>
              </a:spcAft>
            </a:pPr>
            <a:r>
              <a:rPr sz="900">
                <a:solidFill>
                  <a:srgbClr val="2D2D2D"/>
                </a:solidFill>
                <a:latin typeface="Consolas"/>
              </a:rPr>
              <a:t>├── GuiTableHttpDataRequestExecutor executes the request</a:t>
            </a:r>
          </a:p>
          <a:p>
            <a:pPr>
              <a:spcBef>
                <a:spcPts val="0"/>
              </a:spcBef>
              <a:spcAft>
                <a:spcPts val="0"/>
              </a:spcAft>
            </a:pPr>
            <a:r>
              <a:rPr sz="900">
                <a:solidFill>
                  <a:srgbClr val="2D2D2D"/>
                </a:solidFill>
                <a:latin typeface="Consolas"/>
              </a:rPr>
              <a:t>├── SupplierGuiTableDataProvider creates merchant-scoped criteria</a:t>
            </a:r>
          </a:p>
          <a:p>
            <a:pPr>
              <a:spcBef>
                <a:spcPts val="0"/>
              </a:spcBef>
              <a:spcAft>
                <a:spcPts val="0"/>
              </a:spcAft>
            </a:pPr>
            <a:r>
              <a:rPr sz="900">
                <a:solidFill>
                  <a:srgbClr val="2D2D2D"/>
                </a:solidFill>
                <a:latin typeface="Consolas"/>
              </a:rPr>
              <a:t>├── Repository fetches paginated data</a:t>
            </a:r>
          </a:p>
          <a:p>
            <a:pPr>
              <a:spcBef>
                <a:spcPts val="0"/>
              </a:spcBef>
              <a:spcAft>
                <a:spcPts val="0"/>
              </a:spcAft>
            </a:pPr>
            <a:r>
              <a:rPr sz="900">
                <a:solidFill>
                  <a:srgbClr val="2D2D2D"/>
                </a:solidFill>
                <a:latin typeface="Consolas"/>
              </a:rPr>
              <a:t>└── Returns JSON rows to Angular table</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Setup: Navigation and ACL</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exercise skeleton provides these pre-built:</a:t>
            </a:r>
          </a:p>
          <a:p>
            <a:pPr>
              <a:spcBef>
                <a:spcPts val="1200"/>
              </a:spcBef>
              <a:spcAft>
                <a:spcPts val="600"/>
              </a:spcAft>
              <a:defRPr sz="2000" b="1">
                <a:solidFill>
                  <a:srgbClr val="1A1A1A"/>
                </a:solidFill>
              </a:defRPr>
            </a:pPr>
            <a:r>
              <a:t>Navigation</a:t>
            </a:r>
          </a:p>
          <a:p>
            <a:pPr>
              <a:spcAft>
                <a:spcPts val="800"/>
              </a:spcAft>
              <a:defRPr sz="1600">
                <a:solidFill>
                  <a:srgbClr val="1A1A1A"/>
                </a:solidFill>
              </a:defRPr>
            </a:pPr>
            <a:r>
              <a:t>The Merchant Portal navigation is in config/Zed/navigation-main-merchant-portal.xml (separate from the Back Office navigation.xml ). The supplier entry is automatically merged by load.sh .</a:t>
            </a:r>
          </a:p>
          <a:p>
            <a:pPr>
              <a:spcBef>
                <a:spcPts val="1200"/>
              </a:spcBef>
              <a:spcAft>
                <a:spcPts val="600"/>
              </a:spcAft>
              <a:defRPr sz="2000" b="1">
                <a:solidFill>
                  <a:srgbClr val="1A1A1A"/>
                </a:solidFill>
              </a:defRPr>
            </a:pPr>
            <a:r>
              <a:t>ACL (Access Control)</a:t>
            </a:r>
          </a:p>
          <a:p>
            <a:pPr>
              <a:spcAft>
                <a:spcPts val="800"/>
              </a:spcAft>
              <a:defRPr sz="1600">
                <a:solidFill>
                  <a:srgbClr val="1A1A1A"/>
                </a:solidFill>
              </a:defRPr>
            </a:pPr>
            <a:r>
              <a:t>Every Merchant Portal module must register ACL rules so merchant users can access its controllers. The skeleton includes:</a:t>
            </a:r>
          </a:p>
          <a:p>
            <a:pPr>
              <a:spcAft>
                <a:spcPts val="400"/>
              </a:spcAft>
              <a:defRPr sz="1500">
                <a:solidFill>
                  <a:srgbClr val="1A1A1A"/>
                </a:solidFill>
              </a:defRPr>
            </a:pPr>
            <a:r>
              <a:t>• SupplierMerchantPortalGuiMerchantAclRuleExpanderPlugin — allows all routes in the supplier-merchant-portal-gui bundle</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Setup: Navigation and ACL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AclMerchantPortalDependencyProvider override — registers the plugin via SprykerAcademy namespace</a:t>
            </a:r>
          </a:p>
          <a:p>
            <a:pPr>
              <a:spcAft>
                <a:spcPts val="800"/>
              </a:spcAft>
              <a:defRPr sz="1400" i="1">
                <a:solidFill>
                  <a:srgbClr val="888888"/>
                </a:solidFill>
              </a:defRPr>
            </a:pPr>
            <a:r>
              <a:t>❝ Why ACL? The Merchant Portal is multi-tenant. Each merchant user can only access modules explicitly allowed by ACL rules. Without the ACL plugin, all routes return 403 Forbidden.</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GuiTable Configuration Provider</a:t>
            </a:r>
          </a:p>
          <a:p>
            <a:pPr>
              <a:spcAft>
                <a:spcPts val="800"/>
              </a:spcAft>
              <a:defRPr sz="1600">
                <a:solidFill>
                  <a:srgbClr val="1A1A1A"/>
                </a:solidFill>
              </a:defRPr>
            </a:pPr>
            <a:r>
              <a:t>The configuration provider defines the table structure: columns, filters, sorting, row actions, and data source URL.</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src/SprykerAcademy/Zed/SupplierMerchantPortalGui/Communication/ConfigurationProvider/SupplierGuiTableConfigurationProvider.php :</a:t>
            </a:r>
          </a:p>
          <a:p>
            <a:pPr>
              <a:spcAft>
                <a:spcPts val="400"/>
              </a:spcAft>
              <a:defRPr sz="1500">
                <a:solidFill>
                  <a:srgbClr val="1A1A1A"/>
                </a:solidFill>
              </a:defRPr>
            </a:pPr>
            <a:r>
              <a:t>• Get a configuration builder from $this-&gt;guiTableFactory-&gt;createConfigurationBuilder()</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columns: addColumnText('name', 'Name', sortable: true, searchable: true) addColumnText('description', 'Description', sortable: true, searchable: false) addColumnChip('status', 'Status', ...) with color map: 1 =&gt; green/Active , 0 =&gt; gray/Inactive addColumnText('email', 'Email', ...) addColumnText('phone', 'Phone', ...)</a:t>
            </a:r>
          </a:p>
          <a:p>
            <a:pPr>
              <a:spcAft>
                <a:spcPts val="400"/>
              </a:spcAft>
              <a:defRPr sz="1500">
                <a:solidFill>
                  <a:srgbClr val="1A1A1A"/>
                </a:solidFill>
              </a:defRPr>
            </a:pPr>
            <a:r>
              <a:t>• Add a status filter: addFilterSelect('status', 'Status', false, [1 =&gt; 'Active', 0 =&gt; 'Inactive'])</a:t>
            </a:r>
          </a:p>
          <a:p>
            <a:pPr>
              <a:spcAft>
                <a:spcPts val="400"/>
              </a:spcAft>
              <a:defRPr sz="1500">
                <a:solidFill>
                  <a:srgbClr val="1A1A1A"/>
                </a:solidFill>
              </a:defRPr>
            </a:pPr>
            <a:r>
              <a:t>• Add a row action for editing: addRowActionDrawerAjaxForm('edit', 'Edit', '/supplier-merchant-portal-gui/update-supplier?id-supplier=${row.idSupplier}')</a:t>
            </a:r>
          </a:p>
          <a:p>
            <a:pPr>
              <a:spcAft>
                <a:spcPts val="400"/>
              </a:spcAft>
              <a:defRPr sz="1500">
                <a:solidFill>
                  <a:srgbClr val="1A1A1A"/>
                </a:solidFill>
              </a:defRPr>
            </a:pPr>
            <a:r>
              <a:t>• Set data source URL, page size, and enable search</a:t>
            </a:r>
          </a:p>
          <a:p>
            <a:pPr>
              <a:spcAft>
                <a:spcPts val="800"/>
              </a:spcAft>
              <a:defRPr sz="1400" i="1">
                <a:solidFill>
                  <a:srgbClr val="888888"/>
                </a:solidFill>
              </a:defRPr>
            </a:pPr>
            <a:r>
              <a:t>❝ Column types: addColumnText() for plain text, addColumnChip() for status badges with color coding, addColumnDate() for dates.</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Row action: addRowActionDrawerAjaxForm() opens a drawer overlay that loads a form via AJAX — you’ll build this in Exercise 16.</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GuiTable Data Provider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data provider bridges the GuiTable framework with your repository.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src/SprykerAcademy/Zed/SupplierMerchantPortalGui/Communication/DataProvider/SupplierGuiTableDataProvider.php :</a:t>
            </a:r>
          </a:p>
          <a:p>
            <a:pPr>
              <a:spcAft>
                <a:spcPts val="400"/>
              </a:spcAft>
              <a:defRPr sz="1500">
                <a:solidFill>
                  <a:srgbClr val="1A1A1A"/>
                </a:solidFill>
              </a:defRPr>
            </a:pPr>
            <a:r>
              <a:t>• In createCriteria() , build a SupplierMerchantPortalTableCriteriaTransfer with the current merchant’s reference: $this -&gt;merchantUserFacade-&gt;getCurrentMerchantUser()-&gt;getMerchantOrFail()-&gt;getMerchantReference()</a:t>
            </a:r>
          </a:p>
          <a:p>
            <a:pPr>
              <a:spcAft>
                <a:spcPts val="400"/>
              </a:spcAft>
              <a:defRPr sz="1500">
                <a:solidFill>
                  <a:srgbClr val="1A1A1A"/>
                </a:solidFill>
              </a:defRPr>
            </a:pPr>
            <a:r>
              <a:t>• In fetchData() , delegate to the repository: $this-&gt;repository-&gt;getSupplierTableData($criteriaTransfer)</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GuiTable Data Provider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AbstractGuiTableDataProvider: The base class handles extracting pagination, sorting, filtering, and search parameters from the HTTP request and passing them to your criteria transfer.</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Repository (Merchant-Scoped Query)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repository builds a Propel query that only returns suppliers assigned to the current merchant.</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src/SprykerAcademy/Zed/SupplierMerchantPortalGui/Persistence/SupplierMerchantPortalGuiRepository.php :</a:t>
            </a:r>
          </a:p>
          <a:p>
            <a:pPr>
              <a:spcAft>
                <a:spcPts val="800"/>
              </a:spcAft>
              <a:defRPr sz="1600">
                <a:solidFill>
                  <a:srgbClr val="1A1A1A"/>
                </a:solidFill>
              </a:defRPr>
            </a:pPr>
            <a:r>
              <a:t>In getSupplierTableData() :</a:t>
            </a:r>
          </a:p>
          <a:p>
            <a:pPr>
              <a:spcAft>
                <a:spcPts val="400"/>
              </a:spcAft>
              <a:defRPr sz="1500">
                <a:solidFill>
                  <a:srgbClr val="1A1A1A"/>
                </a:solidFill>
              </a:defRPr>
            </a:pPr>
            <a:r>
              <a:t>• Get a fresh PyzSupplierQuery from the factory</a:t>
            </a:r>
          </a:p>
          <a:p>
            <a:pPr>
              <a:spcAft>
                <a:spcPts val="400"/>
              </a:spcAft>
              <a:defRPr sz="1500">
                <a:solidFill>
                  <a:srgbClr val="1A1A1A"/>
                </a:solidFill>
              </a:defRPr>
            </a:pPr>
            <a:r>
              <a:t>• Join with PyzMerchantToSupplier and filter by merchant reference: $supplierQuery -&gt;usePyzMerchantToSupplierQuery() -&gt;useSpyMerchantQuery() -&gt;filterByMerchantReference( $criteriaTransfer -&gt;getMerchantReference()) -&gt;endUse() -&gt;endUse() ;</a:t>
            </a:r>
          </a:p>
          <a:p>
            <a:pPr>
              <a:spcAft>
                <a:spcPts val="400"/>
              </a:spcAft>
              <a:defRPr sz="1500">
                <a:solidFill>
                  <a:srgbClr val="1A1A1A"/>
                </a:solidFill>
              </a:defRPr>
            </a:pPr>
            <a:r>
              <a:t>• Apply search filter on name/description/email if searchTerm is set</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Repository (Merchant-Scoped Query)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Apply status filter if filterStatus is set</a:t>
            </a:r>
          </a:p>
          <a:p>
            <a:pPr>
              <a:spcAft>
                <a:spcPts val="400"/>
              </a:spcAft>
              <a:defRPr sz="1500">
                <a:solidFill>
                  <a:srgbClr val="1A1A1A"/>
                </a:solidFill>
              </a:defRPr>
            </a:pPr>
            <a:r>
              <a:t>• Count total before pagination</a:t>
            </a:r>
          </a:p>
          <a:p>
            <a:pPr>
              <a:spcAft>
                <a:spcPts val="400"/>
              </a:spcAft>
              <a:defRPr sz="1500">
                <a:solidFill>
                  <a:srgbClr val="1A1A1A"/>
                </a:solidFill>
              </a:defRPr>
            </a:pPr>
            <a:r>
              <a:t>• Apply sorting and pagination</a:t>
            </a:r>
          </a:p>
          <a:p>
            <a:pPr>
              <a:spcAft>
                <a:spcPts val="400"/>
              </a:spcAft>
              <a:defRPr sz="1500">
                <a:solidFill>
                  <a:srgbClr val="1A1A1A"/>
                </a:solidFill>
              </a:defRPr>
            </a:pPr>
            <a:r>
              <a:t>• Map each PyzSupplier entity to a GuiTableRowDataResponseTransfer with keys matching the column IDs</a:t>
            </a:r>
          </a:p>
          <a:p>
            <a:pPr>
              <a:spcAft>
                <a:spcPts val="800"/>
              </a:spcAft>
              <a:defRPr sz="1400" i="1">
                <a:solidFill>
                  <a:srgbClr val="888888"/>
                </a:solidFill>
              </a:defRPr>
            </a:pPr>
            <a:r>
              <a:t>❝ Propel nested joins: usePyzMerchantToSupplierQuery() creates a JOIN with the bridge table. useSpyMerchantQuery() then joins with the merchant table to filter by reference.</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controller has two actions: one for the page and one for AJAX table data.</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src/SprykerAcademy/Zed/SupplierMerchantPortalGui/Communication/Controller/SupplierController.php :</a:t>
            </a:r>
          </a:p>
          <a:p>
            <a:pPr>
              <a:spcAft>
                <a:spcPts val="400"/>
              </a:spcAft>
              <a:defRPr sz="1500">
                <a:solidFill>
                  <a:srgbClr val="1A1A1A"/>
                </a:solidFill>
              </a:defRPr>
            </a:pPr>
            <a:r>
              <a:t>• indexAction() — return viewResponse with supplierTableConfiguration from the configuration provider</a:t>
            </a:r>
          </a:p>
          <a:p>
            <a:pPr>
              <a:spcAft>
                <a:spcPts val="400"/>
              </a:spcAft>
              <a:defRPr sz="1500">
                <a:solidFill>
                  <a:srgbClr val="1A1A1A"/>
                </a:solidFill>
              </a:defRPr>
            </a:pPr>
            <a:r>
              <a:t>• tableDataAction() — use GuiTableHttpDataRequestExecutor::execute() with the data provider and configuration</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Angular Component Wiring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Angular components are provided. You need to register them as web components.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src/SprykerAcademy/Zed/SupplierMerchantPortalGui/Presentation/Components/app/components.module.ts :</a:t>
            </a:r>
          </a:p>
          <a:p>
            <a:pPr>
              <a:spcAft>
                <a:spcPts val="800"/>
              </a:spcAft>
              <a:defRPr sz="1600">
                <a:solidFill>
                  <a:srgbClr val="1A1A1A"/>
                </a:solidFill>
              </a:defRPr>
            </a:pPr>
            <a:r>
              <a:t>Add SupplierListComponent to the WebComponentsModule.withComponents([...]) array. This transforms the Angular component into a custom HTML element ( &lt;web-mp-supplier-list&gt; ) that Twig can use.</a:t>
            </a:r>
          </a:p>
          <a:p>
            <a:pPr>
              <a:spcAft>
                <a:spcPts val="800"/>
              </a:spcAft>
              <a:defRPr sz="1400" i="1">
                <a:solidFill>
                  <a:srgbClr val="888888"/>
                </a:solidFill>
              </a:defRPr>
            </a:pPr>
            <a:r>
              <a:t>❝ Web Components pattern: Spryker uses @spryker/web-components to bridge Angular components with server-rendered Twig. The withComponents([...]) call registers each Angular component as a custom element with the web- prefix added to its selector.</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completing all parts:</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Aft>
                <a:spcPts val="400"/>
              </a:spcAft>
              <a:defRPr sz="1500">
                <a:solidFill>
                  <a:srgbClr val="1A1A1A"/>
                </a:solidFill>
              </a:defRPr>
            </a:pPr>
            <a:r>
              <a:t>• Log in to the Merchant Portal (e.g., mp.eu.spryker.local )</a:t>
            </a:r>
          </a:p>
          <a:p>
            <a:pPr>
              <a:spcAft>
                <a:spcPts val="400"/>
              </a:spcAft>
              <a:defRPr sz="1500">
                <a:solidFill>
                  <a:srgbClr val="1A1A1A"/>
                </a:solidFill>
              </a:defRPr>
            </a:pPr>
            <a:r>
              <a:t>• You should see “Suppliers” in the navigation</a:t>
            </a:r>
          </a:p>
          <a:p>
            <a:pPr>
              <a:spcAft>
                <a:spcPts val="400"/>
              </a:spcAft>
              <a:defRPr sz="1500">
                <a:solidFill>
                  <a:srgbClr val="1A1A1A"/>
                </a:solidFill>
              </a:defRPr>
            </a:pPr>
            <a:r>
              <a:t>• The table should show only suppliers assigned to your merchant</a:t>
            </a:r>
          </a:p>
          <a:p>
            <a:pPr>
              <a:spcAft>
                <a:spcPts val="400"/>
              </a:spcAft>
              <a:defRPr sz="1500">
                <a:solidFill>
                  <a:srgbClr val="1A1A1A"/>
                </a:solidFill>
              </a:defRPr>
            </a:pPr>
            <a:r>
              <a:t>• Try the search, status filter, and column sorting</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intermediate/merchant-portal-table/complete</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16: Merchant Portal — Supplier Create/Edit Form</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16: Merchant Portal — Supplier Create/Edit Form</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add create and edit functionality for suppliers in the Merchant Portal using drawer forms. You will learn the Merchant Portal form pattern: Symfony forms rendered in Angular drawers, with JSON responses controlling the UI lifecycle (close drawer, refresh table, show notifications).</a:t>
            </a:r>
          </a:p>
          <a:p>
            <a:pPr>
              <a:spcAft>
                <a:spcPts val="800"/>
              </a:spcAft>
              <a:defRPr sz="1600">
                <a:solidFill>
                  <a:srgbClr val="1A1A1A"/>
                </a:solidFill>
              </a:defRPr>
            </a:pPr>
            <a:r>
              <a:t>You will learn how to: - Create a Symfony form type for the Merchant Portal - Build create and update controllers that return JsonResponse - Use ZedUiFormResponseBuilder for drawer actions (close, refresh, notify) - Auto-link new suppliers to the current merchant - Register an Angular edit component as a web component</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Exercise 15 (Merchant Portal Table)</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intermediate/merchant-portal-form/skeleton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Merchant Portal Form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Unlike the Back Office (which uses full page reloads), the Merchant Portal uses drawer forms that open as side panels over the table:</a:t>
            </a:r>
          </a:p>
          <a:p>
            <a:pPr>
              <a:spcBef>
                <a:spcPts val="0"/>
              </a:spcBef>
              <a:spcAft>
                <a:spcPts val="0"/>
              </a:spcAft>
            </a:pPr>
            <a:r>
              <a:rPr sz="900">
                <a:solidFill>
                  <a:srgbClr val="2D2D2D"/>
                </a:solidFill>
                <a:latin typeface="Consolas"/>
              </a:rPr>
              <a:t>Table row action "Edit" clicked</a:t>
            </a:r>
          </a:p>
          <a:p>
            <a:pPr>
              <a:spcBef>
                <a:spcPts val="0"/>
              </a:spcBef>
              <a:spcAft>
                <a:spcPts val="0"/>
              </a:spcAft>
            </a:pPr>
            <a:r>
              <a:rPr sz="900">
                <a:solidFill>
                  <a:srgbClr val="2D2D2D"/>
                </a:solidFill>
                <a:latin typeface="Consolas"/>
              </a:rPr>
              <a:t>    → AJAX GET /supplier-merchant-portal-gui/update-supplier?id-supplier=5</a:t>
            </a:r>
          </a:p>
          <a:p>
            <a:pPr>
              <a:spcBef>
                <a:spcPts val="0"/>
              </a:spcBef>
              <a:spcAft>
                <a:spcPts val="0"/>
              </a:spcAft>
            </a:pPr>
            <a:r>
              <a:rPr sz="900">
                <a:solidFill>
                  <a:srgbClr val="2D2D2D"/>
                </a:solidFill>
                <a:latin typeface="Consolas"/>
              </a:rPr>
              <a:t>    → Controller renders form HTML as JsonResponse</a:t>
            </a:r>
          </a:p>
          <a:p>
            <a:pPr>
              <a:spcBef>
                <a:spcPts val="0"/>
              </a:spcBef>
              <a:spcAft>
                <a:spcPts val="0"/>
              </a:spcAft>
            </a:pPr>
            <a:r>
              <a:rPr sz="900">
                <a:solidFill>
                  <a:srgbClr val="2D2D2D"/>
                </a:solidFill>
                <a:latin typeface="Consolas"/>
              </a:rPr>
              <a:t>    → Angular opens drawer with the HTML content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Form submitted</a:t>
            </a:r>
          </a:p>
          <a:p>
            <a:pPr>
              <a:spcBef>
                <a:spcPts val="0"/>
              </a:spcBef>
              <a:spcAft>
                <a:spcPts val="0"/>
              </a:spcAft>
            </a:pPr>
            <a:r>
              <a:rPr sz="900">
                <a:solidFill>
                  <a:srgbClr val="2D2D2D"/>
                </a:solidFill>
                <a:latin typeface="Consolas"/>
              </a:rPr>
              <a:t>    → AJAX POST to same URL</a:t>
            </a:r>
          </a:p>
          <a:p>
            <a:pPr>
              <a:spcBef>
                <a:spcPts val="0"/>
              </a:spcBef>
              <a:spcAft>
                <a:spcPts val="0"/>
              </a:spcAft>
            </a:pPr>
            <a:r>
              <a:rPr sz="900">
                <a:solidFill>
                  <a:srgbClr val="2D2D2D"/>
                </a:solidFill>
                <a:latin typeface="Consolas"/>
              </a:rPr>
              <a:t>    → Controller validates form</a:t>
            </a:r>
          </a:p>
          <a:p>
            <a:pPr>
              <a:spcBef>
                <a:spcPts val="0"/>
              </a:spcBef>
              <a:spcAft>
                <a:spcPts val="0"/>
              </a:spcAft>
            </a:pPr>
            <a:r>
              <a:rPr sz="900">
                <a:solidFill>
                  <a:srgbClr val="2D2D2D"/>
                </a:solidFill>
                <a:latin typeface="Consolas"/>
              </a:rPr>
              <a:t>    → If valid: returns ZedUiFormResponse with actions</a:t>
            </a:r>
          </a:p>
          <a:p>
            <a:pPr>
              <a:spcBef>
                <a:spcPts val="0"/>
              </a:spcBef>
              <a:spcAft>
                <a:spcPts val="0"/>
              </a:spcAft>
            </a:pPr>
            <a:r>
              <a:rPr sz="900">
                <a:solidFill>
                  <a:srgbClr val="2D2D2D"/>
                </a:solidFill>
                <a:latin typeface="Consolas"/>
              </a:rPr>
              <a:t>        → addSuccessNotification("Supplier updated")</a:t>
            </a:r>
          </a:p>
          <a:p>
            <a:pPr>
              <a:spcBef>
                <a:spcPts val="0"/>
              </a:spcBef>
              <a:spcAft>
                <a:spcPts val="0"/>
              </a:spcAft>
            </a:pPr>
            <a:r>
              <a:rPr sz="900">
                <a:solidFill>
                  <a:srgbClr val="2D2D2D"/>
                </a:solidFill>
                <a:latin typeface="Consolas"/>
              </a:rPr>
              <a:t>        → addActionCloseDrawer()</a:t>
            </a:r>
          </a:p>
          <a:p>
            <a:pPr>
              <a:spcBef>
                <a:spcPts val="0"/>
              </a:spcBef>
              <a:spcAft>
                <a:spcPts val="0"/>
              </a:spcAft>
            </a:pPr>
            <a:r>
              <a:rPr sz="900">
                <a:solidFill>
                  <a:srgbClr val="2D2D2D"/>
                </a:solidFill>
                <a:latin typeface="Consolas"/>
              </a:rPr>
              <a:t>        → addActionRefreshTable()</a:t>
            </a:r>
          </a:p>
          <a:p>
            <a:pPr>
              <a:spcBef>
                <a:spcPts val="0"/>
              </a:spcBef>
              <a:spcAft>
                <a:spcPts val="0"/>
              </a:spcAft>
            </a:pPr>
            <a:r>
              <a:rPr sz="900">
                <a:solidFill>
                  <a:srgbClr val="2D2D2D"/>
                </a:solidFill>
                <a:latin typeface="Consolas"/>
              </a:rPr>
              <a:t>    → Angular executes actions: closes drawer, refreshes table, shows toast</a:t>
            </a:r>
          </a:p>
          <a:p>
            <a:pPr>
              <a:spcBef>
                <a:spcPts val="0"/>
              </a:spcBef>
              <a:spcAft>
                <a:spcPts val="0"/>
              </a:spcAft>
            </a:pPr>
            <a:r>
              <a:rPr sz="900">
                <a:solidFill>
                  <a:srgbClr val="2D2D2D"/>
                </a:solidFill>
                <a:latin typeface="Consolas"/>
              </a:rPr>
              <a:t>    → If invalid: returns re-rendered form HTML with errors</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Merchant Portal Form Pattern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Key difference from Back Office: Controllers return JsonResponse (not viewResponse ), and the response contains either rendered HTML (for the form) or a ZedUI action payload (after successful submit).</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Supplier Form</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src/SprykerAcademy/Zed/SupplierMerchantPortalGui/Communication/Form/SupplierForm.php :</a:t>
            </a:r>
          </a:p>
          <a:p>
            <a:pPr>
              <a:spcAft>
                <a:spcPts val="800"/>
              </a:spcAft>
              <a:defRPr sz="1600">
                <a:solidFill>
                  <a:srgbClr val="1A1A1A"/>
                </a:solidFill>
              </a:defRPr>
            </a:pPr>
            <a:r>
              <a:t>In buildForm() , add these fields:</a:t>
            </a:r>
          </a:p>
          <a:p>
            <a:pPr>
              <a:spcAft>
                <a:spcPts val="100"/>
              </a:spcAft>
              <a:defRPr sz="1000">
                <a:solidFill>
                  <a:srgbClr val="1A1A1A"/>
                </a:solidFill>
                <a:latin typeface="Consolas"/>
              </a:defRPr>
            </a:pPr>
            <a:r>
              <a:t>Field        Type          Options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name         TextType      required, NotBlank constraint         </a:t>
            </a:r>
          </a:p>
          <a:p>
            <a:pPr>
              <a:spcAft>
                <a:spcPts val="100"/>
              </a:spcAft>
              <a:defRPr sz="1000">
                <a:solidFill>
                  <a:srgbClr val="1A1A1A"/>
                </a:solidFill>
                <a:latin typeface="Consolas"/>
              </a:defRPr>
            </a:pPr>
            <a:r>
              <a:t>description  TextareaType  optional                              </a:t>
            </a:r>
          </a:p>
          <a:p>
            <a:pPr>
              <a:spcAft>
                <a:spcPts val="100"/>
              </a:spcAft>
              <a:defRPr sz="1000">
                <a:solidFill>
                  <a:srgbClr val="1A1A1A"/>
                </a:solidFill>
                <a:latin typeface="Consolas"/>
              </a:defRPr>
            </a:pPr>
            <a:r>
              <a:t>email        EmailType     required, NotBlank constraint         </a:t>
            </a:r>
          </a:p>
          <a:p>
            <a:pPr>
              <a:spcAft>
                <a:spcPts val="100"/>
              </a:spcAft>
              <a:defRPr sz="1000">
                <a:solidFill>
                  <a:srgbClr val="1A1A1A"/>
                </a:solidFill>
                <a:latin typeface="Consolas"/>
              </a:defRPr>
            </a:pPr>
            <a:r>
              <a:t>phone        TextType      optional                              </a:t>
            </a:r>
          </a:p>
          <a:p>
            <a:pPr>
              <a:spcAft>
                <a:spcPts val="100"/>
              </a:spcAft>
              <a:defRPr sz="1000">
                <a:solidFill>
                  <a:srgbClr val="1A1A1A"/>
                </a:solidFill>
                <a:latin typeface="Consolas"/>
              </a:defRPr>
            </a:pPr>
            <a:r>
              <a:t>isActive     CheckboxType  property_path: 'status' , not required</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property_path : The isActive checkbox maps to the status field on SupplierTransfer via property_path . This lets the form display a friendly checkbox while the transfer uses an integer status.</a:t>
            </a:r>
          </a:p>
          <a:p>
            <a:pPr>
              <a:spcAft>
                <a:spcPts val="800"/>
              </a:spcAft>
              <a:defRPr sz="1400" i="1">
                <a:solidFill>
                  <a:srgbClr val="888888"/>
                </a:solidFill>
              </a:defRPr>
            </a:pPr>
            <a:r>
              <a:t>❝ getBlockPrefix() : Returns 'supplierForm' — this determines the HTML form field name prefix (e.g., supplierForm[name] ).</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Supplier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src/SprykerAcademy/Zed/SupplierMerchantPortalGui/Communication/Controller/CreateSupplierController.php :</a:t>
            </a:r>
          </a:p>
          <a:p>
            <a:pPr>
              <a:spcAft>
                <a:spcPts val="800"/>
              </a:spcAft>
              <a:defRPr sz="1600">
                <a:solidFill>
                  <a:srgbClr val="1A1A1A"/>
                </a:solidFill>
              </a:defRPr>
            </a:pPr>
            <a:r>
              <a:t>In indexAction() :</a:t>
            </a:r>
          </a:p>
          <a:p>
            <a:pPr>
              <a:spcAft>
                <a:spcPts val="400"/>
              </a:spcAft>
              <a:defRPr sz="1500">
                <a:solidFill>
                  <a:srgbClr val="1A1A1A"/>
                </a:solidFill>
              </a:defRPr>
            </a:pPr>
            <a:r>
              <a:t>• Get form data provider, create empty SupplierTransfer</a:t>
            </a:r>
          </a:p>
          <a:p>
            <a:pPr>
              <a:spcAft>
                <a:spcPts val="400"/>
              </a:spcAft>
              <a:defRPr sz="1500">
                <a:solidFill>
                  <a:srgbClr val="1A1A1A"/>
                </a:solidFill>
              </a:defRPr>
            </a:pPr>
            <a:r>
              <a:t>• Create the form via factory</a:t>
            </a:r>
          </a:p>
          <a:p>
            <a:pPr>
              <a:spcAft>
                <a:spcPts val="400"/>
              </a:spcAft>
              <a:defRPr sz="1500">
                <a:solidFill>
                  <a:srgbClr val="1A1A1A"/>
                </a:solidFill>
              </a:defRPr>
            </a:pPr>
            <a:r>
              <a:t>• Handle the request: $form-&gt;handleRequest($request)</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Supplier Controller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If submitted and valid: Create supplier via facade: $this-&gt;getFactory()-&gt;getSupplierFacade()-&gt;createSupplier($supplierTransfer) Link to current merchant: create a PyzMerchantToSupplier entity Return JsonResponse with ZedUI actions: $this -&gt;getFactory()-&gt;getZedUiFactory() -&gt;createZedUiFormResponseBuilder() -&gt;addSuccessNotification( 'Supplier created successfully.' ) -&gt;addActionCloseDrawer() -&gt;addActionRefreshTable() -&gt;createResponse() ;</a:t>
            </a:r>
          </a:p>
          <a:p>
            <a:pPr>
              <a:spcAft>
                <a:spcPts val="400"/>
              </a:spcAft>
              <a:defRPr sz="1500">
                <a:solidFill>
                  <a:srgbClr val="1A1A1A"/>
                </a:solidFill>
              </a:defRPr>
            </a:pPr>
            <a:r>
              <a:t>• Otherwise: render the form template as JsonResponse</a:t>
            </a:r>
          </a:p>
          <a:p>
            <a:pPr>
              <a:spcAft>
                <a:spcPts val="800"/>
              </a:spcAft>
              <a:defRPr sz="1400" i="1">
                <a:solidFill>
                  <a:srgbClr val="888888"/>
                </a:solidFill>
              </a:defRPr>
            </a:pPr>
            <a:r>
              <a:t>❝ Merchant linking: When a merchant creates a supplier, it must be automatically linked via pyz_merchant_to_supplier . Get the current merchant from MerchantUserFacade::getCurrentMerchantUser()-&gt;getMerchantOrFail() .</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Update Supplier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src/SprykerAcademy/Zed/SupplierMerchantPortalGui/Communication/Controller/UpdateSupplierController.php :</a:t>
            </a:r>
          </a:p>
          <a:p>
            <a:pPr>
              <a:spcAft>
                <a:spcPts val="800"/>
              </a:spcAft>
              <a:defRPr sz="1600">
                <a:solidFill>
                  <a:srgbClr val="1A1A1A"/>
                </a:solidFill>
              </a:defRPr>
            </a:pPr>
            <a:r>
              <a:t>Same pattern as create, but: 1. Read id-supplier from the request 2. Load existing supplier via form data provider 3. Throw NotFoundHttpException if supplier doesn’t exist 4. On valid submit: call updateSupplier() instead of createSupplier()</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Angular Component Wiring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components.module.ts and add EditSupplierComponent and CardComponent to WebComponentsModule.withComponents([...]) .</a:t>
            </a:r>
          </a:p>
          <a:p>
            <a:pPr>
              <a:spcAft>
                <a:spcPts val="800"/>
              </a:spcAft>
              <a:defRPr sz="1600">
                <a:solidFill>
                  <a:srgbClr val="1A1A1A"/>
                </a:solidFill>
              </a:defRPr>
            </a:pPr>
            <a:r>
              <a:t>The edit component ( &lt;web-mp-edit-supplier&gt; ) wraps the form content with named slots for title and action buttons.</a:t>
            </a:r>
          </a:p>
          <a:p>
            <a:pPr>
              <a:spcAft>
                <a:spcPts val="800"/>
              </a:spcAft>
              <a:defRPr sz="1600">
                <a:solidFill>
                  <a:srgbClr val="1A1A1A"/>
                </a:solidFill>
              </a:defRPr>
            </a:pPr>
            <a:r>
              <a:t>The card component ( &lt;web-spy-card&gt; ) provides the card layout used in the form template to group related fields.</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Aft>
                <a:spcPts val="400"/>
              </a:spcAft>
              <a:defRPr sz="1500">
                <a:solidFill>
                  <a:srgbClr val="1A1A1A"/>
                </a:solidFill>
              </a:defRPr>
            </a:pPr>
            <a:r>
              <a:t>• In the Merchant Portal supplier table, click “Add Supplier” → the create form should open</a:t>
            </a:r>
          </a:p>
          <a:p>
            <a:pPr>
              <a:spcAft>
                <a:spcPts val="400"/>
              </a:spcAft>
              <a:defRPr sz="1500">
                <a:solidFill>
                  <a:srgbClr val="1A1A1A"/>
                </a:solidFill>
              </a:defRPr>
            </a:pPr>
            <a:r>
              <a:t>• Fill in the form and submit → supplier should be created and table refreshed</a:t>
            </a:r>
          </a:p>
          <a:p>
            <a:pPr>
              <a:spcAft>
                <a:spcPts val="400"/>
              </a:spcAft>
              <a:defRPr sz="1500">
                <a:solidFill>
                  <a:srgbClr val="1A1A1A"/>
                </a:solidFill>
              </a:defRPr>
            </a:pPr>
            <a:r>
              <a:t>• Click “Edit” on a table row → the edit drawer should open with pre-filled data</a:t>
            </a:r>
          </a:p>
          <a:p>
            <a:pPr>
              <a:spcAft>
                <a:spcPts val="400"/>
              </a:spcAft>
              <a:defRPr sz="1500">
                <a:solidFill>
                  <a:srgbClr val="1A1A1A"/>
                </a:solidFill>
              </a:defRPr>
            </a:pPr>
            <a:r>
              <a:t>• Update and submit → changes should be saved</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intermediate/merchant-portal-form/complete</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17: Merchant Portal — Supplier Locations (Nested Table)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17: Merchant Portal — Supplier Locations (Nested Table)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add an editable locations table inside the supplier edit drawer. This teaches the pattern for nested tables within forms — similar to how Spryker's ProductOffer module embeds a price table inside the offer edit form.</a:t>
            </a:r>
          </a:p>
          <a:p>
            <a:pPr>
              <a:spcAft>
                <a:spcPts val="800"/>
              </a:spcAft>
              <a:defRPr sz="1600">
                <a:solidFill>
                  <a:srgbClr val="1A1A1A"/>
                </a:solidFill>
              </a:defRPr>
            </a:pPr>
            <a:r>
              <a:t>You will learn how to:</a:t>
            </a:r>
          </a:p>
          <a:p>
            <a:pPr>
              <a:spcAft>
                <a:spcPts val="400"/>
              </a:spcAft>
              <a:defRPr sz="1500">
                <a:solidFill>
                  <a:srgbClr val="1A1A1A"/>
                </a:solidFill>
              </a:defRPr>
            </a:pPr>
            <a:r>
              <a:t>• Build an editable GuiTable with inline add/edit capabilities</a:t>
            </a:r>
          </a:p>
          <a:p>
            <a:pPr>
              <a:spcAft>
                <a:spcPts val="400"/>
              </a:spcAft>
              <a:defRPr sz="1500">
                <a:solidFill>
                  <a:srgbClr val="1A1A1A"/>
                </a:solidFill>
              </a:defRPr>
            </a:pPr>
            <a:r>
              <a:t>• Configure enableAddingNewRows() for adding rows to the table</a:t>
            </a:r>
          </a:p>
          <a:p>
            <a:pPr>
              <a:spcAft>
                <a:spcPts val="400"/>
              </a:spcAft>
              <a:defRPr sz="1500">
                <a:solidFill>
                  <a:srgbClr val="1A1A1A"/>
                </a:solidFill>
              </a:defRPr>
            </a:pPr>
            <a:r>
              <a:t>• Implement a Symfony form data transformer for nested table data</a:t>
            </a:r>
          </a:p>
          <a:p>
            <a:pPr>
              <a:spcAft>
                <a:spcPts val="400"/>
              </a:spcAft>
              <a:defRPr sz="1500">
                <a:solidFill>
                  <a:srgbClr val="1A1A1A"/>
                </a:solidFill>
              </a:defRPr>
            </a:pPr>
            <a:r>
              <a:t>• Embed a GuiTable inside a form template</a:t>
            </a:r>
          </a:p>
          <a:p>
            <a:pPr>
              <a:spcAft>
                <a:spcPts val="400"/>
              </a:spcAft>
              <a:defRPr sz="1500">
                <a:solidFill>
                  <a:srgbClr val="1A1A1A"/>
                </a:solidFill>
              </a:defRPr>
            </a:pPr>
            <a:r>
              <a:t>• Register a nested Angular table component</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Exercise 16 (Merchant Portal Form)</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intermediate/merchant-portal-locations/skeleton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Editable GuiTable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regular GuiTable displays read-only data. An editable GuiTable allows inline editing and adding of rows, with the data submitted as part of a parent form.</a:t>
            </a:r>
          </a:p>
          <a:p>
            <a:pPr>
              <a:spcBef>
                <a:spcPts val="0"/>
              </a:spcBef>
              <a:spcAft>
                <a:spcPts val="0"/>
              </a:spcAft>
            </a:pPr>
            <a:r>
              <a:rPr sz="900">
                <a:solidFill>
                  <a:srgbClr val="2D2D2D"/>
                </a:solidFill>
                <a:latin typeface="Consolas"/>
              </a:rPr>
              <a:t>Edit Supplier drawer</a:t>
            </a:r>
          </a:p>
          <a:p>
            <a:pPr>
              <a:spcBef>
                <a:spcPts val="0"/>
              </a:spcBef>
              <a:spcAft>
                <a:spcPts val="0"/>
              </a:spcAft>
            </a:pPr>
            <a:r>
              <a:rPr sz="900">
                <a:solidFill>
                  <a:srgbClr val="2D2D2D"/>
                </a:solidFill>
                <a:latin typeface="Consolas"/>
              </a:rPr>
              <a:t>├── Supplier Details card (name, description)</a:t>
            </a:r>
          </a:p>
          <a:p>
            <a:pPr>
              <a:spcBef>
                <a:spcPts val="0"/>
              </a:spcBef>
              <a:spcAft>
                <a:spcPts val="0"/>
              </a:spcAft>
            </a:pPr>
            <a:r>
              <a:rPr sz="900">
                <a:solidFill>
                  <a:srgbClr val="2D2D2D"/>
                </a:solidFill>
                <a:latin typeface="Consolas"/>
              </a:rPr>
              <a:t>├── Contact Info card (email, phone)</a:t>
            </a:r>
          </a:p>
          <a:p>
            <a:pPr>
              <a:spcBef>
                <a:spcPts val="0"/>
              </a:spcBef>
              <a:spcAft>
                <a:spcPts val="0"/>
              </a:spcAft>
            </a:pPr>
            <a:r>
              <a:rPr sz="900">
                <a:solidFill>
                  <a:srgbClr val="2D2D2D"/>
                </a:solidFill>
                <a:latin typeface="Consolas"/>
              </a:rPr>
              <a:t>├── Status card (isActive)</a:t>
            </a:r>
          </a:p>
          <a:p>
            <a:pPr>
              <a:spcBef>
                <a:spcPts val="0"/>
              </a:spcBef>
              <a:spcAft>
                <a:spcPts val="0"/>
              </a:spcAft>
            </a:pPr>
            <a:r>
              <a:rPr sz="900">
                <a:solidFill>
                  <a:srgbClr val="2D2D2D"/>
                </a:solidFill>
                <a:latin typeface="Consolas"/>
              </a:rPr>
              <a:t>└── Locations card</a:t>
            </a:r>
          </a:p>
          <a:p>
            <a:pPr>
              <a:spcBef>
                <a:spcPts val="0"/>
              </a:spcBef>
              <a:spcAft>
                <a:spcPts val="0"/>
              </a:spcAft>
            </a:pPr>
            <a:r>
              <a:rPr sz="900">
                <a:solidFill>
                  <a:srgbClr val="2D2D2D"/>
                </a:solidFill>
                <a:latin typeface="Consolas"/>
              </a:rPr>
              <a:t>    └── Editable GuiTable</a:t>
            </a:r>
          </a:p>
          <a:p>
            <a:pPr>
              <a:spcBef>
                <a:spcPts val="0"/>
              </a:spcBef>
              <a:spcAft>
                <a:spcPts val="0"/>
              </a:spcAft>
            </a:pPr>
            <a:r>
              <a:rPr sz="900">
                <a:solidFill>
                  <a:srgbClr val="2D2D2D"/>
                </a:solidFill>
                <a:latin typeface="Consolas"/>
              </a:rPr>
              <a:t>        ├── Existing location rows (editable)</a:t>
            </a:r>
          </a:p>
          <a:p>
            <a:pPr>
              <a:spcBef>
                <a:spcPts val="0"/>
              </a:spcBef>
              <a:spcAft>
                <a:spcPts val="0"/>
              </a:spcAft>
            </a:pPr>
            <a:r>
              <a:rPr sz="900">
                <a:solidFill>
                  <a:srgbClr val="2D2D2D"/>
                </a:solidFill>
                <a:latin typeface="Consolas"/>
              </a:rPr>
              <a:t>        ├── "Add Location" button → new empty row</a:t>
            </a:r>
          </a:p>
          <a:p>
            <a:pPr>
              <a:spcBef>
                <a:spcPts val="0"/>
              </a:spcBef>
              <a:spcAft>
                <a:spcPts val="0"/>
              </a:spcAft>
            </a:pPr>
            <a:r>
              <a:rPr sz="900">
                <a:solidFill>
                  <a:srgbClr val="2D2D2D"/>
                </a:solidFill>
                <a:latin typeface="Consolas"/>
              </a:rPr>
              <a:t>        └── Hidden form inputs: supplierForm[locations][0][city], etc.</a:t>
            </a:r>
          </a:p>
          <a:p>
            <a:pPr>
              <a:spcAft>
                <a:spcPts val="800"/>
              </a:spcAft>
              <a:defRPr sz="1600">
                <a:solidFill>
                  <a:srgbClr val="1A1A1A"/>
                </a:solidFill>
              </a:defRPr>
            </a:pPr>
            <a:r>
              <a:t>When the form is submitted, the table data is sent as nested form fields. A data transformer converts between the transfer objects and the array format the table uses.</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Location GuiTable Configuration</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src/SprykerAcademy/Zed/SupplierMerchantPortalGui/Communication/ConfigurationProvider/SupplierLocationGuiTableConfigurationProvider.php :</a:t>
            </a:r>
          </a:p>
          <a:p>
            <a:pPr>
              <a:spcAft>
                <a:spcPts val="800"/>
              </a:spcAft>
              <a:defRPr sz="1600">
                <a:solidFill>
                  <a:srgbClr val="1A1A1A"/>
                </a:solidFill>
              </a:defRPr>
            </a:pPr>
            <a:r>
              <a:t>The five display columns ( addColumnText() for city, country, address, zip code and default) are already there: a GuiTable must declare at least one regular column, otherwise createConfiguration() throws Table must have at least one column . The editable inputs you add now are rendered on top of those columns.</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editable columns using addEditableColumnInput() : city → text input country → text input address → text input zipCode → text input isDefault → checkbox input</a:t>
            </a:r>
          </a:p>
          <a:p>
            <a:pPr>
              <a:spcAft>
                <a:spcPts val="400"/>
              </a:spcAft>
              <a:defRPr sz="1500">
                <a:solidFill>
                  <a:srgbClr val="1A1A1A"/>
                </a:solidFill>
              </a:defRPr>
            </a:pPr>
            <a:r>
              <a:t>• Enable adding new rows: $guiTableConfigurationBuilder -&gt;enableAddingNewRows( static :: FORM_INPUT_NAME , // 'supplierForm[locations]' $initialData , [ 'title' =&gt; 'Add Location' , 'variant' =&gt; 'outline' ] , // Add button [ 'title' =&gt; 'Cancel' , 'variant' =&gt; 'outline' ] , // Cancel button ) ;</a:t>
            </a:r>
          </a:p>
          <a:p>
            <a:pPr>
              <a:spcAft>
                <a:spcPts val="800"/>
              </a:spcAft>
              <a:defRPr sz="1400" i="1">
                <a:solidFill>
                  <a:srgbClr val="888888"/>
                </a:solidFill>
              </a:defRPr>
            </a:pPr>
            <a:r>
              <a:t>❝ enableAddingNewRows() tells the GuiTable to render an "Add" button that creates empty editable rows. The FORM_INPUT_NAME determines how the data is submitted as form fields.</a:t>
            </a:r>
          </a:p>
          <a:p>
            <a:pPr>
              <a:spcAft>
                <a:spcPts val="800"/>
              </a:spcAft>
              <a:defRPr sz="1400" i="1">
                <a:solidFill>
                  <a:srgbClr val="888888"/>
                </a:solidFill>
              </a:defRPr>
            </a:pPr>
            <a:r>
              <a:t>❝ addEditableColumnInput() vs addColumnText() : addColumnText() declares the column of the table; addEditableColumnInput() declares the form input (text, checkbox, select) rendered in that column when the row is edited or added. An editable table needs both.</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Location Data Provider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src/SprykerAcademy/Zed/SupplierMerchantPortalGui/Communication/DataProvider/SupplierLocationGuiTableDataProvider.php :</a:t>
            </a:r>
          </a:p>
          <a:p>
            <a:pPr>
              <a:spcAft>
                <a:spcPts val="800"/>
              </a:spcAft>
              <a:defRPr sz="1600">
                <a:solidFill>
                  <a:srgbClr val="1A1A1A"/>
                </a:solidFill>
              </a:defRPr>
            </a:pPr>
            <a:r>
              <a:t>In getData($idSupplier) :</a:t>
            </a:r>
          </a:p>
          <a:p>
            <a:pPr>
              <a:spcAft>
                <a:spcPts val="400"/>
              </a:spcAft>
              <a:defRPr sz="1500">
                <a:solidFill>
                  <a:srgbClr val="1A1A1A"/>
                </a:solidFill>
              </a:defRPr>
            </a:pPr>
            <a:r>
              <a:t>• Query PyzSupplierLocationQuery filtered by fkSupplier</a:t>
            </a:r>
          </a:p>
          <a:p>
            <a:pPr>
              <a:spcAft>
                <a:spcPts val="400"/>
              </a:spcAft>
              <a:defRPr sz="1500">
                <a:solidFill>
                  <a:srgbClr val="1A1A1A"/>
                </a:solidFill>
              </a:defRPr>
            </a:pPr>
            <a:r>
              <a:t>• Map each location entity to a GuiTableRowDataResponseTransfer with: idSupplierLocation , city , country , address , zipCode , isDefault</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Location Form Transformer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transformer converts between SupplierLocationTransfer[] (PHP) and the array format (editable table rows).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src/SprykerAcademy/Zed/SupplierMerchantPortalGui/Communication/Form/Transformer/SupplierLocationTransformer.php :</a:t>
            </a:r>
          </a:p>
          <a:p>
            <a:pPr>
              <a:spcAft>
                <a:spcPts val="400"/>
              </a:spcAft>
              <a:defRPr sz="1500">
                <a:solidFill>
                  <a:srgbClr val="1A1A1A"/>
                </a:solidFill>
              </a:defRPr>
            </a:pPr>
            <a:r>
              <a:t>• transform() — convert ArrayObject&lt;SupplierLocationTransfer&gt; to array of arrays. Each array has: idSupplierLocation , city , country , address , zipCode , isDefault .</a:t>
            </a:r>
          </a:p>
          <a:p>
            <a:pPr>
              <a:spcAft>
                <a:spcPts val="400"/>
              </a:spcAft>
              <a:defRPr sz="1500">
                <a:solidFill>
                  <a:srgbClr val="1A1A1A"/>
                </a:solidFill>
              </a:defRPr>
            </a:pPr>
            <a:r>
              <a:t>• reverseTransform() — convert submitted array data back to ArrayObject&lt;SupplierLocationTransfer&gt; . Create a SupplierLocationTransfer for each row.</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Location Form Transformer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DataTransformerInterface: Symfony's form component calls transform() when rendering the form (PHP → view) and reverseTransform() when handling submission (view → PHP).</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Angular Component Wiring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components.module.ts and add SupplierLocationsTableComponent to WebComponentsModule.withComponents([...]) .</a:t>
            </a:r>
          </a:p>
          <a:p>
            <a:pPr>
              <a:spcAft>
                <a:spcPts val="800"/>
              </a:spcAft>
              <a:defRPr sz="1600">
                <a:solidFill>
                  <a:srgbClr val="1A1A1A"/>
                </a:solidFill>
              </a:defRPr>
            </a:pPr>
            <a:r>
              <a:t>The template already includes the locations card with &lt;web-mp-supplier-locations-table&gt; — it renders conditionally when supplierLocationTableConfiguration is present (only in the edit drawer, not create).</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400"/>
              </a:spcAft>
              <a:defRPr sz="1500">
                <a:solidFill>
                  <a:srgbClr val="1A1A1A"/>
                </a:solidFill>
              </a:defRPr>
            </a:pPr>
            <a:r>
              <a:t>• Edit an existing supplier in the Merchant Portal</a:t>
            </a:r>
          </a:p>
          <a:p>
            <a:pPr>
              <a:spcAft>
                <a:spcPts val="400"/>
              </a:spcAft>
              <a:defRPr sz="1500">
                <a:solidFill>
                  <a:srgbClr val="1A1A1A"/>
                </a:solidFill>
              </a:defRPr>
            </a:pPr>
            <a:r>
              <a:t>• The "Locations" card should appear with existing locations</a:t>
            </a:r>
          </a:p>
          <a:p>
            <a:pPr>
              <a:spcAft>
                <a:spcPts val="400"/>
              </a:spcAft>
              <a:defRPr sz="1500">
                <a:solidFill>
                  <a:srgbClr val="1A1A1A"/>
                </a:solidFill>
              </a:defRPr>
            </a:pPr>
            <a:r>
              <a:t>• Click "Add Location" → a new editable row should appear</a:t>
            </a:r>
          </a:p>
          <a:p>
            <a:pPr>
              <a:spcAft>
                <a:spcPts val="400"/>
              </a:spcAft>
              <a:defRPr sz="1500">
                <a:solidFill>
                  <a:srgbClr val="1A1A1A"/>
                </a:solidFill>
              </a:defRPr>
            </a:pPr>
            <a:r>
              <a:t>• Fill in the location fields and save</a:t>
            </a:r>
          </a:p>
          <a:p>
            <a:pPr>
              <a:spcAft>
                <a:spcPts val="400"/>
              </a:spcAft>
              <a:defRPr sz="1500">
                <a:solidFill>
                  <a:srgbClr val="1A1A1A"/>
                </a:solidFill>
              </a:defRPr>
            </a:pPr>
            <a:r>
              <a:t>• Re-open the edit drawer → the new location should be listed</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intermediate/merchant-portal-locations/complete</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18: Yves Storefront - Supplier Page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18: Yves Storefront - Supplier Page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Yves (storefront) interface to display suppliers. You will create a controller with two actions: one to list all suppliers in a table, and another to show details of a single supplier.</a:t>
            </a:r>
          </a:p>
          <a:p>
            <a:pPr>
              <a:spcAft>
                <a:spcPts val="800"/>
              </a:spcAft>
              <a:defRPr sz="1600">
                <a:solidFill>
                  <a:srgbClr val="1A1A1A"/>
                </a:solidFill>
              </a:defRPr>
            </a:pPr>
            <a:r>
              <a:t>You will learn how to: - Create a Yves Controller with multiple actions - Register routes using the RouteProviderPlugin - Create Twig templates for the storefront - Wire dependencies through the Yves DependencyProvider and Factory - Access the SearchClient from the Yves layer - Handle request parameters and redirects</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Exercise 11 (Search) — suppliers must be indexed in Elasticsearch</a:t>
            </a:r>
          </a:p>
          <a:p>
            <a:pPr>
              <a:spcAft>
                <a:spcPts val="400"/>
              </a:spcAft>
              <a:defRPr sz="1500">
                <a:solidFill>
                  <a:srgbClr val="1A1A1A"/>
                </a:solidFill>
              </a:defRPr>
            </a:pPr>
            <a:r>
              <a:t>• Understanding of the Client layer and DependencyProvider pattern</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intermediate/yves-storefront/skeleton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Yves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Yves is Spryker’s storefront layer. It handles HTTP requests from customers and renders the frontend using Twig templates.</a:t>
            </a:r>
          </a:p>
          <a:p>
            <a:pPr>
              <a:spcBef>
                <a:spcPts val="0"/>
              </a:spcBef>
              <a:spcAft>
                <a:spcPts val="0"/>
              </a:spcAft>
            </a:pPr>
            <a:r>
              <a:rPr sz="900">
                <a:solidFill>
                  <a:srgbClr val="2D2D2D"/>
                </a:solidFill>
                <a:latin typeface="Consolas"/>
              </a:rPr>
              <a:t>HTTP Request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Router (RouteProviderPlugin)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Controller::Action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Factory → Client → Elasticsearch/Redis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Twig Template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HTML Response</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Yves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Key differences from Zed (Back Office): - Yves uses AbstractController from Spryker\Yves\Kernel - Templates extend page-layout-main instead of @Gui/Layout/layout.twig - Routes are registered via RouteProviderPlugin (not navigation.xml) - URL generation uses url() Twig function (not hardcoded paths)</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Dependency Provider</a:t>
            </a:r>
          </a:p>
          <a:p>
            <a:pPr>
              <a:spcAft>
                <a:spcPts val="800"/>
              </a:spcAft>
              <a:defRPr sz="1600">
                <a:solidFill>
                  <a:srgbClr val="1A1A1A"/>
                </a:solidFill>
              </a:defRPr>
            </a:pPr>
            <a:r>
              <a:t>The DependencyProvider wires the SupplierSearchClient into the Yves module.</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src/SprykerAcademy/Yves/SupplierPage/SupplierPageDependencyProvider.php :</a:t>
            </a:r>
          </a:p>
          <a:p>
            <a:pPr>
              <a:spcAft>
                <a:spcPts val="400"/>
              </a:spcAft>
              <a:defRPr sz="1500">
                <a:solidFill>
                  <a:srgbClr val="1A1A1A"/>
                </a:solidFill>
              </a:defRPr>
            </a:pPr>
            <a:r>
              <a:t>• Add a constant CLIENT_SUPPLIER_SEARCH for the dependency key</a:t>
            </a:r>
          </a:p>
          <a:p>
            <a:pPr>
              <a:spcAft>
                <a:spcPts val="400"/>
              </a:spcAft>
              <a:defRPr sz="1500">
                <a:solidFill>
                  <a:srgbClr val="1A1A1A"/>
                </a:solidFill>
              </a:defRPr>
            </a:pPr>
            <a:r>
              <a:t>• Implement addSupplierSearchClient() : Use $container-&gt;set() with the constant as the key Return $container-&gt;getLocator()-&gt;supplierSearch()-&gt;client()</a:t>
            </a:r>
          </a:p>
          <a:p>
            <a:pPr>
              <a:spcAft>
                <a:spcPts val="400"/>
              </a:spcAft>
              <a:defRPr sz="1500">
                <a:solidFill>
                  <a:srgbClr val="1A1A1A"/>
                </a:solidFill>
              </a:defRPr>
            </a:pPr>
            <a:r>
              <a:t>• Call addSupplierSearchClient() in provideDependencies()</a:t>
            </a:r>
          </a:p>
          <a:p>
            <a:pPr>
              <a:spcAft>
                <a:spcPts val="800"/>
              </a:spcAft>
              <a:defRPr sz="1400" i="1">
                <a:solidFill>
                  <a:srgbClr val="888888"/>
                </a:solidFill>
              </a:defRPr>
            </a:pPr>
            <a:r>
              <a:t>❝ Locator pattern: $container-&gt;getLocator()-&gt;supplierSearch()-&gt;client() resolves the client from the Client layer.</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Factory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Factory provides access to the wired dependencies.</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src/SprykerAcademy/Yves/SupplierPage/SupplierPageFactory.php :</a:t>
            </a:r>
          </a:p>
          <a:p>
            <a:pPr>
              <a:spcAft>
                <a:spcPts val="400"/>
              </a:spcAft>
              <a:defRPr sz="1500">
                <a:solidFill>
                  <a:srgbClr val="1A1A1A"/>
                </a:solidFill>
              </a:defRPr>
            </a:pPr>
            <a:r>
              <a:t>• Implement getSupplierSearchClient() : Use getProvidedDependency() with the constant from DependencyProvider Return type: SupplierSearchClientInterface</a:t>
            </a:r>
          </a:p>
          <a:p>
            <a:pPr>
              <a:spcAft>
                <a:spcPts val="800"/>
              </a:spcAft>
              <a:defRPr sz="1400" i="1">
                <a:solidFill>
                  <a:srgbClr val="888888"/>
                </a:solidFill>
              </a:defRPr>
            </a:pPr>
            <a:r>
              <a:t>❝ Yves Factory vs Zed Factory: In Yves, the factory extends AbstractFactory (not AbstractCommunicationFactory ).</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Routes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Routes connect URLs to controller actions.</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src/SprykerAcademy/Yves/SupplierPage/Plugin/Router/SupplierPageRouteProviderPlugin.php :</a:t>
            </a:r>
          </a:p>
          <a:p>
            <a:pPr>
              <a:spcAft>
                <a:spcPts val="400"/>
              </a:spcAft>
              <a:defRPr sz="1500">
                <a:solidFill>
                  <a:srgbClr val="1A1A1A"/>
                </a:solidFill>
              </a:defRPr>
            </a:pPr>
            <a:r>
              <a:t>• Add two constants: ROUTE_NAME_SUPPLIER_INDEX = 'supplier-index' ROUTE_NAME_SUPPLIER_DETAIL = 'supplier-detail'</a:t>
            </a:r>
          </a:p>
          <a:p>
            <a:pPr>
              <a:spcAft>
                <a:spcPts val="400"/>
              </a:spcAft>
              <a:defRPr sz="1500">
                <a:solidFill>
                  <a:srgbClr val="1A1A1A"/>
                </a:solidFill>
              </a:defRPr>
            </a:pPr>
            <a:r>
              <a:t>• In addRoutes() , call both private methods to add routes to the collection</a:t>
            </a:r>
          </a:p>
          <a:p>
            <a:pPr>
              <a:spcAft>
                <a:spcPts val="400"/>
              </a:spcAft>
              <a:defRPr sz="1500">
                <a:solidFill>
                  <a:srgbClr val="1A1A1A"/>
                </a:solidFill>
              </a:defRPr>
            </a:pPr>
            <a:r>
              <a:t>• Implement addSupplierIndexRoute() : Use $this-&gt;buildRoute('/supplier', 'SupplierPage', 'Index', 'indexAction') Set method to GET: $route-&gt;setMethods(['GET']) Add to collection with the index route name constant</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Routes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Implement addSupplierDetailRoute() : Use $this-&gt;buildRoute('/supplier/detail', 'SupplierPage', 'Index', 'detailAction') Set method to GET Add to collection with the detail route name constant</a:t>
            </a:r>
          </a:p>
          <a:p>
            <a:pPr>
              <a:spcAft>
                <a:spcPts val="800"/>
              </a:spcAft>
              <a:defRPr sz="1400" i="1">
                <a:solidFill>
                  <a:srgbClr val="888888"/>
                </a:solidFill>
              </a:defRPr>
            </a:pPr>
            <a:r>
              <a:t>❝ buildRoute() parameters: path, module, controller, action</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Controller handles HTTP requests and returns data for templates.</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src/SprykerAcademy/Yves/SupplierPage/Controller/IndexController.php :</a:t>
            </a:r>
          </a:p>
          <a:p>
            <a:pPr>
              <a:spcBef>
                <a:spcPts val="800"/>
              </a:spcBef>
              <a:spcAft>
                <a:spcPts val="400"/>
              </a:spcAft>
              <a:defRPr sz="1700" b="1">
                <a:solidFill>
                  <a:srgbClr val="1A1A1A"/>
                </a:solidFill>
              </a:defRPr>
            </a:pPr>
            <a:r>
              <a:t>4.1 indexAction - List All Suppliers</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indexAction(</a:t>
            </a:r>
            <a:r>
              <a:rPr sz="900">
                <a:solidFill>
                  <a:srgbClr val="880000"/>
                </a:solidFill>
                <a:latin typeface="Consolas"/>
              </a:rPr>
              <a:t>R</a:t>
            </a:r>
            <a:r>
              <a:rPr sz="900">
                <a:solidFill>
                  <a:srgbClr val="2D2D2D"/>
                </a:solidFill>
                <a:latin typeface="Consolas"/>
              </a:rPr>
              <a:t>equest </a:t>
            </a:r>
            <a:r>
              <a:rPr sz="900">
                <a:solidFill>
                  <a:srgbClr val="19177C"/>
                </a:solidFill>
                <a:latin typeface="Consolas"/>
              </a:rPr>
              <a:t>$request</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1. Get the client from factory</a:t>
            </a:r>
          </a:p>
          <a:p>
            <a:pPr>
              <a:spcBef>
                <a:spcPts val="0"/>
              </a:spcBef>
              <a:spcAft>
                <a:spcPts val="0"/>
              </a:spcAft>
            </a:pPr>
            <a:r>
              <a:rPr sz="900">
                <a:solidFill>
                  <a:srgbClr val="2D2D2D"/>
                </a:solidFill>
                <a:latin typeface="Consolas"/>
              </a:rPr>
              <a:t>    </a:t>
            </a:r>
            <a:r>
              <a:rPr sz="900">
                <a:solidFill>
                  <a:srgbClr val="19177C"/>
                </a:solidFill>
                <a:latin typeface="Consolas"/>
              </a:rPr>
              <a:t>$supplierCollection</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-&gt;getSupplierSearchClient()</a:t>
            </a:r>
          </a:p>
          <a:p>
            <a:pPr>
              <a:spcBef>
                <a:spcPts val="0"/>
              </a:spcBef>
              <a:spcAft>
                <a:spcPts val="0"/>
              </a:spcAft>
            </a:pPr>
            <a:r>
              <a:rPr sz="900">
                <a:solidFill>
                  <a:srgbClr val="2D2D2D"/>
                </a:solidFill>
                <a:latin typeface="Consolas"/>
              </a:rPr>
              <a:t>        -&gt;searchSuppliers([])</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Pass empty array for no filters</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2. Return array for template</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'suppliers'</a:t>
            </a:r>
            <a:r>
              <a:rPr sz="900">
                <a:solidFill>
                  <a:srgbClr val="2D2D2D"/>
                </a:solidFill>
                <a:latin typeface="Consolas"/>
              </a:rPr>
              <a:t> =&gt; </a:t>
            </a:r>
            <a:r>
              <a:rPr sz="900">
                <a:solidFill>
                  <a:srgbClr val="19177C"/>
                </a:solidFill>
                <a:latin typeface="Consolas"/>
              </a:rPr>
              <a:t>$supplierCollection</a:t>
            </a:r>
            <a:r>
              <a:rPr sz="900">
                <a:solidFill>
                  <a:srgbClr val="2D2D2D"/>
                </a:solidFill>
                <a:latin typeface="Consolas"/>
              </a:rPr>
              <a:t>-&gt;getSuppliers()</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400" i="1">
                <a:solidFill>
                  <a:srgbClr val="888888"/>
                </a:solidFill>
              </a:defRPr>
            </a:pPr>
            <a:r>
              <a:t>❝ searchSuppliers([]): The empty array means no search filters — returns all suppliers.</a:t>
            </a:r>
          </a:p>
          <a:p>
            <a:pPr>
              <a:spcBef>
                <a:spcPts val="800"/>
              </a:spcBef>
              <a:spcAft>
                <a:spcPts val="400"/>
              </a:spcAft>
              <a:defRPr sz="1700" b="1">
                <a:solidFill>
                  <a:srgbClr val="1A1A1A"/>
                </a:solidFill>
              </a:defRPr>
            </a:pPr>
            <a:r>
              <a:t>4.2 detailAction - Single Supplier</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detailAction(</a:t>
            </a:r>
            <a:r>
              <a:rPr sz="900">
                <a:solidFill>
                  <a:srgbClr val="880000"/>
                </a:solidFill>
                <a:latin typeface="Consolas"/>
              </a:rPr>
              <a:t>R</a:t>
            </a:r>
            <a:r>
              <a:rPr sz="900">
                <a:solidFill>
                  <a:srgbClr val="2D2D2D"/>
                </a:solidFill>
                <a:latin typeface="Consolas"/>
              </a:rPr>
              <a:t>equest </a:t>
            </a:r>
            <a:r>
              <a:rPr sz="900">
                <a:solidFill>
                  <a:srgbClr val="19177C"/>
                </a:solidFill>
                <a:latin typeface="Consolas"/>
              </a:rPr>
              <a:t>$request</a:t>
            </a:r>
            <a:r>
              <a:rPr sz="900">
                <a:solidFill>
                  <a:srgbClr val="2D2D2D"/>
                </a:solidFill>
                <a:latin typeface="Consolas"/>
              </a:rPr>
              <a:t>)</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1. Get ID from query parameter</a:t>
            </a:r>
          </a:p>
          <a:p>
            <a:pPr>
              <a:spcBef>
                <a:spcPts val="0"/>
              </a:spcBef>
              <a:spcAft>
                <a:spcPts val="0"/>
              </a:spcAft>
            </a:pPr>
            <a:r>
              <a:rPr sz="900">
                <a:solidFill>
                  <a:srgbClr val="2D2D2D"/>
                </a:solidFill>
                <a:latin typeface="Consolas"/>
              </a:rPr>
              <a:t>    </a:t>
            </a:r>
            <a:r>
              <a:rPr sz="900">
                <a:solidFill>
                  <a:srgbClr val="19177C"/>
                </a:solidFill>
                <a:latin typeface="Consolas"/>
              </a:rPr>
              <a:t>$idSupplier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$request</a:t>
            </a:r>
            <a:r>
              <a:rPr sz="900">
                <a:solidFill>
                  <a:srgbClr val="2D2D2D"/>
                </a:solidFill>
                <a:latin typeface="Consolas"/>
              </a:rPr>
              <a:t>-&gt;query-&gt;getInt(</a:t>
            </a:r>
            <a:r>
              <a:rPr sz="900">
                <a:solidFill>
                  <a:srgbClr val="4070A0"/>
                </a:solidFill>
                <a:latin typeface="Consolas"/>
              </a:rPr>
              <a:t>'id'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2. Validate ID exists</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666666"/>
                </a:solidFill>
                <a:latin typeface="Consolas"/>
              </a:rPr>
              <a:t>!</a:t>
            </a:r>
            <a:r>
              <a:rPr sz="900">
                <a:solidFill>
                  <a:srgbClr val="19177C"/>
                </a:solidFill>
                <a:latin typeface="Consolas"/>
              </a:rPr>
              <a:t>$idSupplier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-&gt;addErrorMessage(</a:t>
            </a:r>
            <a:r>
              <a:rPr sz="900">
                <a:solidFill>
                  <a:srgbClr val="4070A0"/>
                </a:solidFill>
                <a:latin typeface="Consolas"/>
              </a:rPr>
              <a:t>'Supplier ID is required.'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-&gt;redirectResponse(</a:t>
            </a:r>
            <a:r>
              <a:rPr sz="900">
                <a:solidFill>
                  <a:srgbClr val="4070A0"/>
                </a:solidFill>
                <a:latin typeface="Consolas"/>
              </a:rPr>
              <a:t>'/supplier'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3. Fetch supplier</a:t>
            </a:r>
          </a:p>
          <a:p>
            <a:pPr>
              <a:spcBef>
                <a:spcPts val="0"/>
              </a:spcBef>
              <a:spcAft>
                <a:spcPts val="0"/>
              </a:spcAft>
            </a:pPr>
            <a:r>
              <a:rPr sz="900">
                <a:solidFill>
                  <a:srgbClr val="2D2D2D"/>
                </a:solidFill>
                <a:latin typeface="Consolas"/>
              </a:rPr>
              <a:t>    </a:t>
            </a:r>
            <a:r>
              <a:rPr sz="900">
                <a:solidFill>
                  <a:srgbClr val="19177C"/>
                </a:solidFill>
                <a:latin typeface="Consolas"/>
              </a:rPr>
              <a:t>$supplier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-&gt;getSupplierSearchClient()</a:t>
            </a:r>
          </a:p>
          <a:p>
            <a:pPr>
              <a:spcBef>
                <a:spcPts val="0"/>
              </a:spcBef>
              <a:spcAft>
                <a:spcPts val="0"/>
              </a:spcAft>
            </a:pPr>
            <a:r>
              <a:rPr sz="900">
                <a:solidFill>
                  <a:srgbClr val="2D2D2D"/>
                </a:solidFill>
                <a:latin typeface="Consolas"/>
              </a:rPr>
              <a:t>        -&gt;findSupplierById(</a:t>
            </a:r>
            <a:r>
              <a:rPr sz="900">
                <a:solidFill>
                  <a:srgbClr val="19177C"/>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4. Handle not found</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666666"/>
                </a:solidFill>
                <a:latin typeface="Consolas"/>
              </a:rPr>
              <a:t>!</a:t>
            </a:r>
            <a:r>
              <a:rPr sz="900">
                <a:solidFill>
                  <a:srgbClr val="19177C"/>
                </a:solidFill>
                <a:latin typeface="Consolas"/>
              </a:rPr>
              <a:t>$supplier</a:t>
            </a:r>
            <a:r>
              <a:rPr sz="900">
                <a:solidFill>
                  <a:srgbClr val="2D2D2D"/>
                </a:solidFill>
                <a:latin typeface="Consolas"/>
              </a:rPr>
              <a:t>) {</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-&gt;addErrorMessage(</a:t>
            </a:r>
            <a:r>
              <a:rPr sz="900">
                <a:solidFill>
                  <a:srgbClr val="4070A0"/>
                </a:solidFill>
                <a:latin typeface="Consolas"/>
              </a:rPr>
              <a:t>'Supplier not found.'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-&gt;redirectResponse(</a:t>
            </a:r>
            <a:r>
              <a:rPr sz="900">
                <a:solidFill>
                  <a:srgbClr val="4070A0"/>
                </a:solidFill>
                <a:latin typeface="Consolas"/>
              </a:rPr>
              <a:t>'/supplier'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5. Return for template</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'supplier'</a:t>
            </a:r>
            <a:r>
              <a:rPr sz="900">
                <a:solidFill>
                  <a:srgbClr val="2D2D2D"/>
                </a:solidFill>
                <a:latin typeface="Consolas"/>
              </a:rPr>
              <a:t> =&gt; </a:t>
            </a:r>
            <a:r>
              <a:rPr sz="900">
                <a:solidFill>
                  <a:srgbClr val="19177C"/>
                </a:solidFill>
                <a:latin typeface="Consolas"/>
              </a:rPr>
              <a:t>$supplier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400" i="1">
                <a:solidFill>
                  <a:srgbClr val="888888"/>
                </a:solidFill>
              </a:defRPr>
            </a:pPr>
            <a:r>
              <a:t>❝ Request parameters: Use $request-&gt;query-&gt;getInt('id') for URL query params (e.g., /supplier/detail?id=1 ) Flash messages: addErrorMessage() shows a toast notification that persists through redirects Redirect: redirectResponse() returns a Response object for redirects</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Templates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Twig templates render the HTML using data from controllers.</a:t>
            </a:r>
          </a:p>
          <a:p>
            <a:pPr>
              <a:spcBef>
                <a:spcPts val="800"/>
              </a:spcBef>
              <a:spcAft>
                <a:spcPts val="400"/>
              </a:spcAft>
              <a:defRPr sz="1700" b="1">
                <a:solidFill>
                  <a:srgbClr val="1A1A1A"/>
                </a:solidFill>
              </a:defRPr>
            </a:pPr>
            <a:r>
              <a:t>5.1 List Template (index.twig)</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src/SprykerAcademy/Yves/SupplierPage/Theme/default/templates/index/index.twig :</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Templates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extends template('page-layout-main')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block title %}{{ 'Suppliers' | trans }}{% endblock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block content %}</a:t>
            </a:r>
          </a:p>
          <a:p>
            <a:pPr>
              <a:spcBef>
                <a:spcPts val="0"/>
              </a:spcBef>
              <a:spcAft>
                <a:spcPts val="0"/>
              </a:spcAft>
            </a:pPr>
            <a:r>
              <a:rPr sz="900">
                <a:solidFill>
                  <a:srgbClr val="2D2D2D"/>
                </a:solidFill>
                <a:latin typeface="Consolas"/>
              </a:rPr>
              <a:t>    &lt;div class="container"&gt;</a:t>
            </a:r>
          </a:p>
          <a:p>
            <a:pPr>
              <a:spcBef>
                <a:spcPts val="0"/>
              </a:spcBef>
              <a:spcAft>
                <a:spcPts val="0"/>
              </a:spcAft>
            </a:pPr>
            <a:r>
              <a:rPr sz="900">
                <a:solidFill>
                  <a:srgbClr val="2D2D2D"/>
                </a:solidFill>
                <a:latin typeface="Consolas"/>
              </a:rPr>
              <a:t>        &lt;h1&gt;{{ 'Suppliers' | trans }}&lt;/h1&gt;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 if suppliers is empty %}</a:t>
            </a:r>
          </a:p>
          <a:p>
            <a:pPr>
              <a:spcBef>
                <a:spcPts val="0"/>
              </a:spcBef>
              <a:spcAft>
                <a:spcPts val="0"/>
              </a:spcAft>
            </a:pPr>
            <a:r>
              <a:rPr sz="900">
                <a:solidFill>
                  <a:srgbClr val="2D2D2D"/>
                </a:solidFill>
                <a:latin typeface="Consolas"/>
              </a:rPr>
              <a:t>            &lt;div class="alert alert-info"&gt;{{ 'No suppliers found.' | trans }}&lt;/div&gt;</a:t>
            </a:r>
          </a:p>
          <a:p>
            <a:pPr>
              <a:spcBef>
                <a:spcPts val="0"/>
              </a:spcBef>
              <a:spcAft>
                <a:spcPts val="0"/>
              </a:spcAft>
            </a:pPr>
            <a:r>
              <a:rPr sz="900">
                <a:solidFill>
                  <a:srgbClr val="2D2D2D"/>
                </a:solidFill>
                <a:latin typeface="Consolas"/>
              </a:rPr>
              <a:t>        {% else %}</a:t>
            </a:r>
          </a:p>
          <a:p>
            <a:pPr>
              <a:spcBef>
                <a:spcPts val="0"/>
              </a:spcBef>
              <a:spcAft>
                <a:spcPts val="0"/>
              </a:spcAft>
            </a:pPr>
            <a:r>
              <a:rPr sz="900">
                <a:solidFill>
                  <a:srgbClr val="2D2D2D"/>
                </a:solidFill>
                <a:latin typeface="Consolas"/>
              </a:rPr>
              <a:t>            &lt;table class="table table-striped"&gt;</a:t>
            </a:r>
          </a:p>
          <a:p>
            <a:pPr>
              <a:spcBef>
                <a:spcPts val="0"/>
              </a:spcBef>
              <a:spcAft>
                <a:spcPts val="0"/>
              </a:spcAft>
            </a:pPr>
            <a:r>
              <a:rPr sz="900">
                <a:solidFill>
                  <a:srgbClr val="2D2D2D"/>
                </a:solidFill>
                <a:latin typeface="Consolas"/>
              </a:rPr>
              <a:t>                &lt;thead&gt;</a:t>
            </a:r>
          </a:p>
          <a:p>
            <a:pPr>
              <a:spcBef>
                <a:spcPts val="0"/>
              </a:spcBef>
              <a:spcAft>
                <a:spcPts val="0"/>
              </a:spcAft>
            </a:pPr>
            <a:r>
              <a:rPr sz="900">
                <a:solidFill>
                  <a:srgbClr val="2D2D2D"/>
                </a:solidFill>
                <a:latin typeface="Consolas"/>
              </a:rPr>
              <a:t>                    &lt;tr&gt;</a:t>
            </a:r>
          </a:p>
          <a:p>
            <a:pPr>
              <a:spcBef>
                <a:spcPts val="0"/>
              </a:spcBef>
              <a:spcAft>
                <a:spcPts val="0"/>
              </a:spcAft>
            </a:pPr>
            <a:r>
              <a:rPr sz="900">
                <a:solidFill>
                  <a:srgbClr val="2D2D2D"/>
                </a:solidFill>
                <a:latin typeface="Consolas"/>
              </a:rPr>
              <a:t>                        &lt;th&gt;{{ 'ID' | trans }}&lt;/th&gt;</a:t>
            </a:r>
          </a:p>
          <a:p>
            <a:pPr>
              <a:spcBef>
                <a:spcPts val="0"/>
              </a:spcBef>
              <a:spcAft>
                <a:spcPts val="0"/>
              </a:spcAft>
            </a:pPr>
            <a:r>
              <a:rPr sz="900">
                <a:solidFill>
                  <a:srgbClr val="2D2D2D"/>
                </a:solidFill>
                <a:latin typeface="Consolas"/>
              </a:rPr>
              <a:t>                        &lt;th&gt;{{ 'Name' | trans }}&lt;/th&gt;</a:t>
            </a:r>
          </a:p>
          <a:p>
            <a:pPr>
              <a:spcBef>
                <a:spcPts val="0"/>
              </a:spcBef>
              <a:spcAft>
                <a:spcPts val="0"/>
              </a:spcAft>
            </a:pPr>
            <a:r>
              <a:rPr sz="900">
                <a:solidFill>
                  <a:srgbClr val="2D2D2D"/>
                </a:solidFill>
                <a:latin typeface="Consolas"/>
              </a:rPr>
              <a:t>                        &lt;th&gt;{{ 'Email' | trans }}&lt;/th&gt;</a:t>
            </a:r>
          </a:p>
          <a:p>
            <a:pPr>
              <a:spcBef>
                <a:spcPts val="0"/>
              </a:spcBef>
              <a:spcAft>
                <a:spcPts val="0"/>
              </a:spcAft>
            </a:pPr>
            <a:r>
              <a:rPr sz="900">
                <a:solidFill>
                  <a:srgbClr val="2D2D2D"/>
                </a:solidFill>
                <a:latin typeface="Consolas"/>
              </a:rPr>
              <a:t>                        &lt;th&gt;{{ 'Phone' | trans }}&lt;/th&gt;</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Templates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&lt;th&gt;{{ 'Status' | trans }}&lt;/th&gt;</a:t>
            </a:r>
          </a:p>
          <a:p>
            <a:pPr>
              <a:spcBef>
                <a:spcPts val="0"/>
              </a:spcBef>
              <a:spcAft>
                <a:spcPts val="0"/>
              </a:spcAft>
            </a:pPr>
            <a:r>
              <a:rPr sz="900">
                <a:solidFill>
                  <a:srgbClr val="2D2D2D"/>
                </a:solidFill>
                <a:latin typeface="Consolas"/>
              </a:rPr>
              <a:t>                        &lt;th&gt;{{ 'Actions' | trans }}&lt;/th&gt;</a:t>
            </a:r>
          </a:p>
          <a:p>
            <a:pPr>
              <a:spcBef>
                <a:spcPts val="0"/>
              </a:spcBef>
              <a:spcAft>
                <a:spcPts val="0"/>
              </a:spcAft>
            </a:pPr>
            <a:r>
              <a:rPr sz="900">
                <a:solidFill>
                  <a:srgbClr val="2D2D2D"/>
                </a:solidFill>
                <a:latin typeface="Consolas"/>
              </a:rPr>
              <a:t>                    &lt;/tr&gt;</a:t>
            </a:r>
          </a:p>
          <a:p>
            <a:pPr>
              <a:spcBef>
                <a:spcPts val="0"/>
              </a:spcBef>
              <a:spcAft>
                <a:spcPts val="0"/>
              </a:spcAft>
            </a:pPr>
            <a:r>
              <a:rPr sz="900">
                <a:solidFill>
                  <a:srgbClr val="2D2D2D"/>
                </a:solidFill>
                <a:latin typeface="Consolas"/>
              </a:rPr>
              <a:t>                &lt;/thead&gt;</a:t>
            </a:r>
          </a:p>
          <a:p>
            <a:pPr>
              <a:spcBef>
                <a:spcPts val="0"/>
              </a:spcBef>
              <a:spcAft>
                <a:spcPts val="0"/>
              </a:spcAft>
            </a:pPr>
            <a:r>
              <a:rPr sz="900">
                <a:solidFill>
                  <a:srgbClr val="2D2D2D"/>
                </a:solidFill>
                <a:latin typeface="Consolas"/>
              </a:rPr>
              <a:t>                &lt;tbody&gt;</a:t>
            </a:r>
          </a:p>
          <a:p>
            <a:pPr>
              <a:spcBef>
                <a:spcPts val="0"/>
              </a:spcBef>
              <a:spcAft>
                <a:spcPts val="0"/>
              </a:spcAft>
            </a:pPr>
            <a:r>
              <a:rPr sz="900">
                <a:solidFill>
                  <a:srgbClr val="2D2D2D"/>
                </a:solidFill>
                <a:latin typeface="Consolas"/>
              </a:rPr>
              <a:t>                    {% for supplier in suppliers %}</a:t>
            </a:r>
          </a:p>
          <a:p>
            <a:pPr>
              <a:spcBef>
                <a:spcPts val="0"/>
              </a:spcBef>
              <a:spcAft>
                <a:spcPts val="0"/>
              </a:spcAft>
            </a:pPr>
            <a:r>
              <a:rPr sz="900">
                <a:solidFill>
                  <a:srgbClr val="2D2D2D"/>
                </a:solidFill>
                <a:latin typeface="Consolas"/>
              </a:rPr>
              <a:t>                        &lt;tr&gt;</a:t>
            </a:r>
          </a:p>
          <a:p>
            <a:pPr>
              <a:spcBef>
                <a:spcPts val="0"/>
              </a:spcBef>
              <a:spcAft>
                <a:spcPts val="0"/>
              </a:spcAft>
            </a:pPr>
            <a:r>
              <a:rPr sz="900">
                <a:solidFill>
                  <a:srgbClr val="2D2D2D"/>
                </a:solidFill>
                <a:latin typeface="Consolas"/>
              </a:rPr>
              <a:t>                            &lt;td&gt;{{ supplier.idSupplier }}&lt;/td&gt;</a:t>
            </a:r>
          </a:p>
          <a:p>
            <a:pPr>
              <a:spcBef>
                <a:spcPts val="0"/>
              </a:spcBef>
              <a:spcAft>
                <a:spcPts val="0"/>
              </a:spcAft>
            </a:pPr>
            <a:r>
              <a:rPr sz="900">
                <a:solidFill>
                  <a:srgbClr val="2D2D2D"/>
                </a:solidFill>
                <a:latin typeface="Consolas"/>
              </a:rPr>
              <a:t>                            &lt;td&gt;{{ supplier.name }}&lt;/td&gt;</a:t>
            </a:r>
          </a:p>
          <a:p>
            <a:pPr>
              <a:spcBef>
                <a:spcPts val="0"/>
              </a:spcBef>
              <a:spcAft>
                <a:spcPts val="0"/>
              </a:spcAft>
            </a:pPr>
            <a:r>
              <a:rPr sz="900">
                <a:solidFill>
                  <a:srgbClr val="2D2D2D"/>
                </a:solidFill>
                <a:latin typeface="Consolas"/>
              </a:rPr>
              <a:t>                            &lt;td&gt;{{ supplier.email }}&lt;/td&gt;</a:t>
            </a:r>
          </a:p>
          <a:p>
            <a:pPr>
              <a:spcBef>
                <a:spcPts val="0"/>
              </a:spcBef>
              <a:spcAft>
                <a:spcPts val="0"/>
              </a:spcAft>
            </a:pPr>
            <a:r>
              <a:rPr sz="900">
                <a:solidFill>
                  <a:srgbClr val="2D2D2D"/>
                </a:solidFill>
                <a:latin typeface="Consolas"/>
              </a:rPr>
              <a:t>                            &lt;td&gt;{{ supplier.phone }}&lt;/td&gt;</a:t>
            </a:r>
          </a:p>
          <a:p>
            <a:pPr>
              <a:spcBef>
                <a:spcPts val="0"/>
              </a:spcBef>
              <a:spcAft>
                <a:spcPts val="0"/>
              </a:spcAft>
            </a:pPr>
            <a:r>
              <a:rPr sz="900">
                <a:solidFill>
                  <a:srgbClr val="2D2D2D"/>
                </a:solidFill>
                <a:latin typeface="Consolas"/>
              </a:rPr>
              <a:t>                            &lt;td&gt;</a:t>
            </a:r>
          </a:p>
          <a:p>
            <a:pPr>
              <a:spcBef>
                <a:spcPts val="0"/>
              </a:spcBef>
              <a:spcAft>
                <a:spcPts val="0"/>
              </a:spcAft>
            </a:pPr>
            <a:r>
              <a:rPr sz="900">
                <a:solidFill>
                  <a:srgbClr val="2D2D2D"/>
                </a:solidFill>
                <a:latin typeface="Consolas"/>
              </a:rPr>
              <a:t>                                {% if supplier.status == 1 %}</a:t>
            </a:r>
          </a:p>
          <a:p>
            <a:pPr>
              <a:spcBef>
                <a:spcPts val="0"/>
              </a:spcBef>
              <a:spcAft>
                <a:spcPts val="0"/>
              </a:spcAft>
            </a:pPr>
            <a:r>
              <a:rPr sz="900">
                <a:solidFill>
                  <a:srgbClr val="2D2D2D"/>
                </a:solidFill>
                <a:latin typeface="Consolas"/>
              </a:rPr>
              <a:t>                                    &lt;span class="badge badge-success"&gt;{{ 'Active' | trans }}&lt;/span&gt;</a:t>
            </a:r>
          </a:p>
          <a:p>
            <a:pPr>
              <a:spcBef>
                <a:spcPts val="0"/>
              </a:spcBef>
              <a:spcAft>
                <a:spcPts val="0"/>
              </a:spcAft>
            </a:pPr>
            <a:r>
              <a:rPr sz="900">
                <a:solidFill>
                  <a:srgbClr val="2D2D2D"/>
                </a:solidFill>
                <a:latin typeface="Consolas"/>
              </a:rPr>
              <a:t>                                {% else %}</a:t>
            </a:r>
          </a:p>
          <a:p>
            <a:pPr>
              <a:spcBef>
                <a:spcPts val="0"/>
              </a:spcBef>
              <a:spcAft>
                <a:spcPts val="0"/>
              </a:spcAft>
            </a:pPr>
            <a:r>
              <a:rPr sz="900">
                <a:solidFill>
                  <a:srgbClr val="2D2D2D"/>
                </a:solidFill>
                <a:latin typeface="Consolas"/>
              </a:rPr>
              <a:t>                                    &lt;span class="badge badge-secondary"&gt;{{ 'Inactive' | trans }}&lt;/span&gt;</a:t>
            </a:r>
          </a:p>
          <a:p>
            <a:pPr>
              <a:spcBef>
                <a:spcPts val="0"/>
              </a:spcBef>
              <a:spcAft>
                <a:spcPts val="0"/>
              </a:spcAft>
            </a:pPr>
            <a:r>
              <a:rPr sz="900">
                <a:solidFill>
                  <a:srgbClr val="2D2D2D"/>
                </a:solidFill>
                <a:latin typeface="Consolas"/>
              </a:rPr>
              <a:t>                                {% endif %}</a:t>
            </a:r>
          </a:p>
          <a:p>
            <a:pPr>
              <a:spcBef>
                <a:spcPts val="0"/>
              </a:spcBef>
              <a:spcAft>
                <a:spcPts val="0"/>
              </a:spcAft>
            </a:pPr>
            <a:r>
              <a:rPr sz="900">
                <a:solidFill>
                  <a:srgbClr val="2D2D2D"/>
                </a:solidFill>
                <a:latin typeface="Consolas"/>
              </a:rPr>
              <a:t>                            &lt;/td&gt;</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Templates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&lt;td&gt;</a:t>
            </a:r>
          </a:p>
          <a:p>
            <a:pPr>
              <a:spcBef>
                <a:spcPts val="0"/>
              </a:spcBef>
              <a:spcAft>
                <a:spcPts val="0"/>
              </a:spcAft>
            </a:pPr>
            <a:r>
              <a:rPr sz="900">
                <a:solidFill>
                  <a:srgbClr val="2D2D2D"/>
                </a:solidFill>
                <a:latin typeface="Consolas"/>
              </a:rPr>
              <a:t>                                &lt;a href="{{ url('supplier-detail', {id: supplier.idSupplier}) }}" class="btn btn-sm btn-primary"&gt;</a:t>
            </a:r>
          </a:p>
          <a:p>
            <a:pPr>
              <a:spcBef>
                <a:spcPts val="0"/>
              </a:spcBef>
              <a:spcAft>
                <a:spcPts val="0"/>
              </a:spcAft>
            </a:pPr>
            <a:r>
              <a:rPr sz="900">
                <a:solidFill>
                  <a:srgbClr val="2D2D2D"/>
                </a:solidFill>
                <a:latin typeface="Consolas"/>
              </a:rPr>
              <a:t>                                    {{ 'View' | trans }}</a:t>
            </a:r>
          </a:p>
          <a:p>
            <a:pPr>
              <a:spcBef>
                <a:spcPts val="0"/>
              </a:spcBef>
              <a:spcAft>
                <a:spcPts val="0"/>
              </a:spcAft>
            </a:pPr>
            <a:r>
              <a:rPr sz="900">
                <a:solidFill>
                  <a:srgbClr val="2D2D2D"/>
                </a:solidFill>
                <a:latin typeface="Consolas"/>
              </a:rPr>
              <a:t>                                &lt;/a&gt;</a:t>
            </a:r>
          </a:p>
          <a:p>
            <a:pPr>
              <a:spcBef>
                <a:spcPts val="0"/>
              </a:spcBef>
              <a:spcAft>
                <a:spcPts val="0"/>
              </a:spcAft>
            </a:pPr>
            <a:r>
              <a:rPr sz="900">
                <a:solidFill>
                  <a:srgbClr val="2D2D2D"/>
                </a:solidFill>
                <a:latin typeface="Consolas"/>
              </a:rPr>
              <a:t>... (continued)</a:t>
            </a:r>
          </a:p>
          <a:p>
            <a:pPr>
              <a:spcAft>
                <a:spcPts val="800"/>
              </a:spcAft>
              <a:defRPr sz="1400" i="1">
                <a:solidFill>
                  <a:srgbClr val="888888"/>
                </a:solidFill>
              </a:defRPr>
            </a:pPr>
            <a:r>
              <a:t>❝ template(‘page-layout-main’): The base layout for Yves storefront pages url(): Generates URLs using route names: {{ url('supplier-detail', {id: 1}) }} → /supplier/detail?id=1 supplier.idSupplier: Access transfer properties using camelCase (idSupplier, not id_supplier)</a:t>
            </a:r>
          </a:p>
          <a:p>
            <a:pPr>
              <a:spcBef>
                <a:spcPts val="800"/>
              </a:spcBef>
              <a:spcAft>
                <a:spcPts val="400"/>
              </a:spcAft>
              <a:defRPr sz="1700" b="1">
                <a:solidFill>
                  <a:srgbClr val="1A1A1A"/>
                </a:solidFill>
              </a:defRPr>
            </a:pPr>
            <a:r>
              <a:t>5.2 Detail Template (detail.twig)</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src/SprykerAcademy/Yves/SupplierPage/Theme/default/templates/index/detail.twig :</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Templates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extends template('page-layout-main')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block title %}{{ supplier.name }}{% endblock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block content %}</a:t>
            </a:r>
          </a:p>
          <a:p>
            <a:pPr>
              <a:spcBef>
                <a:spcPts val="0"/>
              </a:spcBef>
              <a:spcAft>
                <a:spcPts val="0"/>
              </a:spcAft>
            </a:pPr>
            <a:r>
              <a:rPr sz="900">
                <a:solidFill>
                  <a:srgbClr val="2D2D2D"/>
                </a:solidFill>
                <a:latin typeface="Consolas"/>
              </a:rPr>
              <a:t>    &lt;div class="container"&gt;</a:t>
            </a:r>
          </a:p>
          <a:p>
            <a:pPr>
              <a:spcBef>
                <a:spcPts val="0"/>
              </a:spcBef>
              <a:spcAft>
                <a:spcPts val="0"/>
              </a:spcAft>
            </a:pPr>
            <a:r>
              <a:rPr sz="900">
                <a:solidFill>
                  <a:srgbClr val="2D2D2D"/>
                </a:solidFill>
                <a:latin typeface="Consolas"/>
              </a:rPr>
              <a:t>        &lt;nav aria-label="breadcrumb"&gt;</a:t>
            </a:r>
          </a:p>
          <a:p>
            <a:pPr>
              <a:spcBef>
                <a:spcPts val="0"/>
              </a:spcBef>
              <a:spcAft>
                <a:spcPts val="0"/>
              </a:spcAft>
            </a:pPr>
            <a:r>
              <a:rPr sz="900">
                <a:solidFill>
                  <a:srgbClr val="2D2D2D"/>
                </a:solidFill>
                <a:latin typeface="Consolas"/>
              </a:rPr>
              <a:t>            &lt;ol class="breadcrumb"&gt;</a:t>
            </a:r>
          </a:p>
          <a:p>
            <a:pPr>
              <a:spcBef>
                <a:spcPts val="0"/>
              </a:spcBef>
              <a:spcAft>
                <a:spcPts val="0"/>
              </a:spcAft>
            </a:pPr>
            <a:r>
              <a:rPr sz="900">
                <a:solidFill>
                  <a:srgbClr val="2D2D2D"/>
                </a:solidFill>
                <a:latin typeface="Consolas"/>
              </a:rPr>
              <a:t>                &lt;li class="breadcrumb-item"&gt;&lt;a href="{{ url('supplier-index') }}"&gt;{{ 'Suppliers' | trans }}&lt;/a&gt;&lt;/li&gt;</a:t>
            </a:r>
          </a:p>
          <a:p>
            <a:pPr>
              <a:spcBef>
                <a:spcPts val="0"/>
              </a:spcBef>
              <a:spcAft>
                <a:spcPts val="0"/>
              </a:spcAft>
            </a:pPr>
            <a:r>
              <a:rPr sz="900">
                <a:solidFill>
                  <a:srgbClr val="2D2D2D"/>
                </a:solidFill>
                <a:latin typeface="Consolas"/>
              </a:rPr>
              <a:t>                &lt;li class="breadcrumb-item active" aria-current="page"&gt;{{ supplier.name }}&lt;/li&gt;</a:t>
            </a:r>
          </a:p>
          <a:p>
            <a:pPr>
              <a:spcBef>
                <a:spcPts val="0"/>
              </a:spcBef>
              <a:spcAft>
                <a:spcPts val="0"/>
              </a:spcAft>
            </a:pPr>
            <a:r>
              <a:rPr sz="900">
                <a:solidFill>
                  <a:srgbClr val="2D2D2D"/>
                </a:solidFill>
                <a:latin typeface="Consolas"/>
              </a:rPr>
              <a:t>            &lt;/ol&gt;</a:t>
            </a:r>
          </a:p>
          <a:p>
            <a:pPr>
              <a:spcBef>
                <a:spcPts val="0"/>
              </a:spcBef>
              <a:spcAft>
                <a:spcPts val="0"/>
              </a:spcAft>
            </a:pPr>
            <a:r>
              <a:rPr sz="900">
                <a:solidFill>
                  <a:srgbClr val="2D2D2D"/>
                </a:solidFill>
                <a:latin typeface="Consolas"/>
              </a:rPr>
              <a:t>        &lt;/nav&gt;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&lt;h1&gt;{{ supplier.name }}&lt;/h1&gt;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&lt;div class="card"&gt;</a:t>
            </a:r>
          </a:p>
          <a:p>
            <a:pPr>
              <a:spcBef>
                <a:spcPts val="0"/>
              </a:spcBef>
              <a:spcAft>
                <a:spcPts val="0"/>
              </a:spcAft>
            </a:pPr>
            <a:r>
              <a:rPr sz="900">
                <a:solidFill>
                  <a:srgbClr val="2D2D2D"/>
                </a:solidFill>
                <a:latin typeface="Consolas"/>
              </a:rPr>
              <a:t>            &lt;div class="card-body"&gt;</a:t>
            </a:r>
          </a:p>
          <a:p>
            <a:pPr>
              <a:spcBef>
                <a:spcPts val="0"/>
              </a:spcBef>
              <a:spcAft>
                <a:spcPts val="0"/>
              </a:spcAft>
            </a:pPr>
            <a:r>
              <a:rPr sz="900">
                <a:solidFill>
                  <a:srgbClr val="2D2D2D"/>
                </a:solidFill>
                <a:latin typeface="Consolas"/>
              </a:rPr>
              <a:t>                &lt;table class="table table-borderless"&gt;</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Templates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&lt;tbody&gt;</a:t>
            </a:r>
          </a:p>
          <a:p>
            <a:pPr>
              <a:spcBef>
                <a:spcPts val="0"/>
              </a:spcBef>
              <a:spcAft>
                <a:spcPts val="0"/>
              </a:spcAft>
            </a:pPr>
            <a:r>
              <a:rPr sz="900">
                <a:solidFill>
                  <a:srgbClr val="2D2D2D"/>
                </a:solidFill>
                <a:latin typeface="Consolas"/>
              </a:rPr>
              <a:t>                        &lt;tr&gt;&lt;th&gt;ID&lt;/th&gt;&lt;td&gt;{{ supplier.idSupplier }}&lt;/td&gt;&lt;/tr&gt;</a:t>
            </a:r>
          </a:p>
          <a:p>
            <a:pPr>
              <a:spcBef>
                <a:spcPts val="0"/>
              </a:spcBef>
              <a:spcAft>
                <a:spcPts val="0"/>
              </a:spcAft>
            </a:pPr>
            <a:r>
              <a:rPr sz="900">
                <a:solidFill>
                  <a:srgbClr val="2D2D2D"/>
                </a:solidFill>
                <a:latin typeface="Consolas"/>
              </a:rPr>
              <a:t>                        &lt;tr&gt;&lt;th&gt;Name&lt;/th&gt;&lt;td&gt;{{ supplier.name }}&lt;/td&gt;&lt;/tr&gt;</a:t>
            </a:r>
          </a:p>
          <a:p>
            <a:pPr>
              <a:spcBef>
                <a:spcPts val="0"/>
              </a:spcBef>
              <a:spcAft>
                <a:spcPts val="0"/>
              </a:spcAft>
            </a:pPr>
            <a:r>
              <a:rPr sz="900">
                <a:solidFill>
                  <a:srgbClr val="2D2D2D"/>
                </a:solidFill>
                <a:latin typeface="Consolas"/>
              </a:rPr>
              <a:t>                        &lt;tr&gt;&lt;th&gt;Description&lt;/th&gt;&lt;td&gt;{{ supplier.description }}&lt;/td&gt;&lt;/tr&gt;</a:t>
            </a:r>
          </a:p>
          <a:p>
            <a:pPr>
              <a:spcBef>
                <a:spcPts val="0"/>
              </a:spcBef>
              <a:spcAft>
                <a:spcPts val="0"/>
              </a:spcAft>
            </a:pPr>
            <a:r>
              <a:rPr sz="900">
                <a:solidFill>
                  <a:srgbClr val="2D2D2D"/>
                </a:solidFill>
                <a:latin typeface="Consolas"/>
              </a:rPr>
              <a:t>                        &lt;tr&gt;&lt;th&gt;Email&lt;/th&gt;&lt;td&gt;{{ supplier.email }}&lt;/td&gt;&lt;/tr&gt;</a:t>
            </a:r>
          </a:p>
          <a:p>
            <a:pPr>
              <a:spcBef>
                <a:spcPts val="0"/>
              </a:spcBef>
              <a:spcAft>
                <a:spcPts val="0"/>
              </a:spcAft>
            </a:pPr>
            <a:r>
              <a:rPr sz="900">
                <a:solidFill>
                  <a:srgbClr val="2D2D2D"/>
                </a:solidFill>
                <a:latin typeface="Consolas"/>
              </a:rPr>
              <a:t>                        &lt;tr&gt;&lt;th&gt;Phone&lt;/th&gt;&lt;td&gt;{{ supplier.phone }}&lt;/td&gt;&lt;/tr&gt;</a:t>
            </a:r>
          </a:p>
          <a:p>
            <a:pPr>
              <a:spcBef>
                <a:spcPts val="0"/>
              </a:spcBef>
              <a:spcAft>
                <a:spcPts val="0"/>
              </a:spcAft>
            </a:pPr>
            <a:r>
              <a:rPr sz="900">
                <a:solidFill>
                  <a:srgbClr val="2D2D2D"/>
                </a:solidFill>
                <a:latin typeface="Consolas"/>
              </a:rPr>
              <a:t>                        &lt;tr&gt;</a:t>
            </a:r>
          </a:p>
          <a:p>
            <a:pPr>
              <a:spcBef>
                <a:spcPts val="0"/>
              </a:spcBef>
              <a:spcAft>
                <a:spcPts val="0"/>
              </a:spcAft>
            </a:pPr>
            <a:r>
              <a:rPr sz="900">
                <a:solidFill>
                  <a:srgbClr val="2D2D2D"/>
                </a:solidFill>
                <a:latin typeface="Consolas"/>
              </a:rPr>
              <a:t>                            &lt;th&gt;Status&lt;/th&gt;</a:t>
            </a:r>
          </a:p>
          <a:p>
            <a:pPr>
              <a:spcBef>
                <a:spcPts val="0"/>
              </a:spcBef>
              <a:spcAft>
                <a:spcPts val="0"/>
              </a:spcAft>
            </a:pPr>
            <a:r>
              <a:rPr sz="900">
                <a:solidFill>
                  <a:srgbClr val="2D2D2D"/>
                </a:solidFill>
                <a:latin typeface="Consolas"/>
              </a:rPr>
              <a:t>                            &lt;td&gt;</a:t>
            </a:r>
          </a:p>
          <a:p>
            <a:pPr>
              <a:spcBef>
                <a:spcPts val="0"/>
              </a:spcBef>
              <a:spcAft>
                <a:spcPts val="0"/>
              </a:spcAft>
            </a:pPr>
            <a:r>
              <a:rPr sz="900">
                <a:solidFill>
                  <a:srgbClr val="2D2D2D"/>
                </a:solidFill>
                <a:latin typeface="Consolas"/>
              </a:rPr>
              <a:t>                                {% if supplier.status == 1 %}</a:t>
            </a:r>
          </a:p>
          <a:p>
            <a:pPr>
              <a:spcBef>
                <a:spcPts val="0"/>
              </a:spcBef>
              <a:spcAft>
                <a:spcPts val="0"/>
              </a:spcAft>
            </a:pPr>
            <a:r>
              <a:rPr sz="900">
                <a:solidFill>
                  <a:srgbClr val="2D2D2D"/>
                </a:solidFill>
                <a:latin typeface="Consolas"/>
              </a:rPr>
              <a:t>                                    &lt;span class="badge badge-success"&gt;{{ 'Active' | trans }}&lt;/span&gt;</a:t>
            </a:r>
          </a:p>
          <a:p>
            <a:pPr>
              <a:spcBef>
                <a:spcPts val="0"/>
              </a:spcBef>
              <a:spcAft>
                <a:spcPts val="0"/>
              </a:spcAft>
            </a:pPr>
            <a:r>
              <a:rPr sz="900">
                <a:solidFill>
                  <a:srgbClr val="2D2D2D"/>
                </a:solidFill>
                <a:latin typeface="Consolas"/>
              </a:rPr>
              <a:t>                                {% else %}</a:t>
            </a:r>
          </a:p>
          <a:p>
            <a:pPr>
              <a:spcBef>
                <a:spcPts val="0"/>
              </a:spcBef>
              <a:spcAft>
                <a:spcPts val="0"/>
              </a:spcAft>
            </a:pPr>
            <a:r>
              <a:rPr sz="900">
                <a:solidFill>
                  <a:srgbClr val="2D2D2D"/>
                </a:solidFill>
                <a:latin typeface="Consolas"/>
              </a:rPr>
              <a:t>                                    &lt;span class="badge badge-secondary"&gt;{{ 'Inactive' | trans }}&lt;/span&gt;</a:t>
            </a:r>
          </a:p>
          <a:p>
            <a:pPr>
              <a:spcBef>
                <a:spcPts val="0"/>
              </a:spcBef>
              <a:spcAft>
                <a:spcPts val="0"/>
              </a:spcAft>
            </a:pPr>
            <a:r>
              <a:rPr sz="900">
                <a:solidFill>
                  <a:srgbClr val="2D2D2D"/>
                </a:solidFill>
                <a:latin typeface="Consolas"/>
              </a:rPr>
              <a:t>                                {% endif %}</a:t>
            </a:r>
          </a:p>
          <a:p>
            <a:pPr>
              <a:spcBef>
                <a:spcPts val="0"/>
              </a:spcBef>
              <a:spcAft>
                <a:spcPts val="0"/>
              </a:spcAft>
            </a:pPr>
            <a:r>
              <a:rPr sz="900">
                <a:solidFill>
                  <a:srgbClr val="2D2D2D"/>
                </a:solidFill>
                <a:latin typeface="Consolas"/>
              </a:rPr>
              <a:t>                            &lt;/td&gt;</a:t>
            </a:r>
          </a:p>
          <a:p>
            <a:pPr>
              <a:spcBef>
                <a:spcPts val="0"/>
              </a:spcBef>
              <a:spcAft>
                <a:spcPts val="0"/>
              </a:spcAft>
            </a:pPr>
            <a:r>
              <a:rPr sz="900">
                <a:solidFill>
                  <a:srgbClr val="2D2D2D"/>
                </a:solidFill>
                <a:latin typeface="Consolas"/>
              </a:rPr>
              <a:t>                        &lt;/tr&gt;</a:t>
            </a:r>
          </a:p>
          <a:p>
            <a:pPr>
              <a:spcBef>
                <a:spcPts val="0"/>
              </a:spcBef>
              <a:spcAft>
                <a:spcPts val="0"/>
              </a:spcAft>
            </a:pPr>
            <a:r>
              <a:rPr sz="900">
                <a:solidFill>
                  <a:srgbClr val="2D2D2D"/>
                </a:solidFill>
                <a:latin typeface="Consolas"/>
              </a:rPr>
              <a:t>                    &lt;/tbody&gt;</a:t>
            </a:r>
          </a:p>
          <a:p>
            <a:pPr>
              <a:spcBef>
                <a:spcPts val="0"/>
              </a:spcBef>
              <a:spcAft>
                <a:spcPts val="0"/>
              </a:spcAft>
            </a:pPr>
            <a:r>
              <a:rPr sz="900">
                <a:solidFill>
                  <a:srgbClr val="2D2D2D"/>
                </a:solidFill>
                <a:latin typeface="Consolas"/>
              </a:rPr>
              <a:t>                &lt;/table&gt;</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Templates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&lt;/div&gt;</a:t>
            </a:r>
          </a:p>
          <a:p>
            <a:pPr>
              <a:spcBef>
                <a:spcPts val="0"/>
              </a:spcBef>
              <a:spcAft>
                <a:spcPts val="0"/>
              </a:spcAft>
            </a:pPr>
            <a:r>
              <a:rPr sz="900">
                <a:solidFill>
                  <a:srgbClr val="2D2D2D"/>
                </a:solidFill>
                <a:latin typeface="Consolas"/>
              </a:rPr>
              <a:t>            &lt;div class="card-footer"&gt;</a:t>
            </a:r>
          </a:p>
          <a:p>
            <a:pPr>
              <a:spcBef>
                <a:spcPts val="0"/>
              </a:spcBef>
              <a:spcAft>
                <a:spcPts val="0"/>
              </a:spcAft>
            </a:pPr>
            <a:r>
              <a:rPr sz="900">
                <a:solidFill>
                  <a:srgbClr val="2D2D2D"/>
                </a:solidFill>
                <a:latin typeface="Consolas"/>
              </a:rPr>
              <a:t>                &lt;a href="{{ url('supplier-index') }}" class="btn btn-secondary"&gt;</a:t>
            </a:r>
          </a:p>
          <a:p>
            <a:pPr>
              <a:spcBef>
                <a:spcPts val="0"/>
              </a:spcBef>
              <a:spcAft>
                <a:spcPts val="0"/>
              </a:spcAft>
            </a:pPr>
            <a:r>
              <a:rPr sz="900">
                <a:solidFill>
                  <a:srgbClr val="2D2D2D"/>
                </a:solidFill>
                <a:latin typeface="Consolas"/>
              </a:rPr>
              <a:t>                    {{ 'Back to List' | trans }}</a:t>
            </a:r>
          </a:p>
          <a:p>
            <a:pPr>
              <a:spcBef>
                <a:spcPts val="0"/>
              </a:spcBef>
              <a:spcAft>
                <a:spcPts val="0"/>
              </a:spcAft>
            </a:pPr>
            <a:r>
              <a:rPr sz="900">
                <a:solidFill>
                  <a:srgbClr val="2D2D2D"/>
                </a:solidFill>
                <a:latin typeface="Consolas"/>
              </a:rPr>
              <a:t>... (continued)</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Storefront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implementing all parts:</a:t>
            </a:r>
          </a:p>
          <a:p>
            <a:pPr>
              <a:spcAft>
                <a:spcPts val="400"/>
              </a:spcAft>
              <a:defRPr sz="1500">
                <a:solidFill>
                  <a:srgbClr val="1A1A1A"/>
                </a:solidFill>
              </a:defRPr>
            </a:pPr>
            <a:r>
              <a:t>• Clear cache: docker/sdk console cache:empty-all</a:t>
            </a:r>
          </a:p>
          <a:p>
            <a:pPr>
              <a:spcAft>
                <a:spcPts val="400"/>
              </a:spcAft>
              <a:defRPr sz="1500">
                <a:solidFill>
                  <a:srgbClr val="1A1A1A"/>
                </a:solidFill>
              </a:defRPr>
            </a:pPr>
            <a:r>
              <a:t>• Visit the list page: http://yves.eu.spryker.local/supplier</a:t>
            </a:r>
          </a:p>
          <a:p>
            <a:pPr>
              <a:spcAft>
                <a:spcPts val="400"/>
              </a:spcAft>
              <a:defRPr sz="1500">
                <a:solidFill>
                  <a:srgbClr val="1A1A1A"/>
                </a:solidFill>
              </a:defRPr>
            </a:pPr>
            <a:r>
              <a:t>• Click “View” on a supplier to see the detail page: http://yves.eu.spryker.local/supplier/detail?id=1</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Yves vs Zed</a:t>
            </a:r>
          </a:p>
          <a:p>
            <a:pPr>
              <a:spcAft>
                <a:spcPts val="100"/>
              </a:spcAft>
              <a:defRPr sz="1000">
                <a:solidFill>
                  <a:srgbClr val="1A1A1A"/>
                </a:solidFill>
                <a:latin typeface="Consolas"/>
              </a:defRPr>
            </a:pPr>
            <a:r>
              <a:t>Aspect           Zed (Back Office)            Yves (Storefront)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Controller base  AbstractController (Kernel)  AbstractController (Kernel)</a:t>
            </a:r>
          </a:p>
          <a:p>
            <a:pPr>
              <a:spcAft>
                <a:spcPts val="100"/>
              </a:spcAft>
              <a:defRPr sz="1000">
                <a:solidFill>
                  <a:srgbClr val="1A1A1A"/>
                </a:solidFill>
                <a:latin typeface="Consolas"/>
              </a:defRPr>
            </a:pPr>
            <a:r>
              <a:t>Template layout  @Gui/Layout/layout.twig      page-layout-main           </a:t>
            </a:r>
          </a:p>
          <a:p>
            <a:pPr>
              <a:spcAft>
                <a:spcPts val="100"/>
              </a:spcAft>
              <a:defRPr sz="1000">
                <a:solidFill>
                  <a:srgbClr val="1A1A1A"/>
                </a:solidFill>
                <a:latin typeface="Consolas"/>
              </a:defRPr>
            </a:pPr>
            <a:r>
              <a:t>Routing          navigation.xml               RouteProviderPlugin        </a:t>
            </a:r>
          </a:p>
          <a:p>
            <a:pPr>
              <a:spcAft>
                <a:spcPts val="100"/>
              </a:spcAft>
              <a:defRPr sz="1000">
                <a:solidFill>
                  <a:srgbClr val="1A1A1A"/>
                </a:solidFill>
                <a:latin typeface="Consolas"/>
              </a:defRPr>
            </a:pPr>
            <a:r>
              <a:t>URL generation   Hardcoded paths              url() Twig function        </a:t>
            </a:r>
          </a:p>
          <a:p>
            <a:pPr>
              <a:spcAft>
                <a:spcPts val="100"/>
              </a:spcAft>
              <a:defRPr sz="1000">
                <a:solidFill>
                  <a:srgbClr val="1A1A1A"/>
                </a:solidFill>
                <a:latin typeface="Consolas"/>
              </a:defRPr>
            </a:pPr>
            <a:r>
              <a:t>CSS framework    Spryker Gui                  Bootstrap (default theme)</a:t>
            </a:r>
          </a:p>
          <a:p>
            <a:pPr>
              <a:spcBef>
                <a:spcPts val="1200"/>
              </a:spcBef>
              <a:spcAft>
                <a:spcPts val="600"/>
              </a:spcAft>
              <a:defRPr sz="2000" b="1">
                <a:solidFill>
                  <a:srgbClr val="1A1A1A"/>
                </a:solidFill>
              </a:defRPr>
            </a:pPr>
            <a:r>
              <a:t>Controller Return Types</a:t>
            </a:r>
          </a:p>
          <a:p>
            <a:pPr>
              <a:spcAft>
                <a:spcPts val="100"/>
              </a:spcAft>
              <a:defRPr sz="1000">
                <a:solidFill>
                  <a:srgbClr val="1A1A1A"/>
                </a:solidFill>
                <a:latin typeface="Consolas"/>
              </a:defRPr>
            </a:pPr>
            <a:r>
              <a:t>Return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array     Renders Twig template with data    </a:t>
            </a:r>
          </a:p>
          <a:p>
            <a:pPr>
              <a:spcAft>
                <a:spcPts val="100"/>
              </a:spcAft>
              <a:defRPr sz="1000">
                <a:solidFill>
                  <a:srgbClr val="1A1A1A"/>
                </a:solidFill>
                <a:latin typeface="Consolas"/>
              </a:defRPr>
            </a:pPr>
            <a:r>
              <a:t>Response  Raw response (e.g., redirect, JSON)</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Request Handling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Query parameters: /supplier/detail?id=1</a:t>
            </a:r>
          </a:p>
          <a:p>
            <a:pPr>
              <a:spcBef>
                <a:spcPts val="0"/>
              </a:spcBef>
              <a:spcAft>
                <a:spcPts val="0"/>
              </a:spcAft>
            </a:pPr>
            <a:r>
              <a:rPr sz="900">
                <a:solidFill>
                  <a:srgbClr val="19177C"/>
                </a:solidFill>
                <a:latin typeface="Consolas"/>
              </a:rPr>
              <a:t>$id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$request</a:t>
            </a:r>
            <a:r>
              <a:rPr sz="900">
                <a:solidFill>
                  <a:srgbClr val="2D2D2D"/>
                </a:solidFill>
                <a:latin typeface="Consolas"/>
              </a:rPr>
              <a:t>-&gt;query-&gt;getInt(</a:t>
            </a:r>
            <a:r>
              <a:rPr sz="900">
                <a:solidFill>
                  <a:srgbClr val="4070A0"/>
                </a:solidFill>
                <a:latin typeface="Consolas"/>
              </a:rPr>
              <a:t>'id'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Flash messages</a:t>
            </a:r>
          </a:p>
          <a:p>
            <a:pPr>
              <a:spcBef>
                <a:spcPts val="0"/>
              </a:spcBef>
              <a:spcAft>
                <a:spcPts val="0"/>
              </a:spcAft>
            </a:pPr>
            <a:r>
              <a:rPr sz="900">
                <a:solidFill>
                  <a:srgbClr val="19177C"/>
                </a:solidFill>
                <a:latin typeface="Consolas"/>
              </a:rPr>
              <a:t>$this</a:t>
            </a:r>
            <a:r>
              <a:rPr sz="900">
                <a:solidFill>
                  <a:srgbClr val="2D2D2D"/>
                </a:solidFill>
                <a:latin typeface="Consolas"/>
              </a:rPr>
              <a:t>-&gt;addErrorMessage(</a:t>
            </a:r>
            <a:r>
              <a:rPr sz="900">
                <a:solidFill>
                  <a:srgbClr val="4070A0"/>
                </a:solidFill>
                <a:latin typeface="Consolas"/>
              </a:rPr>
              <a:t>'Error message'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19177C"/>
                </a:solidFill>
                <a:latin typeface="Consolas"/>
              </a:rPr>
              <a:t>$this</a:t>
            </a:r>
            <a:r>
              <a:rPr sz="900">
                <a:solidFill>
                  <a:srgbClr val="2D2D2D"/>
                </a:solidFill>
                <a:latin typeface="Consolas"/>
              </a:rPr>
              <a:t>-&gt;addSuccessMessage(</a:t>
            </a:r>
            <a:r>
              <a:rPr sz="900">
                <a:solidFill>
                  <a:srgbClr val="4070A0"/>
                </a:solidFill>
                <a:latin typeface="Consolas"/>
              </a:rPr>
              <a:t>'Success message'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Redirect</a:t>
            </a:r>
          </a:p>
          <a:p>
            <a:pPr>
              <a:spcBef>
                <a:spcPts val="0"/>
              </a:spcBef>
              <a:spcAft>
                <a:spcPts val="0"/>
              </a:spcAft>
            </a:pP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-&gt;redirectResponse(</a:t>
            </a:r>
            <a:r>
              <a:rPr sz="900">
                <a:solidFill>
                  <a:srgbClr val="4070A0"/>
                </a:solidFill>
                <a:latin typeface="Consolas"/>
              </a:rPr>
              <a:t>'/supplier'</a:t>
            </a: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intermediate/yves-storefront/complete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